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8"/>
  </p:notesMasterIdLst>
  <p:sldIdLst>
    <p:sldId id="276" r:id="rId2"/>
    <p:sldId id="293" r:id="rId3"/>
    <p:sldId id="284" r:id="rId4"/>
    <p:sldId id="294" r:id="rId5"/>
    <p:sldId id="286" r:id="rId6"/>
    <p:sldId id="295" r:id="rId7"/>
    <p:sldId id="296" r:id="rId8"/>
    <p:sldId id="298" r:id="rId9"/>
    <p:sldId id="297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14" r:id="rId21"/>
    <p:sldId id="309" r:id="rId22"/>
    <p:sldId id="310" r:id="rId23"/>
    <p:sldId id="311" r:id="rId24"/>
    <p:sldId id="312" r:id="rId25"/>
    <p:sldId id="315" r:id="rId26"/>
    <p:sldId id="316" r:id="rId2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5196" autoAdjust="0"/>
  </p:normalViewPr>
  <p:slideViewPr>
    <p:cSldViewPr snapToGrid="0">
      <p:cViewPr varScale="1">
        <p:scale>
          <a:sx n="79" d="100"/>
          <a:sy n="79" d="100"/>
        </p:scale>
        <p:origin x="76" y="3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322F-67EE-BAE0-6237-E4CB6BE31C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6CFDE-7D9D-3C62-CC05-1B245BC40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8E52A-FC2B-D338-744D-A5325747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7594E-7F68-D4AE-95C4-0E0B312AB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78DFD-1806-CE04-AC3F-AAF323D7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7914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3CDAD-1250-5503-EC07-91080D1F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D4C32-6ACE-57E9-AD9F-667E5A685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9D4E1-1025-37AB-C206-B410B3673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67703-6872-99A5-8EA3-1B68540E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CE648-A321-3B2D-EA67-B32416FC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883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0BC0D-32E3-BA4D-A0F7-C490BD63E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7BF8D-F63E-F416-DB63-43C2AFFD8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3A341-9886-5465-3322-86B2A715B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0876F-331D-5EBF-9B96-029FEEC9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4CBA2-30D3-F1D0-7E62-88BCC115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205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6B408-BABD-5EC4-88DD-0018CF74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3D2D1-5EAF-99AC-B219-EFDE15BFD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63009-CFA0-9A97-650B-2D32DFC9E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0A255-85F0-8F01-F279-023C9E20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0790F-B689-FA95-4FEA-EF3F8841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779C2-7A0D-5786-9AA1-2CACCC39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28774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86DD6-BB5E-02D4-BE01-0AE41B7A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2CAEC-D49E-5B3F-615B-FDE18A959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39C13-7298-AC2E-5297-8EA8C8BB2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4F165-413B-2494-68A9-6159FD2C9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082303-87BF-FA9C-7D57-61A1AAF02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0D8B02-6951-83AC-C550-67F55DB42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62FA83-5E6C-1039-7BAD-6ADF564B2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3E8B0-7F2A-ACB7-57DE-0B586E2A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4941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A6EDA-BF14-4EA7-C078-9CE447E00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9658A-3528-357E-3B2C-CB18731B7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00412-3389-EDB1-71AD-6EA225D5B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93115-053B-74C7-032A-DE206CEC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9474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90EF14-8710-8C48-8052-212D65C80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D835C-FAA3-982F-5D17-25873679E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4B5A1-CEC5-21C2-3AE6-F450CE05E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090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37B03-1D51-F000-99DD-64D886E8D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3E7FD-D15C-84C9-6791-5333FCC76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EC25B-6E1F-6861-EC94-20D4C3F69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F346B-B490-D13A-7757-65339ED4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B78BA-37ED-027E-9747-912DAC64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7F77A-5A8A-C9E2-9C57-E232370D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3025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E-7C5F-40F4-3CB7-9D7B874E6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CF87B-3470-EF3C-4A30-2659AE2E6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27557-2F6C-099B-305F-45BC094C6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E8427-F891-2E57-C641-CAAD8572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4F1FC-6121-C78B-BD36-E3BAC8A4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A6A47-398D-EEF1-223B-C756566A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362528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ADDA-C0A0-B317-FBEF-27D72B53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F1704-D571-2FE2-248D-0C3AA88DA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C76FA-181F-E6F5-C939-FC8FAC00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516CB-9523-F71E-DA51-B130A776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E634E-ED56-8CAF-832D-4AA8E588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35406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37B440-BADB-5857-EED0-AE881998D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2A7FB-8C84-BDD2-BB0D-3693E509B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2272A-11FF-F991-739E-2D63DC028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B0412-9FA2-05C9-492A-D75A4C286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DAAEF-02F3-A79E-463B-3767FEBD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710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39BEB5-055D-9472-B13E-AF6EEA20F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6D81B-2D7B-D064-0127-B90623ABD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35E6B-AC48-F12C-6F1F-AA89D0A40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643F7-8728-6E81-0E46-45D61B2C7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AD33E-B858-21FD-4602-6F81AC2A1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18050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geeksforgeeks.org/machine-learning/derivative-of-the-sigmoid-functio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geeksforgeeks.org/deep-learning/relu-activation-function-in-deep-learnin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ABEF1-4C94-837C-7571-3853EA4C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Activation functions in Neural Networks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73F75-24C1-92A2-56EB-6C5CABD3E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mathematical function applied to the output of a neuron.</a:t>
            </a:r>
          </a:p>
          <a:p>
            <a:r>
              <a:rPr lang="en-US" dirty="0"/>
              <a:t> It introduces non-linearity into the model, allowing the network to learn and represent complex patterns in the data.</a:t>
            </a:r>
          </a:p>
          <a:p>
            <a:r>
              <a:rPr lang="en-US" dirty="0"/>
              <a:t> Without this non-linearity feature a neural network would behave like a linear regression model no matter how many layers it has.</a:t>
            </a:r>
          </a:p>
        </p:txBody>
      </p:sp>
    </p:spTree>
    <p:extLst>
      <p:ext uri="{BB962C8B-B14F-4D97-AF65-F5344CB8AC3E}">
        <p14:creationId xmlns:p14="http://schemas.microsoft.com/office/powerpoint/2010/main" val="3483534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3604F-B266-6C0E-AD45-E5AE7236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Good Activation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64F59-9176-BCDF-DA90-07131AADF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73585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Easily differentiable 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Computationally inexpensive </a:t>
            </a:r>
          </a:p>
          <a:p>
            <a:pPr>
              <a:lnSpc>
                <a:spcPct val="150000"/>
              </a:lnSpc>
            </a:pPr>
            <a:r>
              <a:rPr lang="en-US" dirty="0"/>
              <a:t> Zero-centric in nature </a:t>
            </a:r>
          </a:p>
          <a:p>
            <a:pPr>
              <a:lnSpc>
                <a:spcPct val="150000"/>
              </a:lnSpc>
            </a:pPr>
            <a:r>
              <a:rPr lang="en-US" dirty="0"/>
              <a:t>Non-saturating in nature</a:t>
            </a:r>
          </a:p>
        </p:txBody>
      </p:sp>
    </p:spTree>
    <p:extLst>
      <p:ext uri="{BB962C8B-B14F-4D97-AF65-F5344CB8AC3E}">
        <p14:creationId xmlns:p14="http://schemas.microsoft.com/office/powerpoint/2010/main" val="3362673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1" name="Rectangle 514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A3FFC-708E-1F96-54F6-E04F6CE6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178904"/>
            <a:ext cx="8263890" cy="1075811"/>
          </a:xfrm>
        </p:spPr>
        <p:txBody>
          <a:bodyPr anchor="b">
            <a:normAutofit/>
          </a:bodyPr>
          <a:lstStyle/>
          <a:p>
            <a:pPr fontAlgn="base"/>
            <a:r>
              <a:rPr lang="en-US" sz="2300" b="1" dirty="0"/>
              <a:t>Non-Linear Activation Functions</a:t>
            </a:r>
            <a:br>
              <a:rPr lang="en-US" sz="2300" b="1" dirty="0"/>
            </a:br>
            <a:r>
              <a:rPr lang="en-US" sz="2300" b="1" dirty="0"/>
              <a:t>Sigmoid Function </a:t>
            </a:r>
            <a:br>
              <a:rPr lang="en-US" sz="2300" dirty="0"/>
            </a:br>
            <a:endParaRPr lang="en-US" sz="2300" dirty="0"/>
          </a:p>
        </p:txBody>
      </p:sp>
      <p:sp>
        <p:nvSpPr>
          <p:cNvPr id="514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261158"/>
            <a:ext cx="8229600" cy="13716"/>
          </a:xfrm>
          <a:custGeom>
            <a:avLst/>
            <a:gdLst>
              <a:gd name="csX0" fmla="*/ 0 w 8229600"/>
              <a:gd name="csY0" fmla="*/ 0 h 13716"/>
              <a:gd name="csX1" fmla="*/ 521208 w 8229600"/>
              <a:gd name="csY1" fmla="*/ 0 h 13716"/>
              <a:gd name="csX2" fmla="*/ 1371600 w 8229600"/>
              <a:gd name="csY2" fmla="*/ 0 h 13716"/>
              <a:gd name="csX3" fmla="*/ 2221992 w 8229600"/>
              <a:gd name="csY3" fmla="*/ 0 h 13716"/>
              <a:gd name="csX4" fmla="*/ 3072384 w 8229600"/>
              <a:gd name="csY4" fmla="*/ 0 h 13716"/>
              <a:gd name="csX5" fmla="*/ 3511296 w 8229600"/>
              <a:gd name="csY5" fmla="*/ 0 h 13716"/>
              <a:gd name="csX6" fmla="*/ 4114800 w 8229600"/>
              <a:gd name="csY6" fmla="*/ 0 h 13716"/>
              <a:gd name="csX7" fmla="*/ 4553712 w 8229600"/>
              <a:gd name="csY7" fmla="*/ 0 h 13716"/>
              <a:gd name="csX8" fmla="*/ 5239512 w 8229600"/>
              <a:gd name="csY8" fmla="*/ 0 h 13716"/>
              <a:gd name="csX9" fmla="*/ 5843016 w 8229600"/>
              <a:gd name="csY9" fmla="*/ 0 h 13716"/>
              <a:gd name="csX10" fmla="*/ 6611112 w 8229600"/>
              <a:gd name="csY10" fmla="*/ 0 h 13716"/>
              <a:gd name="csX11" fmla="*/ 7461504 w 8229600"/>
              <a:gd name="csY11" fmla="*/ 0 h 13716"/>
              <a:gd name="csX12" fmla="*/ 8229600 w 8229600"/>
              <a:gd name="csY12" fmla="*/ 0 h 13716"/>
              <a:gd name="csX13" fmla="*/ 8229600 w 8229600"/>
              <a:gd name="csY13" fmla="*/ 13716 h 13716"/>
              <a:gd name="csX14" fmla="*/ 7461504 w 8229600"/>
              <a:gd name="csY14" fmla="*/ 13716 h 13716"/>
              <a:gd name="csX15" fmla="*/ 6940296 w 8229600"/>
              <a:gd name="csY15" fmla="*/ 13716 h 13716"/>
              <a:gd name="csX16" fmla="*/ 6419088 w 8229600"/>
              <a:gd name="csY16" fmla="*/ 13716 h 13716"/>
              <a:gd name="csX17" fmla="*/ 5650992 w 8229600"/>
              <a:gd name="csY17" fmla="*/ 13716 h 13716"/>
              <a:gd name="csX18" fmla="*/ 5129784 w 8229600"/>
              <a:gd name="csY18" fmla="*/ 13716 h 13716"/>
              <a:gd name="csX19" fmla="*/ 4690872 w 8229600"/>
              <a:gd name="csY19" fmla="*/ 13716 h 13716"/>
              <a:gd name="csX20" fmla="*/ 4087368 w 8229600"/>
              <a:gd name="csY20" fmla="*/ 13716 h 13716"/>
              <a:gd name="csX21" fmla="*/ 3401568 w 8229600"/>
              <a:gd name="csY21" fmla="*/ 13716 h 13716"/>
              <a:gd name="csX22" fmla="*/ 2798064 w 8229600"/>
              <a:gd name="csY22" fmla="*/ 13716 h 13716"/>
              <a:gd name="csX23" fmla="*/ 2276856 w 8229600"/>
              <a:gd name="csY23" fmla="*/ 13716 h 13716"/>
              <a:gd name="csX24" fmla="*/ 1426464 w 8229600"/>
              <a:gd name="csY24" fmla="*/ 13716 h 13716"/>
              <a:gd name="csX25" fmla="*/ 740664 w 8229600"/>
              <a:gd name="csY25" fmla="*/ 13716 h 13716"/>
              <a:gd name="csX26" fmla="*/ 0 w 8229600"/>
              <a:gd name="csY26" fmla="*/ 13716 h 13716"/>
              <a:gd name="csX27" fmla="*/ 0 w 8229600"/>
              <a:gd name="csY27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3716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9169" y="6566"/>
                  <a:pt x="8229218" y="9895"/>
                  <a:pt x="8229600" y="13716"/>
                </a:cubicBezTo>
                <a:cubicBezTo>
                  <a:pt x="7940706" y="-13865"/>
                  <a:pt x="7792584" y="-20581"/>
                  <a:pt x="7461504" y="13716"/>
                </a:cubicBezTo>
                <a:cubicBezTo>
                  <a:pt x="7130424" y="48013"/>
                  <a:pt x="7080072" y="39273"/>
                  <a:pt x="6940296" y="13716"/>
                </a:cubicBezTo>
                <a:cubicBezTo>
                  <a:pt x="6800520" y="-11841"/>
                  <a:pt x="6672872" y="22099"/>
                  <a:pt x="6419088" y="13716"/>
                </a:cubicBezTo>
                <a:cubicBezTo>
                  <a:pt x="6165304" y="5333"/>
                  <a:pt x="5869721" y="415"/>
                  <a:pt x="5650992" y="13716"/>
                </a:cubicBezTo>
                <a:cubicBezTo>
                  <a:pt x="5432263" y="27017"/>
                  <a:pt x="5308310" y="-1549"/>
                  <a:pt x="5129784" y="13716"/>
                </a:cubicBezTo>
                <a:cubicBezTo>
                  <a:pt x="4951258" y="28981"/>
                  <a:pt x="4799696" y="10785"/>
                  <a:pt x="4690872" y="13716"/>
                </a:cubicBezTo>
                <a:cubicBezTo>
                  <a:pt x="4582048" y="16647"/>
                  <a:pt x="4311124" y="-12408"/>
                  <a:pt x="4087368" y="13716"/>
                </a:cubicBezTo>
                <a:cubicBezTo>
                  <a:pt x="3863612" y="39840"/>
                  <a:pt x="3730288" y="8802"/>
                  <a:pt x="3401568" y="13716"/>
                </a:cubicBezTo>
                <a:cubicBezTo>
                  <a:pt x="3072848" y="18630"/>
                  <a:pt x="3020684" y="27853"/>
                  <a:pt x="2798064" y="13716"/>
                </a:cubicBezTo>
                <a:cubicBezTo>
                  <a:pt x="2575444" y="-421"/>
                  <a:pt x="2440915" y="-11924"/>
                  <a:pt x="2276856" y="13716"/>
                </a:cubicBezTo>
                <a:cubicBezTo>
                  <a:pt x="2112797" y="39356"/>
                  <a:pt x="1726502" y="-14132"/>
                  <a:pt x="1426464" y="13716"/>
                </a:cubicBezTo>
                <a:cubicBezTo>
                  <a:pt x="1126426" y="41564"/>
                  <a:pt x="992925" y="16444"/>
                  <a:pt x="740664" y="13716"/>
                </a:cubicBezTo>
                <a:cubicBezTo>
                  <a:pt x="488403" y="10988"/>
                  <a:pt x="195650" y="-20633"/>
                  <a:pt x="0" y="13716"/>
                </a:cubicBezTo>
                <a:cubicBezTo>
                  <a:pt x="120" y="8944"/>
                  <a:pt x="-32" y="6034"/>
                  <a:pt x="0" y="0"/>
                </a:cubicBezTo>
                <a:close/>
              </a:path>
              <a:path w="8229600" h="13716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29365" y="6754"/>
                  <a:pt x="8229865" y="9234"/>
                  <a:pt x="8229600" y="13716"/>
                </a:cubicBezTo>
                <a:cubicBezTo>
                  <a:pt x="8075287" y="30482"/>
                  <a:pt x="7821366" y="17278"/>
                  <a:pt x="7626096" y="13716"/>
                </a:cubicBezTo>
                <a:cubicBezTo>
                  <a:pt x="7430826" y="10154"/>
                  <a:pt x="7320004" y="-14241"/>
                  <a:pt x="7022592" y="13716"/>
                </a:cubicBezTo>
                <a:cubicBezTo>
                  <a:pt x="6725180" y="41673"/>
                  <a:pt x="6348804" y="-18597"/>
                  <a:pt x="6172200" y="13716"/>
                </a:cubicBezTo>
                <a:cubicBezTo>
                  <a:pt x="5995596" y="46029"/>
                  <a:pt x="5788102" y="18318"/>
                  <a:pt x="5650992" y="13716"/>
                </a:cubicBezTo>
                <a:cubicBezTo>
                  <a:pt x="5513882" y="9114"/>
                  <a:pt x="5198399" y="24549"/>
                  <a:pt x="4882896" y="13716"/>
                </a:cubicBezTo>
                <a:cubicBezTo>
                  <a:pt x="4567393" y="2883"/>
                  <a:pt x="4557008" y="22393"/>
                  <a:pt x="4443984" y="13716"/>
                </a:cubicBezTo>
                <a:cubicBezTo>
                  <a:pt x="4330960" y="5039"/>
                  <a:pt x="4061674" y="24319"/>
                  <a:pt x="3758184" y="13716"/>
                </a:cubicBezTo>
                <a:cubicBezTo>
                  <a:pt x="3454694" y="3113"/>
                  <a:pt x="3380392" y="14547"/>
                  <a:pt x="3236976" y="13716"/>
                </a:cubicBezTo>
                <a:cubicBezTo>
                  <a:pt x="3093560" y="12885"/>
                  <a:pt x="2632116" y="33035"/>
                  <a:pt x="2386584" y="13716"/>
                </a:cubicBezTo>
                <a:cubicBezTo>
                  <a:pt x="2141052" y="-5603"/>
                  <a:pt x="2110884" y="24205"/>
                  <a:pt x="1947672" y="13716"/>
                </a:cubicBezTo>
                <a:cubicBezTo>
                  <a:pt x="1784460" y="3227"/>
                  <a:pt x="1535467" y="-4111"/>
                  <a:pt x="1261872" y="13716"/>
                </a:cubicBezTo>
                <a:cubicBezTo>
                  <a:pt x="988277" y="31543"/>
                  <a:pt x="1021096" y="5803"/>
                  <a:pt x="822960" y="13716"/>
                </a:cubicBezTo>
                <a:cubicBezTo>
                  <a:pt x="624824" y="21629"/>
                  <a:pt x="298309" y="-3289"/>
                  <a:pt x="0" y="13716"/>
                </a:cubicBezTo>
                <a:cubicBezTo>
                  <a:pt x="52" y="10594"/>
                  <a:pt x="386" y="5364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BE43B-9AA2-33E1-6C40-FBBB86300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1553487"/>
            <a:ext cx="5035164" cy="3089379"/>
          </a:xfrm>
        </p:spPr>
        <p:txBody>
          <a:bodyPr anchor="t">
            <a:normAutofit/>
          </a:bodyPr>
          <a:lstStyle/>
          <a:p>
            <a:pPr fontAlgn="base"/>
            <a:r>
              <a:rPr lang="en-US" sz="1400" b="1" u="sng" dirty="0">
                <a:hlinkClick r:id="rId2"/>
              </a:rPr>
              <a:t>Sigmoid Activation Function</a:t>
            </a:r>
            <a:r>
              <a:rPr lang="en-US" sz="1400" dirty="0"/>
              <a:t> is characterized by 'S' shape. The output ranges between 0 and 1, hence useful for binary classification.</a:t>
            </a:r>
          </a:p>
          <a:p>
            <a:pPr marL="0" indent="0" fontAlgn="base">
              <a:buNone/>
            </a:pPr>
            <a:r>
              <a:rPr lang="en-US" sz="1400" b="1" dirty="0"/>
              <a:t>Pros:</a:t>
            </a:r>
          </a:p>
          <a:p>
            <a:pPr fontAlgn="base"/>
            <a:r>
              <a:rPr lang="en-US" sz="1400" dirty="0"/>
              <a:t>Smooth gradient, prevents jumps in output value.</a:t>
            </a:r>
          </a:p>
          <a:p>
            <a:pPr fontAlgn="base"/>
            <a:r>
              <a:rPr lang="en-US" sz="1400" dirty="0"/>
              <a:t>Useful in binary classification.</a:t>
            </a:r>
          </a:p>
          <a:p>
            <a:pPr marL="0" indent="0" fontAlgn="base">
              <a:buNone/>
            </a:pPr>
            <a:r>
              <a:rPr lang="en-US" sz="1400" b="1" dirty="0"/>
              <a:t>Cons:</a:t>
            </a:r>
          </a:p>
          <a:p>
            <a:pPr fontAlgn="base"/>
            <a:r>
              <a:rPr lang="en-US" sz="1400" dirty="0"/>
              <a:t>Computationally expensive </a:t>
            </a:r>
          </a:p>
          <a:p>
            <a:pPr fontAlgn="base"/>
            <a:r>
              <a:rPr lang="en-US" sz="1400" dirty="0"/>
              <a:t>Non-zero centric in nature can slow down convergence</a:t>
            </a:r>
          </a:p>
          <a:p>
            <a:pPr fontAlgn="base"/>
            <a:r>
              <a:rPr lang="en-US" sz="1400" dirty="0"/>
              <a:t>Causes vanishing gradient problem, hence only used in the output layer</a:t>
            </a:r>
          </a:p>
          <a:p>
            <a:pPr marL="0" indent="0" fontAlgn="base">
              <a:buNone/>
            </a:pPr>
            <a:endParaRPr lang="en-US" sz="1400" dirty="0"/>
          </a:p>
          <a:p>
            <a:pPr marL="0" indent="0" fontAlgn="base">
              <a:buNone/>
            </a:pPr>
            <a:endParaRPr lang="en-US" sz="1400" dirty="0"/>
          </a:p>
          <a:p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21ADA-D97C-91E7-2F75-16AB4E5A4D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98" r="41307" b="2"/>
          <a:stretch>
            <a:fillRect/>
          </a:stretch>
        </p:blipFill>
        <p:spPr>
          <a:xfrm>
            <a:off x="5756743" y="1570482"/>
            <a:ext cx="2955798" cy="307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9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D901B5-8CF7-66CB-3DD5-970B88274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71" name="Rectangle 517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A77AE-CE72-E439-24DE-F0FD407B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79640"/>
            <a:ext cx="2571750" cy="1289304"/>
          </a:xfrm>
        </p:spPr>
        <p:txBody>
          <a:bodyPr anchor="b">
            <a:normAutofit/>
          </a:bodyPr>
          <a:lstStyle/>
          <a:p>
            <a:pPr fontAlgn="base"/>
            <a:br>
              <a:rPr lang="en-US" sz="2900" b="1"/>
            </a:br>
            <a:r>
              <a:rPr lang="en-US" sz="2900" b="1"/>
              <a:t>Tanh Function </a:t>
            </a:r>
            <a:br>
              <a:rPr lang="en-US" sz="2900"/>
            </a:br>
            <a:endParaRPr lang="en-US" sz="2900"/>
          </a:p>
        </p:txBody>
      </p:sp>
      <p:sp>
        <p:nvSpPr>
          <p:cNvPr id="517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930317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D1D81-54C1-9664-32CC-856DEBE84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105406"/>
            <a:ext cx="2571750" cy="2558034"/>
          </a:xfrm>
        </p:spPr>
        <p:txBody>
          <a:bodyPr anchor="t">
            <a:normAutofit/>
          </a:bodyPr>
          <a:lstStyle/>
          <a:p>
            <a:pPr fontAlgn="base"/>
            <a:r>
              <a:rPr lang="en-US" sz="1200"/>
              <a:t>The Tanh function is similar to the sigmoid but maps input values to a range between -1 and 1.</a:t>
            </a:r>
          </a:p>
          <a:p>
            <a:pPr marL="0" indent="0" fontAlgn="base">
              <a:buNone/>
            </a:pPr>
            <a:r>
              <a:rPr lang="en-US" sz="1200" b="1"/>
              <a:t>Pros:</a:t>
            </a:r>
          </a:p>
          <a:p>
            <a:pPr fontAlgn="base"/>
            <a:r>
              <a:rPr lang="en-US" sz="1200"/>
              <a:t> Zero-centered output, faster convergence.</a:t>
            </a:r>
          </a:p>
          <a:p>
            <a:pPr fontAlgn="base"/>
            <a:r>
              <a:rPr lang="en-US" sz="1200"/>
              <a:t>Smooth gradient.</a:t>
            </a:r>
          </a:p>
          <a:p>
            <a:pPr marL="0" indent="0" fontAlgn="base">
              <a:buNone/>
            </a:pPr>
            <a:r>
              <a:rPr lang="en-US" sz="1200" b="1"/>
              <a:t>Cons:</a:t>
            </a:r>
          </a:p>
          <a:p>
            <a:pPr fontAlgn="base"/>
            <a:r>
              <a:rPr lang="en-US" sz="1200"/>
              <a:t>Computationally expensive </a:t>
            </a:r>
          </a:p>
          <a:p>
            <a:pPr fontAlgn="base"/>
            <a:r>
              <a:rPr lang="en-US" sz="1200"/>
              <a:t> Causes the vanishing gradient problem.</a:t>
            </a:r>
          </a:p>
          <a:p>
            <a:pPr marL="0" indent="0" fontAlgn="base">
              <a:buNone/>
            </a:pPr>
            <a:endParaRPr lang="en-US" sz="1200"/>
          </a:p>
          <a:p>
            <a:pPr marL="0" indent="0" fontAlgn="base">
              <a:buNone/>
            </a:pPr>
            <a:endParaRPr lang="en-US" sz="1200"/>
          </a:p>
          <a:p>
            <a:endParaRPr lang="en-US"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3B4906-E83B-B15B-CCB3-6274E6EEA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264358"/>
            <a:ext cx="5177790" cy="261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3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87" name="Rectangle 1128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F87D1-1D5B-3860-C429-DE48D8EB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79640"/>
            <a:ext cx="2571750" cy="1289304"/>
          </a:xfrm>
        </p:spPr>
        <p:txBody>
          <a:bodyPr anchor="b">
            <a:normAutofit/>
          </a:bodyPr>
          <a:lstStyle/>
          <a:p>
            <a:r>
              <a:rPr lang="en-US" sz="1900" b="1"/>
              <a:t>ReLU</a:t>
            </a:r>
            <a:r>
              <a:rPr lang="en-US" sz="1900"/>
              <a:t> (Rectified Linear Unit) </a:t>
            </a:r>
            <a:r>
              <a:rPr lang="en-US" sz="1900" b="1"/>
              <a:t>Function </a:t>
            </a:r>
            <a:br>
              <a:rPr lang="en-US" sz="1900"/>
            </a:br>
            <a:endParaRPr lang="en-US" sz="1900"/>
          </a:p>
        </p:txBody>
      </p:sp>
      <p:sp>
        <p:nvSpPr>
          <p:cNvPr id="1128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930317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7CC87-7115-502A-DA00-EA7875917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105406"/>
            <a:ext cx="2571750" cy="2558034"/>
          </a:xfrm>
        </p:spPr>
        <p:txBody>
          <a:bodyPr anchor="t">
            <a:normAutofit/>
          </a:bodyPr>
          <a:lstStyle/>
          <a:p>
            <a:pPr fontAlgn="base"/>
            <a:r>
              <a:rPr lang="en-US" sz="900" b="1" u="sng">
                <a:hlinkClick r:id="rId2"/>
              </a:rPr>
              <a:t>ReLU activation</a:t>
            </a:r>
            <a:r>
              <a:rPr lang="en-US" sz="900"/>
              <a:t> is defined by A(x)=max⁡(0,x), this means that if the input x is positive, ReLU returns x, if the input is negative, it returns 0.</a:t>
            </a:r>
          </a:p>
          <a:p>
            <a:pPr fontAlgn="base"/>
            <a:r>
              <a:rPr lang="en-US" sz="900" b="1"/>
              <a:t>Value Range</a:t>
            </a:r>
            <a:r>
              <a:rPr lang="en-US" sz="900"/>
              <a:t>: [0,∞), meaning the function only outputs non-negative values.</a:t>
            </a:r>
          </a:p>
          <a:p>
            <a:pPr marL="0" indent="0" fontAlgn="base">
              <a:buNone/>
            </a:pPr>
            <a:r>
              <a:rPr lang="en-US" sz="900"/>
              <a:t>Pros:</a:t>
            </a:r>
          </a:p>
          <a:p>
            <a:pPr fontAlgn="base"/>
            <a:r>
              <a:rPr lang="en-US" sz="900"/>
              <a:t>Computationally less expensive.</a:t>
            </a:r>
          </a:p>
          <a:p>
            <a:pPr fontAlgn="base"/>
            <a:r>
              <a:rPr lang="en-US" sz="900"/>
              <a:t>Mitigate the vanishing gradient problem</a:t>
            </a:r>
          </a:p>
          <a:p>
            <a:pPr fontAlgn="base"/>
            <a:r>
              <a:rPr lang="en-US" sz="900"/>
              <a:t>Used in intermediate layers</a:t>
            </a:r>
          </a:p>
          <a:p>
            <a:pPr marL="0" indent="0" fontAlgn="base">
              <a:buNone/>
            </a:pPr>
            <a:r>
              <a:rPr lang="en-US" sz="900"/>
              <a:t>Cons:</a:t>
            </a:r>
          </a:p>
          <a:p>
            <a:pPr fontAlgn="base"/>
            <a:r>
              <a:rPr lang="en-US" sz="900"/>
              <a:t>May leads exploding gradient problem</a:t>
            </a:r>
          </a:p>
          <a:p>
            <a:pPr marL="0" indent="0" fontAlgn="base">
              <a:buNone/>
            </a:pPr>
            <a:endParaRPr lang="en-US" sz="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38AEA-E637-3215-FC98-6538BE140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722" y="1063719"/>
            <a:ext cx="5177790" cy="30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92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F8028-CE5A-EE6E-9BE4-6CEE4936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87" name="Rectangle 1128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25C53-4852-9466-C0EA-37FEADF45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79640"/>
            <a:ext cx="2571750" cy="1289304"/>
          </a:xfrm>
        </p:spPr>
        <p:txBody>
          <a:bodyPr anchor="b">
            <a:normAutofit/>
          </a:bodyPr>
          <a:lstStyle/>
          <a:p>
            <a:r>
              <a:rPr lang="en-US" sz="2900" b="1"/>
              <a:t>Softmax function</a:t>
            </a:r>
            <a:br>
              <a:rPr lang="en-US" sz="2900"/>
            </a:br>
            <a:endParaRPr lang="en-US" sz="2900"/>
          </a:p>
        </p:txBody>
      </p:sp>
      <p:sp>
        <p:nvSpPr>
          <p:cNvPr id="1128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930317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34504-3874-7DA9-3230-0DD78DD06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105406"/>
            <a:ext cx="2571750" cy="2558034"/>
          </a:xfrm>
        </p:spPr>
        <p:txBody>
          <a:bodyPr anchor="t">
            <a:normAutofit/>
          </a:bodyPr>
          <a:lstStyle/>
          <a:p>
            <a:pPr fontAlgn="base"/>
            <a:r>
              <a:rPr lang="en-US" sz="1200" dirty="0"/>
              <a:t>The </a:t>
            </a:r>
            <a:r>
              <a:rPr lang="en-US" sz="1200" dirty="0" err="1"/>
              <a:t>softmax</a:t>
            </a:r>
            <a:r>
              <a:rPr lang="en-US" sz="1200" dirty="0"/>
              <a:t> function is used primarily for multi-class classification. It converts raw scores into probabilities.</a:t>
            </a:r>
          </a:p>
          <a:p>
            <a:pPr marL="0" indent="0" fontAlgn="base">
              <a:buNone/>
            </a:pPr>
            <a:r>
              <a:rPr lang="en-US" sz="1200" dirty="0"/>
              <a:t>Pros:</a:t>
            </a:r>
          </a:p>
          <a:p>
            <a:pPr fontAlgn="base"/>
            <a:r>
              <a:rPr lang="en-US" sz="1200" dirty="0"/>
              <a:t>Produces a probability distribution, making it ideal for  Multi-class classification tasks.</a:t>
            </a:r>
          </a:p>
          <a:p>
            <a:pPr marL="0" indent="0" fontAlgn="base">
              <a:buNone/>
            </a:pPr>
            <a:r>
              <a:rPr lang="en-US" sz="1200" dirty="0"/>
              <a:t>Cons:</a:t>
            </a:r>
          </a:p>
          <a:p>
            <a:pPr fontAlgn="base"/>
            <a:r>
              <a:rPr lang="en-US" sz="1200" dirty="0"/>
              <a:t>Can be computationally intensive for large outputs.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B8BC2B-C8FB-2718-81B0-11A9EC882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206108"/>
            <a:ext cx="5177790" cy="273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46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A027A-4F68-595F-4C5D-DF04DAFF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Mini-Batch Gradient Descent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45735-4A96-32A2-CF5F-B78B4594C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it works</a:t>
            </a:r>
            <a:r>
              <a:rPr lang="en-US" dirty="0"/>
              <a:t>: Splits data into </a:t>
            </a:r>
            <a:r>
              <a:rPr lang="en-US" b="1" dirty="0">
                <a:solidFill>
                  <a:srgbClr val="EE0000"/>
                </a:solidFill>
              </a:rPr>
              <a:t>small batches </a:t>
            </a:r>
            <a:r>
              <a:rPr lang="en-US" dirty="0"/>
              <a:t>and updates weights per batch.</a:t>
            </a:r>
          </a:p>
          <a:p>
            <a:r>
              <a:rPr lang="en-US" dirty="0"/>
              <a:t>Most </a:t>
            </a:r>
            <a:r>
              <a:rPr lang="en-US" dirty="0">
                <a:solidFill>
                  <a:srgbClr val="EE0000"/>
                </a:solidFill>
              </a:rPr>
              <a:t>widely used </a:t>
            </a:r>
            <a:r>
              <a:rPr lang="en-US" dirty="0"/>
              <a:t>among the optimizers for neural network training.</a:t>
            </a:r>
          </a:p>
          <a:p>
            <a:r>
              <a:rPr lang="en-US" dirty="0"/>
              <a:t>Mini-batch gradient descent finally takes the best of both.</a:t>
            </a:r>
          </a:p>
          <a:p>
            <a:r>
              <a:rPr lang="en-US" dirty="0"/>
              <a:t>Common mini-batch sizes range between </a:t>
            </a:r>
            <a:r>
              <a:rPr lang="en-US" dirty="0">
                <a:solidFill>
                  <a:srgbClr val="EE0000"/>
                </a:solidFill>
              </a:rPr>
              <a:t>50 and 256</a:t>
            </a:r>
            <a:r>
              <a:rPr lang="en-US" dirty="0"/>
              <a:t>, but can vary for different applications.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B9782-B013-716D-8CDC-7452143DB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356" y="4065739"/>
            <a:ext cx="49530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22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824632" cy="154637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7723C-C034-0783-241A-B26036055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5" y="457197"/>
            <a:ext cx="7044316" cy="998131"/>
          </a:xfrm>
        </p:spPr>
        <p:txBody>
          <a:bodyPr>
            <a:normAutofit/>
          </a:bodyPr>
          <a:lstStyle/>
          <a:p>
            <a:r>
              <a:rPr lang="en-US" dirty="0"/>
              <a:t>Mini-Batch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D3F74-C58D-2C57-5067-053120AF2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775" y="1648771"/>
            <a:ext cx="3719225" cy="2938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 Advantages:</a:t>
            </a:r>
          </a:p>
          <a:p>
            <a:r>
              <a:rPr lang="en-US" sz="1400" dirty="0">
                <a:solidFill>
                  <a:srgbClr val="EE0000"/>
                </a:solidFill>
              </a:rPr>
              <a:t>Faster convergence </a:t>
            </a:r>
            <a:r>
              <a:rPr lang="en-US" sz="1400" dirty="0"/>
              <a:t>than batch.</a:t>
            </a:r>
          </a:p>
          <a:p>
            <a:r>
              <a:rPr lang="en-US" sz="1400" dirty="0"/>
              <a:t> </a:t>
            </a:r>
            <a:r>
              <a:rPr lang="en-US" sz="1400" dirty="0">
                <a:solidFill>
                  <a:srgbClr val="EE0000"/>
                </a:solidFill>
              </a:rPr>
              <a:t>Computationally less expensive </a:t>
            </a:r>
            <a:r>
              <a:rPr lang="en-US" sz="1400" dirty="0"/>
              <a:t>than batch.</a:t>
            </a:r>
          </a:p>
          <a:p>
            <a:r>
              <a:rPr lang="en-US" sz="1400" dirty="0"/>
              <a:t>Support </a:t>
            </a:r>
            <a:r>
              <a:rPr lang="en-US" sz="1400" dirty="0">
                <a:solidFill>
                  <a:srgbClr val="EE0000"/>
                </a:solidFill>
              </a:rPr>
              <a:t>parallel computing </a:t>
            </a:r>
            <a:r>
              <a:rPr lang="en-US" sz="1400" dirty="0"/>
              <a:t>or batch processing.</a:t>
            </a:r>
          </a:p>
          <a:p>
            <a:r>
              <a:rPr lang="en-US" sz="1400" dirty="0"/>
              <a:t> Relatively </a:t>
            </a:r>
            <a:r>
              <a:rPr lang="en-US" sz="1400" dirty="0">
                <a:solidFill>
                  <a:srgbClr val="EE0000"/>
                </a:solidFill>
              </a:rPr>
              <a:t>smoother gradient</a:t>
            </a:r>
            <a:r>
              <a:rPr lang="en-US" sz="1400" dirty="0"/>
              <a:t> surface than SGD.</a:t>
            </a:r>
          </a:p>
          <a:p>
            <a:pPr marL="0" indent="0">
              <a:buNone/>
            </a:pPr>
            <a:r>
              <a:rPr lang="en-US" sz="1400" dirty="0"/>
              <a:t>Disadvantages:</a:t>
            </a:r>
          </a:p>
          <a:p>
            <a:r>
              <a:rPr lang="en-US" sz="1400" dirty="0"/>
              <a:t>Extra complexity.</a:t>
            </a:r>
          </a:p>
          <a:p>
            <a:r>
              <a:rPr lang="en-US" sz="1400" dirty="0"/>
              <a:t>Selection of batch size.</a:t>
            </a:r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CCC676-10EF-04E9-407F-3E75EE6D6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525" y="1367555"/>
            <a:ext cx="3591379" cy="302642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4657060"/>
            <a:ext cx="5107781" cy="486440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92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60780-7694-D905-57D8-5B6C8B78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372234"/>
            <a:ext cx="7886700" cy="1640250"/>
          </a:xfrm>
        </p:spPr>
        <p:txBody>
          <a:bodyPr/>
          <a:lstStyle/>
          <a:p>
            <a:r>
              <a:rPr lang="en-US" dirty="0"/>
              <a:t>Implementation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05DC22-984D-35C5-899B-3005A2464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4000030"/>
            <a:ext cx="7391400" cy="1028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05481C-6F8F-9DC2-FE88-D9CA6F6EB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2403872"/>
            <a:ext cx="7639050" cy="1476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39CADA-0819-4BCF-266C-DA714ECC6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937022"/>
            <a:ext cx="74485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74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797136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492112"/>
            <a:ext cx="4193090" cy="10736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36003-C0C0-CD44-D15D-EE229ABE6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655455"/>
            <a:ext cx="3696218" cy="776835"/>
          </a:xfrm>
        </p:spPr>
        <p:txBody>
          <a:bodyPr anchor="ctr">
            <a:normAutofit/>
          </a:bodyPr>
          <a:lstStyle/>
          <a:p>
            <a:r>
              <a:rPr lang="en-US" sz="2700" dirty="0"/>
              <a:t>SGD with Momentum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36853-284A-A2DA-CE4F-2EF69D736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1893540"/>
            <a:ext cx="3743722" cy="2757843"/>
          </a:xfrm>
        </p:spPr>
        <p:txBody>
          <a:bodyPr anchor="ctr">
            <a:normAutofit/>
          </a:bodyPr>
          <a:lstStyle/>
          <a:p>
            <a:r>
              <a:rPr lang="en-US" sz="1400"/>
              <a:t>Momentum is a method that helps accelerate SGD in the relevant direction.</a:t>
            </a:r>
          </a:p>
          <a:p>
            <a:r>
              <a:rPr lang="en-US" sz="1400"/>
              <a:t>dampens oscillations of SGD.</a:t>
            </a:r>
          </a:p>
          <a:p>
            <a:r>
              <a:rPr lang="en-US" sz="1400"/>
              <a:t> Momentum adds a fraction γ of the update vector of the past time step to the current update vector.</a:t>
            </a:r>
          </a:p>
          <a:p>
            <a:r>
              <a:rPr lang="en-US" sz="1400"/>
              <a:t>The momentum term γ is usually set to 0.9 </a:t>
            </a:r>
          </a:p>
          <a:p>
            <a:pPr marL="0" indent="0">
              <a:buNone/>
            </a:pPr>
            <a:endParaRPr lang="en-US" sz="1400"/>
          </a:p>
          <a:p>
            <a:endParaRPr lang="en-US" sz="14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5813" y="493775"/>
            <a:ext cx="3539537" cy="20093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337BF-B689-58F1-B3B5-F05716A45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799" y="1087080"/>
            <a:ext cx="3229429" cy="82658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5813" y="2648224"/>
            <a:ext cx="3539537" cy="20093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8CDC9E-FCE3-3D75-DD56-BACA08BD8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99" y="3238970"/>
            <a:ext cx="3229429" cy="81543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9180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774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4A3C-D1E1-C8ED-28E6-8776BA44D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400607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SGD with Momentum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395D7-D95A-A4D1-B18A-AF9361B74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10638"/>
            <a:ext cx="7886700" cy="38220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Advantages:</a:t>
            </a:r>
          </a:p>
          <a:p>
            <a:r>
              <a:rPr lang="en-US" dirty="0"/>
              <a:t>Relatively smoother error surface.</a:t>
            </a:r>
          </a:p>
          <a:p>
            <a:r>
              <a:rPr lang="en-US" dirty="0"/>
              <a:t>Faster convergence.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Disadvantages:</a:t>
            </a:r>
          </a:p>
          <a:p>
            <a:r>
              <a:rPr lang="en-US" dirty="0"/>
              <a:t>With momentum, it may miss the global minima </a:t>
            </a:r>
          </a:p>
        </p:txBody>
      </p:sp>
    </p:spTree>
    <p:extLst>
      <p:ext uri="{BB962C8B-B14F-4D97-AF65-F5344CB8AC3E}">
        <p14:creationId xmlns:p14="http://schemas.microsoft.com/office/powerpoint/2010/main" val="605808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7A04-178B-8012-A5DD-4AFBDEC4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50299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Adagrad</a:t>
            </a:r>
            <a:r>
              <a:rPr lang="en-US" dirty="0"/>
              <a:t> (Adaptive Gradient Descent)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39E74-D473-510A-E358-45EB68821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82032"/>
            <a:ext cx="7886700" cy="3750691"/>
          </a:xfrm>
        </p:spPr>
        <p:txBody>
          <a:bodyPr/>
          <a:lstStyle/>
          <a:p>
            <a:r>
              <a:rPr lang="en-US" dirty="0"/>
              <a:t>Its </a:t>
            </a:r>
            <a:r>
              <a:rPr lang="en-US" dirty="0">
                <a:solidFill>
                  <a:srgbClr val="EE0000"/>
                </a:solidFill>
              </a:rPr>
              <a:t>time decay-based </a:t>
            </a:r>
            <a:r>
              <a:rPr lang="en-US" dirty="0"/>
              <a:t>gradient optimizer.</a:t>
            </a:r>
          </a:p>
          <a:p>
            <a:r>
              <a:rPr lang="en-US" b="1" dirty="0">
                <a:solidFill>
                  <a:srgbClr val="EE0000"/>
                </a:solidFill>
              </a:rPr>
              <a:t>Working Procedure</a:t>
            </a:r>
            <a:r>
              <a:rPr lang="en-US" dirty="0"/>
              <a:t>: it reduce learning rate at each iteration by some integer value.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5FC83-DFAA-9E30-6B9B-ECAD645A9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242" y="1949821"/>
            <a:ext cx="4487961" cy="29198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381350-BE54-5965-BC7C-873C3F342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23" y="2087745"/>
            <a:ext cx="3643266" cy="291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45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824632" cy="154637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D2907-1E29-B561-41D8-D8BA5753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5" y="457198"/>
            <a:ext cx="7044316" cy="50661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Adagrad</a:t>
            </a:r>
            <a:r>
              <a:rPr lang="en-US" dirty="0"/>
              <a:t> (Adaptive Gradient Descent)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51AED-7493-85BF-EFA5-BED27C940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775" y="1165254"/>
            <a:ext cx="4641717" cy="3867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Advantages:</a:t>
            </a:r>
          </a:p>
          <a:p>
            <a:r>
              <a:rPr lang="en-US" sz="1500" dirty="0"/>
              <a:t>Adaptive learning rate.</a:t>
            </a:r>
          </a:p>
          <a:p>
            <a:r>
              <a:rPr lang="en-US" sz="1500" dirty="0"/>
              <a:t>Faster convergence </a:t>
            </a:r>
          </a:p>
          <a:p>
            <a:r>
              <a:rPr lang="en-US" sz="1500" dirty="0"/>
              <a:t>Prevent overshooting and achieve global minima.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Disadvantages:</a:t>
            </a:r>
          </a:p>
          <a:p>
            <a:r>
              <a:rPr lang="en-US" sz="1500" dirty="0"/>
              <a:t>Causes aggressive learning decay.</a:t>
            </a:r>
          </a:p>
          <a:p>
            <a:r>
              <a:rPr lang="en-US" sz="1500" dirty="0"/>
              <a:t>Cause vanishing gradient problem.</a:t>
            </a:r>
          </a:p>
        </p:txBody>
      </p:sp>
      <p:pic>
        <p:nvPicPr>
          <p:cNvPr id="7" name="Graphic 6" descr="Solar system">
            <a:extLst>
              <a:ext uri="{FF2B5EF4-FFF2-40B4-BE49-F238E27FC236}">
                <a16:creationId xmlns:a16="http://schemas.microsoft.com/office/drawing/2014/main" id="{03E1372B-AFF4-B64D-4499-BE4970DE1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4289" y="1055000"/>
            <a:ext cx="2816936" cy="2816936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4657060"/>
            <a:ext cx="5107781" cy="486440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71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21C58-8ADE-78CA-461C-99B468553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047" y="273844"/>
            <a:ext cx="8307421" cy="504369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100" b="1" dirty="0" err="1"/>
              <a:t>Adadelta</a:t>
            </a:r>
            <a:r>
              <a:rPr lang="en-US" sz="3100" b="1" dirty="0"/>
              <a:t> and RMS (Root Mean Square) Propagation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95E7F-BB41-145A-29F3-B7EC7A9D8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2221"/>
            <a:ext cx="7886700" cy="367057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RMSprop and </a:t>
            </a:r>
            <a:r>
              <a:rPr lang="en-US" dirty="0" err="1"/>
              <a:t>Adadelta</a:t>
            </a:r>
            <a:r>
              <a:rPr lang="en-US" dirty="0"/>
              <a:t> have both been </a:t>
            </a:r>
            <a:r>
              <a:rPr lang="en-US" dirty="0">
                <a:solidFill>
                  <a:srgbClr val="EE0000"/>
                </a:solidFill>
              </a:rPr>
              <a:t>developed independently around the same time</a:t>
            </a:r>
            <a:r>
              <a:rPr lang="en-US" dirty="0"/>
              <a:t>, and they both use an identical approach.</a:t>
            </a:r>
          </a:p>
          <a:p>
            <a:r>
              <a:rPr lang="en-US" dirty="0"/>
              <a:t>Designed to address </a:t>
            </a:r>
            <a:r>
              <a:rPr lang="en-US" dirty="0" err="1"/>
              <a:t>Adagrad's</a:t>
            </a:r>
            <a:r>
              <a:rPr lang="en-US" dirty="0"/>
              <a:t> </a:t>
            </a:r>
            <a:r>
              <a:rPr lang="en-US" dirty="0">
                <a:solidFill>
                  <a:srgbClr val="EE0000"/>
                </a:solidFill>
              </a:rPr>
              <a:t>radically diminishing learning rates</a:t>
            </a:r>
            <a:r>
              <a:rPr lang="en-US" dirty="0"/>
              <a:t>. </a:t>
            </a:r>
          </a:p>
          <a:p>
            <a:pPr>
              <a:lnSpc>
                <a:spcPct val="160000"/>
              </a:lnSpc>
            </a:pPr>
            <a:r>
              <a:rPr lang="en-US" dirty="0"/>
              <a:t>RMSprop is an unpublished, adaptive learning rate method proposed by </a:t>
            </a:r>
            <a:r>
              <a:rPr lang="en-US" dirty="0">
                <a:solidFill>
                  <a:srgbClr val="EE0000"/>
                </a:solidFill>
              </a:rPr>
              <a:t>Geoff Hinton</a:t>
            </a:r>
            <a:r>
              <a:rPr lang="en-US" dirty="0"/>
              <a:t>.</a:t>
            </a:r>
          </a:p>
          <a:p>
            <a:r>
              <a:rPr lang="en-US" dirty="0" err="1"/>
              <a:t>Adadelta</a:t>
            </a:r>
            <a:r>
              <a:rPr lang="en-US" dirty="0"/>
              <a:t> and RMSprop are an </a:t>
            </a:r>
            <a:r>
              <a:rPr lang="en-US" dirty="0">
                <a:solidFill>
                  <a:srgbClr val="EE0000"/>
                </a:solidFill>
              </a:rPr>
              <a:t>extension of </a:t>
            </a:r>
            <a:r>
              <a:rPr lang="en-US" dirty="0" err="1">
                <a:solidFill>
                  <a:srgbClr val="EE0000"/>
                </a:solidFill>
              </a:rPr>
              <a:t>Adagrad</a:t>
            </a:r>
            <a:r>
              <a:rPr lang="en-US" dirty="0">
                <a:solidFill>
                  <a:srgbClr val="EE0000"/>
                </a:solidFill>
              </a:rPr>
              <a:t> </a:t>
            </a:r>
            <a:r>
              <a:rPr lang="en-US" dirty="0"/>
              <a:t>that seeks to reduce the aggressive decreasing learning rate.</a:t>
            </a:r>
          </a:p>
          <a:p>
            <a:r>
              <a:rPr lang="en-US" b="1" dirty="0">
                <a:solidFill>
                  <a:srgbClr val="EE0000"/>
                </a:solidFill>
              </a:rPr>
              <a:t>How it Work: </a:t>
            </a:r>
            <a:r>
              <a:rPr lang="en-US" dirty="0"/>
              <a:t>Instead of accumulating all past squared gradients, </a:t>
            </a:r>
            <a:r>
              <a:rPr lang="en-US" dirty="0" err="1"/>
              <a:t>Adadelta</a:t>
            </a:r>
            <a:r>
              <a:rPr lang="en-US" dirty="0"/>
              <a:t> restricts the window of accumulated past gradients to some fixed size w.</a:t>
            </a:r>
          </a:p>
          <a:p>
            <a:r>
              <a:rPr lang="en-US" dirty="0"/>
              <a:t>It gives </a:t>
            </a:r>
            <a:r>
              <a:rPr lang="en-US" dirty="0">
                <a:solidFill>
                  <a:srgbClr val="EE0000"/>
                </a:solidFill>
              </a:rPr>
              <a:t>more priority to recent gradients </a:t>
            </a:r>
            <a:r>
              <a:rPr lang="en-US" dirty="0"/>
              <a:t>while calculating the momentum.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761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871E-97CA-28D5-6C2C-8511325B0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835109"/>
          </a:xfrm>
        </p:spPr>
        <p:txBody>
          <a:bodyPr>
            <a:noAutofit/>
          </a:bodyPr>
          <a:lstStyle/>
          <a:p>
            <a:r>
              <a:rPr lang="en-US" sz="2400" b="1" dirty="0" err="1"/>
              <a:t>Adadelta</a:t>
            </a:r>
            <a:r>
              <a:rPr lang="en-US" sz="2400" b="1" dirty="0"/>
              <a:t> and RMS (Root Mean Square) Propagation</a:t>
            </a:r>
            <a:endParaRPr lang="en-US"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457F81-830D-1250-3D6A-C8A476DA9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965" y="1108953"/>
            <a:ext cx="7112899" cy="352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99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28DB-D1FF-9C1F-8768-BA05262F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519175"/>
          </a:xfrm>
        </p:spPr>
        <p:txBody>
          <a:bodyPr>
            <a:noAutofit/>
          </a:bodyPr>
          <a:lstStyle/>
          <a:p>
            <a:r>
              <a:rPr lang="en-US" sz="2400" b="1" dirty="0" err="1"/>
              <a:t>Adadelta</a:t>
            </a:r>
            <a:r>
              <a:rPr lang="en-US" sz="2400" b="1" dirty="0"/>
              <a:t> and RMS (Root Mean Square) Propagation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B689E-1557-E5BE-858B-2AB739AA7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20885"/>
            <a:ext cx="7886700" cy="37118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Advantages: </a:t>
            </a:r>
          </a:p>
          <a:p>
            <a:r>
              <a:rPr lang="en-US" dirty="0"/>
              <a:t>Achieves adaptive learning</a:t>
            </a:r>
          </a:p>
          <a:p>
            <a:r>
              <a:rPr lang="en-US" dirty="0"/>
              <a:t>Addresses the issue of </a:t>
            </a:r>
            <a:r>
              <a:rPr lang="en-US" b="1" dirty="0">
                <a:solidFill>
                  <a:srgbClr val="EE0000"/>
                </a:solidFill>
              </a:rPr>
              <a:t>undershooting and overshooting </a:t>
            </a:r>
            <a:r>
              <a:rPr lang="en-US" dirty="0"/>
              <a:t>of </a:t>
            </a:r>
            <a:r>
              <a:rPr lang="en-US" dirty="0" err="1"/>
              <a:t>Adagrad</a:t>
            </a:r>
            <a:r>
              <a:rPr lang="en-US" dirty="0"/>
              <a:t> and SGD with momentum.</a:t>
            </a:r>
          </a:p>
          <a:p>
            <a:r>
              <a:rPr lang="en-US" dirty="0"/>
              <a:t>Solves </a:t>
            </a:r>
            <a:r>
              <a:rPr lang="en-US" dirty="0">
                <a:solidFill>
                  <a:srgbClr val="EE0000"/>
                </a:solidFill>
              </a:rPr>
              <a:t>the vanishing gradient </a:t>
            </a:r>
            <a:r>
              <a:rPr lang="en-US" dirty="0"/>
              <a:t>problem</a:t>
            </a:r>
          </a:p>
          <a:p>
            <a:pPr marL="0" indent="0">
              <a:buNone/>
            </a:pPr>
            <a:r>
              <a:rPr lang="en-US" dirty="0"/>
              <a:t>Disadvantages:</a:t>
            </a:r>
          </a:p>
          <a:p>
            <a:r>
              <a:rPr lang="en-US" dirty="0"/>
              <a:t>Computationally expensive.</a:t>
            </a:r>
          </a:p>
          <a:p>
            <a:r>
              <a:rPr lang="en-US" dirty="0"/>
              <a:t>Convergence is a little slower than momentum.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075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C0CE8-29C3-1C61-F295-382280524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588675"/>
          </a:xfrm>
        </p:spPr>
        <p:txBody>
          <a:bodyPr/>
          <a:lstStyle/>
          <a:p>
            <a:r>
              <a:rPr lang="en-US" dirty="0"/>
              <a:t>Adam (Adaptive Moment Estimation)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08B0C-0901-EFA2-C43A-C508EAC67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1132"/>
            <a:ext cx="7886700" cy="3601591"/>
          </a:xfrm>
        </p:spPr>
        <p:txBody>
          <a:bodyPr/>
          <a:lstStyle/>
          <a:p>
            <a:r>
              <a:rPr lang="en-US" dirty="0"/>
              <a:t>Its another method that computes </a:t>
            </a:r>
            <a:r>
              <a:rPr lang="en-US" b="1" dirty="0">
                <a:solidFill>
                  <a:srgbClr val="EE0000"/>
                </a:solidFill>
              </a:rPr>
              <a:t>adaptive learning </a:t>
            </a:r>
            <a:r>
              <a:rPr lang="en-US" dirty="0"/>
              <a:t>rates.</a:t>
            </a:r>
          </a:p>
          <a:p>
            <a:r>
              <a:rPr lang="en-US" dirty="0"/>
              <a:t>Most </a:t>
            </a:r>
            <a:r>
              <a:rPr lang="en-US" b="1" dirty="0">
                <a:solidFill>
                  <a:srgbClr val="EE0000"/>
                </a:solidFill>
              </a:rPr>
              <a:t>powerful optimization </a:t>
            </a:r>
            <a:r>
              <a:rPr lang="en-US" dirty="0"/>
              <a:t>algorithm, most widely used, and best suited to handle </a:t>
            </a:r>
            <a:r>
              <a:rPr lang="en-US" b="1" dirty="0">
                <a:solidFill>
                  <a:srgbClr val="EE0000"/>
                </a:solidFill>
              </a:rPr>
              <a:t>noisy data</a:t>
            </a:r>
            <a:r>
              <a:rPr lang="en-US" dirty="0"/>
              <a:t>.</a:t>
            </a:r>
          </a:p>
          <a:p>
            <a:r>
              <a:rPr lang="en-US" dirty="0"/>
              <a:t>It combines the </a:t>
            </a:r>
            <a:r>
              <a:rPr lang="en-US" b="1" dirty="0">
                <a:solidFill>
                  <a:srgbClr val="EE0000"/>
                </a:solidFill>
              </a:rPr>
              <a:t>Velocity or momentum </a:t>
            </a:r>
            <a:r>
              <a:rPr lang="en-US" dirty="0"/>
              <a:t>of SGD with Momentum with a </a:t>
            </a:r>
            <a:r>
              <a:rPr lang="en-US" b="1" dirty="0">
                <a:solidFill>
                  <a:srgbClr val="EE0000"/>
                </a:solidFill>
              </a:rPr>
              <a:t>running average </a:t>
            </a:r>
            <a:r>
              <a:rPr lang="en-US" dirty="0"/>
              <a:t>of RMS prop.</a:t>
            </a:r>
          </a:p>
        </p:txBody>
      </p:sp>
    </p:spTree>
    <p:extLst>
      <p:ext uri="{BB962C8B-B14F-4D97-AF65-F5344CB8AC3E}">
        <p14:creationId xmlns:p14="http://schemas.microsoft.com/office/powerpoint/2010/main" val="2728953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67C3-464E-2D9A-AAF9-9B5BF0A8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556250"/>
          </a:xfrm>
        </p:spPr>
        <p:txBody>
          <a:bodyPr/>
          <a:lstStyle/>
          <a:p>
            <a:r>
              <a:rPr lang="en-US" dirty="0"/>
              <a:t>Adam (Adaptive Moment Estimation)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760E03-D2CF-E84C-D166-3D3FC8650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251627"/>
            <a:ext cx="6776936" cy="338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521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5C92-3B88-CDEF-7C24-EF9C0321D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34071"/>
          </a:xfrm>
        </p:spPr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6570E-BAC9-5B42-A943-CDC72F7A8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99745"/>
            <a:ext cx="7886700" cy="34329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Advantages:</a:t>
            </a:r>
          </a:p>
          <a:p>
            <a:r>
              <a:rPr lang="en-US" dirty="0"/>
              <a:t>Fast convergence</a:t>
            </a:r>
          </a:p>
          <a:p>
            <a:r>
              <a:rPr lang="en-US" dirty="0"/>
              <a:t>Widely supported</a:t>
            </a:r>
          </a:p>
          <a:p>
            <a:r>
              <a:rPr lang="en-US" dirty="0"/>
              <a:t>Address vanishing gradient and exploding decay problems</a:t>
            </a:r>
          </a:p>
          <a:p>
            <a:pPr marL="0" indent="0">
              <a:buNone/>
            </a:pPr>
            <a:r>
              <a:rPr lang="en-US" dirty="0"/>
              <a:t>Disadvantage:</a:t>
            </a:r>
          </a:p>
          <a:p>
            <a:r>
              <a:rPr lang="en-US" dirty="0"/>
              <a:t>Computationally more expensive.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291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BD45-B96A-1D6B-B2D2-B2764348D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6537393" cy="530309"/>
          </a:xfrm>
        </p:spPr>
        <p:txBody>
          <a:bodyPr>
            <a:normAutofit fontScale="90000"/>
          </a:bodyPr>
          <a:lstStyle/>
          <a:p>
            <a:r>
              <a:rPr lang="en-US" dirty="0"/>
              <a:t>Limitations of ANN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79F63-AD81-44CE-C4D1-97CC0B13C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40340"/>
            <a:ext cx="7886700" cy="3692383"/>
          </a:xfrm>
        </p:spPr>
        <p:txBody>
          <a:bodyPr/>
          <a:lstStyle/>
          <a:p>
            <a:r>
              <a:rPr lang="en-US" b="1" dirty="0">
                <a:solidFill>
                  <a:srgbClr val="EE0000"/>
                </a:solidFill>
              </a:rPr>
              <a:t>Fail to handle sequential data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6E5171-621F-E820-BFF7-B469F6C5F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88934"/>
            <a:ext cx="7701089" cy="307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6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51491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DE348-AA2F-E82D-880E-2C8AE5EA5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581" y="514350"/>
            <a:ext cx="3264837" cy="1105999"/>
          </a:xfrm>
        </p:spPr>
        <p:txBody>
          <a:bodyPr anchor="b">
            <a:normAutofit/>
          </a:bodyPr>
          <a:lstStyle/>
          <a:p>
            <a:pPr algn="ctr"/>
            <a:r>
              <a:rPr lang="en-US" sz="2400">
                <a:solidFill>
                  <a:srgbClr val="595959"/>
                </a:solidFill>
              </a:rPr>
              <a:t>RNN(Recurrent Neural Network)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B5CC-F039-6087-7E7A-123B1DC1E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581" y="1835502"/>
            <a:ext cx="3264837" cy="2827826"/>
          </a:xfrm>
        </p:spPr>
        <p:txBody>
          <a:bodyPr anchor="t">
            <a:normAutofit/>
          </a:bodyPr>
          <a:lstStyle/>
          <a:p>
            <a:r>
              <a:rPr lang="en-US" sz="1500" b="1" dirty="0">
                <a:solidFill>
                  <a:srgbClr val="595959"/>
                </a:solidFill>
              </a:rPr>
              <a:t>What is RNN??:  </a:t>
            </a:r>
            <a:r>
              <a:rPr lang="en-US" sz="1500" dirty="0">
                <a:solidFill>
                  <a:srgbClr val="595959"/>
                </a:solidFill>
              </a:rPr>
              <a:t>Recurrent Neural Network(RNN) is a type of Neural Network where the output from the previous step is fed as input to the current step.</a:t>
            </a:r>
          </a:p>
          <a:p>
            <a:r>
              <a:rPr lang="en-US" sz="1500" dirty="0">
                <a:solidFill>
                  <a:srgbClr val="595959"/>
                </a:solidFill>
              </a:rPr>
              <a:t>RNN retains the semantic meaning of the data, unlike ANNs, which treat every input independently.</a:t>
            </a:r>
          </a:p>
          <a:p>
            <a:pPr marL="0" indent="0">
              <a:buNone/>
            </a:pPr>
            <a:endParaRPr lang="en-US" sz="1500" b="1" dirty="0">
              <a:solidFill>
                <a:srgbClr val="59595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A3EFD-D630-B7DF-F48E-94A36B61A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789942"/>
            <a:ext cx="3597792" cy="3597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3851AD-6254-1B7A-CDA1-31B858808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47" y="3792421"/>
            <a:ext cx="4024737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55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7A8F0-6EC7-884D-9BCB-568B70B18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342900"/>
            <a:ext cx="8182230" cy="10264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5000" dirty="0"/>
              <a:t>Input to RNN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388012"/>
            <a:ext cx="2468880" cy="13716"/>
          </a:xfrm>
          <a:custGeom>
            <a:avLst/>
            <a:gdLst>
              <a:gd name="csX0" fmla="*/ 0 w 2468880"/>
              <a:gd name="csY0" fmla="*/ 0 h 13716"/>
              <a:gd name="csX1" fmla="*/ 592531 w 2468880"/>
              <a:gd name="csY1" fmla="*/ 0 h 13716"/>
              <a:gd name="csX2" fmla="*/ 1160374 w 2468880"/>
              <a:gd name="csY2" fmla="*/ 0 h 13716"/>
              <a:gd name="csX3" fmla="*/ 1728216 w 2468880"/>
              <a:gd name="csY3" fmla="*/ 0 h 13716"/>
              <a:gd name="csX4" fmla="*/ 2468880 w 2468880"/>
              <a:gd name="csY4" fmla="*/ 0 h 13716"/>
              <a:gd name="csX5" fmla="*/ 2468880 w 2468880"/>
              <a:gd name="csY5" fmla="*/ 13716 h 13716"/>
              <a:gd name="csX6" fmla="*/ 1802282 w 2468880"/>
              <a:gd name="csY6" fmla="*/ 13716 h 13716"/>
              <a:gd name="csX7" fmla="*/ 1209751 w 2468880"/>
              <a:gd name="csY7" fmla="*/ 13716 h 13716"/>
              <a:gd name="csX8" fmla="*/ 641909 w 2468880"/>
              <a:gd name="csY8" fmla="*/ 13716 h 13716"/>
              <a:gd name="csX9" fmla="*/ 0 w 2468880"/>
              <a:gd name="csY9" fmla="*/ 13716 h 13716"/>
              <a:gd name="csX10" fmla="*/ 0 w 2468880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3716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530" y="5728"/>
                  <a:pt x="2468490" y="7624"/>
                  <a:pt x="2468880" y="13716"/>
                </a:cubicBezTo>
                <a:cubicBezTo>
                  <a:pt x="2229297" y="-19231"/>
                  <a:pt x="2066775" y="25681"/>
                  <a:pt x="1802282" y="13716"/>
                </a:cubicBezTo>
                <a:cubicBezTo>
                  <a:pt x="1537789" y="1751"/>
                  <a:pt x="1379930" y="17694"/>
                  <a:pt x="1209751" y="13716"/>
                </a:cubicBezTo>
                <a:cubicBezTo>
                  <a:pt x="1039572" y="9738"/>
                  <a:pt x="837025" y="8278"/>
                  <a:pt x="641909" y="13716"/>
                </a:cubicBezTo>
                <a:cubicBezTo>
                  <a:pt x="446793" y="19154"/>
                  <a:pt x="170561" y="13900"/>
                  <a:pt x="0" y="13716"/>
                </a:cubicBezTo>
                <a:cubicBezTo>
                  <a:pt x="-302" y="10335"/>
                  <a:pt x="417" y="4724"/>
                  <a:pt x="0" y="0"/>
                </a:cubicBezTo>
                <a:close/>
              </a:path>
              <a:path w="2468880" h="13716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9409" y="5071"/>
                  <a:pt x="2469155" y="7437"/>
                  <a:pt x="2468880" y="13716"/>
                </a:cubicBezTo>
                <a:cubicBezTo>
                  <a:pt x="2271330" y="32027"/>
                  <a:pt x="2001027" y="26982"/>
                  <a:pt x="1876349" y="13716"/>
                </a:cubicBezTo>
                <a:cubicBezTo>
                  <a:pt x="1751671" y="450"/>
                  <a:pt x="1364652" y="10491"/>
                  <a:pt x="1209751" y="13716"/>
                </a:cubicBezTo>
                <a:cubicBezTo>
                  <a:pt x="1054850" y="16941"/>
                  <a:pt x="748438" y="15502"/>
                  <a:pt x="617220" y="13716"/>
                </a:cubicBezTo>
                <a:cubicBezTo>
                  <a:pt x="486002" y="11930"/>
                  <a:pt x="237432" y="22628"/>
                  <a:pt x="0" y="13716"/>
                </a:cubicBezTo>
                <a:cubicBezTo>
                  <a:pt x="198" y="8947"/>
                  <a:pt x="304" y="52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95E6BA-A7E5-17A8-6007-DABC8BBEF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030" y="2197212"/>
            <a:ext cx="4210812" cy="2273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472119-A11A-5FFF-5164-A7031C497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2197212"/>
            <a:ext cx="4210812" cy="227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54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DE923-00CD-0805-0528-4E796EBF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342900"/>
            <a:ext cx="8182230" cy="74765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 defTabSz="914400"/>
            <a:r>
              <a:rPr lang="en-US" sz="5000" dirty="0"/>
              <a:t>Input to RNN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388012"/>
            <a:ext cx="2468880" cy="13716"/>
          </a:xfrm>
          <a:custGeom>
            <a:avLst/>
            <a:gdLst>
              <a:gd name="csX0" fmla="*/ 0 w 2468880"/>
              <a:gd name="csY0" fmla="*/ 0 h 13716"/>
              <a:gd name="csX1" fmla="*/ 592531 w 2468880"/>
              <a:gd name="csY1" fmla="*/ 0 h 13716"/>
              <a:gd name="csX2" fmla="*/ 1160374 w 2468880"/>
              <a:gd name="csY2" fmla="*/ 0 h 13716"/>
              <a:gd name="csX3" fmla="*/ 1728216 w 2468880"/>
              <a:gd name="csY3" fmla="*/ 0 h 13716"/>
              <a:gd name="csX4" fmla="*/ 2468880 w 2468880"/>
              <a:gd name="csY4" fmla="*/ 0 h 13716"/>
              <a:gd name="csX5" fmla="*/ 2468880 w 2468880"/>
              <a:gd name="csY5" fmla="*/ 13716 h 13716"/>
              <a:gd name="csX6" fmla="*/ 1802282 w 2468880"/>
              <a:gd name="csY6" fmla="*/ 13716 h 13716"/>
              <a:gd name="csX7" fmla="*/ 1209751 w 2468880"/>
              <a:gd name="csY7" fmla="*/ 13716 h 13716"/>
              <a:gd name="csX8" fmla="*/ 641909 w 2468880"/>
              <a:gd name="csY8" fmla="*/ 13716 h 13716"/>
              <a:gd name="csX9" fmla="*/ 0 w 2468880"/>
              <a:gd name="csY9" fmla="*/ 13716 h 13716"/>
              <a:gd name="csX10" fmla="*/ 0 w 2468880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3716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530" y="5728"/>
                  <a:pt x="2468490" y="7624"/>
                  <a:pt x="2468880" y="13716"/>
                </a:cubicBezTo>
                <a:cubicBezTo>
                  <a:pt x="2229297" y="-19231"/>
                  <a:pt x="2066775" y="25681"/>
                  <a:pt x="1802282" y="13716"/>
                </a:cubicBezTo>
                <a:cubicBezTo>
                  <a:pt x="1537789" y="1751"/>
                  <a:pt x="1379930" y="17694"/>
                  <a:pt x="1209751" y="13716"/>
                </a:cubicBezTo>
                <a:cubicBezTo>
                  <a:pt x="1039572" y="9738"/>
                  <a:pt x="837025" y="8278"/>
                  <a:pt x="641909" y="13716"/>
                </a:cubicBezTo>
                <a:cubicBezTo>
                  <a:pt x="446793" y="19154"/>
                  <a:pt x="170561" y="13900"/>
                  <a:pt x="0" y="13716"/>
                </a:cubicBezTo>
                <a:cubicBezTo>
                  <a:pt x="-302" y="10335"/>
                  <a:pt x="417" y="4724"/>
                  <a:pt x="0" y="0"/>
                </a:cubicBezTo>
                <a:close/>
              </a:path>
              <a:path w="2468880" h="13716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9409" y="5071"/>
                  <a:pt x="2469155" y="7437"/>
                  <a:pt x="2468880" y="13716"/>
                </a:cubicBezTo>
                <a:cubicBezTo>
                  <a:pt x="2271330" y="32027"/>
                  <a:pt x="2001027" y="26982"/>
                  <a:pt x="1876349" y="13716"/>
                </a:cubicBezTo>
                <a:cubicBezTo>
                  <a:pt x="1751671" y="450"/>
                  <a:pt x="1364652" y="10491"/>
                  <a:pt x="1209751" y="13716"/>
                </a:cubicBezTo>
                <a:cubicBezTo>
                  <a:pt x="1054850" y="16941"/>
                  <a:pt x="748438" y="15502"/>
                  <a:pt x="617220" y="13716"/>
                </a:cubicBezTo>
                <a:cubicBezTo>
                  <a:pt x="486002" y="11930"/>
                  <a:pt x="237432" y="22628"/>
                  <a:pt x="0" y="13716"/>
                </a:cubicBezTo>
                <a:cubicBezTo>
                  <a:pt x="198" y="8947"/>
                  <a:pt x="304" y="52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58B27F-CAB9-768B-FDCD-0A21ACB263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5631" y="1952227"/>
            <a:ext cx="4210812" cy="2273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3430C4-9AEE-7610-7992-39A2BFF77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62" y="2007993"/>
            <a:ext cx="3540898" cy="227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800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ECC5F-49F3-CDD7-AEC1-AF505C002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313182"/>
            <a:ext cx="8182230" cy="9370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Output from RNN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300090"/>
            <a:ext cx="3429000" cy="13716"/>
          </a:xfrm>
          <a:custGeom>
            <a:avLst/>
            <a:gdLst>
              <a:gd name="csX0" fmla="*/ 0 w 3429000"/>
              <a:gd name="csY0" fmla="*/ 0 h 13716"/>
              <a:gd name="csX1" fmla="*/ 685800 w 3429000"/>
              <a:gd name="csY1" fmla="*/ 0 h 13716"/>
              <a:gd name="csX2" fmla="*/ 1371600 w 3429000"/>
              <a:gd name="csY2" fmla="*/ 0 h 13716"/>
              <a:gd name="csX3" fmla="*/ 2057400 w 3429000"/>
              <a:gd name="csY3" fmla="*/ 0 h 13716"/>
              <a:gd name="csX4" fmla="*/ 2674620 w 3429000"/>
              <a:gd name="csY4" fmla="*/ 0 h 13716"/>
              <a:gd name="csX5" fmla="*/ 3429000 w 3429000"/>
              <a:gd name="csY5" fmla="*/ 0 h 13716"/>
              <a:gd name="csX6" fmla="*/ 3429000 w 3429000"/>
              <a:gd name="csY6" fmla="*/ 13716 h 13716"/>
              <a:gd name="csX7" fmla="*/ 2811780 w 3429000"/>
              <a:gd name="csY7" fmla="*/ 13716 h 13716"/>
              <a:gd name="csX8" fmla="*/ 2228850 w 3429000"/>
              <a:gd name="csY8" fmla="*/ 13716 h 13716"/>
              <a:gd name="csX9" fmla="*/ 1543050 w 3429000"/>
              <a:gd name="csY9" fmla="*/ 13716 h 13716"/>
              <a:gd name="csX10" fmla="*/ 925830 w 3429000"/>
              <a:gd name="csY10" fmla="*/ 13716 h 13716"/>
              <a:gd name="csX11" fmla="*/ 0 w 3429000"/>
              <a:gd name="csY11" fmla="*/ 13716 h 13716"/>
              <a:gd name="csX12" fmla="*/ 0 w 3429000"/>
              <a:gd name="csY12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3716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214" y="4075"/>
                  <a:pt x="3429316" y="9784"/>
                  <a:pt x="3429000" y="13716"/>
                </a:cubicBezTo>
                <a:cubicBezTo>
                  <a:pt x="3221081" y="44036"/>
                  <a:pt x="3088001" y="3494"/>
                  <a:pt x="2811780" y="13716"/>
                </a:cubicBezTo>
                <a:cubicBezTo>
                  <a:pt x="2535559" y="23938"/>
                  <a:pt x="2481355" y="20326"/>
                  <a:pt x="2228850" y="13716"/>
                </a:cubicBezTo>
                <a:cubicBezTo>
                  <a:pt x="1976345" y="7107"/>
                  <a:pt x="1807520" y="43784"/>
                  <a:pt x="1543050" y="13716"/>
                </a:cubicBezTo>
                <a:cubicBezTo>
                  <a:pt x="1278580" y="-16352"/>
                  <a:pt x="1181944" y="551"/>
                  <a:pt x="925830" y="13716"/>
                </a:cubicBezTo>
                <a:cubicBezTo>
                  <a:pt x="669716" y="26881"/>
                  <a:pt x="410304" y="30243"/>
                  <a:pt x="0" y="13716"/>
                </a:cubicBezTo>
                <a:cubicBezTo>
                  <a:pt x="-535" y="8247"/>
                  <a:pt x="-201" y="2959"/>
                  <a:pt x="0" y="0"/>
                </a:cubicBezTo>
                <a:close/>
              </a:path>
              <a:path w="3429000" h="13716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8434" y="5320"/>
                  <a:pt x="3428676" y="9001"/>
                  <a:pt x="3429000" y="13716"/>
                </a:cubicBezTo>
                <a:cubicBezTo>
                  <a:pt x="3103464" y="-3979"/>
                  <a:pt x="2887909" y="18368"/>
                  <a:pt x="2743200" y="13716"/>
                </a:cubicBezTo>
                <a:cubicBezTo>
                  <a:pt x="2598491" y="9064"/>
                  <a:pt x="2362615" y="6084"/>
                  <a:pt x="1988820" y="13716"/>
                </a:cubicBezTo>
                <a:cubicBezTo>
                  <a:pt x="1615025" y="21348"/>
                  <a:pt x="1580494" y="-880"/>
                  <a:pt x="1405890" y="13716"/>
                </a:cubicBezTo>
                <a:cubicBezTo>
                  <a:pt x="1231286" y="28312"/>
                  <a:pt x="885259" y="-20857"/>
                  <a:pt x="651510" y="13716"/>
                </a:cubicBezTo>
                <a:cubicBezTo>
                  <a:pt x="417761" y="48289"/>
                  <a:pt x="138362" y="-18428"/>
                  <a:pt x="0" y="13716"/>
                </a:cubicBezTo>
                <a:cubicBezTo>
                  <a:pt x="58" y="7834"/>
                  <a:pt x="453" y="58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2294F5C-4C8C-5957-D268-72A4D025A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0750" y="1715294"/>
            <a:ext cx="47625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423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4653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437E51-0127-82C6-A2E7-0760A088A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RNN unfolding through timestamp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7DCF0C-AAB8-E164-9551-8F44F52BA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8950" y="973351"/>
            <a:ext cx="5391149" cy="319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392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22893F-87F2-CB76-02EE-01BD6C7B6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006" r="-2" b="26641"/>
          <a:stretch>
            <a:fillRect/>
          </a:stretch>
        </p:blipFill>
        <p:spPr>
          <a:xfrm>
            <a:off x="-4941" y="10"/>
            <a:ext cx="9148941" cy="51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50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1045</TotalTime>
  <Words>883</Words>
  <Application>Microsoft Office PowerPoint</Application>
  <PresentationFormat>On-screen Show (16:9)</PresentationFormat>
  <Paragraphs>119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Aptos Display</vt:lpstr>
      <vt:lpstr>Aptos</vt:lpstr>
      <vt:lpstr>Office Theme</vt:lpstr>
      <vt:lpstr>Activation functions in Neural Networks </vt:lpstr>
      <vt:lpstr>Properties of Good Activation Function</vt:lpstr>
      <vt:lpstr>Non-Linear Activation Functions Sigmoid Function  </vt:lpstr>
      <vt:lpstr> Tanh Function  </vt:lpstr>
      <vt:lpstr>ReLU (Rectified Linear Unit) Function  </vt:lpstr>
      <vt:lpstr>Softmax function </vt:lpstr>
      <vt:lpstr>Mini-Batch Gradient Descent </vt:lpstr>
      <vt:lpstr>Mini-Batch</vt:lpstr>
      <vt:lpstr>Implementation </vt:lpstr>
      <vt:lpstr>SGD with Momentum</vt:lpstr>
      <vt:lpstr>SGD with Momentum</vt:lpstr>
      <vt:lpstr>Adagrad (Adaptive Gradient Descent)</vt:lpstr>
      <vt:lpstr>Adagrad (Adaptive Gradient Descent)</vt:lpstr>
      <vt:lpstr> Adadelta and RMS (Root Mean Square) Propagation </vt:lpstr>
      <vt:lpstr>Adadelta and RMS (Root Mean Square) Propagation</vt:lpstr>
      <vt:lpstr>Adadelta and RMS (Root Mean Square) Propagation</vt:lpstr>
      <vt:lpstr>Adam (Adaptive Moment Estimation)</vt:lpstr>
      <vt:lpstr>Adam (Adaptive Moment Estimation)</vt:lpstr>
      <vt:lpstr>Adam</vt:lpstr>
      <vt:lpstr>Limitations of ANN</vt:lpstr>
      <vt:lpstr>RNN(Recurrent Neural Network)</vt:lpstr>
      <vt:lpstr>Input to RNN</vt:lpstr>
      <vt:lpstr>Input to RNN</vt:lpstr>
      <vt:lpstr>Output from RNN</vt:lpstr>
      <vt:lpstr>RNN unfolding through timestamp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</dc:title>
  <cp:lastModifiedBy>Shankar Biradar [MAHE-MIT]</cp:lastModifiedBy>
  <cp:revision>26</cp:revision>
  <dcterms:modified xsi:type="dcterms:W3CDTF">2026-02-17T18:15:29Z</dcterms:modified>
</cp:coreProperties>
</file>