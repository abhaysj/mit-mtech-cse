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9.xml" ContentType="application/vnd.openxmlformats-officedocument.presentationml.notesSlide+xml"/>
  <Override PartName="/ppt/notesSlides/notesSlide94.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95.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37.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1"/>
  </p:notesMasterIdLst>
  <p:sldIdLst>
    <p:sldId id="256" r:id="rId2"/>
    <p:sldId id="281" r:id="rId3"/>
    <p:sldId id="257" r:id="rId4"/>
    <p:sldId id="258" r:id="rId5"/>
    <p:sldId id="285" r:id="rId6"/>
    <p:sldId id="260" r:id="rId7"/>
    <p:sldId id="262" r:id="rId8"/>
    <p:sldId id="263" r:id="rId9"/>
    <p:sldId id="264" r:id="rId10"/>
    <p:sldId id="265" r:id="rId11"/>
    <p:sldId id="266" r:id="rId12"/>
    <p:sldId id="268" r:id="rId13"/>
    <p:sldId id="267" r:id="rId14"/>
    <p:sldId id="284" r:id="rId15"/>
    <p:sldId id="270" r:id="rId16"/>
    <p:sldId id="272" r:id="rId17"/>
    <p:sldId id="273" r:id="rId18"/>
    <p:sldId id="271" r:id="rId19"/>
    <p:sldId id="274" r:id="rId20"/>
    <p:sldId id="282" r:id="rId21"/>
    <p:sldId id="286" r:id="rId22"/>
    <p:sldId id="283" r:id="rId23"/>
    <p:sldId id="287" r:id="rId24"/>
    <p:sldId id="288" r:id="rId25"/>
    <p:sldId id="289" r:id="rId26"/>
    <p:sldId id="290" r:id="rId27"/>
    <p:sldId id="292" r:id="rId28"/>
    <p:sldId id="293" r:id="rId29"/>
    <p:sldId id="294" r:id="rId30"/>
    <p:sldId id="295" r:id="rId31"/>
    <p:sldId id="296" r:id="rId32"/>
    <p:sldId id="297" r:id="rId33"/>
    <p:sldId id="298" r:id="rId34"/>
    <p:sldId id="299" r:id="rId35"/>
    <p:sldId id="300" r:id="rId36"/>
    <p:sldId id="301" r:id="rId37"/>
    <p:sldId id="303" r:id="rId38"/>
    <p:sldId id="302" r:id="rId39"/>
    <p:sldId id="304" r:id="rId40"/>
    <p:sldId id="305" r:id="rId41"/>
    <p:sldId id="316" r:id="rId42"/>
    <p:sldId id="306" r:id="rId43"/>
    <p:sldId id="400" r:id="rId44"/>
    <p:sldId id="401" r:id="rId45"/>
    <p:sldId id="402" r:id="rId46"/>
    <p:sldId id="307" r:id="rId47"/>
    <p:sldId id="318" r:id="rId48"/>
    <p:sldId id="319" r:id="rId49"/>
    <p:sldId id="403" r:id="rId50"/>
    <p:sldId id="308" r:id="rId51"/>
    <p:sldId id="328" r:id="rId52"/>
    <p:sldId id="404" r:id="rId53"/>
    <p:sldId id="309" r:id="rId54"/>
    <p:sldId id="310" r:id="rId55"/>
    <p:sldId id="311" r:id="rId56"/>
    <p:sldId id="312" r:id="rId57"/>
    <p:sldId id="405" r:id="rId58"/>
    <p:sldId id="313" r:id="rId59"/>
    <p:sldId id="406" r:id="rId60"/>
    <p:sldId id="407" r:id="rId61"/>
    <p:sldId id="314" r:id="rId62"/>
    <p:sldId id="399" r:id="rId63"/>
    <p:sldId id="408" r:id="rId64"/>
    <p:sldId id="409" r:id="rId65"/>
    <p:sldId id="315" r:id="rId66"/>
    <p:sldId id="317" r:id="rId67"/>
    <p:sldId id="410" r:id="rId68"/>
    <p:sldId id="379" r:id="rId69"/>
    <p:sldId id="320" r:id="rId70"/>
    <p:sldId id="327" r:id="rId71"/>
    <p:sldId id="326" r:id="rId72"/>
    <p:sldId id="329" r:id="rId73"/>
    <p:sldId id="330" r:id="rId74"/>
    <p:sldId id="325" r:id="rId75"/>
    <p:sldId id="413" r:id="rId76"/>
    <p:sldId id="323" r:id="rId77"/>
    <p:sldId id="321" r:id="rId78"/>
    <p:sldId id="331" r:id="rId79"/>
    <p:sldId id="332" r:id="rId80"/>
    <p:sldId id="333" r:id="rId81"/>
    <p:sldId id="414" r:id="rId82"/>
    <p:sldId id="334" r:id="rId83"/>
    <p:sldId id="335" r:id="rId84"/>
    <p:sldId id="337" r:id="rId85"/>
    <p:sldId id="411" r:id="rId86"/>
    <p:sldId id="412" r:id="rId87"/>
    <p:sldId id="338" r:id="rId88"/>
    <p:sldId id="339" r:id="rId89"/>
    <p:sldId id="340" r:id="rId90"/>
    <p:sldId id="347" r:id="rId91"/>
    <p:sldId id="346" r:id="rId92"/>
    <p:sldId id="345" r:id="rId93"/>
    <p:sldId id="380" r:id="rId94"/>
    <p:sldId id="361" r:id="rId95"/>
    <p:sldId id="348" r:id="rId96"/>
    <p:sldId id="349" r:id="rId97"/>
    <p:sldId id="352" r:id="rId98"/>
    <p:sldId id="354" r:id="rId99"/>
    <p:sldId id="355" r:id="rId100"/>
    <p:sldId id="356" r:id="rId101"/>
    <p:sldId id="357" r:id="rId102"/>
    <p:sldId id="415" r:id="rId103"/>
    <p:sldId id="350" r:id="rId104"/>
    <p:sldId id="358" r:id="rId105"/>
    <p:sldId id="359" r:id="rId106"/>
    <p:sldId id="360" r:id="rId107"/>
    <p:sldId id="364" r:id="rId108"/>
    <p:sldId id="362" r:id="rId109"/>
    <p:sldId id="363" r:id="rId110"/>
    <p:sldId id="416" r:id="rId111"/>
    <p:sldId id="417" r:id="rId112"/>
    <p:sldId id="418" r:id="rId113"/>
    <p:sldId id="381" r:id="rId114"/>
    <p:sldId id="390" r:id="rId115"/>
    <p:sldId id="367" r:id="rId116"/>
    <p:sldId id="419" r:id="rId117"/>
    <p:sldId id="370" r:id="rId118"/>
    <p:sldId id="391" r:id="rId119"/>
    <p:sldId id="368" r:id="rId120"/>
    <p:sldId id="369" r:id="rId121"/>
    <p:sldId id="371" r:id="rId122"/>
    <p:sldId id="372" r:id="rId123"/>
    <p:sldId id="373" r:id="rId124"/>
    <p:sldId id="374" r:id="rId125"/>
    <p:sldId id="375" r:id="rId126"/>
    <p:sldId id="376" r:id="rId127"/>
    <p:sldId id="377" r:id="rId128"/>
    <p:sldId id="386" r:id="rId129"/>
    <p:sldId id="388" r:id="rId130"/>
    <p:sldId id="387" r:id="rId131"/>
    <p:sldId id="397" r:id="rId132"/>
    <p:sldId id="389" r:id="rId133"/>
    <p:sldId id="384" r:id="rId134"/>
    <p:sldId id="420" r:id="rId135"/>
    <p:sldId id="421" r:id="rId136"/>
    <p:sldId id="422" r:id="rId137"/>
    <p:sldId id="423" r:id="rId138"/>
    <p:sldId id="424" r:id="rId139"/>
    <p:sldId id="385" r:id="rId140"/>
    <p:sldId id="378" r:id="rId141"/>
    <p:sldId id="425" r:id="rId142"/>
    <p:sldId id="382" r:id="rId143"/>
    <p:sldId id="383" r:id="rId144"/>
    <p:sldId id="392" r:id="rId145"/>
    <p:sldId id="393" r:id="rId146"/>
    <p:sldId id="394" r:id="rId147"/>
    <p:sldId id="395" r:id="rId148"/>
    <p:sldId id="396" r:id="rId149"/>
    <p:sldId id="398" r:id="rId15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p:scale>
          <a:sx n="69" d="100"/>
          <a:sy n="69" d="100"/>
        </p:scale>
        <p:origin x="36"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tableStyles" Target="tableStyle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notesMaster" Target="notesMasters/notesMaster1.xml"/><Relationship Id="rId156" Type="http://schemas.openxmlformats.org/officeDocument/2006/relationships/customXml" Target="../customXml/item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customXml" Target="../customXml/item2.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customXml" Target="../customXml/item3.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theme" Target="theme/theme1.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C631A0-0A00-4BBD-BBDD-1371B8D64CD2}" type="datetimeFigureOut">
              <a:rPr lang="en-US" smtClean="0"/>
              <a:t>1/31/2025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6A7F7C4-99E3-4D42-8CFA-0962EEA6AB6F}" type="slidenum">
              <a:rPr lang="en-US" smtClean="0"/>
              <a:t>‹#›</a:t>
            </a:fld>
            <a:endParaRPr lang="en-US"/>
          </a:p>
        </p:txBody>
      </p:sp>
    </p:spTree>
    <p:extLst>
      <p:ext uri="{BB962C8B-B14F-4D97-AF65-F5344CB8AC3E}">
        <p14:creationId xmlns:p14="http://schemas.microsoft.com/office/powerpoint/2010/main" val="27128052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www.google.com/search?q=What+is+Xen+virtualization+in+cloud+computing?&amp;rlz=1C1CAFA_enIN763IN763&amp;sxsrf=AOaemvLlPlvkOp6omkkgu6SyLGyLQgvh3g:1631784130663&amp;tbm=isch&amp;source=iu&amp;ictx=1&amp;fir=jWyUUInBvb0sQM,ceRRpAdBANkm2M,_&amp;vet=1&amp;usg=AI4_-kS2Ly1g2Uo-Gl45K-SWpgJuL1Bgcw&amp;sa=X&amp;ved=2ahUKEwih59TLlYPzAhUNyzgGHXUsDAMQ9QF6BAguEAE#imgrc=jWyUUInBvb0sQM"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www.google.com/search?q=What+is+Xen+virtualization+in+cloud+computing?&amp;rlz=1C1CAFA_enIN763IN763&amp;sxsrf=AOaemvLlPlvkOp6omkkgu6SyLGyLQgvh3g:1631784130663&amp;tbm=isch&amp;source=iu&amp;ictx=1&amp;fir=jWyUUInBvb0sQM,ceRRpAdBANkm2M,_&amp;vet=1&amp;usg=AI4_-kS2Ly1g2Uo-Gl45K-SWpgJuL1Bgcw&amp;sa=X&amp;ved=2ahUKEwih59TLlYPzAhUNyzgGHXUsDAMQ9QF6BAguEAE#imgrc=jWyUUInBvb0sQM"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www.google.com/search?q=What+is+Xen+virtualization+in+cloud+computing?&amp;rlz=1C1CAFA_enIN763IN763&amp;sxsrf=AOaemvLlPlvkOp6omkkgu6SyLGyLQgvh3g:1631784130663&amp;tbm=isch&amp;source=iu&amp;ictx=1&amp;fir=jWyUUInBvb0sQM,ceRRpAdBANkm2M,_&amp;vet=1&amp;usg=AI4_-kS2Ly1g2Uo-Gl45K-SWpgJuL1Bgcw&amp;sa=X&amp;ved=2ahUKEwih59TLlYPzAhUNyzgGHXUsDAMQ9QF6BAguEAE#imgrc=jWyUUInBvb0sQM"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www.google.com/search?q=What+is+Xen+virtualization+in+cloud+computing?&amp;rlz=1C1CAFA_enIN763IN763&amp;sxsrf=AOaemvLlPlvkOp6omkkgu6SyLGyLQgvh3g:1631784130663&amp;tbm=isch&amp;source=iu&amp;ictx=1&amp;fir=jWyUUInBvb0sQM,ceRRpAdBANkm2M,_&amp;vet=1&amp;usg=AI4_-kS2Ly1g2Uo-Gl45K-SWpgJuL1Bgcw&amp;sa=X&amp;ved=2ahUKEwih59TLlYPzAhUNyzgGHXUsDAMQ9QF6BAguEAE#imgrc=jWyUUInBvb0sQM"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www.google.com/search?q=What+is+Xen+virtualization+in+cloud+computing?&amp;rlz=1C1CAFA_enIN763IN763&amp;sxsrf=AOaemvLlPlvkOp6omkkgu6SyLGyLQgvh3g:1631784130663&amp;tbm=isch&amp;source=iu&amp;ictx=1&amp;fir=jWyUUInBvb0sQM,ceRRpAdBANkm2M,_&amp;vet=1&amp;usg=AI4_-kS2Ly1g2Uo-Gl45K-SWpgJuL1Bgcw&amp;sa=X&amp;ved=2ahUKEwih59TLlYPzAhUNyzgGHXUsDAMQ9QF6BAguEAE#imgrc=jWyUUInBvb0sQM" TargetMode="External"/><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3" Type="http://schemas.openxmlformats.org/officeDocument/2006/relationships/hyperlink" Target="https://www.google.com/search?q=What+is+Xen+virtualization+in+cloud+computing?&amp;rlz=1C1CAFA_enIN763IN763&amp;sxsrf=AOaemvLlPlvkOp6omkkgu6SyLGyLQgvh3g:1631784130663&amp;tbm=isch&amp;source=iu&amp;ictx=1&amp;fir=jWyUUInBvb0sQM,ceRRpAdBANkm2M,_&amp;vet=1&amp;usg=AI4_-kS2Ly1g2Uo-Gl45K-SWpgJuL1Bgcw&amp;sa=X&amp;ved=2ahUKEwih59TLlYPzAhUNyzgGHXUsDAMQ9QF6BAguEAE#imgrc=jWyUUInBvb0sQM" TargetMode="External"/><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3" Type="http://schemas.openxmlformats.org/officeDocument/2006/relationships/hyperlink" Target="https://www.google.com/search?q=What+is+Xen+virtualization+in+cloud+computing?&amp;rlz=1C1CAFA_enIN763IN763&amp;sxsrf=AOaemvLlPlvkOp6omkkgu6SyLGyLQgvh3g:1631784130663&amp;tbm=isch&amp;source=iu&amp;ictx=1&amp;fir=jWyUUInBvb0sQM,ceRRpAdBANkm2M,_&amp;vet=1&amp;usg=AI4_-kS2Ly1g2Uo-Gl45K-SWpgJuL1Bgcw&amp;sa=X&amp;ved=2ahUKEwih59TLlYPzAhUNyzgGHXUsDAMQ9QF6BAguEAE#imgrc=jWyUUInBvb0sQM" TargetMode="External"/><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3" Type="http://schemas.openxmlformats.org/officeDocument/2006/relationships/hyperlink" Target="https://www.google.com/search?q=What+is+Xen+virtualization+in+cloud+computing?&amp;rlz=1C1CAFA_enIN763IN763&amp;sxsrf=AOaemvLlPlvkOp6omkkgu6SyLGyLQgvh3g:1631784130663&amp;tbm=isch&amp;source=iu&amp;ictx=1&amp;fir=jWyUUInBvb0sQM,ceRRpAdBANkm2M,_&amp;vet=1&amp;usg=AI4_-kS2Ly1g2Uo-Gl45K-SWpgJuL1Bgcw&amp;sa=X&amp;ved=2ahUKEwih59TLlYPzAhUNyzgGHXUsDAMQ9QF6BAguEAE#imgrc=jWyUUInBvb0sQM" TargetMode="External"/><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www.google.com/search?q=What+is+Xen+virtualization+in+cloud+computing?&amp;rlz=1C1CAFA_enIN763IN763&amp;sxsrf=AOaemvLlPlvkOp6omkkgu6SyLGyLQgvh3g:1631784130663&amp;tbm=isch&amp;source=iu&amp;ictx=1&amp;fir=jWyUUInBvb0sQM,ceRRpAdBANkm2M,_&amp;vet=1&amp;usg=AI4_-kS2Ly1g2Uo-Gl45K-SWpgJuL1Bgcw&amp;sa=X&amp;ved=2ahUKEwih59TLlYPzAhUNyzgGHXUsDAMQ9QF6BAguEAE#imgrc=jWyUUInBvb0sQM" TargetMode="External"/><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www.google.com/search?q=What+is+Xen+virtualization+in+cloud+computing?&amp;rlz=1C1CAFA_enIN763IN763&amp;sxsrf=AOaemvLlPlvkOp6omkkgu6SyLGyLQgvh3g:1631784130663&amp;tbm=isch&amp;source=iu&amp;ictx=1&amp;fir=jWyUUInBvb0sQM,ceRRpAdBANkm2M,_&amp;vet=1&amp;usg=AI4_-kS2Ly1g2Uo-Gl45K-SWpgJuL1Bgcw&amp;sa=X&amp;ved=2ahUKEwih59TLlYPzAhUNyzgGHXUsDAMQ9QF6BAguEAE#imgrc=jWyUUInBvb0sQM"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www.google.com/search?q=What+is+Xen+virtualization+in+cloud+computing?&amp;rlz=1C1CAFA_enIN763IN763&amp;sxsrf=AOaemvLlPlvkOp6omkkgu6SyLGyLQgvh3g:1631784130663&amp;tbm=isch&amp;source=iu&amp;ictx=1&amp;fir=jWyUUInBvb0sQM,ceRRpAdBANkm2M,_&amp;vet=1&amp;usg=AI4_-kS2Ly1g2Uo-Gl45K-SWpgJuL1Bgcw&amp;sa=X&amp;ved=2ahUKEwih59TLlYPzAhUNyzgGHXUsDAMQ9QF6BAguEAE#imgrc=jWyUUInBvb0sQM" TargetMode="External"/><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https://www.google.com/search?q=What+is+Xen+virtualization+in+cloud+computing?&amp;rlz=1C1CAFA_enIN763IN763&amp;sxsrf=AOaemvLlPlvkOp6omkkgu6SyLGyLQgvh3g:1631784130663&amp;tbm=isch&amp;source=iu&amp;ictx=1&amp;fir=jWyUUInBvb0sQM,ceRRpAdBANkm2M,_&amp;vet=1&amp;usg=AI4_-kS2Ly1g2Uo-Gl45K-SWpgJuL1Bgcw&amp;sa=X&amp;ved=2ahUKEwih59TLlYPzAhUNyzgGHXUsDAMQ9QF6BAguEAE#imgrc=jWyUUInBvb0sQM" TargetMode="External"/><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3" Type="http://schemas.openxmlformats.org/officeDocument/2006/relationships/hyperlink" Target="https://k21academy.com/docker-kubernetes/what-are-containers/" TargetMode="External"/><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Types of services in SOA</a:t>
            </a:r>
          </a:p>
          <a:p>
            <a:r>
              <a:rPr lang="en-US" sz="1200" b="0" i="0" kern="1200" dirty="0">
                <a:solidFill>
                  <a:schemeClr val="tx1"/>
                </a:solidFill>
                <a:effectLst/>
                <a:latin typeface="+mn-lt"/>
                <a:ea typeface="+mn-ea"/>
                <a:cs typeface="+mn-cs"/>
              </a:rPr>
              <a:t>Web services are software systems designed to support interoperable machine-to-machine interaction over a network. This interoperability is gained through a set of XML-based open standards, such as WSDL, SOAP, and UDDI.</a:t>
            </a:r>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3</a:t>
            </a:fld>
            <a:endParaRPr lang="en-US"/>
          </a:p>
        </p:txBody>
      </p:sp>
    </p:spTree>
    <p:extLst>
      <p:ext uri="{BB962C8B-B14F-4D97-AF65-F5344CB8AC3E}">
        <p14:creationId xmlns:p14="http://schemas.microsoft.com/office/powerpoint/2010/main" val="9072741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Cloud bursting is the practice of </a:t>
            </a:r>
            <a:r>
              <a:rPr lang="en-US" sz="1200" b="1" i="0" kern="1200" dirty="0">
                <a:solidFill>
                  <a:schemeClr val="tx1"/>
                </a:solidFill>
                <a:effectLst/>
                <a:latin typeface="+mn-lt"/>
                <a:ea typeface="+mn-ea"/>
                <a:cs typeface="+mn-cs"/>
              </a:rPr>
              <a:t>dynamically scaling public cloud resources to run workloads </a:t>
            </a:r>
            <a:r>
              <a:rPr lang="en-US" sz="1200" b="0" i="0" kern="1200" dirty="0">
                <a:solidFill>
                  <a:schemeClr val="tx1"/>
                </a:solidFill>
                <a:effectLst/>
                <a:latin typeface="+mn-lt"/>
                <a:ea typeface="+mn-ea"/>
                <a:cs typeface="+mn-cs"/>
              </a:rPr>
              <a:t>when on-premises data center resources are at their peak capacity.</a:t>
            </a:r>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8</a:t>
            </a:fld>
            <a:endParaRPr lang="en-US"/>
          </a:p>
        </p:txBody>
      </p:sp>
    </p:spTree>
    <p:extLst>
      <p:ext uri="{BB962C8B-B14F-4D97-AF65-F5344CB8AC3E}">
        <p14:creationId xmlns:p14="http://schemas.microsoft.com/office/powerpoint/2010/main" val="4310663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 service level agreement (SLA) is an outsourcing and technology vendor contract that outlines a level of service that a supplier promises to deliver to the customer. It outlines metrics such as uptime, delivery time, response time, and resolution time.</a:t>
            </a:r>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10</a:t>
            </a:fld>
            <a:endParaRPr lang="en-US"/>
          </a:p>
        </p:txBody>
      </p:sp>
    </p:spTree>
    <p:extLst>
      <p:ext uri="{BB962C8B-B14F-4D97-AF65-F5344CB8AC3E}">
        <p14:creationId xmlns:p14="http://schemas.microsoft.com/office/powerpoint/2010/main" val="15474612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SLA </a:t>
            </a:r>
          </a:p>
        </p:txBody>
      </p:sp>
      <p:sp>
        <p:nvSpPr>
          <p:cNvPr id="4" name="Slide Number Placeholder 3"/>
          <p:cNvSpPr>
            <a:spLocks noGrp="1"/>
          </p:cNvSpPr>
          <p:nvPr>
            <p:ph type="sldNum" sz="quarter" idx="10"/>
          </p:nvPr>
        </p:nvSpPr>
        <p:spPr/>
        <p:txBody>
          <a:bodyPr/>
          <a:lstStyle/>
          <a:p>
            <a:fld id="{86A7F7C4-99E3-4D42-8CFA-0962EEA6AB6F}" type="slidenum">
              <a:rPr lang="en-US" smtClean="0"/>
              <a:t>11</a:t>
            </a:fld>
            <a:endParaRPr lang="en-US"/>
          </a:p>
        </p:txBody>
      </p:sp>
    </p:spTree>
    <p:extLst>
      <p:ext uri="{BB962C8B-B14F-4D97-AF65-F5344CB8AC3E}">
        <p14:creationId xmlns:p14="http://schemas.microsoft.com/office/powerpoint/2010/main" val="17614982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Why are IP addresses collected?</a:t>
            </a:r>
          </a:p>
          <a:p>
            <a:r>
              <a:rPr lang="en-US" sz="1200" b="0" i="0" kern="1200" dirty="0">
                <a:solidFill>
                  <a:schemeClr val="tx1"/>
                </a:solidFill>
                <a:effectLst/>
                <a:latin typeface="+mn-lt"/>
                <a:ea typeface="+mn-ea"/>
                <a:cs typeface="+mn-cs"/>
              </a:rPr>
              <a:t>Every website collects IP addresses, so they're on the server that's powering your site right now. Ironically, one of their main uses is for cyber security</a:t>
            </a:r>
          </a:p>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13</a:t>
            </a:fld>
            <a:endParaRPr lang="en-US"/>
          </a:p>
        </p:txBody>
      </p:sp>
    </p:spTree>
    <p:extLst>
      <p:ext uri="{BB962C8B-B14F-4D97-AF65-F5344CB8AC3E}">
        <p14:creationId xmlns:p14="http://schemas.microsoft.com/office/powerpoint/2010/main" val="42006061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1D35"/>
                </a:solidFill>
                <a:effectLst/>
                <a:latin typeface="Google Sans"/>
              </a:rPr>
              <a:t>VM migration refers to the process of moving a running virtual machine (VM) from one physical host to another, allowing for seamless transfer without disrupting the VM's operations, primarily used for </a:t>
            </a:r>
            <a:r>
              <a:rPr lang="en-US" b="1" dirty="0"/>
              <a:t>load balancing, disaster recovery, hardware maintenance, cost optimization, and geographic relocation</a:t>
            </a:r>
            <a:r>
              <a:rPr lang="en-US" b="1" i="0" dirty="0">
                <a:solidFill>
                  <a:srgbClr val="001D35"/>
                </a:solidFill>
                <a:effectLst/>
                <a:latin typeface="Google Sans"/>
              </a:rPr>
              <a:t>, enabling flexible management of virtualized workloads </a:t>
            </a:r>
            <a:r>
              <a:rPr lang="en-US" b="0" i="0" dirty="0">
                <a:solidFill>
                  <a:srgbClr val="001D35"/>
                </a:solidFill>
                <a:effectLst/>
                <a:latin typeface="Google Sans"/>
              </a:rPr>
              <a:t>across different servers </a:t>
            </a:r>
            <a:r>
              <a:rPr lang="en-US" b="1" i="0" dirty="0">
                <a:solidFill>
                  <a:srgbClr val="001D35"/>
                </a:solidFill>
                <a:effectLst/>
                <a:latin typeface="Google Sans"/>
              </a:rPr>
              <a:t>without downtime</a:t>
            </a:r>
            <a:endParaRPr lang="en-US" b="1" dirty="0"/>
          </a:p>
        </p:txBody>
      </p:sp>
      <p:sp>
        <p:nvSpPr>
          <p:cNvPr id="4" name="Slide Number Placeholder 3"/>
          <p:cNvSpPr>
            <a:spLocks noGrp="1"/>
          </p:cNvSpPr>
          <p:nvPr>
            <p:ph type="sldNum" sz="quarter" idx="10"/>
          </p:nvPr>
        </p:nvSpPr>
        <p:spPr/>
        <p:txBody>
          <a:bodyPr/>
          <a:lstStyle/>
          <a:p>
            <a:fld id="{86A7F7C4-99E3-4D42-8CFA-0962EEA6AB6F}" type="slidenum">
              <a:rPr lang="en-US" smtClean="0"/>
              <a:t>15</a:t>
            </a:fld>
            <a:endParaRPr lang="en-US"/>
          </a:p>
        </p:txBody>
      </p:sp>
    </p:spTree>
    <p:extLst>
      <p:ext uri="{BB962C8B-B14F-4D97-AF65-F5344CB8AC3E}">
        <p14:creationId xmlns:p14="http://schemas.microsoft.com/office/powerpoint/2010/main" val="35960392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Live migration is a Hyper-V feature in Windows Server. It allows you to transparently move running Virtual Machines from one Hyper-V host to another without perceived downtime. The primary benefit of live migration is </a:t>
            </a:r>
            <a:r>
              <a:rPr lang="en-US" sz="1200" b="1" i="0" kern="1200" dirty="0">
                <a:solidFill>
                  <a:schemeClr val="tx1"/>
                </a:solidFill>
                <a:effectLst/>
                <a:latin typeface="+mn-lt"/>
                <a:ea typeface="+mn-ea"/>
                <a:cs typeface="+mn-cs"/>
              </a:rPr>
              <a:t>flexibility</a:t>
            </a:r>
            <a:r>
              <a:rPr lang="en-US" sz="1200" b="0" i="0" kern="1200" dirty="0">
                <a:solidFill>
                  <a:schemeClr val="tx1"/>
                </a:solidFill>
                <a:effectLst/>
                <a:latin typeface="+mn-lt"/>
                <a:ea typeface="+mn-ea"/>
                <a:cs typeface="+mn-cs"/>
              </a:rPr>
              <a:t>; </a:t>
            </a:r>
          </a:p>
          <a:p>
            <a:r>
              <a:rPr lang="en-US" sz="1200" b="0" i="0" kern="1200" dirty="0">
                <a:solidFill>
                  <a:schemeClr val="tx1"/>
                </a:solidFill>
                <a:effectLst/>
                <a:latin typeface="+mn-lt"/>
                <a:ea typeface="+mn-ea"/>
                <a:cs typeface="+mn-cs"/>
              </a:rPr>
              <a:t>Load balancing involves migration of VMs from highly loaded PMs to under loaded ones. Live migration is used. Live migration requires that both the source and target PMs hosting the VMs have access to the VM's virtual disks</a:t>
            </a:r>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16</a:t>
            </a:fld>
            <a:endParaRPr lang="en-US"/>
          </a:p>
        </p:txBody>
      </p:sp>
    </p:spTree>
    <p:extLst>
      <p:ext uri="{BB962C8B-B14F-4D97-AF65-F5344CB8AC3E}">
        <p14:creationId xmlns:p14="http://schemas.microsoft.com/office/powerpoint/2010/main" val="42538590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Pre-copy iteratively copies the memory pages of the VM while it is running on the source host until a limit is reached and the VM is stopped and copied to the destination</a:t>
            </a:r>
          </a:p>
          <a:p>
            <a:r>
              <a:rPr lang="en-US" sz="1200" b="0" i="0" kern="1200" dirty="0">
                <a:solidFill>
                  <a:schemeClr val="tx1"/>
                </a:solidFill>
                <a:effectLst/>
                <a:latin typeface="+mn-lt"/>
                <a:ea typeface="+mn-ea"/>
                <a:cs typeface="+mn-cs"/>
              </a:rPr>
              <a:t>Dirty page: pages that have been modified(not up</a:t>
            </a:r>
            <a:r>
              <a:rPr lang="en-US" sz="1200" b="0" i="0" kern="1200" baseline="0" dirty="0">
                <a:solidFill>
                  <a:schemeClr val="tx1"/>
                </a:solidFill>
                <a:effectLst/>
                <a:latin typeface="+mn-lt"/>
                <a:ea typeface="+mn-ea"/>
                <a:cs typeface="+mn-cs"/>
              </a:rPr>
              <a:t> to date)</a:t>
            </a:r>
            <a:r>
              <a:rPr lang="en-US" sz="1200" b="0" i="0" kern="1200" dirty="0">
                <a:solidFill>
                  <a:schemeClr val="tx1"/>
                </a:solidFill>
                <a:effectLst/>
                <a:latin typeface="+mn-lt"/>
                <a:ea typeface="+mn-ea"/>
                <a:cs typeface="+mn-cs"/>
              </a:rPr>
              <a:t> and. need to be written back to disk.</a:t>
            </a:r>
          </a:p>
          <a:p>
            <a:r>
              <a:rPr lang="en-US" sz="1200" b="0" i="0" kern="1200" dirty="0">
                <a:solidFill>
                  <a:schemeClr val="tx1"/>
                </a:solidFill>
                <a:effectLst/>
                <a:latin typeface="+mn-lt"/>
                <a:ea typeface="+mn-ea"/>
                <a:cs typeface="+mn-cs"/>
              </a:rPr>
              <a:t>A Container is a lightweight, standalone package that encapsulates a complete runtime environment including an application and its </a:t>
            </a:r>
            <a:r>
              <a:rPr lang="en-US" sz="1200" b="0" i="0" kern="1200" dirty="0" err="1">
                <a:solidFill>
                  <a:schemeClr val="tx1"/>
                </a:solidFill>
                <a:effectLst/>
                <a:latin typeface="+mn-lt"/>
                <a:ea typeface="+mn-ea"/>
                <a:cs typeface="+mn-cs"/>
              </a:rPr>
              <a:t>dependencie</a:t>
            </a:r>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17</a:t>
            </a:fld>
            <a:endParaRPr lang="en-US"/>
          </a:p>
        </p:txBody>
      </p:sp>
    </p:spTree>
    <p:extLst>
      <p:ext uri="{BB962C8B-B14F-4D97-AF65-F5344CB8AC3E}">
        <p14:creationId xmlns:p14="http://schemas.microsoft.com/office/powerpoint/2010/main" val="37652292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 Container is a lightweight, standalone package that encapsulates a complete runtime environment including an application and its </a:t>
            </a:r>
            <a:r>
              <a:rPr lang="en-US" sz="1200" b="0" i="0" kern="1200" dirty="0" err="1">
                <a:solidFill>
                  <a:schemeClr val="tx1"/>
                </a:solidFill>
                <a:effectLst/>
                <a:latin typeface="+mn-lt"/>
                <a:ea typeface="+mn-ea"/>
                <a:cs typeface="+mn-cs"/>
              </a:rPr>
              <a:t>dependencie</a:t>
            </a:r>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19</a:t>
            </a:fld>
            <a:endParaRPr lang="en-US"/>
          </a:p>
        </p:txBody>
      </p:sp>
    </p:spTree>
    <p:extLst>
      <p:ext uri="{BB962C8B-B14F-4D97-AF65-F5344CB8AC3E}">
        <p14:creationId xmlns:p14="http://schemas.microsoft.com/office/powerpoint/2010/main" val="11544366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By using cold migration, you can also move associated disks from one datastore to another.</a:t>
            </a:r>
          </a:p>
          <a:p>
            <a:r>
              <a:rPr lang="en-US" b="0" i="0" dirty="0">
                <a:solidFill>
                  <a:srgbClr val="001D35"/>
                </a:solidFill>
                <a:effectLst/>
                <a:latin typeface="Google Sans"/>
              </a:rPr>
              <a:t>A "CPU compatibility check" in live migration refers to the process of verifying that the source and destination hosts have </a:t>
            </a:r>
            <a:r>
              <a:rPr lang="en-US" b="1" i="0" dirty="0">
                <a:solidFill>
                  <a:srgbClr val="001D35"/>
                </a:solidFill>
                <a:effectLst/>
                <a:latin typeface="Google Sans"/>
              </a:rPr>
              <a:t>compatible processors</a:t>
            </a:r>
            <a:r>
              <a:rPr lang="en-US" b="0" i="0" dirty="0">
                <a:solidFill>
                  <a:srgbClr val="001D35"/>
                </a:solidFill>
                <a:effectLst/>
                <a:latin typeface="Google Sans"/>
              </a:rPr>
              <a:t>, ensuring a virtual machine can be successfully migrated without disruption, as the CPU instruction set available to the virtual machine must remain consistent between the two hosts during the migration process; if the CPUs are too different, the migration will fail. </a:t>
            </a:r>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20</a:t>
            </a:fld>
            <a:endParaRPr lang="en-US"/>
          </a:p>
        </p:txBody>
      </p:sp>
    </p:spTree>
    <p:extLst>
      <p:ext uri="{BB962C8B-B14F-4D97-AF65-F5344CB8AC3E}">
        <p14:creationId xmlns:p14="http://schemas.microsoft.com/office/powerpoint/2010/main" val="15313399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Virtual machine disks can be migrated from one storage domain to another while the virtual machine to which they are attached is running</a:t>
            </a:r>
          </a:p>
          <a:p>
            <a:r>
              <a:rPr lang="en-US" sz="1200" b="0" i="0" kern="1200" dirty="0">
                <a:solidFill>
                  <a:schemeClr val="tx1"/>
                </a:solidFill>
                <a:effectLst/>
                <a:latin typeface="+mn-lt"/>
                <a:ea typeface="+mn-ea"/>
                <a:cs typeface="+mn-cs"/>
              </a:rPr>
              <a:t>Live migration </a:t>
            </a:r>
            <a:r>
              <a:rPr lang="en-US" sz="1200" b="1" i="0" kern="1200" dirty="0">
                <a:solidFill>
                  <a:schemeClr val="tx1"/>
                </a:solidFill>
                <a:effectLst/>
                <a:latin typeface="+mn-lt"/>
                <a:ea typeface="+mn-ea"/>
                <a:cs typeface="+mn-cs"/>
              </a:rPr>
              <a:t>lets Google Cloud perform maintenance without interrupting a workload, rebooting a VM, or modifying any of the VM's properties, such as IP addresses, metadata, block storage data</a:t>
            </a:r>
          </a:p>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22</a:t>
            </a:fld>
            <a:endParaRPr lang="en-US"/>
          </a:p>
        </p:txBody>
      </p:sp>
    </p:spTree>
    <p:extLst>
      <p:ext uri="{BB962C8B-B14F-4D97-AF65-F5344CB8AC3E}">
        <p14:creationId xmlns:p14="http://schemas.microsoft.com/office/powerpoint/2010/main" val="14091494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22222"/>
                </a:solidFill>
                <a:effectLst/>
                <a:latin typeface="Verdana" panose="020B0604030504040204" pitchFamily="34" charset="0"/>
              </a:rPr>
              <a:t>With the latest version of </a:t>
            </a:r>
            <a:r>
              <a:rPr lang="en-US" b="0" i="0" dirty="0" err="1">
                <a:solidFill>
                  <a:srgbClr val="222222"/>
                </a:solidFill>
                <a:effectLst/>
                <a:latin typeface="Verdana" panose="020B0604030504040204" pitchFamily="34" charset="0"/>
              </a:rPr>
              <a:t>ConVirt</a:t>
            </a:r>
            <a:r>
              <a:rPr lang="en-US" b="0" i="0" dirty="0">
                <a:solidFill>
                  <a:srgbClr val="222222"/>
                </a:solidFill>
                <a:effectLst/>
                <a:latin typeface="Verdana" panose="020B0604030504040204" pitchFamily="34" charset="0"/>
              </a:rPr>
              <a:t> Open Source Version 2.5, management of KVM and Xen-based virtual machines is now possible from an Amazon Web Services (AWS) account. </a:t>
            </a:r>
            <a:endParaRPr lang="en-US" dirty="0"/>
          </a:p>
        </p:txBody>
      </p:sp>
      <p:sp>
        <p:nvSpPr>
          <p:cNvPr id="4" name="Slide Number Placeholder 3"/>
          <p:cNvSpPr>
            <a:spLocks noGrp="1"/>
          </p:cNvSpPr>
          <p:nvPr>
            <p:ph type="sldNum" sz="quarter" idx="5"/>
          </p:nvPr>
        </p:nvSpPr>
        <p:spPr/>
        <p:txBody>
          <a:bodyPr/>
          <a:lstStyle/>
          <a:p>
            <a:fld id="{86A7F7C4-99E3-4D42-8CFA-0962EEA6AB6F}" type="slidenum">
              <a:rPr lang="en-US" smtClean="0"/>
              <a:t>26</a:t>
            </a:fld>
            <a:endParaRPr lang="en-US"/>
          </a:p>
        </p:txBody>
      </p:sp>
    </p:spTree>
    <p:extLst>
      <p:ext uri="{BB962C8B-B14F-4D97-AF65-F5344CB8AC3E}">
        <p14:creationId xmlns:p14="http://schemas.microsoft.com/office/powerpoint/2010/main" val="30577231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br>
              <a:rPr lang="en-US" sz="1200" b="0" i="0" u="none" strike="noStrike" kern="1200" dirty="0">
                <a:solidFill>
                  <a:schemeClr val="tx1"/>
                </a:solidFill>
                <a:effectLst/>
                <a:latin typeface="+mn-lt"/>
                <a:ea typeface="+mn-ea"/>
                <a:cs typeface="+mn-cs"/>
                <a:hlinkClick r:id="rId3"/>
              </a:rPr>
            </a:br>
            <a:endParaRPr lang="en-US" sz="1200" b="0" i="0" u="none" strike="noStrike" kern="1200" dirty="0">
              <a:solidFill>
                <a:schemeClr val="tx1"/>
              </a:solidFill>
              <a:effectLst/>
              <a:latin typeface="+mn-lt"/>
              <a:ea typeface="+mn-ea"/>
              <a:cs typeface="+mn-cs"/>
              <a:hlinkClick r:id="rId3"/>
            </a:endParaRPr>
          </a:p>
          <a:p>
            <a:r>
              <a:rPr lang="en-US" sz="1200" b="0" i="0" kern="1200" dirty="0" err="1">
                <a:solidFill>
                  <a:schemeClr val="tx1"/>
                </a:solidFill>
                <a:effectLst/>
                <a:latin typeface="+mn-lt"/>
                <a:ea typeface="+mn-ea"/>
                <a:cs typeface="+mn-cs"/>
              </a:rPr>
              <a:t>Xen</a:t>
            </a:r>
            <a:r>
              <a:rPr lang="en-US" sz="1200" b="0" i="0" kern="1200" dirty="0">
                <a:solidFill>
                  <a:schemeClr val="tx1"/>
                </a:solidFill>
                <a:effectLst/>
                <a:latin typeface="+mn-lt"/>
                <a:ea typeface="+mn-ea"/>
                <a:cs typeface="+mn-cs"/>
              </a:rPr>
              <a:t> is </a:t>
            </a:r>
            <a:r>
              <a:rPr lang="en-US" sz="1200" b="1" i="0" kern="1200" dirty="0">
                <a:solidFill>
                  <a:schemeClr val="tx1"/>
                </a:solidFill>
                <a:effectLst/>
                <a:latin typeface="+mn-lt"/>
                <a:ea typeface="+mn-ea"/>
                <a:cs typeface="+mn-cs"/>
              </a:rPr>
              <a:t>a hypervisor that runs directly on the system hardware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Xen</a:t>
            </a:r>
            <a:r>
              <a:rPr lang="en-US" sz="1200" b="0" i="0" kern="1200" dirty="0">
                <a:solidFill>
                  <a:schemeClr val="tx1"/>
                </a:solidFill>
                <a:effectLst/>
                <a:latin typeface="+mn-lt"/>
                <a:ea typeface="+mn-ea"/>
                <a:cs typeface="+mn-cs"/>
              </a:rPr>
              <a:t> inserts a virtualization layer between the system hardware and the virtual machines, turning the system hardware into a pool of logical computing resources that </a:t>
            </a:r>
            <a:r>
              <a:rPr lang="en-US" sz="1200" b="0" i="0" kern="1200" dirty="0" err="1">
                <a:solidFill>
                  <a:schemeClr val="tx1"/>
                </a:solidFill>
                <a:effectLst/>
                <a:latin typeface="+mn-lt"/>
                <a:ea typeface="+mn-ea"/>
                <a:cs typeface="+mn-cs"/>
              </a:rPr>
              <a:t>Xen</a:t>
            </a:r>
            <a:r>
              <a:rPr lang="en-US" sz="1200" b="0" i="0" kern="1200" dirty="0">
                <a:solidFill>
                  <a:schemeClr val="tx1"/>
                </a:solidFill>
                <a:effectLst/>
                <a:latin typeface="+mn-lt"/>
                <a:ea typeface="+mn-ea"/>
                <a:cs typeface="+mn-cs"/>
              </a:rPr>
              <a:t> can dynamically allocate to any guest operating </a:t>
            </a:r>
            <a:r>
              <a:rPr lang="en-US" sz="1200" b="0" i="0" kern="1200" dirty="0" err="1">
                <a:solidFill>
                  <a:schemeClr val="tx1"/>
                </a:solidFill>
                <a:effectLst/>
                <a:latin typeface="+mn-lt"/>
                <a:ea typeface="+mn-ea"/>
                <a:cs typeface="+mn-cs"/>
              </a:rPr>
              <a:t>syste</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27</a:t>
            </a:fld>
            <a:endParaRPr lang="en-US"/>
          </a:p>
        </p:txBody>
      </p:sp>
    </p:spTree>
    <p:extLst>
      <p:ext uri="{BB962C8B-B14F-4D97-AF65-F5344CB8AC3E}">
        <p14:creationId xmlns:p14="http://schemas.microsoft.com/office/powerpoint/2010/main" val="21390734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br>
              <a:rPr lang="en-US" sz="1200" b="0" i="0" u="none" strike="noStrike" kern="1200" dirty="0">
                <a:solidFill>
                  <a:schemeClr val="tx1"/>
                </a:solidFill>
                <a:effectLst/>
                <a:latin typeface="+mn-lt"/>
                <a:ea typeface="+mn-ea"/>
                <a:cs typeface="+mn-cs"/>
                <a:hlinkClick r:id="rId3"/>
              </a:rPr>
            </a:br>
            <a:endParaRPr lang="en-US" sz="1200" b="0" i="0" u="none" strike="noStrike" kern="1200" dirty="0">
              <a:solidFill>
                <a:schemeClr val="tx1"/>
              </a:solidFill>
              <a:effectLst/>
              <a:latin typeface="+mn-lt"/>
              <a:ea typeface="+mn-ea"/>
              <a:cs typeface="+mn-cs"/>
              <a:hlinkClick r:id="rId3"/>
            </a:endParaRPr>
          </a:p>
          <a:p>
            <a:r>
              <a:rPr lang="en-US" sz="1200" b="0" i="0" kern="1200" dirty="0" err="1">
                <a:solidFill>
                  <a:schemeClr val="tx1"/>
                </a:solidFill>
                <a:effectLst/>
                <a:latin typeface="+mn-lt"/>
                <a:ea typeface="+mn-ea"/>
                <a:cs typeface="+mn-cs"/>
              </a:rPr>
              <a:t>Xen</a:t>
            </a:r>
            <a:r>
              <a:rPr lang="en-US" sz="1200" b="0" i="0" kern="1200" dirty="0">
                <a:solidFill>
                  <a:schemeClr val="tx1"/>
                </a:solidFill>
                <a:effectLst/>
                <a:latin typeface="+mn-lt"/>
                <a:ea typeface="+mn-ea"/>
                <a:cs typeface="+mn-cs"/>
              </a:rPr>
              <a:t> is </a:t>
            </a:r>
            <a:r>
              <a:rPr lang="en-US" sz="1200" b="1" i="0" kern="1200" dirty="0">
                <a:solidFill>
                  <a:schemeClr val="tx1"/>
                </a:solidFill>
                <a:effectLst/>
                <a:latin typeface="+mn-lt"/>
                <a:ea typeface="+mn-ea"/>
                <a:cs typeface="+mn-cs"/>
              </a:rPr>
              <a:t>a hypervisor that runs directly on the system hardware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Xen</a:t>
            </a:r>
            <a:r>
              <a:rPr lang="en-US" sz="1200" b="0" i="0" kern="1200" dirty="0">
                <a:solidFill>
                  <a:schemeClr val="tx1"/>
                </a:solidFill>
                <a:effectLst/>
                <a:latin typeface="+mn-lt"/>
                <a:ea typeface="+mn-ea"/>
                <a:cs typeface="+mn-cs"/>
              </a:rPr>
              <a:t> inserts a virtualization layer between the system hardware and the virtual machines, turning the system hardware into a pool of logical computing resources that </a:t>
            </a:r>
            <a:r>
              <a:rPr lang="en-US" sz="1200" b="0" i="0" kern="1200" dirty="0" err="1">
                <a:solidFill>
                  <a:schemeClr val="tx1"/>
                </a:solidFill>
                <a:effectLst/>
                <a:latin typeface="+mn-lt"/>
                <a:ea typeface="+mn-ea"/>
                <a:cs typeface="+mn-cs"/>
              </a:rPr>
              <a:t>Xen</a:t>
            </a:r>
            <a:r>
              <a:rPr lang="en-US" sz="1200" b="0" i="0" kern="1200" dirty="0">
                <a:solidFill>
                  <a:schemeClr val="tx1"/>
                </a:solidFill>
                <a:effectLst/>
                <a:latin typeface="+mn-lt"/>
                <a:ea typeface="+mn-ea"/>
                <a:cs typeface="+mn-cs"/>
              </a:rPr>
              <a:t> can dynamically allocate to any guest operating </a:t>
            </a:r>
            <a:r>
              <a:rPr lang="en-US" sz="1200" b="0" i="0" kern="1200" dirty="0" err="1">
                <a:solidFill>
                  <a:schemeClr val="tx1"/>
                </a:solidFill>
                <a:effectLst/>
                <a:latin typeface="+mn-lt"/>
                <a:ea typeface="+mn-ea"/>
                <a:cs typeface="+mn-cs"/>
              </a:rPr>
              <a:t>syste</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28</a:t>
            </a:fld>
            <a:endParaRPr lang="en-US"/>
          </a:p>
        </p:txBody>
      </p:sp>
    </p:spTree>
    <p:extLst>
      <p:ext uri="{BB962C8B-B14F-4D97-AF65-F5344CB8AC3E}">
        <p14:creationId xmlns:p14="http://schemas.microsoft.com/office/powerpoint/2010/main" val="30388280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br>
              <a:rPr lang="en-US" sz="1200" b="0" i="0" u="none" strike="noStrike" kern="1200" dirty="0">
                <a:solidFill>
                  <a:schemeClr val="tx1"/>
                </a:solidFill>
                <a:effectLst/>
                <a:latin typeface="+mn-lt"/>
                <a:ea typeface="+mn-ea"/>
                <a:cs typeface="+mn-cs"/>
                <a:hlinkClick r:id="rId3"/>
              </a:rPr>
            </a:br>
            <a:endParaRPr lang="en-US" sz="1200" b="0" i="0" u="none" strike="noStrike" kern="1200" dirty="0">
              <a:solidFill>
                <a:schemeClr val="tx1"/>
              </a:solidFill>
              <a:effectLst/>
              <a:latin typeface="+mn-lt"/>
              <a:ea typeface="+mn-ea"/>
              <a:cs typeface="+mn-cs"/>
              <a:hlinkClick r:id="rId3"/>
            </a:endParaRPr>
          </a:p>
          <a:p>
            <a:r>
              <a:rPr lang="en-US" sz="1200" b="0" i="0" kern="1200" dirty="0" err="1">
                <a:solidFill>
                  <a:schemeClr val="tx1"/>
                </a:solidFill>
                <a:effectLst/>
                <a:latin typeface="+mn-lt"/>
                <a:ea typeface="+mn-ea"/>
                <a:cs typeface="+mn-cs"/>
              </a:rPr>
              <a:t>Xen</a:t>
            </a:r>
            <a:r>
              <a:rPr lang="en-US" sz="1200" b="0" i="0" kern="1200" dirty="0">
                <a:solidFill>
                  <a:schemeClr val="tx1"/>
                </a:solidFill>
                <a:effectLst/>
                <a:latin typeface="+mn-lt"/>
                <a:ea typeface="+mn-ea"/>
                <a:cs typeface="+mn-cs"/>
              </a:rPr>
              <a:t> is </a:t>
            </a:r>
            <a:r>
              <a:rPr lang="en-US" sz="1200" b="1" i="0" kern="1200" dirty="0">
                <a:solidFill>
                  <a:schemeClr val="tx1"/>
                </a:solidFill>
                <a:effectLst/>
                <a:latin typeface="+mn-lt"/>
                <a:ea typeface="+mn-ea"/>
                <a:cs typeface="+mn-cs"/>
              </a:rPr>
              <a:t>a hypervisor that runs directly on the system hardware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Xen</a:t>
            </a:r>
            <a:r>
              <a:rPr lang="en-US" sz="1200" b="0" i="0" kern="1200" dirty="0">
                <a:solidFill>
                  <a:schemeClr val="tx1"/>
                </a:solidFill>
                <a:effectLst/>
                <a:latin typeface="+mn-lt"/>
                <a:ea typeface="+mn-ea"/>
                <a:cs typeface="+mn-cs"/>
              </a:rPr>
              <a:t> inserts a virtualization layer between the system hardware and the virtual machines, turning the system hardware into a pool of logical computing resources that </a:t>
            </a:r>
            <a:r>
              <a:rPr lang="en-US" sz="1200" b="0" i="0" kern="1200" dirty="0" err="1">
                <a:solidFill>
                  <a:schemeClr val="tx1"/>
                </a:solidFill>
                <a:effectLst/>
                <a:latin typeface="+mn-lt"/>
                <a:ea typeface="+mn-ea"/>
                <a:cs typeface="+mn-cs"/>
              </a:rPr>
              <a:t>Xen</a:t>
            </a:r>
            <a:r>
              <a:rPr lang="en-US" sz="1200" b="0" i="0" kern="1200" dirty="0">
                <a:solidFill>
                  <a:schemeClr val="tx1"/>
                </a:solidFill>
                <a:effectLst/>
                <a:latin typeface="+mn-lt"/>
                <a:ea typeface="+mn-ea"/>
                <a:cs typeface="+mn-cs"/>
              </a:rPr>
              <a:t> can dynamically allocate to any guest operating </a:t>
            </a:r>
            <a:r>
              <a:rPr lang="en-US" sz="1200" b="0" i="0" kern="1200" dirty="0" err="1">
                <a:solidFill>
                  <a:schemeClr val="tx1"/>
                </a:solidFill>
                <a:effectLst/>
                <a:latin typeface="+mn-lt"/>
                <a:ea typeface="+mn-ea"/>
                <a:cs typeface="+mn-cs"/>
              </a:rPr>
              <a:t>syste</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29</a:t>
            </a:fld>
            <a:endParaRPr lang="en-US"/>
          </a:p>
        </p:txBody>
      </p:sp>
    </p:spTree>
    <p:extLst>
      <p:ext uri="{BB962C8B-B14F-4D97-AF65-F5344CB8AC3E}">
        <p14:creationId xmlns:p14="http://schemas.microsoft.com/office/powerpoint/2010/main" val="17769915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US" sz="1200" b="0" i="0" kern="1200" dirty="0">
                <a:solidFill>
                  <a:schemeClr val="tx1"/>
                </a:solidFill>
                <a:effectLst/>
                <a:latin typeface="+mn-lt"/>
                <a:ea typeface="+mn-ea"/>
                <a:cs typeface="+mn-cs"/>
              </a:rPr>
              <a:t>Kernel-based Virtual Machine (KVM) is a software feature that you can install on physical Linux machines to create virtual machines</a:t>
            </a:r>
            <a:br>
              <a:rPr lang="en-US" sz="1200" b="0" i="0" u="none" strike="noStrike" kern="1200" dirty="0">
                <a:solidFill>
                  <a:schemeClr val="tx1"/>
                </a:solidFill>
                <a:effectLst/>
                <a:latin typeface="+mn-lt"/>
                <a:ea typeface="+mn-ea"/>
                <a:cs typeface="+mn-cs"/>
                <a:hlinkClick r:id="rId3"/>
              </a:rPr>
            </a:br>
            <a:endParaRPr lang="en-US" sz="1200" b="0" i="0" u="none" strike="noStrike" kern="1200" dirty="0">
              <a:solidFill>
                <a:schemeClr val="tx1"/>
              </a:solidFill>
              <a:effectLst/>
              <a:latin typeface="+mn-lt"/>
              <a:ea typeface="+mn-ea"/>
              <a:cs typeface="+mn-cs"/>
              <a:hlinkClick r:id="rId3"/>
            </a:endParaRPr>
          </a:p>
          <a:p>
            <a:r>
              <a:rPr lang="en-US" sz="1200" b="0" i="0" kern="1200" dirty="0" err="1">
                <a:solidFill>
                  <a:schemeClr val="tx1"/>
                </a:solidFill>
                <a:effectLst/>
                <a:latin typeface="+mn-lt"/>
                <a:ea typeface="+mn-ea"/>
                <a:cs typeface="+mn-cs"/>
              </a:rPr>
              <a:t>Xen</a:t>
            </a:r>
            <a:r>
              <a:rPr lang="en-US" sz="1200" b="0" i="0" kern="1200" dirty="0">
                <a:solidFill>
                  <a:schemeClr val="tx1"/>
                </a:solidFill>
                <a:effectLst/>
                <a:latin typeface="+mn-lt"/>
                <a:ea typeface="+mn-ea"/>
                <a:cs typeface="+mn-cs"/>
              </a:rPr>
              <a:t> is </a:t>
            </a:r>
            <a:r>
              <a:rPr lang="en-US" sz="1200" b="1" i="0" kern="1200" dirty="0">
                <a:solidFill>
                  <a:schemeClr val="tx1"/>
                </a:solidFill>
                <a:effectLst/>
                <a:latin typeface="+mn-lt"/>
                <a:ea typeface="+mn-ea"/>
                <a:cs typeface="+mn-cs"/>
              </a:rPr>
              <a:t>a hypervisor that runs directly on the system hardware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Xen</a:t>
            </a:r>
            <a:r>
              <a:rPr lang="en-US" sz="1200" b="0" i="0" kern="1200" dirty="0">
                <a:solidFill>
                  <a:schemeClr val="tx1"/>
                </a:solidFill>
                <a:effectLst/>
                <a:latin typeface="+mn-lt"/>
                <a:ea typeface="+mn-ea"/>
                <a:cs typeface="+mn-cs"/>
              </a:rPr>
              <a:t> inserts a virtualization layer between the system hardware and the virtual machines, turning the system hardware into a pool of logical computing resources that </a:t>
            </a:r>
            <a:r>
              <a:rPr lang="en-US" sz="1200" b="0" i="0" kern="1200" dirty="0" err="1">
                <a:solidFill>
                  <a:schemeClr val="tx1"/>
                </a:solidFill>
                <a:effectLst/>
                <a:latin typeface="+mn-lt"/>
                <a:ea typeface="+mn-ea"/>
                <a:cs typeface="+mn-cs"/>
              </a:rPr>
              <a:t>Xen</a:t>
            </a:r>
            <a:r>
              <a:rPr lang="en-US" sz="1200" b="0" i="0" kern="1200" dirty="0">
                <a:solidFill>
                  <a:schemeClr val="tx1"/>
                </a:solidFill>
                <a:effectLst/>
                <a:latin typeface="+mn-lt"/>
                <a:ea typeface="+mn-ea"/>
                <a:cs typeface="+mn-cs"/>
              </a:rPr>
              <a:t> can dynamically allocate to any guest operating </a:t>
            </a:r>
            <a:r>
              <a:rPr lang="en-US" sz="1200" b="0" i="0" kern="1200" dirty="0" err="1">
                <a:solidFill>
                  <a:schemeClr val="tx1"/>
                </a:solidFill>
                <a:effectLst/>
                <a:latin typeface="+mn-lt"/>
                <a:ea typeface="+mn-ea"/>
                <a:cs typeface="+mn-cs"/>
              </a:rPr>
              <a:t>syste</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30</a:t>
            </a:fld>
            <a:endParaRPr lang="en-US"/>
          </a:p>
        </p:txBody>
      </p:sp>
    </p:spTree>
    <p:extLst>
      <p:ext uri="{BB962C8B-B14F-4D97-AF65-F5344CB8AC3E}">
        <p14:creationId xmlns:p14="http://schemas.microsoft.com/office/powerpoint/2010/main" val="329570421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br>
              <a:rPr lang="en-US" sz="1200" b="0" i="0" u="none" strike="noStrike" kern="1200" dirty="0">
                <a:solidFill>
                  <a:schemeClr val="tx1"/>
                </a:solidFill>
                <a:effectLst/>
                <a:latin typeface="+mn-lt"/>
                <a:ea typeface="+mn-ea"/>
                <a:cs typeface="+mn-cs"/>
                <a:hlinkClick r:id="rId3"/>
              </a:rPr>
            </a:br>
            <a:endParaRPr lang="en-US" sz="1200" b="0" i="0" u="none" strike="noStrike" kern="1200" dirty="0">
              <a:solidFill>
                <a:schemeClr val="tx1"/>
              </a:solidFill>
              <a:effectLst/>
              <a:latin typeface="+mn-lt"/>
              <a:ea typeface="+mn-ea"/>
              <a:cs typeface="+mn-cs"/>
              <a:hlinkClick r:id="rId3"/>
            </a:endParaRPr>
          </a:p>
          <a:p>
            <a:r>
              <a:rPr lang="en-US" sz="1200" b="0" i="0" kern="1200" dirty="0" err="1">
                <a:solidFill>
                  <a:schemeClr val="tx1"/>
                </a:solidFill>
                <a:effectLst/>
                <a:latin typeface="+mn-lt"/>
                <a:ea typeface="+mn-ea"/>
                <a:cs typeface="+mn-cs"/>
              </a:rPr>
              <a:t>Xen</a:t>
            </a:r>
            <a:r>
              <a:rPr lang="en-US" sz="1200" b="0" i="0" kern="1200" dirty="0">
                <a:solidFill>
                  <a:schemeClr val="tx1"/>
                </a:solidFill>
                <a:effectLst/>
                <a:latin typeface="+mn-lt"/>
                <a:ea typeface="+mn-ea"/>
                <a:cs typeface="+mn-cs"/>
              </a:rPr>
              <a:t> is </a:t>
            </a:r>
            <a:r>
              <a:rPr lang="en-US" sz="1200" b="1" i="0" kern="1200" dirty="0">
                <a:solidFill>
                  <a:schemeClr val="tx1"/>
                </a:solidFill>
                <a:effectLst/>
                <a:latin typeface="+mn-lt"/>
                <a:ea typeface="+mn-ea"/>
                <a:cs typeface="+mn-cs"/>
              </a:rPr>
              <a:t>a hypervisor that runs directly on the system hardware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Xen</a:t>
            </a:r>
            <a:r>
              <a:rPr lang="en-US" sz="1200" b="0" i="0" kern="1200" dirty="0">
                <a:solidFill>
                  <a:schemeClr val="tx1"/>
                </a:solidFill>
                <a:effectLst/>
                <a:latin typeface="+mn-lt"/>
                <a:ea typeface="+mn-ea"/>
                <a:cs typeface="+mn-cs"/>
              </a:rPr>
              <a:t> inserts a virtualization layer between the system hardware and the virtual machines, turning the system hardware into a pool of logical computing resources that </a:t>
            </a:r>
            <a:r>
              <a:rPr lang="en-US" sz="1200" b="0" i="0" kern="1200" dirty="0" err="1">
                <a:solidFill>
                  <a:schemeClr val="tx1"/>
                </a:solidFill>
                <a:effectLst/>
                <a:latin typeface="+mn-lt"/>
                <a:ea typeface="+mn-ea"/>
                <a:cs typeface="+mn-cs"/>
              </a:rPr>
              <a:t>Xen</a:t>
            </a:r>
            <a:r>
              <a:rPr lang="en-US" sz="1200" b="0" i="0" kern="1200" dirty="0">
                <a:solidFill>
                  <a:schemeClr val="tx1"/>
                </a:solidFill>
                <a:effectLst/>
                <a:latin typeface="+mn-lt"/>
                <a:ea typeface="+mn-ea"/>
                <a:cs typeface="+mn-cs"/>
              </a:rPr>
              <a:t> can dynamically allocate to any guest operating </a:t>
            </a:r>
            <a:r>
              <a:rPr lang="en-US" sz="1200" b="0" i="0" kern="1200" dirty="0" err="1">
                <a:solidFill>
                  <a:schemeClr val="tx1"/>
                </a:solidFill>
                <a:effectLst/>
                <a:latin typeface="+mn-lt"/>
                <a:ea typeface="+mn-ea"/>
                <a:cs typeface="+mn-cs"/>
              </a:rPr>
              <a:t>syste</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31</a:t>
            </a:fld>
            <a:endParaRPr lang="en-US"/>
          </a:p>
        </p:txBody>
      </p:sp>
    </p:spTree>
    <p:extLst>
      <p:ext uri="{BB962C8B-B14F-4D97-AF65-F5344CB8AC3E}">
        <p14:creationId xmlns:p14="http://schemas.microsoft.com/office/powerpoint/2010/main" val="10922385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br>
              <a:rPr lang="en-US" sz="1200" b="0" i="0" u="none" strike="noStrike" kern="1200" dirty="0">
                <a:solidFill>
                  <a:schemeClr val="tx1"/>
                </a:solidFill>
                <a:effectLst/>
                <a:latin typeface="+mn-lt"/>
                <a:ea typeface="+mn-ea"/>
                <a:cs typeface="+mn-cs"/>
                <a:hlinkClick r:id="rId3"/>
              </a:rPr>
            </a:br>
            <a:endParaRPr lang="en-US" sz="1200" b="0" i="0" u="none" strike="noStrike" kern="1200" dirty="0">
              <a:solidFill>
                <a:schemeClr val="tx1"/>
              </a:solidFill>
              <a:effectLst/>
              <a:latin typeface="+mn-lt"/>
              <a:ea typeface="+mn-ea"/>
              <a:cs typeface="+mn-cs"/>
              <a:hlinkClick r:id="rId3"/>
            </a:endParaRPr>
          </a:p>
          <a:p>
            <a:r>
              <a:rPr lang="en-US" sz="1200" b="0" i="0" kern="1200" dirty="0" err="1">
                <a:solidFill>
                  <a:schemeClr val="tx1"/>
                </a:solidFill>
                <a:effectLst/>
                <a:latin typeface="+mn-lt"/>
                <a:ea typeface="+mn-ea"/>
                <a:cs typeface="+mn-cs"/>
              </a:rPr>
              <a:t>Xen</a:t>
            </a:r>
            <a:r>
              <a:rPr lang="en-US" sz="1200" b="0" i="0" kern="1200" dirty="0">
                <a:solidFill>
                  <a:schemeClr val="tx1"/>
                </a:solidFill>
                <a:effectLst/>
                <a:latin typeface="+mn-lt"/>
                <a:ea typeface="+mn-ea"/>
                <a:cs typeface="+mn-cs"/>
              </a:rPr>
              <a:t> is </a:t>
            </a:r>
            <a:r>
              <a:rPr lang="en-US" sz="1200" b="1" i="0" kern="1200" dirty="0">
                <a:solidFill>
                  <a:schemeClr val="tx1"/>
                </a:solidFill>
                <a:effectLst/>
                <a:latin typeface="+mn-lt"/>
                <a:ea typeface="+mn-ea"/>
                <a:cs typeface="+mn-cs"/>
              </a:rPr>
              <a:t>a hypervisor that runs directly on the system hardware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Xen</a:t>
            </a:r>
            <a:r>
              <a:rPr lang="en-US" sz="1200" b="0" i="0" kern="1200" dirty="0">
                <a:solidFill>
                  <a:schemeClr val="tx1"/>
                </a:solidFill>
                <a:effectLst/>
                <a:latin typeface="+mn-lt"/>
                <a:ea typeface="+mn-ea"/>
                <a:cs typeface="+mn-cs"/>
              </a:rPr>
              <a:t> inserts a virtualization layer between the system hardware and the virtual machines, turning the system hardware into a pool of logical computing resources that </a:t>
            </a:r>
            <a:r>
              <a:rPr lang="en-US" sz="1200" b="0" i="0" kern="1200" dirty="0" err="1">
                <a:solidFill>
                  <a:schemeClr val="tx1"/>
                </a:solidFill>
                <a:effectLst/>
                <a:latin typeface="+mn-lt"/>
                <a:ea typeface="+mn-ea"/>
                <a:cs typeface="+mn-cs"/>
              </a:rPr>
              <a:t>Xen</a:t>
            </a:r>
            <a:r>
              <a:rPr lang="en-US" sz="1200" b="0" i="0" kern="1200" dirty="0">
                <a:solidFill>
                  <a:schemeClr val="tx1"/>
                </a:solidFill>
                <a:effectLst/>
                <a:latin typeface="+mn-lt"/>
                <a:ea typeface="+mn-ea"/>
                <a:cs typeface="+mn-cs"/>
              </a:rPr>
              <a:t> can dynamically allocate to any guest operating </a:t>
            </a:r>
            <a:r>
              <a:rPr lang="en-US" sz="1200" b="0" i="0" kern="1200" dirty="0" err="1">
                <a:solidFill>
                  <a:schemeClr val="tx1"/>
                </a:solidFill>
                <a:effectLst/>
                <a:latin typeface="+mn-lt"/>
                <a:ea typeface="+mn-ea"/>
                <a:cs typeface="+mn-cs"/>
              </a:rPr>
              <a:t>syste</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32</a:t>
            </a:fld>
            <a:endParaRPr lang="en-US"/>
          </a:p>
        </p:txBody>
      </p:sp>
    </p:spTree>
    <p:extLst>
      <p:ext uri="{BB962C8B-B14F-4D97-AF65-F5344CB8AC3E}">
        <p14:creationId xmlns:p14="http://schemas.microsoft.com/office/powerpoint/2010/main" val="670525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br>
              <a:rPr lang="en-US" sz="1200" b="0" i="0" u="none" strike="noStrike" kern="1200" dirty="0">
                <a:solidFill>
                  <a:schemeClr val="tx1"/>
                </a:solidFill>
                <a:effectLst/>
                <a:latin typeface="+mn-lt"/>
                <a:ea typeface="+mn-ea"/>
                <a:cs typeface="+mn-cs"/>
                <a:hlinkClick r:id="rId3"/>
              </a:rPr>
            </a:br>
            <a:endParaRPr lang="en-US" sz="1200" b="0" i="0" u="none" strike="noStrike" kern="1200" dirty="0">
              <a:solidFill>
                <a:schemeClr val="tx1"/>
              </a:solidFill>
              <a:effectLst/>
              <a:latin typeface="+mn-lt"/>
              <a:ea typeface="+mn-ea"/>
              <a:cs typeface="+mn-cs"/>
              <a:hlinkClick r:id="rId3"/>
            </a:endParaRPr>
          </a:p>
          <a:p>
            <a:r>
              <a:rPr lang="en-US" sz="1200" b="0" i="0" kern="1200" dirty="0" err="1">
                <a:solidFill>
                  <a:schemeClr val="tx1"/>
                </a:solidFill>
                <a:effectLst/>
                <a:latin typeface="+mn-lt"/>
                <a:ea typeface="+mn-ea"/>
                <a:cs typeface="+mn-cs"/>
              </a:rPr>
              <a:t>Xen</a:t>
            </a:r>
            <a:r>
              <a:rPr lang="en-US" sz="1200" b="0" i="0" kern="1200" dirty="0">
                <a:solidFill>
                  <a:schemeClr val="tx1"/>
                </a:solidFill>
                <a:effectLst/>
                <a:latin typeface="+mn-lt"/>
                <a:ea typeface="+mn-ea"/>
                <a:cs typeface="+mn-cs"/>
              </a:rPr>
              <a:t> is </a:t>
            </a:r>
            <a:r>
              <a:rPr lang="en-US" sz="1200" b="1" i="0" kern="1200" dirty="0">
                <a:solidFill>
                  <a:schemeClr val="tx1"/>
                </a:solidFill>
                <a:effectLst/>
                <a:latin typeface="+mn-lt"/>
                <a:ea typeface="+mn-ea"/>
                <a:cs typeface="+mn-cs"/>
              </a:rPr>
              <a:t>a hypervisor that runs directly on the system hardware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Xen</a:t>
            </a:r>
            <a:r>
              <a:rPr lang="en-US" sz="1200" b="0" i="0" kern="1200" dirty="0">
                <a:solidFill>
                  <a:schemeClr val="tx1"/>
                </a:solidFill>
                <a:effectLst/>
                <a:latin typeface="+mn-lt"/>
                <a:ea typeface="+mn-ea"/>
                <a:cs typeface="+mn-cs"/>
              </a:rPr>
              <a:t> inserts a virtualization layer between the system hardware and the virtual machines, turning the system hardware into a pool of logical computing resources that </a:t>
            </a:r>
            <a:r>
              <a:rPr lang="en-US" sz="1200" b="0" i="0" kern="1200" dirty="0" err="1">
                <a:solidFill>
                  <a:schemeClr val="tx1"/>
                </a:solidFill>
                <a:effectLst/>
                <a:latin typeface="+mn-lt"/>
                <a:ea typeface="+mn-ea"/>
                <a:cs typeface="+mn-cs"/>
              </a:rPr>
              <a:t>Xen</a:t>
            </a:r>
            <a:r>
              <a:rPr lang="en-US" sz="1200" b="0" i="0" kern="1200" dirty="0">
                <a:solidFill>
                  <a:schemeClr val="tx1"/>
                </a:solidFill>
                <a:effectLst/>
                <a:latin typeface="+mn-lt"/>
                <a:ea typeface="+mn-ea"/>
                <a:cs typeface="+mn-cs"/>
              </a:rPr>
              <a:t> can dynamically allocate to any guest operating </a:t>
            </a:r>
            <a:r>
              <a:rPr lang="en-US" sz="1200" b="0" i="0" kern="1200" dirty="0" err="1">
                <a:solidFill>
                  <a:schemeClr val="tx1"/>
                </a:solidFill>
                <a:effectLst/>
                <a:latin typeface="+mn-lt"/>
                <a:ea typeface="+mn-ea"/>
                <a:cs typeface="+mn-cs"/>
              </a:rPr>
              <a:t>syste</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33</a:t>
            </a:fld>
            <a:endParaRPr lang="en-US"/>
          </a:p>
        </p:txBody>
      </p:sp>
    </p:spTree>
    <p:extLst>
      <p:ext uri="{BB962C8B-B14F-4D97-AF65-F5344CB8AC3E}">
        <p14:creationId xmlns:p14="http://schemas.microsoft.com/office/powerpoint/2010/main" val="18723140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br>
              <a:rPr lang="en-US" sz="1200" b="0" i="0" u="none" strike="noStrike" kern="1200" dirty="0">
                <a:solidFill>
                  <a:schemeClr val="tx1"/>
                </a:solidFill>
                <a:effectLst/>
                <a:latin typeface="+mn-lt"/>
                <a:ea typeface="+mn-ea"/>
                <a:cs typeface="+mn-cs"/>
                <a:hlinkClick r:id="rId3"/>
              </a:rPr>
            </a:br>
            <a:endParaRPr lang="en-US" sz="1200" b="0" i="0" u="none" strike="noStrike" kern="1200" dirty="0">
              <a:solidFill>
                <a:schemeClr val="tx1"/>
              </a:solidFill>
              <a:effectLst/>
              <a:latin typeface="+mn-lt"/>
              <a:ea typeface="+mn-ea"/>
              <a:cs typeface="+mn-cs"/>
              <a:hlinkClick r:id="rId3"/>
            </a:endParaRPr>
          </a:p>
          <a:p>
            <a:r>
              <a:rPr lang="en-US" sz="1200" b="0" i="0" kern="1200" dirty="0" err="1">
                <a:solidFill>
                  <a:schemeClr val="tx1"/>
                </a:solidFill>
                <a:effectLst/>
                <a:latin typeface="+mn-lt"/>
                <a:ea typeface="+mn-ea"/>
                <a:cs typeface="+mn-cs"/>
              </a:rPr>
              <a:t>Xen</a:t>
            </a:r>
            <a:r>
              <a:rPr lang="en-US" sz="1200" b="0" i="0" kern="1200" dirty="0">
                <a:solidFill>
                  <a:schemeClr val="tx1"/>
                </a:solidFill>
                <a:effectLst/>
                <a:latin typeface="+mn-lt"/>
                <a:ea typeface="+mn-ea"/>
                <a:cs typeface="+mn-cs"/>
              </a:rPr>
              <a:t> is </a:t>
            </a:r>
            <a:r>
              <a:rPr lang="en-US" sz="1200" b="1" i="0" kern="1200" dirty="0">
                <a:solidFill>
                  <a:schemeClr val="tx1"/>
                </a:solidFill>
                <a:effectLst/>
                <a:latin typeface="+mn-lt"/>
                <a:ea typeface="+mn-ea"/>
                <a:cs typeface="+mn-cs"/>
              </a:rPr>
              <a:t>a hypervisor that runs directly on the system hardware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Xen</a:t>
            </a:r>
            <a:r>
              <a:rPr lang="en-US" sz="1200" b="0" i="0" kern="1200" dirty="0">
                <a:solidFill>
                  <a:schemeClr val="tx1"/>
                </a:solidFill>
                <a:effectLst/>
                <a:latin typeface="+mn-lt"/>
                <a:ea typeface="+mn-ea"/>
                <a:cs typeface="+mn-cs"/>
              </a:rPr>
              <a:t> inserts a virtualization layer between the system hardware and the virtual machines, turning the system hardware into a pool of logical computing resources that </a:t>
            </a:r>
            <a:r>
              <a:rPr lang="en-US" sz="1200" b="0" i="0" kern="1200" dirty="0" err="1">
                <a:solidFill>
                  <a:schemeClr val="tx1"/>
                </a:solidFill>
                <a:effectLst/>
                <a:latin typeface="+mn-lt"/>
                <a:ea typeface="+mn-ea"/>
                <a:cs typeface="+mn-cs"/>
              </a:rPr>
              <a:t>Xen</a:t>
            </a:r>
            <a:r>
              <a:rPr lang="en-US" sz="1200" b="0" i="0" kern="1200" dirty="0">
                <a:solidFill>
                  <a:schemeClr val="tx1"/>
                </a:solidFill>
                <a:effectLst/>
                <a:latin typeface="+mn-lt"/>
                <a:ea typeface="+mn-ea"/>
                <a:cs typeface="+mn-cs"/>
              </a:rPr>
              <a:t> can dynamically allocate to any guest operating </a:t>
            </a:r>
            <a:r>
              <a:rPr lang="en-US" sz="1200" b="0" i="0" kern="1200" dirty="0" err="1">
                <a:solidFill>
                  <a:schemeClr val="tx1"/>
                </a:solidFill>
                <a:effectLst/>
                <a:latin typeface="+mn-lt"/>
                <a:ea typeface="+mn-ea"/>
                <a:cs typeface="+mn-cs"/>
              </a:rPr>
              <a:t>syste</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34</a:t>
            </a:fld>
            <a:endParaRPr lang="en-US"/>
          </a:p>
        </p:txBody>
      </p:sp>
    </p:spTree>
    <p:extLst>
      <p:ext uri="{BB962C8B-B14F-4D97-AF65-F5344CB8AC3E}">
        <p14:creationId xmlns:p14="http://schemas.microsoft.com/office/powerpoint/2010/main" val="39796115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br>
              <a:rPr lang="en-US" sz="1200" b="0" i="0" u="none" strike="noStrike" kern="1200" dirty="0">
                <a:solidFill>
                  <a:schemeClr val="tx1"/>
                </a:solidFill>
                <a:effectLst/>
                <a:latin typeface="+mn-lt"/>
                <a:ea typeface="+mn-ea"/>
                <a:cs typeface="+mn-cs"/>
                <a:hlinkClick r:id="rId3"/>
              </a:rPr>
            </a:br>
            <a:endParaRPr lang="en-US" sz="1200" b="0" i="0" u="none" strike="noStrike" kern="1200" dirty="0">
              <a:solidFill>
                <a:schemeClr val="tx1"/>
              </a:solidFill>
              <a:effectLst/>
              <a:latin typeface="+mn-lt"/>
              <a:ea typeface="+mn-ea"/>
              <a:cs typeface="+mn-cs"/>
              <a:hlinkClick r:id="rId3"/>
            </a:endParaRPr>
          </a:p>
          <a:p>
            <a:r>
              <a:rPr lang="en-US" sz="1200" b="0" i="0" kern="1200" dirty="0" err="1">
                <a:solidFill>
                  <a:schemeClr val="tx1"/>
                </a:solidFill>
                <a:effectLst/>
                <a:latin typeface="+mn-lt"/>
                <a:ea typeface="+mn-ea"/>
                <a:cs typeface="+mn-cs"/>
              </a:rPr>
              <a:t>Xen</a:t>
            </a:r>
            <a:r>
              <a:rPr lang="en-US" sz="1200" b="0" i="0" kern="1200" dirty="0">
                <a:solidFill>
                  <a:schemeClr val="tx1"/>
                </a:solidFill>
                <a:effectLst/>
                <a:latin typeface="+mn-lt"/>
                <a:ea typeface="+mn-ea"/>
                <a:cs typeface="+mn-cs"/>
              </a:rPr>
              <a:t> is </a:t>
            </a:r>
            <a:r>
              <a:rPr lang="en-US" sz="1200" b="1" i="0" kern="1200" dirty="0">
                <a:solidFill>
                  <a:schemeClr val="tx1"/>
                </a:solidFill>
                <a:effectLst/>
                <a:latin typeface="+mn-lt"/>
                <a:ea typeface="+mn-ea"/>
                <a:cs typeface="+mn-cs"/>
              </a:rPr>
              <a:t>a hypervisor that runs directly on the system hardware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Xen</a:t>
            </a:r>
            <a:r>
              <a:rPr lang="en-US" sz="1200" b="0" i="0" kern="1200" dirty="0">
                <a:solidFill>
                  <a:schemeClr val="tx1"/>
                </a:solidFill>
                <a:effectLst/>
                <a:latin typeface="+mn-lt"/>
                <a:ea typeface="+mn-ea"/>
                <a:cs typeface="+mn-cs"/>
              </a:rPr>
              <a:t> inserts a virtualization layer between the system hardware and the virtual machines, turning the system hardware into a pool of logical computing resources that </a:t>
            </a:r>
            <a:r>
              <a:rPr lang="en-US" sz="1200" b="0" i="0" kern="1200" dirty="0" err="1">
                <a:solidFill>
                  <a:schemeClr val="tx1"/>
                </a:solidFill>
                <a:effectLst/>
                <a:latin typeface="+mn-lt"/>
                <a:ea typeface="+mn-ea"/>
                <a:cs typeface="+mn-cs"/>
              </a:rPr>
              <a:t>Xen</a:t>
            </a:r>
            <a:r>
              <a:rPr lang="en-US" sz="1200" b="0" i="0" kern="1200" dirty="0">
                <a:solidFill>
                  <a:schemeClr val="tx1"/>
                </a:solidFill>
                <a:effectLst/>
                <a:latin typeface="+mn-lt"/>
                <a:ea typeface="+mn-ea"/>
                <a:cs typeface="+mn-cs"/>
              </a:rPr>
              <a:t> can dynamically allocate to any guest operating </a:t>
            </a:r>
            <a:r>
              <a:rPr lang="en-US" sz="1200" b="0" i="0" kern="1200" dirty="0" err="1">
                <a:solidFill>
                  <a:schemeClr val="tx1"/>
                </a:solidFill>
                <a:effectLst/>
                <a:latin typeface="+mn-lt"/>
                <a:ea typeface="+mn-ea"/>
                <a:cs typeface="+mn-cs"/>
              </a:rPr>
              <a:t>syste</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35</a:t>
            </a:fld>
            <a:endParaRPr lang="en-US"/>
          </a:p>
        </p:txBody>
      </p:sp>
    </p:spTree>
    <p:extLst>
      <p:ext uri="{BB962C8B-B14F-4D97-AF65-F5344CB8AC3E}">
        <p14:creationId xmlns:p14="http://schemas.microsoft.com/office/powerpoint/2010/main" val="17868317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br>
              <a:rPr lang="en-US" sz="1200" b="0" i="0" u="none" strike="noStrike" kern="1200" dirty="0">
                <a:solidFill>
                  <a:schemeClr val="tx1"/>
                </a:solidFill>
                <a:effectLst/>
                <a:latin typeface="+mn-lt"/>
                <a:ea typeface="+mn-ea"/>
                <a:cs typeface="+mn-cs"/>
                <a:hlinkClick r:id="rId3"/>
              </a:rPr>
            </a:br>
            <a:endParaRPr lang="en-US" sz="1200" b="0" i="0" u="none" strike="noStrike" kern="1200" dirty="0">
              <a:solidFill>
                <a:schemeClr val="tx1"/>
              </a:solidFill>
              <a:effectLst/>
              <a:latin typeface="+mn-lt"/>
              <a:ea typeface="+mn-ea"/>
              <a:cs typeface="+mn-cs"/>
              <a:hlinkClick r:id="rId3"/>
            </a:endParaRPr>
          </a:p>
          <a:p>
            <a:r>
              <a:rPr lang="en-US" sz="1200" b="0" i="0" kern="1200" dirty="0" err="1">
                <a:solidFill>
                  <a:schemeClr val="tx1"/>
                </a:solidFill>
                <a:effectLst/>
                <a:latin typeface="+mn-lt"/>
                <a:ea typeface="+mn-ea"/>
                <a:cs typeface="+mn-cs"/>
              </a:rPr>
              <a:t>Xen</a:t>
            </a:r>
            <a:r>
              <a:rPr lang="en-US" sz="1200" b="0" i="0" kern="1200" dirty="0">
                <a:solidFill>
                  <a:schemeClr val="tx1"/>
                </a:solidFill>
                <a:effectLst/>
                <a:latin typeface="+mn-lt"/>
                <a:ea typeface="+mn-ea"/>
                <a:cs typeface="+mn-cs"/>
              </a:rPr>
              <a:t> is </a:t>
            </a:r>
            <a:r>
              <a:rPr lang="en-US" sz="1200" b="1" i="0" kern="1200" dirty="0">
                <a:solidFill>
                  <a:schemeClr val="tx1"/>
                </a:solidFill>
                <a:effectLst/>
                <a:latin typeface="+mn-lt"/>
                <a:ea typeface="+mn-ea"/>
                <a:cs typeface="+mn-cs"/>
              </a:rPr>
              <a:t>a hypervisor that runs directly on the system hardware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Xen</a:t>
            </a:r>
            <a:r>
              <a:rPr lang="en-US" sz="1200" b="0" i="0" kern="1200" dirty="0">
                <a:solidFill>
                  <a:schemeClr val="tx1"/>
                </a:solidFill>
                <a:effectLst/>
                <a:latin typeface="+mn-lt"/>
                <a:ea typeface="+mn-ea"/>
                <a:cs typeface="+mn-cs"/>
              </a:rPr>
              <a:t> inserts a virtualization layer between the system hardware and the virtual machines, turning the system hardware into a pool of logical computing resources that </a:t>
            </a:r>
            <a:r>
              <a:rPr lang="en-US" sz="1200" b="0" i="0" kern="1200" dirty="0" err="1">
                <a:solidFill>
                  <a:schemeClr val="tx1"/>
                </a:solidFill>
                <a:effectLst/>
                <a:latin typeface="+mn-lt"/>
                <a:ea typeface="+mn-ea"/>
                <a:cs typeface="+mn-cs"/>
              </a:rPr>
              <a:t>Xen</a:t>
            </a:r>
            <a:r>
              <a:rPr lang="en-US" sz="1200" b="0" i="0" kern="1200" dirty="0">
                <a:solidFill>
                  <a:schemeClr val="tx1"/>
                </a:solidFill>
                <a:effectLst/>
                <a:latin typeface="+mn-lt"/>
                <a:ea typeface="+mn-ea"/>
                <a:cs typeface="+mn-cs"/>
              </a:rPr>
              <a:t> can dynamically allocate to any guest operating </a:t>
            </a:r>
            <a:r>
              <a:rPr lang="en-US" sz="1200" b="0" i="0" kern="1200" dirty="0" err="1">
                <a:solidFill>
                  <a:schemeClr val="tx1"/>
                </a:solidFill>
                <a:effectLst/>
                <a:latin typeface="+mn-lt"/>
                <a:ea typeface="+mn-ea"/>
                <a:cs typeface="+mn-cs"/>
              </a:rPr>
              <a:t>syste</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36</a:t>
            </a:fld>
            <a:endParaRPr lang="en-US"/>
          </a:p>
        </p:txBody>
      </p:sp>
    </p:spTree>
    <p:extLst>
      <p:ext uri="{BB962C8B-B14F-4D97-AF65-F5344CB8AC3E}">
        <p14:creationId xmlns:p14="http://schemas.microsoft.com/office/powerpoint/2010/main" val="8430232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br>
              <a:rPr lang="en-US" sz="1200" b="0" i="0" u="none" strike="noStrike" kern="1200" dirty="0">
                <a:solidFill>
                  <a:schemeClr val="tx1"/>
                </a:solidFill>
                <a:effectLst/>
                <a:latin typeface="+mn-lt"/>
                <a:ea typeface="+mn-ea"/>
                <a:cs typeface="+mn-cs"/>
                <a:hlinkClick r:id="rId3"/>
              </a:rPr>
            </a:br>
            <a:endParaRPr lang="en-US" sz="1200" b="0" i="0" u="none" strike="noStrike" kern="1200" dirty="0">
              <a:solidFill>
                <a:schemeClr val="tx1"/>
              </a:solidFill>
              <a:effectLst/>
              <a:latin typeface="+mn-lt"/>
              <a:ea typeface="+mn-ea"/>
              <a:cs typeface="+mn-cs"/>
              <a:hlinkClick r:id="rId3"/>
            </a:endParaRPr>
          </a:p>
          <a:p>
            <a:r>
              <a:rPr lang="en-US" sz="1200" b="0" i="0" kern="1200" dirty="0" err="1">
                <a:solidFill>
                  <a:schemeClr val="tx1"/>
                </a:solidFill>
                <a:effectLst/>
                <a:latin typeface="+mn-lt"/>
                <a:ea typeface="+mn-ea"/>
                <a:cs typeface="+mn-cs"/>
              </a:rPr>
              <a:t>Xen</a:t>
            </a:r>
            <a:r>
              <a:rPr lang="en-US" sz="1200" b="0" i="0" kern="1200" dirty="0">
                <a:solidFill>
                  <a:schemeClr val="tx1"/>
                </a:solidFill>
                <a:effectLst/>
                <a:latin typeface="+mn-lt"/>
                <a:ea typeface="+mn-ea"/>
                <a:cs typeface="+mn-cs"/>
              </a:rPr>
              <a:t> is </a:t>
            </a:r>
            <a:r>
              <a:rPr lang="en-US" sz="1200" b="1" i="0" kern="1200" dirty="0">
                <a:solidFill>
                  <a:schemeClr val="tx1"/>
                </a:solidFill>
                <a:effectLst/>
                <a:latin typeface="+mn-lt"/>
                <a:ea typeface="+mn-ea"/>
                <a:cs typeface="+mn-cs"/>
              </a:rPr>
              <a:t>a hypervisor that runs directly on the system hardware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Xen</a:t>
            </a:r>
            <a:r>
              <a:rPr lang="en-US" sz="1200" b="0" i="0" kern="1200" dirty="0">
                <a:solidFill>
                  <a:schemeClr val="tx1"/>
                </a:solidFill>
                <a:effectLst/>
                <a:latin typeface="+mn-lt"/>
                <a:ea typeface="+mn-ea"/>
                <a:cs typeface="+mn-cs"/>
              </a:rPr>
              <a:t> inserts a virtualization layer between the system hardware and the virtual machines, turning the system hardware into a pool of logical computing resources that </a:t>
            </a:r>
            <a:r>
              <a:rPr lang="en-US" sz="1200" b="0" i="0" kern="1200" dirty="0" err="1">
                <a:solidFill>
                  <a:schemeClr val="tx1"/>
                </a:solidFill>
                <a:effectLst/>
                <a:latin typeface="+mn-lt"/>
                <a:ea typeface="+mn-ea"/>
                <a:cs typeface="+mn-cs"/>
              </a:rPr>
              <a:t>Xen</a:t>
            </a:r>
            <a:r>
              <a:rPr lang="en-US" sz="1200" b="0" i="0" kern="1200" dirty="0">
                <a:solidFill>
                  <a:schemeClr val="tx1"/>
                </a:solidFill>
                <a:effectLst/>
                <a:latin typeface="+mn-lt"/>
                <a:ea typeface="+mn-ea"/>
                <a:cs typeface="+mn-cs"/>
              </a:rPr>
              <a:t> can dynamically allocate to any guest operating </a:t>
            </a:r>
            <a:r>
              <a:rPr lang="en-US" sz="1200" b="0" i="0" kern="1200" dirty="0" err="1">
                <a:solidFill>
                  <a:schemeClr val="tx1"/>
                </a:solidFill>
                <a:effectLst/>
                <a:latin typeface="+mn-lt"/>
                <a:ea typeface="+mn-ea"/>
                <a:cs typeface="+mn-cs"/>
              </a:rPr>
              <a:t>syste</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37</a:t>
            </a:fld>
            <a:endParaRPr lang="en-US"/>
          </a:p>
        </p:txBody>
      </p:sp>
    </p:spTree>
    <p:extLst>
      <p:ext uri="{BB962C8B-B14F-4D97-AF65-F5344CB8AC3E}">
        <p14:creationId xmlns:p14="http://schemas.microsoft.com/office/powerpoint/2010/main" val="15836266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br>
              <a:rPr lang="en-US" sz="1200" b="0" i="0" u="none" strike="noStrike" kern="1200" dirty="0">
                <a:solidFill>
                  <a:schemeClr val="tx1"/>
                </a:solidFill>
                <a:effectLst/>
                <a:latin typeface="+mn-lt"/>
                <a:ea typeface="+mn-ea"/>
                <a:cs typeface="+mn-cs"/>
                <a:hlinkClick r:id="rId3"/>
              </a:rPr>
            </a:br>
            <a:endParaRPr lang="en-US" sz="1200" b="0" i="0" u="none" strike="noStrike" kern="1200" dirty="0">
              <a:solidFill>
                <a:schemeClr val="tx1"/>
              </a:solidFill>
              <a:effectLst/>
              <a:latin typeface="+mn-lt"/>
              <a:ea typeface="+mn-ea"/>
              <a:cs typeface="+mn-cs"/>
              <a:hlinkClick r:id="rId3"/>
            </a:endParaRPr>
          </a:p>
          <a:p>
            <a:r>
              <a:rPr lang="en-US" sz="1200" b="0" i="0" kern="1200" dirty="0" err="1">
                <a:solidFill>
                  <a:schemeClr val="tx1"/>
                </a:solidFill>
                <a:effectLst/>
                <a:latin typeface="+mn-lt"/>
                <a:ea typeface="+mn-ea"/>
                <a:cs typeface="+mn-cs"/>
              </a:rPr>
              <a:t>Xen</a:t>
            </a:r>
            <a:r>
              <a:rPr lang="en-US" sz="1200" b="0" i="0" kern="1200" dirty="0">
                <a:solidFill>
                  <a:schemeClr val="tx1"/>
                </a:solidFill>
                <a:effectLst/>
                <a:latin typeface="+mn-lt"/>
                <a:ea typeface="+mn-ea"/>
                <a:cs typeface="+mn-cs"/>
              </a:rPr>
              <a:t> is </a:t>
            </a:r>
            <a:r>
              <a:rPr lang="en-US" sz="1200" b="1" i="0" kern="1200" dirty="0">
                <a:solidFill>
                  <a:schemeClr val="tx1"/>
                </a:solidFill>
                <a:effectLst/>
                <a:latin typeface="+mn-lt"/>
                <a:ea typeface="+mn-ea"/>
                <a:cs typeface="+mn-cs"/>
              </a:rPr>
              <a:t>a hypervisor that runs directly on the system hardware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Xen</a:t>
            </a:r>
            <a:r>
              <a:rPr lang="en-US" sz="1200" b="0" i="0" kern="1200" dirty="0">
                <a:solidFill>
                  <a:schemeClr val="tx1"/>
                </a:solidFill>
                <a:effectLst/>
                <a:latin typeface="+mn-lt"/>
                <a:ea typeface="+mn-ea"/>
                <a:cs typeface="+mn-cs"/>
              </a:rPr>
              <a:t> inserts a virtualization layer between the system hardware and the virtual machines, turning the system hardware into a pool of logical computing resources that </a:t>
            </a:r>
            <a:r>
              <a:rPr lang="en-US" sz="1200" b="0" i="0" kern="1200" dirty="0" err="1">
                <a:solidFill>
                  <a:schemeClr val="tx1"/>
                </a:solidFill>
                <a:effectLst/>
                <a:latin typeface="+mn-lt"/>
                <a:ea typeface="+mn-ea"/>
                <a:cs typeface="+mn-cs"/>
              </a:rPr>
              <a:t>Xen</a:t>
            </a:r>
            <a:r>
              <a:rPr lang="en-US" sz="1200" b="0" i="0" kern="1200" dirty="0">
                <a:solidFill>
                  <a:schemeClr val="tx1"/>
                </a:solidFill>
                <a:effectLst/>
                <a:latin typeface="+mn-lt"/>
                <a:ea typeface="+mn-ea"/>
                <a:cs typeface="+mn-cs"/>
              </a:rPr>
              <a:t> can dynamically allocate to any guest operating </a:t>
            </a:r>
            <a:r>
              <a:rPr lang="en-US" sz="1200" b="0" i="0" kern="1200" dirty="0" err="1">
                <a:solidFill>
                  <a:schemeClr val="tx1"/>
                </a:solidFill>
                <a:effectLst/>
                <a:latin typeface="+mn-lt"/>
                <a:ea typeface="+mn-ea"/>
                <a:cs typeface="+mn-cs"/>
              </a:rPr>
              <a:t>syste</a:t>
            </a:r>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38</a:t>
            </a:fld>
            <a:endParaRPr lang="en-US"/>
          </a:p>
        </p:txBody>
      </p:sp>
    </p:spTree>
    <p:extLst>
      <p:ext uri="{BB962C8B-B14F-4D97-AF65-F5344CB8AC3E}">
        <p14:creationId xmlns:p14="http://schemas.microsoft.com/office/powerpoint/2010/main" val="6561072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ctr">
              <a:lnSpc>
                <a:spcPts val="1800"/>
              </a:lnSpc>
              <a:spcAft>
                <a:spcPts val="1500"/>
              </a:spcAft>
            </a:pPr>
            <a:r>
              <a:rPr lang="en-US" b="0" i="0" dirty="0">
                <a:solidFill>
                  <a:srgbClr val="1F1F1F"/>
                </a:solidFill>
                <a:effectLst/>
                <a:latin typeface="Google Sans"/>
              </a:rPr>
              <a:t>In cloud computing, "reserved", "on-demand", and "spot" are three purchasing models with varying levels of flexibility, where "on-demand" offers the most flexibility to instantly access computing power as needed, "reserved" provides significant cost savings by committing to a set amount of capacity for a fixed period, and "spot" allows you to bid for unused compute capacity at a potentially much lower price, but with the risk of interruption if the price rises above your bid. </a:t>
            </a:r>
          </a:p>
          <a:p>
            <a:pPr algn="l">
              <a:lnSpc>
                <a:spcPts val="1800"/>
              </a:lnSpc>
              <a:spcBef>
                <a:spcPts val="1500"/>
              </a:spcBef>
              <a:spcAft>
                <a:spcPts val="750"/>
              </a:spcAft>
            </a:pPr>
            <a:r>
              <a:rPr lang="en-US" b="0" i="0" dirty="0">
                <a:solidFill>
                  <a:srgbClr val="1F1F1F"/>
                </a:solidFill>
                <a:effectLst/>
                <a:latin typeface="Google Sans"/>
              </a:rPr>
              <a:t>Key differences:</a:t>
            </a:r>
          </a:p>
          <a:p>
            <a:pPr algn="l">
              <a:lnSpc>
                <a:spcPts val="1800"/>
              </a:lnSpc>
              <a:spcBef>
                <a:spcPts val="750"/>
              </a:spcBef>
              <a:spcAft>
                <a:spcPts val="600"/>
              </a:spcAft>
              <a:buFont typeface="Arial" panose="020B0604020202020204" pitchFamily="34" charset="0"/>
              <a:buChar char="•"/>
            </a:pPr>
            <a:r>
              <a:rPr lang="en-US" b="1" i="0" dirty="0">
                <a:solidFill>
                  <a:srgbClr val="1F1F1F"/>
                </a:solidFill>
                <a:effectLst/>
                <a:latin typeface="Google Sans"/>
              </a:rPr>
              <a:t>On-Demand:</a:t>
            </a:r>
            <a:endParaRPr lang="en-US" b="0" i="0" dirty="0">
              <a:solidFill>
                <a:srgbClr val="1F1F1F"/>
              </a:solidFill>
              <a:effectLst/>
              <a:latin typeface="Google Sans"/>
            </a:endParaRPr>
          </a:p>
          <a:p>
            <a:pPr algn="l" fontAlgn="ctr">
              <a:lnSpc>
                <a:spcPts val="1800"/>
              </a:lnSpc>
              <a:spcBef>
                <a:spcPts val="600"/>
              </a:spcBef>
              <a:spcAft>
                <a:spcPts val="600"/>
              </a:spcAft>
              <a:buFont typeface="Arial" panose="020B0604020202020204" pitchFamily="34" charset="0"/>
              <a:buChar char="•"/>
            </a:pPr>
            <a:r>
              <a:rPr lang="en-US" b="1" i="0" dirty="0">
                <a:solidFill>
                  <a:srgbClr val="1F1F1F"/>
                </a:solidFill>
                <a:effectLst/>
                <a:latin typeface="Google Sans"/>
              </a:rPr>
              <a:t>Flexibility:</a:t>
            </a:r>
            <a:r>
              <a:rPr lang="en-US" b="0" i="0" dirty="0">
                <a:solidFill>
                  <a:srgbClr val="1F1F1F"/>
                </a:solidFill>
                <a:effectLst/>
                <a:latin typeface="Google Sans"/>
              </a:rPr>
              <a:t> Highest flexibility, can scale up or down instantly as needed. </a:t>
            </a:r>
          </a:p>
          <a:p>
            <a:pPr algn="l" fontAlgn="ctr">
              <a:lnSpc>
                <a:spcPts val="1800"/>
              </a:lnSpc>
              <a:spcBef>
                <a:spcPts val="600"/>
              </a:spcBef>
              <a:spcAft>
                <a:spcPts val="600"/>
              </a:spcAft>
              <a:buFont typeface="Arial" panose="020B0604020202020204" pitchFamily="34" charset="0"/>
              <a:buChar char="•"/>
            </a:pPr>
            <a:r>
              <a:rPr lang="en-US" b="1" i="0" dirty="0">
                <a:solidFill>
                  <a:srgbClr val="1F1F1F"/>
                </a:solidFill>
                <a:effectLst/>
                <a:latin typeface="Google Sans"/>
              </a:rPr>
              <a:t>Cost:</a:t>
            </a:r>
            <a:r>
              <a:rPr lang="en-US" b="0" i="0" dirty="0">
                <a:solidFill>
                  <a:srgbClr val="1F1F1F"/>
                </a:solidFill>
                <a:effectLst/>
                <a:latin typeface="Google Sans"/>
              </a:rPr>
              <a:t> Most expensive option, pay per hour for usage without any commitment. </a:t>
            </a:r>
          </a:p>
          <a:p>
            <a:pPr algn="l" fontAlgn="ctr">
              <a:lnSpc>
                <a:spcPts val="1800"/>
              </a:lnSpc>
              <a:spcBef>
                <a:spcPts val="600"/>
              </a:spcBef>
              <a:spcAft>
                <a:spcPts val="1500"/>
              </a:spcAft>
              <a:buFont typeface="Arial" panose="020B0604020202020204" pitchFamily="34" charset="0"/>
              <a:buChar char="•"/>
            </a:pPr>
            <a:r>
              <a:rPr lang="en-US" b="1" i="0" dirty="0">
                <a:solidFill>
                  <a:srgbClr val="1F1F1F"/>
                </a:solidFill>
                <a:effectLst/>
                <a:latin typeface="Google Sans"/>
              </a:rPr>
              <a:t>Use case:</a:t>
            </a:r>
            <a:r>
              <a:rPr lang="en-US" b="0" i="0" dirty="0">
                <a:solidFill>
                  <a:srgbClr val="1F1F1F"/>
                </a:solidFill>
                <a:effectLst/>
                <a:latin typeface="Google Sans"/>
              </a:rPr>
              <a:t> Ideal for unpredictable workloads, testing, or short-term projects where exact resource needs are unknown. </a:t>
            </a:r>
          </a:p>
          <a:p>
            <a:pPr algn="l">
              <a:lnSpc>
                <a:spcPts val="1800"/>
              </a:lnSpc>
              <a:spcBef>
                <a:spcPts val="750"/>
              </a:spcBef>
              <a:spcAft>
                <a:spcPts val="600"/>
              </a:spcAft>
              <a:buFont typeface="Arial" panose="020B0604020202020204" pitchFamily="34" charset="0"/>
              <a:buChar char="•"/>
            </a:pPr>
            <a:r>
              <a:rPr lang="en-US" b="1" i="0" dirty="0">
                <a:solidFill>
                  <a:srgbClr val="1F1F1F"/>
                </a:solidFill>
                <a:effectLst/>
                <a:latin typeface="Google Sans"/>
              </a:rPr>
              <a:t>Reserved:</a:t>
            </a:r>
            <a:endParaRPr lang="en-US" b="0" i="0" dirty="0">
              <a:solidFill>
                <a:srgbClr val="1F1F1F"/>
              </a:solidFill>
              <a:effectLst/>
              <a:latin typeface="Google Sans"/>
            </a:endParaRPr>
          </a:p>
          <a:p>
            <a:pPr algn="l" fontAlgn="ctr">
              <a:lnSpc>
                <a:spcPts val="1800"/>
              </a:lnSpc>
              <a:spcBef>
                <a:spcPts val="600"/>
              </a:spcBef>
              <a:spcAft>
                <a:spcPts val="600"/>
              </a:spcAft>
              <a:buFont typeface="Arial" panose="020B0604020202020204" pitchFamily="34" charset="0"/>
              <a:buChar char="•"/>
            </a:pPr>
            <a:r>
              <a:rPr lang="en-US" b="1" i="0" dirty="0">
                <a:solidFill>
                  <a:srgbClr val="1F1F1F"/>
                </a:solidFill>
                <a:effectLst/>
                <a:latin typeface="Google Sans"/>
              </a:rPr>
              <a:t>Flexibility:</a:t>
            </a:r>
            <a:r>
              <a:rPr lang="en-US" b="0" i="0" dirty="0">
                <a:solidFill>
                  <a:srgbClr val="1F1F1F"/>
                </a:solidFill>
                <a:effectLst/>
                <a:latin typeface="Google Sans"/>
              </a:rPr>
              <a:t> Less flexible than on-demand, requires a long-term commitment to reserve capacity. </a:t>
            </a:r>
          </a:p>
          <a:p>
            <a:pPr algn="l" fontAlgn="ctr">
              <a:lnSpc>
                <a:spcPts val="1800"/>
              </a:lnSpc>
              <a:spcBef>
                <a:spcPts val="600"/>
              </a:spcBef>
              <a:spcAft>
                <a:spcPts val="600"/>
              </a:spcAft>
              <a:buFont typeface="Arial" panose="020B0604020202020204" pitchFamily="34" charset="0"/>
              <a:buChar char="•"/>
            </a:pPr>
            <a:r>
              <a:rPr lang="en-US" b="1" i="0" dirty="0">
                <a:solidFill>
                  <a:srgbClr val="1F1F1F"/>
                </a:solidFill>
                <a:effectLst/>
                <a:latin typeface="Google Sans"/>
              </a:rPr>
              <a:t>Cost:</a:t>
            </a:r>
            <a:r>
              <a:rPr lang="en-US" b="0" i="0" dirty="0">
                <a:solidFill>
                  <a:srgbClr val="1F1F1F"/>
                </a:solidFill>
                <a:effectLst/>
                <a:latin typeface="Google Sans"/>
              </a:rPr>
              <a:t> Significant cost savings compared to on-demand due to upfront commitment. </a:t>
            </a:r>
          </a:p>
          <a:p>
            <a:pPr algn="l" fontAlgn="ctr">
              <a:lnSpc>
                <a:spcPts val="1800"/>
              </a:lnSpc>
              <a:spcBef>
                <a:spcPts val="600"/>
              </a:spcBef>
              <a:spcAft>
                <a:spcPts val="1500"/>
              </a:spcAft>
              <a:buFont typeface="Arial" panose="020B0604020202020204" pitchFamily="34" charset="0"/>
              <a:buChar char="•"/>
            </a:pPr>
            <a:r>
              <a:rPr lang="en-US" b="1" i="0" dirty="0">
                <a:solidFill>
                  <a:srgbClr val="1F1F1F"/>
                </a:solidFill>
                <a:effectLst/>
                <a:latin typeface="Google Sans"/>
              </a:rPr>
              <a:t>Use case:</a:t>
            </a:r>
            <a:r>
              <a:rPr lang="en-US" b="0" i="0" dirty="0">
                <a:solidFill>
                  <a:srgbClr val="1F1F1F"/>
                </a:solidFill>
                <a:effectLst/>
                <a:latin typeface="Google Sans"/>
              </a:rPr>
              <a:t> Best for predictable workloads where you know roughly how much compute power you'll need consistently over a long period. </a:t>
            </a:r>
          </a:p>
          <a:p>
            <a:pPr algn="l">
              <a:lnSpc>
                <a:spcPts val="1800"/>
              </a:lnSpc>
              <a:spcBef>
                <a:spcPts val="750"/>
              </a:spcBef>
              <a:spcAft>
                <a:spcPts val="1500"/>
              </a:spcAft>
              <a:buFont typeface="Arial" panose="020B0604020202020204" pitchFamily="34" charset="0"/>
              <a:buChar char="•"/>
            </a:pPr>
            <a:r>
              <a:rPr lang="en-US" b="1" i="0" dirty="0">
                <a:solidFill>
                  <a:srgbClr val="1F1F1F"/>
                </a:solidFill>
                <a:effectLst/>
                <a:latin typeface="Google Sans"/>
              </a:rPr>
              <a:t>Spot:</a:t>
            </a:r>
            <a:endParaRPr lang="en-US" b="0" i="0" dirty="0">
              <a:solidFill>
                <a:srgbClr val="1F1F1F"/>
              </a:solidFill>
              <a:effectLst/>
              <a:latin typeface="Google Sans"/>
            </a:endParaRPr>
          </a:p>
          <a:p>
            <a:pPr algn="l" fontAlgn="ctr">
              <a:lnSpc>
                <a:spcPts val="1800"/>
              </a:lnSpc>
              <a:spcBef>
                <a:spcPts val="600"/>
              </a:spcBef>
              <a:spcAft>
                <a:spcPts val="600"/>
              </a:spcAft>
              <a:buFont typeface="Arial" panose="020B0604020202020204" pitchFamily="34" charset="0"/>
              <a:buChar char="•"/>
            </a:pPr>
            <a:r>
              <a:rPr lang="en-US" b="1" i="0" dirty="0">
                <a:solidFill>
                  <a:srgbClr val="1F1F1F"/>
                </a:solidFill>
                <a:effectLst/>
                <a:latin typeface="Google Sans"/>
              </a:rPr>
              <a:t>Flexibility:</a:t>
            </a:r>
            <a:r>
              <a:rPr lang="en-US" b="0" i="0" dirty="0">
                <a:solidFill>
                  <a:srgbClr val="1F1F1F"/>
                </a:solidFill>
                <a:effectLst/>
                <a:latin typeface="Google Sans"/>
              </a:rPr>
              <a:t> Highly flexible, can take advantage of unused capacity at significantly lower prices. </a:t>
            </a:r>
          </a:p>
          <a:p>
            <a:pPr algn="l" fontAlgn="ctr">
              <a:lnSpc>
                <a:spcPts val="1800"/>
              </a:lnSpc>
              <a:spcBef>
                <a:spcPts val="600"/>
              </a:spcBef>
              <a:spcAft>
                <a:spcPts val="600"/>
              </a:spcAft>
              <a:buFont typeface="Arial" panose="020B0604020202020204" pitchFamily="34" charset="0"/>
              <a:buChar char="•"/>
            </a:pPr>
            <a:r>
              <a:rPr lang="en-US" b="1" i="0" dirty="0">
                <a:solidFill>
                  <a:srgbClr val="1F1F1F"/>
                </a:solidFill>
                <a:effectLst/>
                <a:latin typeface="Google Sans"/>
              </a:rPr>
              <a:t>Cost:</a:t>
            </a:r>
            <a:r>
              <a:rPr lang="en-US" b="0" i="0" dirty="0">
                <a:solidFill>
                  <a:srgbClr val="1F1F1F"/>
                </a:solidFill>
                <a:effectLst/>
                <a:latin typeface="Google Sans"/>
              </a:rPr>
              <a:t> Lowest potential cost, but can be interrupted if the price of the spot instance rises above your bid. </a:t>
            </a:r>
          </a:p>
          <a:p>
            <a:pPr algn="l" fontAlgn="ctr">
              <a:lnSpc>
                <a:spcPts val="1800"/>
              </a:lnSpc>
              <a:spcBef>
                <a:spcPts val="600"/>
              </a:spcBef>
              <a:spcAft>
                <a:spcPts val="1500"/>
              </a:spcAft>
              <a:buFont typeface="Arial" panose="020B0604020202020204" pitchFamily="34" charset="0"/>
              <a:buChar char="•"/>
            </a:pPr>
            <a:r>
              <a:rPr lang="en-US" b="1" i="0" dirty="0">
                <a:solidFill>
                  <a:srgbClr val="1F1F1F"/>
                </a:solidFill>
                <a:effectLst/>
                <a:latin typeface="Google Sans"/>
              </a:rPr>
              <a:t>Use case:</a:t>
            </a:r>
            <a:r>
              <a:rPr lang="en-US" b="0" i="0" dirty="0">
                <a:solidFill>
                  <a:srgbClr val="1F1F1F"/>
                </a:solidFill>
                <a:effectLst/>
                <a:latin typeface="Google Sans"/>
              </a:rPr>
              <a:t> Suitable for cost-sensitive workloads that can tolerate occasional interruptions, like large-scale data processing or batch jobs. </a:t>
            </a:r>
          </a:p>
          <a:p>
            <a:pPr algn="l">
              <a:lnSpc>
                <a:spcPts val="1800"/>
              </a:lnSpc>
              <a:spcAft>
                <a:spcPts val="300"/>
              </a:spcAft>
              <a:buFont typeface="Arial" panose="020B0604020202020204" pitchFamily="34" charset="0"/>
              <a:buChar char="•"/>
            </a:pPr>
            <a:r>
              <a:rPr lang="en-US" b="0" i="0" dirty="0">
                <a:solidFill>
                  <a:srgbClr val="1F1F1F"/>
                </a:solidFill>
                <a:effectLst/>
                <a:latin typeface="Google Sans"/>
              </a:rPr>
              <a:t>On-Demand vs Reserved vs Spot Instances - </a:t>
            </a:r>
            <a:r>
              <a:rPr lang="en-US" b="0" i="0" dirty="0" err="1">
                <a:solidFill>
                  <a:srgbClr val="1F1F1F"/>
                </a:solidFill>
                <a:effectLst/>
                <a:latin typeface="Google Sans"/>
              </a:rPr>
              <a:t>Incredibuild</a:t>
            </a:r>
            <a:endParaRPr lang="en-US" b="0" i="0" dirty="0">
              <a:solidFill>
                <a:srgbClr val="1F1F1F"/>
              </a:solidFill>
              <a:effectLst/>
              <a:latin typeface="Google Sans"/>
            </a:endParaRPr>
          </a:p>
          <a:p>
            <a:pPr algn="l">
              <a:lnSpc>
                <a:spcPts val="1650"/>
              </a:lnSpc>
              <a:spcAft>
                <a:spcPts val="600"/>
              </a:spcAft>
              <a:buFont typeface="Arial" panose="020B0604020202020204" pitchFamily="34" charset="0"/>
              <a:buChar char="•"/>
            </a:pPr>
            <a:r>
              <a:rPr lang="en-US" b="0" i="0" dirty="0">
                <a:solidFill>
                  <a:srgbClr val="1F1F1F"/>
                </a:solidFill>
                <a:effectLst/>
                <a:latin typeface="Arial" panose="020B0604020202020204" pitchFamily="34" charset="0"/>
              </a:rPr>
              <a:t>2 Jun 2022 — What are Reserved Instances? Reserved Instances are configured almost exactly like On-Demand Instances. The only </a:t>
            </a:r>
            <a:r>
              <a:rPr lang="en-US" b="0" i="0" dirty="0" err="1">
                <a:solidFill>
                  <a:srgbClr val="1F1F1F"/>
                </a:solidFill>
                <a:effectLst/>
                <a:latin typeface="Arial" panose="020B0604020202020204" pitchFamily="34" charset="0"/>
              </a:rPr>
              <a:t>differe</a:t>
            </a:r>
            <a:r>
              <a:rPr lang="en-US" b="0" i="0" dirty="0">
                <a:solidFill>
                  <a:srgbClr val="1F1F1F"/>
                </a:solidFill>
                <a:effectLst/>
                <a:latin typeface="Arial" panose="020B0604020202020204" pitchFamily="34" charset="0"/>
              </a:rPr>
              <a:t>...</a:t>
            </a:r>
          </a:p>
          <a:p>
            <a:pPr algn="l">
              <a:lnSpc>
                <a:spcPts val="1200"/>
              </a:lnSpc>
              <a:spcAft>
                <a:spcPts val="1500"/>
              </a:spcAft>
              <a:buFont typeface="Arial" panose="020B0604020202020204" pitchFamily="34" charset="0"/>
              <a:buChar char="•"/>
            </a:pPr>
            <a:r>
              <a:rPr lang="en-US" b="0" i="0" dirty="0" err="1">
                <a:solidFill>
                  <a:srgbClr val="1F1F1F"/>
                </a:solidFill>
                <a:effectLst/>
                <a:latin typeface="Google Sans"/>
              </a:rPr>
              <a:t>Incredibuild</a:t>
            </a:r>
            <a:endParaRPr lang="en-US" b="0" i="0" dirty="0">
              <a:solidFill>
                <a:srgbClr val="1F1F1F"/>
              </a:solidFill>
              <a:effectLst/>
              <a:latin typeface="Google Sans"/>
            </a:endParaRPr>
          </a:p>
          <a:p>
            <a:pPr algn="l">
              <a:lnSpc>
                <a:spcPts val="1800"/>
              </a:lnSpc>
              <a:spcAft>
                <a:spcPts val="300"/>
              </a:spcAft>
              <a:buFont typeface="Arial" panose="020B0604020202020204" pitchFamily="34" charset="0"/>
              <a:buChar char="•"/>
            </a:pPr>
            <a:r>
              <a:rPr lang="en-US" b="0" i="0" dirty="0">
                <a:solidFill>
                  <a:srgbClr val="1F1F1F"/>
                </a:solidFill>
                <a:effectLst/>
                <a:latin typeface="Google Sans"/>
              </a:rPr>
              <a:t>Spot Instances vs. Reserved Instances: How to Choose - Spot.io</a:t>
            </a:r>
          </a:p>
          <a:p>
            <a:pPr algn="l">
              <a:lnSpc>
                <a:spcPts val="1650"/>
              </a:lnSpc>
              <a:spcAft>
                <a:spcPts val="600"/>
              </a:spcAft>
              <a:buFont typeface="Arial" panose="020B0604020202020204" pitchFamily="34" charset="0"/>
              <a:buChar char="•"/>
            </a:pPr>
            <a:r>
              <a:rPr lang="en-US" b="0" i="0" dirty="0">
                <a:solidFill>
                  <a:srgbClr val="1F1F1F"/>
                </a:solidFill>
                <a:effectLst/>
                <a:latin typeface="Arial" panose="020B0604020202020204" pitchFamily="34" charset="0"/>
              </a:rPr>
              <a:t>What Are Spot Instances? Spot instances are an option that allows cloud customers to bid for unused compute capacity. They serve a...</a:t>
            </a:r>
          </a:p>
          <a:p>
            <a:pPr algn="l">
              <a:lnSpc>
                <a:spcPts val="1200"/>
              </a:lnSpc>
              <a:spcAft>
                <a:spcPts val="1500"/>
              </a:spcAft>
              <a:buFont typeface="Arial" panose="020B0604020202020204" pitchFamily="34" charset="0"/>
              <a:buChar char="•"/>
            </a:pPr>
            <a:r>
              <a:rPr lang="en-US" b="0" i="0" dirty="0">
                <a:solidFill>
                  <a:srgbClr val="1F1F1F"/>
                </a:solidFill>
                <a:effectLst/>
                <a:latin typeface="Google Sans"/>
              </a:rPr>
              <a:t>Spot.io</a:t>
            </a:r>
          </a:p>
          <a:p>
            <a:pPr algn="l">
              <a:lnSpc>
                <a:spcPts val="1800"/>
              </a:lnSpc>
              <a:spcAft>
                <a:spcPts val="300"/>
              </a:spcAft>
              <a:buFont typeface="Arial" panose="020B0604020202020204" pitchFamily="34" charset="0"/>
              <a:buChar char="•"/>
            </a:pPr>
            <a:r>
              <a:rPr lang="en-US" b="0" i="0" dirty="0">
                <a:solidFill>
                  <a:srgbClr val="1F1F1F"/>
                </a:solidFill>
                <a:effectLst/>
                <a:latin typeface="Google Sans"/>
              </a:rPr>
              <a:t>AWS Discounts: On Demand vs Reserved Instances vs Spot</a:t>
            </a:r>
          </a:p>
          <a:p>
            <a:pPr algn="l">
              <a:lnSpc>
                <a:spcPts val="1650"/>
              </a:lnSpc>
              <a:spcAft>
                <a:spcPts val="600"/>
              </a:spcAft>
              <a:buFont typeface="Arial" panose="020B0604020202020204" pitchFamily="34" charset="0"/>
              <a:buChar char="•"/>
            </a:pPr>
            <a:r>
              <a:rPr lang="en-US" b="0" i="0" dirty="0">
                <a:solidFill>
                  <a:srgbClr val="1F1F1F"/>
                </a:solidFill>
                <a:effectLst/>
                <a:latin typeface="Arial" panose="020B0604020202020204" pitchFamily="34" charset="0"/>
              </a:rPr>
              <a:t>There are three different types of RIs: Standard Reserved Instances, Convertible Reserved Instances (which have a smaller discount...</a:t>
            </a:r>
          </a:p>
          <a:p>
            <a:pPr algn="l">
              <a:lnSpc>
                <a:spcPts val="1200"/>
              </a:lnSpc>
              <a:spcAft>
                <a:spcPts val="1500"/>
              </a:spcAft>
              <a:buFont typeface="Arial" panose="020B0604020202020204" pitchFamily="34" charset="0"/>
              <a:buChar char="•"/>
            </a:pPr>
            <a:r>
              <a:rPr lang="en-US" b="0" i="0" dirty="0">
                <a:solidFill>
                  <a:srgbClr val="1F1F1F"/>
                </a:solidFill>
                <a:effectLst/>
                <a:latin typeface="Google Sans"/>
              </a:rPr>
              <a:t>Zesty.co</a:t>
            </a:r>
          </a:p>
          <a:p>
            <a:pPr algn="ctr" fontAlgn="ctr">
              <a:lnSpc>
                <a:spcPts val="1500"/>
              </a:lnSpc>
              <a:spcAft>
                <a:spcPts val="1500"/>
              </a:spcAft>
              <a:buFont typeface="Arial" panose="020B0604020202020204" pitchFamily="34" charset="0"/>
              <a:buChar char="•"/>
            </a:pPr>
            <a:r>
              <a:rPr lang="en-US" b="0" i="0" dirty="0">
                <a:solidFill>
                  <a:srgbClr val="001D35"/>
                </a:solidFill>
                <a:effectLst/>
                <a:latin typeface="Google Sans"/>
              </a:rPr>
              <a:t>Show all</a:t>
            </a:r>
          </a:p>
          <a:p>
            <a:br>
              <a:rPr lang="en-US" dirty="0"/>
            </a:br>
            <a:endParaRPr lang="en-US" dirty="0"/>
          </a:p>
        </p:txBody>
      </p:sp>
      <p:sp>
        <p:nvSpPr>
          <p:cNvPr id="4" name="Slide Number Placeholder 3"/>
          <p:cNvSpPr>
            <a:spLocks noGrp="1"/>
          </p:cNvSpPr>
          <p:nvPr>
            <p:ph type="sldNum" sz="quarter" idx="5"/>
          </p:nvPr>
        </p:nvSpPr>
        <p:spPr/>
        <p:txBody>
          <a:bodyPr/>
          <a:lstStyle/>
          <a:p>
            <a:fld id="{86A7F7C4-99E3-4D42-8CFA-0962EEA6AB6F}" type="slidenum">
              <a:rPr lang="en-US" smtClean="0"/>
              <a:t>41</a:t>
            </a:fld>
            <a:endParaRPr lang="en-US"/>
          </a:p>
        </p:txBody>
      </p:sp>
    </p:spTree>
    <p:extLst>
      <p:ext uri="{BB962C8B-B14F-4D97-AF65-F5344CB8AC3E}">
        <p14:creationId xmlns:p14="http://schemas.microsoft.com/office/powerpoint/2010/main" val="16456988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Availability zones are multiple, isolated locations within a region, and a region is a geographical location with multiple availability zones mapped within it. Every region is isolated and independent from every other region. By using multiple availability zones, you can keep separate copies of your application and data within separate physical datacenters in a large metropolitan area.</a:t>
            </a:r>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42</a:t>
            </a:fld>
            <a:endParaRPr lang="en-US"/>
          </a:p>
        </p:txBody>
      </p:sp>
    </p:spTree>
    <p:extLst>
      <p:ext uri="{BB962C8B-B14F-4D97-AF65-F5344CB8AC3E}">
        <p14:creationId xmlns:p14="http://schemas.microsoft.com/office/powerpoint/2010/main" val="32874973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99398E-5832-F37E-BD79-6FB778E47F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5CA060-2C27-215A-FB9C-12449945C1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EC0082-2522-0D11-D9A1-9BB4B8B619CC}"/>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Availability zones are multiple, isolated locations within a region, and a region is a geographical location with multiple availability zones mapped within it. Every region is isolated and independent from every other region. By using multiple availability zones, you can keep separate copies of your application and data within separate physical datacenters in a large metropolitan area.</a:t>
            </a:r>
            <a:endParaRPr lang="en-US" dirty="0"/>
          </a:p>
        </p:txBody>
      </p:sp>
      <p:sp>
        <p:nvSpPr>
          <p:cNvPr id="4" name="Slide Number Placeholder 3">
            <a:extLst>
              <a:ext uri="{FF2B5EF4-FFF2-40B4-BE49-F238E27FC236}">
                <a16:creationId xmlns:a16="http://schemas.microsoft.com/office/drawing/2014/main" id="{EB7F55E7-6EAC-47AD-2C53-568E5F63D54A}"/>
              </a:ext>
            </a:extLst>
          </p:cNvPr>
          <p:cNvSpPr>
            <a:spLocks noGrp="1"/>
          </p:cNvSpPr>
          <p:nvPr>
            <p:ph type="sldNum" sz="quarter" idx="10"/>
          </p:nvPr>
        </p:nvSpPr>
        <p:spPr/>
        <p:txBody>
          <a:bodyPr/>
          <a:lstStyle/>
          <a:p>
            <a:fld id="{86A7F7C4-99E3-4D42-8CFA-0962EEA6AB6F}" type="slidenum">
              <a:rPr lang="en-US" smtClean="0"/>
              <a:t>43</a:t>
            </a:fld>
            <a:endParaRPr lang="en-US"/>
          </a:p>
        </p:txBody>
      </p:sp>
    </p:spTree>
    <p:extLst>
      <p:ext uri="{BB962C8B-B14F-4D97-AF65-F5344CB8AC3E}">
        <p14:creationId xmlns:p14="http://schemas.microsoft.com/office/powerpoint/2010/main" val="42352714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78A81-4359-F2FD-40D7-7C8EEC4C81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A3A317-2D80-3338-7317-48E4227EE3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7F9CFA-BD5D-4FCF-8772-D4CFC0F43729}"/>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Availability zones are multiple, isolated locations within a region, and a region is a geographical location with multiple availability zones mapped within it. Every region is isolated and independent from every other region. By using multiple availability zones, you can keep separate copies of your application and data within separate physical datacenters in a large metropolitan area.</a:t>
            </a:r>
            <a:endParaRPr lang="en-US" dirty="0"/>
          </a:p>
        </p:txBody>
      </p:sp>
      <p:sp>
        <p:nvSpPr>
          <p:cNvPr id="4" name="Slide Number Placeholder 3">
            <a:extLst>
              <a:ext uri="{FF2B5EF4-FFF2-40B4-BE49-F238E27FC236}">
                <a16:creationId xmlns:a16="http://schemas.microsoft.com/office/drawing/2014/main" id="{2274B776-A616-77E8-A923-827CCB5A13E4}"/>
              </a:ext>
            </a:extLst>
          </p:cNvPr>
          <p:cNvSpPr>
            <a:spLocks noGrp="1"/>
          </p:cNvSpPr>
          <p:nvPr>
            <p:ph type="sldNum" sz="quarter" idx="10"/>
          </p:nvPr>
        </p:nvSpPr>
        <p:spPr/>
        <p:txBody>
          <a:bodyPr/>
          <a:lstStyle/>
          <a:p>
            <a:fld id="{86A7F7C4-99E3-4D42-8CFA-0962EEA6AB6F}" type="slidenum">
              <a:rPr lang="en-US" smtClean="0"/>
              <a:t>44</a:t>
            </a:fld>
            <a:endParaRPr lang="en-US"/>
          </a:p>
        </p:txBody>
      </p:sp>
    </p:spTree>
    <p:extLst>
      <p:ext uri="{BB962C8B-B14F-4D97-AF65-F5344CB8AC3E}">
        <p14:creationId xmlns:p14="http://schemas.microsoft.com/office/powerpoint/2010/main" val="30585560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6DF87-0571-0091-8D11-214FA0D208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536D50-5289-AE8F-D908-CAB8C8FC4E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1953D1-C265-1631-D562-292AFFD9C85F}"/>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Availability zones are multiple, isolated locations within a region, and a region is a geographical location with multiple availability zones mapped within it. Every region is isolated and independent from every other region. By using multiple availability zones, you can keep separate copies of your application and data within separate physical datacenters in a large metropolitan area.</a:t>
            </a:r>
            <a:endParaRPr lang="en-US" dirty="0"/>
          </a:p>
        </p:txBody>
      </p:sp>
      <p:sp>
        <p:nvSpPr>
          <p:cNvPr id="4" name="Slide Number Placeholder 3">
            <a:extLst>
              <a:ext uri="{FF2B5EF4-FFF2-40B4-BE49-F238E27FC236}">
                <a16:creationId xmlns:a16="http://schemas.microsoft.com/office/drawing/2014/main" id="{FDB54281-CDB0-4449-8F94-3EA6E3439B23}"/>
              </a:ext>
            </a:extLst>
          </p:cNvPr>
          <p:cNvSpPr>
            <a:spLocks noGrp="1"/>
          </p:cNvSpPr>
          <p:nvPr>
            <p:ph type="sldNum" sz="quarter" idx="10"/>
          </p:nvPr>
        </p:nvSpPr>
        <p:spPr/>
        <p:txBody>
          <a:bodyPr/>
          <a:lstStyle/>
          <a:p>
            <a:fld id="{86A7F7C4-99E3-4D42-8CFA-0962EEA6AB6F}" type="slidenum">
              <a:rPr lang="en-US" smtClean="0"/>
              <a:t>45</a:t>
            </a:fld>
            <a:endParaRPr lang="en-US"/>
          </a:p>
        </p:txBody>
      </p:sp>
    </p:spTree>
    <p:extLst>
      <p:ext uri="{BB962C8B-B14F-4D97-AF65-F5344CB8AC3E}">
        <p14:creationId xmlns:p14="http://schemas.microsoft.com/office/powerpoint/2010/main" val="10326111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1D35"/>
                </a:solidFill>
                <a:effectLst/>
                <a:latin typeface="Google Sans"/>
              </a:rPr>
              <a:t>Eucalyptus is open-source software that allows users to build private and hybrid cloud environments that are compatible with Amazon Web Services (AWS). AWS is a cloud provider that offers a variety of services and features</a:t>
            </a:r>
            <a:endParaRPr lang="en-US" dirty="0"/>
          </a:p>
        </p:txBody>
      </p:sp>
      <p:sp>
        <p:nvSpPr>
          <p:cNvPr id="4" name="Slide Number Placeholder 3"/>
          <p:cNvSpPr>
            <a:spLocks noGrp="1"/>
          </p:cNvSpPr>
          <p:nvPr>
            <p:ph type="sldNum" sz="quarter" idx="5"/>
          </p:nvPr>
        </p:nvSpPr>
        <p:spPr/>
        <p:txBody>
          <a:bodyPr/>
          <a:lstStyle/>
          <a:p>
            <a:fld id="{86A7F7C4-99E3-4D42-8CFA-0962EEA6AB6F}" type="slidenum">
              <a:rPr lang="en-US" smtClean="0"/>
              <a:t>48</a:t>
            </a:fld>
            <a:endParaRPr lang="en-US"/>
          </a:p>
        </p:txBody>
      </p:sp>
    </p:spTree>
    <p:extLst>
      <p:ext uri="{BB962C8B-B14F-4D97-AF65-F5344CB8AC3E}">
        <p14:creationId xmlns:p14="http://schemas.microsoft.com/office/powerpoint/2010/main" val="38234416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CAAB3-24E5-5D00-CB55-49499C86E7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4DD6C7-637A-66FD-6B31-2EF6279131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613483-0B13-2B2B-EE10-935613DCFB48}"/>
              </a:ext>
            </a:extLst>
          </p:cNvPr>
          <p:cNvSpPr>
            <a:spLocks noGrp="1"/>
          </p:cNvSpPr>
          <p:nvPr>
            <p:ph type="body" idx="1"/>
          </p:nvPr>
        </p:nvSpPr>
        <p:spPr/>
        <p:txBody>
          <a:bodyPr/>
          <a:lstStyle/>
          <a:p>
            <a:r>
              <a:rPr lang="en-US" b="0" i="0" dirty="0">
                <a:solidFill>
                  <a:srgbClr val="001D35"/>
                </a:solidFill>
                <a:effectLst/>
                <a:latin typeface="Google Sans"/>
              </a:rPr>
              <a:t>Eucalyptus is open-source software that allows users to build private and hybrid cloud environments that are compatible with Amazon Web Services (AWS). AWS is a cloud provider that offers a variety of services and features</a:t>
            </a:r>
            <a:endParaRPr lang="en-US" dirty="0"/>
          </a:p>
        </p:txBody>
      </p:sp>
      <p:sp>
        <p:nvSpPr>
          <p:cNvPr id="4" name="Slide Number Placeholder 3">
            <a:extLst>
              <a:ext uri="{FF2B5EF4-FFF2-40B4-BE49-F238E27FC236}">
                <a16:creationId xmlns:a16="http://schemas.microsoft.com/office/drawing/2014/main" id="{BB2EF21A-79E2-B718-34D8-FD8D5656FF36}"/>
              </a:ext>
            </a:extLst>
          </p:cNvPr>
          <p:cNvSpPr>
            <a:spLocks noGrp="1"/>
          </p:cNvSpPr>
          <p:nvPr>
            <p:ph type="sldNum" sz="quarter" idx="5"/>
          </p:nvPr>
        </p:nvSpPr>
        <p:spPr/>
        <p:txBody>
          <a:bodyPr/>
          <a:lstStyle/>
          <a:p>
            <a:fld id="{86A7F7C4-99E3-4D42-8CFA-0962EEA6AB6F}" type="slidenum">
              <a:rPr lang="en-US" smtClean="0"/>
              <a:t>49</a:t>
            </a:fld>
            <a:endParaRPr lang="en-US"/>
          </a:p>
        </p:txBody>
      </p:sp>
    </p:spTree>
    <p:extLst>
      <p:ext uri="{BB962C8B-B14F-4D97-AF65-F5344CB8AC3E}">
        <p14:creationId xmlns:p14="http://schemas.microsoft.com/office/powerpoint/2010/main" val="42981338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Cluster computing aggregates and coordinates a collection of virtual machines (VMs) to work together to perform a task having common goal. Clusters typically have a single head node (sometimes called a controller node), a number of compute nodes, and possibly some specialty nodes</a:t>
            </a:r>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50</a:t>
            </a:fld>
            <a:endParaRPr lang="en-US"/>
          </a:p>
        </p:txBody>
      </p:sp>
    </p:spTree>
    <p:extLst>
      <p:ext uri="{BB962C8B-B14F-4D97-AF65-F5344CB8AC3E}">
        <p14:creationId xmlns:p14="http://schemas.microsoft.com/office/powerpoint/2010/main" val="241812673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404040"/>
                </a:solidFill>
                <a:effectLst/>
                <a:latin typeface="Roboto" panose="02000000000000000000" pitchFamily="2" charset="0"/>
              </a:rPr>
              <a:t>Amazon Web Services allows its users to build complex interconnected applications in the cloud. To do that, you can use the virtual machines of Amazon EC2 or the expandable storage of Amazon S3. </a:t>
            </a:r>
            <a:endParaRPr lang="en-US" sz="1800" dirty="0"/>
          </a:p>
        </p:txBody>
      </p:sp>
      <p:sp>
        <p:nvSpPr>
          <p:cNvPr id="4" name="Slide Number Placeholder 3"/>
          <p:cNvSpPr>
            <a:spLocks noGrp="1"/>
          </p:cNvSpPr>
          <p:nvPr>
            <p:ph type="sldNum" sz="quarter" idx="5"/>
          </p:nvPr>
        </p:nvSpPr>
        <p:spPr/>
        <p:txBody>
          <a:bodyPr/>
          <a:lstStyle/>
          <a:p>
            <a:fld id="{86A7F7C4-99E3-4D42-8CFA-0962EEA6AB6F}" type="slidenum">
              <a:rPr lang="en-US" smtClean="0"/>
              <a:t>51</a:t>
            </a:fld>
            <a:endParaRPr lang="en-US"/>
          </a:p>
        </p:txBody>
      </p:sp>
    </p:spTree>
    <p:extLst>
      <p:ext uri="{BB962C8B-B14F-4D97-AF65-F5344CB8AC3E}">
        <p14:creationId xmlns:p14="http://schemas.microsoft.com/office/powerpoint/2010/main" val="28405960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04040"/>
                </a:solidFill>
                <a:effectLst/>
                <a:latin typeface="Roboto" panose="02000000000000000000" pitchFamily="2" charset="0"/>
              </a:rPr>
              <a:t>Amazon Web Services allows its users to build complex interconnected applications in the cloud. To do that, you can use the virtual machines of Amazon EC2 or the expandable storage of Amazon S3. This article explains in detail what each of the given services does, the difference between them, how you can use Amazon EC2 and Amazon S3 together, and what additional AWS services (such as EFS and EBS) you might wish to use combined with EC2 and S3.</a:t>
            </a:r>
            <a:endParaRPr lang="en-US" dirty="0"/>
          </a:p>
        </p:txBody>
      </p:sp>
      <p:sp>
        <p:nvSpPr>
          <p:cNvPr id="4" name="Slide Number Placeholder 3"/>
          <p:cNvSpPr>
            <a:spLocks noGrp="1"/>
          </p:cNvSpPr>
          <p:nvPr>
            <p:ph type="sldNum" sz="quarter" idx="5"/>
          </p:nvPr>
        </p:nvSpPr>
        <p:spPr/>
        <p:txBody>
          <a:bodyPr/>
          <a:lstStyle/>
          <a:p>
            <a:fld id="{86A7F7C4-99E3-4D42-8CFA-0962EEA6AB6F}" type="slidenum">
              <a:rPr lang="en-US" smtClean="0"/>
              <a:t>52</a:t>
            </a:fld>
            <a:endParaRPr lang="en-US"/>
          </a:p>
        </p:txBody>
      </p:sp>
    </p:spTree>
    <p:extLst>
      <p:ext uri="{BB962C8B-B14F-4D97-AF65-F5344CB8AC3E}">
        <p14:creationId xmlns:p14="http://schemas.microsoft.com/office/powerpoint/2010/main" val="82197402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WALRUS is service for data storage in Eucalyptus</a:t>
            </a:r>
            <a:r>
              <a:rPr lang="en-US" sz="1200" b="0" i="0" kern="1200" dirty="0">
                <a:solidFill>
                  <a:schemeClr val="tx1"/>
                </a:solidFill>
                <a:effectLst/>
                <a:latin typeface="+mn-lt"/>
                <a:ea typeface="+mn-ea"/>
                <a:cs typeface="+mn-cs"/>
              </a:rPr>
              <a:t> that permits clients to store diligent information as objects</a:t>
            </a:r>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53</a:t>
            </a:fld>
            <a:endParaRPr lang="en-US"/>
          </a:p>
        </p:txBody>
      </p:sp>
    </p:spTree>
    <p:extLst>
      <p:ext uri="{BB962C8B-B14F-4D97-AF65-F5344CB8AC3E}">
        <p14:creationId xmlns:p14="http://schemas.microsoft.com/office/powerpoint/2010/main" val="24971007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1D35"/>
                </a:solidFill>
                <a:effectLst/>
                <a:latin typeface="Google Sans"/>
              </a:rPr>
              <a:t>Storage </a:t>
            </a:r>
            <a:r>
              <a:rPr lang="en-US" b="0" i="0" dirty="0" err="1">
                <a:solidFill>
                  <a:srgbClr val="001D35"/>
                </a:solidFill>
                <a:effectLst/>
                <a:latin typeface="Google Sans"/>
              </a:rPr>
              <a:t>controler</a:t>
            </a:r>
            <a:r>
              <a:rPr lang="en-US" b="0" i="0" dirty="0">
                <a:solidFill>
                  <a:srgbClr val="001D35"/>
                </a:solidFill>
                <a:effectLst/>
                <a:latin typeface="Google Sans"/>
              </a:rPr>
              <a:t> is for persistent data attached to virtual machines, while Walrus is for storing large, unstructured data accessible by any instance across the cloud. </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An Amazon S3(simple storage service) bucket is a public cloud storage resource available in Amazon Web Services (AWS) Simple Storage Service (S3) platform</a:t>
            </a:r>
          </a:p>
          <a:p>
            <a:r>
              <a:rPr lang="en-US" sz="1200" b="1" i="0" kern="1200" dirty="0">
                <a:solidFill>
                  <a:schemeClr val="tx1"/>
                </a:solidFill>
                <a:effectLst/>
                <a:latin typeface="+mn-lt"/>
                <a:ea typeface="+mn-ea"/>
                <a:cs typeface="+mn-cs"/>
              </a:rPr>
              <a:t>WALRUS is service for data storage in Eucalyptus</a:t>
            </a:r>
            <a:r>
              <a:rPr lang="en-US" sz="1200" b="0" i="0" kern="1200" dirty="0">
                <a:solidFill>
                  <a:schemeClr val="tx1"/>
                </a:solidFill>
                <a:effectLst/>
                <a:latin typeface="+mn-lt"/>
                <a:ea typeface="+mn-ea"/>
                <a:cs typeface="+mn-cs"/>
              </a:rPr>
              <a:t> that permits clients to store diligent information as objects</a:t>
            </a:r>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54</a:t>
            </a:fld>
            <a:endParaRPr lang="en-US"/>
          </a:p>
        </p:txBody>
      </p:sp>
    </p:spTree>
    <p:extLst>
      <p:ext uri="{BB962C8B-B14F-4D97-AF65-F5344CB8AC3E}">
        <p14:creationId xmlns:p14="http://schemas.microsoft.com/office/powerpoint/2010/main" val="397124577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a:t>
            </a:r>
            <a:r>
              <a:rPr lang="en-US" sz="1200" b="0" i="0" kern="1200" dirty="0" err="1">
                <a:solidFill>
                  <a:schemeClr val="tx1"/>
                </a:solidFill>
                <a:effectLst/>
                <a:latin typeface="+mn-lt"/>
                <a:ea typeface="+mn-ea"/>
                <a:cs typeface="+mn-cs"/>
              </a:rPr>
              <a:t>OpenNebula</a:t>
            </a:r>
            <a:r>
              <a:rPr lang="en-US" sz="1200" b="0" i="0" kern="1200" dirty="0">
                <a:solidFill>
                  <a:schemeClr val="tx1"/>
                </a:solidFill>
                <a:effectLst/>
                <a:latin typeface="+mn-lt"/>
                <a:ea typeface="+mn-ea"/>
                <a:cs typeface="+mn-cs"/>
              </a:rPr>
              <a:t> </a:t>
            </a:r>
            <a:r>
              <a:rPr lang="en-US" sz="1200" b="1" i="0" kern="1200" dirty="0">
                <a:solidFill>
                  <a:schemeClr val="tx1"/>
                </a:solidFill>
                <a:effectLst/>
                <a:latin typeface="+mn-lt"/>
                <a:ea typeface="+mn-ea"/>
                <a:cs typeface="+mn-cs"/>
              </a:rPr>
              <a:t>Scheduler </a:t>
            </a:r>
            <a:r>
              <a:rPr lang="en-US" sz="1200" b="0" i="0" kern="1200" dirty="0">
                <a:solidFill>
                  <a:schemeClr val="tx1"/>
                </a:solidFill>
                <a:effectLst/>
                <a:latin typeface="+mn-lt"/>
                <a:ea typeface="+mn-ea"/>
                <a:cs typeface="+mn-cs"/>
              </a:rPr>
              <a:t>is responsible for the planning of the pending Virtual Machines on available hypervisor Nodes. Master</a:t>
            </a:r>
            <a:r>
              <a:rPr lang="en-US" sz="1200" b="0" i="0" kern="1200" baseline="0" dirty="0">
                <a:solidFill>
                  <a:schemeClr val="tx1"/>
                </a:solidFill>
                <a:effectLst/>
                <a:latin typeface="+mn-lt"/>
                <a:ea typeface="+mn-ea"/>
                <a:cs typeface="+mn-cs"/>
              </a:rPr>
              <a:t> nodes and worker nodes </a:t>
            </a:r>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58</a:t>
            </a:fld>
            <a:endParaRPr lang="en-US"/>
          </a:p>
        </p:txBody>
      </p:sp>
    </p:spTree>
    <p:extLst>
      <p:ext uri="{BB962C8B-B14F-4D97-AF65-F5344CB8AC3E}">
        <p14:creationId xmlns:p14="http://schemas.microsoft.com/office/powerpoint/2010/main" val="31403133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61</a:t>
            </a:fld>
            <a:endParaRPr lang="en-US"/>
          </a:p>
        </p:txBody>
      </p:sp>
    </p:spTree>
    <p:extLst>
      <p:ext uri="{BB962C8B-B14F-4D97-AF65-F5344CB8AC3E}">
        <p14:creationId xmlns:p14="http://schemas.microsoft.com/office/powerpoint/2010/main" val="276834074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65</a:t>
            </a:fld>
            <a:endParaRPr lang="en-US"/>
          </a:p>
        </p:txBody>
      </p:sp>
    </p:spTree>
    <p:extLst>
      <p:ext uri="{BB962C8B-B14F-4D97-AF65-F5344CB8AC3E}">
        <p14:creationId xmlns:p14="http://schemas.microsoft.com/office/powerpoint/2010/main" val="234819323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Aneka Container representing the runtime environment where the distributed applications are executed. The container provides the basic management features of the single node and leverages all the other operations on the services that it is hosting</a:t>
            </a:r>
            <a:r>
              <a:rPr lang="en-US" sz="1200" b="1" kern="1200" dirty="0">
                <a:solidFill>
                  <a:schemeClr val="tx1"/>
                </a:solidFill>
                <a:effectLst/>
                <a:latin typeface="+mn-lt"/>
                <a:ea typeface="+mn-ea"/>
                <a:cs typeface="+mn-cs"/>
              </a:rPr>
              <a:t>. The services are broken up into fabric, foundation, and execution</a:t>
            </a:r>
            <a:r>
              <a:rPr lang="en-US" sz="1200" kern="1200" dirty="0">
                <a:solidFill>
                  <a:schemeClr val="tx1"/>
                </a:solidFill>
                <a:effectLst/>
                <a:latin typeface="+mn-lt"/>
                <a:ea typeface="+mn-ea"/>
                <a:cs typeface="+mn-cs"/>
              </a:rPr>
              <a:t> services. </a:t>
            </a:r>
          </a:p>
          <a:p>
            <a:r>
              <a:rPr lang="en-US" sz="1200" b="1" kern="1200" dirty="0">
                <a:solidFill>
                  <a:schemeClr val="tx1"/>
                </a:solidFill>
                <a:effectLst/>
                <a:latin typeface="+mn-lt"/>
                <a:ea typeface="+mn-ea"/>
                <a:cs typeface="+mn-cs"/>
              </a:rPr>
              <a:t>Fabric services directly interact with the node through the Platform Abstraction Layer (PAL) </a:t>
            </a:r>
            <a:r>
              <a:rPr lang="en-US" sz="1200" kern="1200" dirty="0">
                <a:solidFill>
                  <a:schemeClr val="tx1"/>
                </a:solidFill>
                <a:effectLst/>
                <a:latin typeface="+mn-lt"/>
                <a:ea typeface="+mn-ea"/>
                <a:cs typeface="+mn-cs"/>
              </a:rPr>
              <a:t>and perform hardware profiling and dynamic resource provisioning</a:t>
            </a:r>
          </a:p>
          <a:p>
            <a:r>
              <a:rPr lang="en-US" sz="120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Foundation services identify the core system of the Aneka middleware, providing a set of basic features to enable Aneka containers to perform specialized and specific sets of tasks</a:t>
            </a:r>
            <a:r>
              <a:rPr lang="en-US" sz="1200" kern="1200" dirty="0">
                <a:solidFill>
                  <a:schemeClr val="tx1"/>
                </a:solidFill>
                <a:effectLst/>
                <a:latin typeface="+mn-lt"/>
                <a:ea typeface="+mn-ea"/>
                <a:cs typeface="+mn-cs"/>
              </a:rPr>
              <a:t>. </a:t>
            </a:r>
          </a:p>
          <a:p>
            <a:r>
              <a:rPr lang="en-US" sz="1200" b="1" kern="1200" dirty="0">
                <a:solidFill>
                  <a:schemeClr val="tx1"/>
                </a:solidFill>
                <a:effectLst/>
                <a:latin typeface="+mn-lt"/>
                <a:ea typeface="+mn-ea"/>
                <a:cs typeface="+mn-cs"/>
              </a:rPr>
              <a:t>Execution services directly deal with the scheduling and execution of applications in the Cloud.</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66</a:t>
            </a:fld>
            <a:endParaRPr lang="en-US"/>
          </a:p>
        </p:txBody>
      </p:sp>
    </p:spTree>
    <p:extLst>
      <p:ext uri="{BB962C8B-B14F-4D97-AF65-F5344CB8AC3E}">
        <p14:creationId xmlns:p14="http://schemas.microsoft.com/office/powerpoint/2010/main" val="10293523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0" i="0" dirty="0">
                <a:solidFill>
                  <a:srgbClr val="040C28"/>
                </a:solidFill>
                <a:effectLst/>
                <a:latin typeface="Google Sans"/>
              </a:rPr>
              <a:t>Docker Engine is the fundamental containerization engine that runs on servers and manages container.</a:t>
            </a:r>
          </a:p>
          <a:p>
            <a:r>
              <a:rPr lang="en-US" sz="1800" b="0" i="0" dirty="0">
                <a:solidFill>
                  <a:srgbClr val="001D35"/>
                </a:solidFill>
                <a:effectLst/>
                <a:latin typeface="Google Sans"/>
              </a:rPr>
              <a:t>A "container" in Docker Engine is </a:t>
            </a:r>
            <a:r>
              <a:rPr lang="en-US" sz="1800" dirty="0"/>
              <a:t>a lightweight, isolated runtime environment that packages an application with all its dependencies</a:t>
            </a:r>
          </a:p>
        </p:txBody>
      </p:sp>
      <p:sp>
        <p:nvSpPr>
          <p:cNvPr id="4" name="Slide Number Placeholder 3"/>
          <p:cNvSpPr>
            <a:spLocks noGrp="1"/>
          </p:cNvSpPr>
          <p:nvPr>
            <p:ph type="sldNum" sz="quarter" idx="10"/>
          </p:nvPr>
        </p:nvSpPr>
        <p:spPr/>
        <p:txBody>
          <a:bodyPr/>
          <a:lstStyle/>
          <a:p>
            <a:fld id="{86A7F7C4-99E3-4D42-8CFA-0962EEA6AB6F}" type="slidenum">
              <a:rPr lang="en-US" smtClean="0"/>
              <a:t>69</a:t>
            </a:fld>
            <a:endParaRPr lang="en-US"/>
          </a:p>
        </p:txBody>
      </p:sp>
    </p:spTree>
    <p:extLst>
      <p:ext uri="{BB962C8B-B14F-4D97-AF65-F5344CB8AC3E}">
        <p14:creationId xmlns:p14="http://schemas.microsoft.com/office/powerpoint/2010/main" val="262950896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u="none" strike="noStrike" kern="1200" dirty="0">
                <a:solidFill>
                  <a:schemeClr val="tx1"/>
                </a:solidFill>
                <a:effectLst/>
                <a:latin typeface="+mn-lt"/>
                <a:ea typeface="+mn-ea"/>
                <a:cs typeface="+mn-cs"/>
                <a:hlinkClick r:id="rId3"/>
              </a:rPr>
              <a:t>Containers</a:t>
            </a:r>
            <a:r>
              <a:rPr lang="en-US" sz="1200" b="1" kern="1200" dirty="0">
                <a:solidFill>
                  <a:schemeClr val="tx1"/>
                </a:solidFill>
                <a:effectLst/>
                <a:latin typeface="+mn-lt"/>
                <a:ea typeface="+mn-ea"/>
                <a:cs typeface="+mn-cs"/>
              </a:rPr>
              <a:t> are a form of operating system virtualization. A </a:t>
            </a:r>
            <a:r>
              <a:rPr lang="en-US" sz="1200" b="1" u="sng" kern="1200" dirty="0">
                <a:solidFill>
                  <a:schemeClr val="tx1"/>
                </a:solidFill>
                <a:effectLst/>
                <a:latin typeface="+mn-lt"/>
                <a:ea typeface="+mn-ea"/>
                <a:cs typeface="+mn-cs"/>
              </a:rPr>
              <a:t>single container might b</a:t>
            </a:r>
            <a:r>
              <a:rPr lang="en-US" sz="1200" u="sng" kern="1200" dirty="0">
                <a:solidFill>
                  <a:schemeClr val="tx1"/>
                </a:solidFill>
                <a:effectLst/>
                <a:latin typeface="+mn-lt"/>
                <a:ea typeface="+mn-ea"/>
                <a:cs typeface="+mn-cs"/>
              </a:rPr>
              <a:t>e used to run anything from a small </a:t>
            </a:r>
            <a:r>
              <a:rPr lang="en-US" sz="1200" u="sng" kern="1200" dirty="0" err="1">
                <a:solidFill>
                  <a:schemeClr val="tx1"/>
                </a:solidFill>
                <a:effectLst/>
                <a:latin typeface="+mn-lt"/>
                <a:ea typeface="+mn-ea"/>
                <a:cs typeface="+mn-cs"/>
              </a:rPr>
              <a:t>microservice</a:t>
            </a:r>
            <a:r>
              <a:rPr lang="en-US" sz="1200" u="sng" kern="1200" dirty="0">
                <a:solidFill>
                  <a:schemeClr val="tx1"/>
                </a:solidFill>
                <a:effectLst/>
                <a:latin typeface="+mn-lt"/>
                <a:ea typeface="+mn-ea"/>
                <a:cs typeface="+mn-cs"/>
              </a:rPr>
              <a:t> or software process</a:t>
            </a:r>
            <a:r>
              <a:rPr lang="en-US" sz="1200" kern="1200" dirty="0">
                <a:solidFill>
                  <a:schemeClr val="tx1"/>
                </a:solidFill>
                <a:effectLst/>
                <a:latin typeface="+mn-lt"/>
                <a:ea typeface="+mn-ea"/>
                <a:cs typeface="+mn-cs"/>
              </a:rPr>
              <a:t> to a larger application. They are an abstraction at the app layer that package code and dependencies together. The containers share the host OS kernel and, usually, the binaries and libraries, too</a:t>
            </a:r>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70</a:t>
            </a:fld>
            <a:endParaRPr lang="en-US"/>
          </a:p>
        </p:txBody>
      </p:sp>
    </p:spTree>
    <p:extLst>
      <p:ext uri="{BB962C8B-B14F-4D97-AF65-F5344CB8AC3E}">
        <p14:creationId xmlns:p14="http://schemas.microsoft.com/office/powerpoint/2010/main" val="396705590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ts val="1800"/>
              </a:lnSpc>
              <a:spcAft>
                <a:spcPts val="750"/>
              </a:spcAft>
            </a:pPr>
            <a:r>
              <a:rPr lang="en-US" b="0" i="0" dirty="0">
                <a:solidFill>
                  <a:srgbClr val="1F1F1F"/>
                </a:solidFill>
                <a:effectLst/>
                <a:latin typeface="Google Sans"/>
              </a:rPr>
              <a:t>The five basic components of Linux are:</a:t>
            </a:r>
          </a:p>
          <a:p>
            <a:pPr algn="l" fontAlgn="ctr">
              <a:lnSpc>
                <a:spcPts val="1650"/>
              </a:lnSpc>
              <a:spcBef>
                <a:spcPts val="750"/>
              </a:spcBef>
              <a:spcAft>
                <a:spcPts val="600"/>
              </a:spcAft>
              <a:buFont typeface="Arial" panose="020B0604020202020204" pitchFamily="34" charset="0"/>
              <a:buChar char="•"/>
            </a:pPr>
            <a:r>
              <a:rPr lang="en-US" b="1" i="0" dirty="0">
                <a:solidFill>
                  <a:srgbClr val="1F1F1F"/>
                </a:solidFill>
                <a:effectLst/>
                <a:latin typeface="Google Sans"/>
              </a:rPr>
              <a:t>Kernel</a:t>
            </a:r>
            <a:r>
              <a:rPr lang="en-US" b="0" i="0" dirty="0">
                <a:solidFill>
                  <a:srgbClr val="1F1F1F"/>
                </a:solidFill>
                <a:effectLst/>
                <a:latin typeface="Google Sans"/>
              </a:rPr>
              <a:t>: The core of the operating system that interacts with hardware and provides low-level services (KUH-NUHL)</a:t>
            </a:r>
          </a:p>
          <a:p>
            <a:pPr algn="l" fontAlgn="ctr">
              <a:lnSpc>
                <a:spcPts val="1650"/>
              </a:lnSpc>
              <a:spcBef>
                <a:spcPts val="750"/>
              </a:spcBef>
              <a:spcAft>
                <a:spcPts val="600"/>
              </a:spcAft>
              <a:buFont typeface="Arial" panose="020B0604020202020204" pitchFamily="34" charset="0"/>
              <a:buChar char="•"/>
            </a:pPr>
            <a:r>
              <a:rPr lang="en-US" b="1" i="0" dirty="0">
                <a:solidFill>
                  <a:srgbClr val="1F1F1F"/>
                </a:solidFill>
                <a:effectLst/>
                <a:latin typeface="Google Sans"/>
              </a:rPr>
              <a:t>Shell</a:t>
            </a:r>
            <a:r>
              <a:rPr lang="en-US" b="0" i="0" dirty="0">
                <a:solidFill>
                  <a:srgbClr val="1F1F1F"/>
                </a:solidFill>
                <a:effectLst/>
                <a:latin typeface="Google Sans"/>
              </a:rPr>
              <a:t>: An interface that takes user commands and executes kernel functions </a:t>
            </a:r>
          </a:p>
          <a:p>
            <a:pPr algn="l" fontAlgn="ctr">
              <a:lnSpc>
                <a:spcPts val="1650"/>
              </a:lnSpc>
              <a:spcBef>
                <a:spcPts val="750"/>
              </a:spcBef>
              <a:spcAft>
                <a:spcPts val="600"/>
              </a:spcAft>
              <a:buFont typeface="Arial" panose="020B0604020202020204" pitchFamily="34" charset="0"/>
              <a:buChar char="•"/>
            </a:pPr>
            <a:r>
              <a:rPr lang="en-US" b="1" i="0" dirty="0">
                <a:solidFill>
                  <a:srgbClr val="1F1F1F"/>
                </a:solidFill>
                <a:effectLst/>
                <a:latin typeface="Google Sans"/>
              </a:rPr>
              <a:t>System libraries</a:t>
            </a:r>
            <a:r>
              <a:rPr lang="en-US" b="0" i="0" dirty="0">
                <a:solidFill>
                  <a:srgbClr val="1F1F1F"/>
                </a:solidFill>
                <a:effectLst/>
                <a:latin typeface="Google Sans"/>
              </a:rPr>
              <a:t>: A set of functions that applications can use </a:t>
            </a:r>
          </a:p>
          <a:p>
            <a:pPr algn="l" fontAlgn="ctr">
              <a:lnSpc>
                <a:spcPts val="1650"/>
              </a:lnSpc>
              <a:spcBef>
                <a:spcPts val="750"/>
              </a:spcBef>
              <a:spcAft>
                <a:spcPts val="600"/>
              </a:spcAft>
              <a:buFont typeface="Arial" panose="020B0604020202020204" pitchFamily="34" charset="0"/>
              <a:buChar char="•"/>
            </a:pPr>
            <a:r>
              <a:rPr lang="en-US" b="1" i="0" dirty="0">
                <a:solidFill>
                  <a:srgbClr val="1F1F1F"/>
                </a:solidFill>
                <a:effectLst/>
                <a:latin typeface="Google Sans"/>
              </a:rPr>
              <a:t>System utilities</a:t>
            </a:r>
            <a:r>
              <a:rPr lang="en-US" b="0" i="0" dirty="0">
                <a:solidFill>
                  <a:srgbClr val="1F1F1F"/>
                </a:solidFill>
                <a:effectLst/>
                <a:latin typeface="Google Sans"/>
              </a:rPr>
              <a:t>: Programs that perform various tasks </a:t>
            </a:r>
          </a:p>
          <a:p>
            <a:pPr algn="l">
              <a:lnSpc>
                <a:spcPts val="1650"/>
              </a:lnSpc>
              <a:spcBef>
                <a:spcPts val="750"/>
              </a:spcBef>
              <a:spcAft>
                <a:spcPts val="1500"/>
              </a:spcAft>
              <a:buFont typeface="Arial" panose="020B0604020202020204" pitchFamily="34" charset="0"/>
              <a:buChar char="•"/>
            </a:pPr>
            <a:r>
              <a:rPr lang="en-US" b="1" i="0" dirty="0">
                <a:solidFill>
                  <a:srgbClr val="1F1F1F"/>
                </a:solidFill>
                <a:effectLst/>
                <a:latin typeface="Google Sans"/>
              </a:rPr>
              <a:t>Graphical user interface</a:t>
            </a:r>
            <a:r>
              <a:rPr lang="en-US" b="0" i="0" dirty="0">
                <a:solidFill>
                  <a:srgbClr val="1F1F1F"/>
                </a:solidFill>
                <a:effectLst/>
                <a:latin typeface="Google Sans"/>
              </a:rPr>
              <a:t>: The overall user interface, which includes the window manager </a:t>
            </a:r>
          </a:p>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71</a:t>
            </a:fld>
            <a:endParaRPr lang="en-US"/>
          </a:p>
        </p:txBody>
      </p:sp>
    </p:spTree>
    <p:extLst>
      <p:ext uri="{BB962C8B-B14F-4D97-AF65-F5344CB8AC3E}">
        <p14:creationId xmlns:p14="http://schemas.microsoft.com/office/powerpoint/2010/main" val="157375957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72</a:t>
            </a:fld>
            <a:endParaRPr lang="en-US"/>
          </a:p>
        </p:txBody>
      </p:sp>
    </p:spTree>
    <p:extLst>
      <p:ext uri="{BB962C8B-B14F-4D97-AF65-F5344CB8AC3E}">
        <p14:creationId xmlns:p14="http://schemas.microsoft.com/office/powerpoint/2010/main" val="149877549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KUH-NUHL</a:t>
            </a:r>
          </a:p>
        </p:txBody>
      </p:sp>
      <p:sp>
        <p:nvSpPr>
          <p:cNvPr id="4" name="Slide Number Placeholder 3"/>
          <p:cNvSpPr>
            <a:spLocks noGrp="1"/>
          </p:cNvSpPr>
          <p:nvPr>
            <p:ph type="sldNum" sz="quarter" idx="10"/>
          </p:nvPr>
        </p:nvSpPr>
        <p:spPr/>
        <p:txBody>
          <a:bodyPr/>
          <a:lstStyle/>
          <a:p>
            <a:fld id="{86A7F7C4-99E3-4D42-8CFA-0962EEA6AB6F}" type="slidenum">
              <a:rPr lang="en-US" smtClean="0"/>
              <a:t>73</a:t>
            </a:fld>
            <a:endParaRPr lang="en-US"/>
          </a:p>
        </p:txBody>
      </p:sp>
    </p:spTree>
    <p:extLst>
      <p:ext uri="{BB962C8B-B14F-4D97-AF65-F5344CB8AC3E}">
        <p14:creationId xmlns:p14="http://schemas.microsoft.com/office/powerpoint/2010/main" val="203080145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74</a:t>
            </a:fld>
            <a:endParaRPr lang="en-US"/>
          </a:p>
        </p:txBody>
      </p:sp>
    </p:spTree>
    <p:extLst>
      <p:ext uri="{BB962C8B-B14F-4D97-AF65-F5344CB8AC3E}">
        <p14:creationId xmlns:p14="http://schemas.microsoft.com/office/powerpoint/2010/main" val="323951153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089A5-6D8A-C528-12BB-6447C5BFD3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071960-F11E-2096-AD7E-48F0EBF83A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6A4726-6666-A7A9-CFED-5F49733AF8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B27DAD-E01F-2148-1FFA-49ED05E18192}"/>
              </a:ext>
            </a:extLst>
          </p:cNvPr>
          <p:cNvSpPr>
            <a:spLocks noGrp="1"/>
          </p:cNvSpPr>
          <p:nvPr>
            <p:ph type="sldNum" sz="quarter" idx="10"/>
          </p:nvPr>
        </p:nvSpPr>
        <p:spPr/>
        <p:txBody>
          <a:bodyPr/>
          <a:lstStyle/>
          <a:p>
            <a:fld id="{86A7F7C4-99E3-4D42-8CFA-0962EEA6AB6F}" type="slidenum">
              <a:rPr lang="en-US" smtClean="0"/>
              <a:t>75</a:t>
            </a:fld>
            <a:endParaRPr lang="en-US"/>
          </a:p>
        </p:txBody>
      </p:sp>
    </p:spTree>
    <p:extLst>
      <p:ext uri="{BB962C8B-B14F-4D97-AF65-F5344CB8AC3E}">
        <p14:creationId xmlns:p14="http://schemas.microsoft.com/office/powerpoint/2010/main" val="406193882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76</a:t>
            </a:fld>
            <a:endParaRPr lang="en-US"/>
          </a:p>
        </p:txBody>
      </p:sp>
    </p:spTree>
    <p:extLst>
      <p:ext uri="{BB962C8B-B14F-4D97-AF65-F5344CB8AC3E}">
        <p14:creationId xmlns:p14="http://schemas.microsoft.com/office/powerpoint/2010/main" val="31544635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1D35"/>
                </a:solidFill>
                <a:effectLst/>
                <a:latin typeface="Google Sans"/>
              </a:rPr>
              <a:t>"Docker daemon" refers specifically to the background process that manages Docker containers, while "Docker Engine" encompasses the entire system including the daemon, the CLI client, and the API used to interact with it; essentially, the Docker daemon is a core component of the Docker Engine. </a:t>
            </a:r>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77</a:t>
            </a:fld>
            <a:endParaRPr lang="en-US"/>
          </a:p>
        </p:txBody>
      </p:sp>
    </p:spTree>
    <p:extLst>
      <p:ext uri="{BB962C8B-B14F-4D97-AF65-F5344CB8AC3E}">
        <p14:creationId xmlns:p14="http://schemas.microsoft.com/office/powerpoint/2010/main" val="395387199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78</a:t>
            </a:fld>
            <a:endParaRPr lang="en-US"/>
          </a:p>
        </p:txBody>
      </p:sp>
    </p:spTree>
    <p:extLst>
      <p:ext uri="{BB962C8B-B14F-4D97-AF65-F5344CB8AC3E}">
        <p14:creationId xmlns:p14="http://schemas.microsoft.com/office/powerpoint/2010/main" val="86624638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79</a:t>
            </a:fld>
            <a:endParaRPr lang="en-US"/>
          </a:p>
        </p:txBody>
      </p:sp>
    </p:spTree>
    <p:extLst>
      <p:ext uri="{BB962C8B-B14F-4D97-AF65-F5344CB8AC3E}">
        <p14:creationId xmlns:p14="http://schemas.microsoft.com/office/powerpoint/2010/main" val="415569525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80</a:t>
            </a:fld>
            <a:endParaRPr lang="en-US"/>
          </a:p>
        </p:txBody>
      </p:sp>
    </p:spTree>
    <p:extLst>
      <p:ext uri="{BB962C8B-B14F-4D97-AF65-F5344CB8AC3E}">
        <p14:creationId xmlns:p14="http://schemas.microsoft.com/office/powerpoint/2010/main" val="380854785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BE0AC-3517-0DF3-B321-8C9AC728C3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D91B47-8260-C03A-79A2-E09024E93F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F5BA50-BB6E-93BF-514F-13286230FF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F305FD7-816C-FF90-C64D-5312A33E6618}"/>
              </a:ext>
            </a:extLst>
          </p:cNvPr>
          <p:cNvSpPr>
            <a:spLocks noGrp="1"/>
          </p:cNvSpPr>
          <p:nvPr>
            <p:ph type="sldNum" sz="quarter" idx="10"/>
          </p:nvPr>
        </p:nvSpPr>
        <p:spPr/>
        <p:txBody>
          <a:bodyPr/>
          <a:lstStyle/>
          <a:p>
            <a:fld id="{86A7F7C4-99E3-4D42-8CFA-0962EEA6AB6F}" type="slidenum">
              <a:rPr lang="en-US" smtClean="0"/>
              <a:t>81</a:t>
            </a:fld>
            <a:endParaRPr lang="en-US"/>
          </a:p>
        </p:txBody>
      </p:sp>
    </p:spTree>
    <p:extLst>
      <p:ext uri="{BB962C8B-B14F-4D97-AF65-F5344CB8AC3E}">
        <p14:creationId xmlns:p14="http://schemas.microsoft.com/office/powerpoint/2010/main" val="19891029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82</a:t>
            </a:fld>
            <a:endParaRPr lang="en-US"/>
          </a:p>
        </p:txBody>
      </p:sp>
    </p:spTree>
    <p:extLst>
      <p:ext uri="{BB962C8B-B14F-4D97-AF65-F5344CB8AC3E}">
        <p14:creationId xmlns:p14="http://schemas.microsoft.com/office/powerpoint/2010/main" val="408541228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83</a:t>
            </a:fld>
            <a:endParaRPr lang="en-US"/>
          </a:p>
        </p:txBody>
      </p:sp>
    </p:spTree>
    <p:extLst>
      <p:ext uri="{BB962C8B-B14F-4D97-AF65-F5344CB8AC3E}">
        <p14:creationId xmlns:p14="http://schemas.microsoft.com/office/powerpoint/2010/main" val="237530319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84</a:t>
            </a:fld>
            <a:endParaRPr lang="en-US"/>
          </a:p>
        </p:txBody>
      </p:sp>
    </p:spTree>
    <p:extLst>
      <p:ext uri="{BB962C8B-B14F-4D97-AF65-F5344CB8AC3E}">
        <p14:creationId xmlns:p14="http://schemas.microsoft.com/office/powerpoint/2010/main" val="85200789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87</a:t>
            </a:fld>
            <a:endParaRPr lang="en-US"/>
          </a:p>
        </p:txBody>
      </p:sp>
    </p:spTree>
    <p:extLst>
      <p:ext uri="{BB962C8B-B14F-4D97-AF65-F5344CB8AC3E}">
        <p14:creationId xmlns:p14="http://schemas.microsoft.com/office/powerpoint/2010/main" val="66084690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88</a:t>
            </a:fld>
            <a:endParaRPr lang="en-US"/>
          </a:p>
        </p:txBody>
      </p:sp>
    </p:spTree>
    <p:extLst>
      <p:ext uri="{BB962C8B-B14F-4D97-AF65-F5344CB8AC3E}">
        <p14:creationId xmlns:p14="http://schemas.microsoft.com/office/powerpoint/2010/main" val="368539085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F1F1F"/>
                </a:solidFill>
                <a:effectLst/>
                <a:latin typeface="Google Sans"/>
              </a:rPr>
              <a:t>Docker Compose is a tool that </a:t>
            </a:r>
            <a:r>
              <a:rPr lang="en-US" dirty="0"/>
              <a:t>helps you define and run multi-container Docker applications</a:t>
            </a:r>
          </a:p>
        </p:txBody>
      </p:sp>
      <p:sp>
        <p:nvSpPr>
          <p:cNvPr id="4" name="Slide Number Placeholder 3"/>
          <p:cNvSpPr>
            <a:spLocks noGrp="1"/>
          </p:cNvSpPr>
          <p:nvPr>
            <p:ph type="sldNum" sz="quarter" idx="10"/>
          </p:nvPr>
        </p:nvSpPr>
        <p:spPr/>
        <p:txBody>
          <a:bodyPr/>
          <a:lstStyle/>
          <a:p>
            <a:fld id="{86A7F7C4-99E3-4D42-8CFA-0962EEA6AB6F}" type="slidenum">
              <a:rPr lang="en-US" smtClean="0"/>
              <a:t>89</a:t>
            </a:fld>
            <a:endParaRPr lang="en-US"/>
          </a:p>
        </p:txBody>
      </p:sp>
    </p:spTree>
    <p:extLst>
      <p:ext uri="{BB962C8B-B14F-4D97-AF65-F5344CB8AC3E}">
        <p14:creationId xmlns:p14="http://schemas.microsoft.com/office/powerpoint/2010/main" val="222537878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90</a:t>
            </a:fld>
            <a:endParaRPr lang="en-US"/>
          </a:p>
        </p:txBody>
      </p:sp>
    </p:spTree>
    <p:extLst>
      <p:ext uri="{BB962C8B-B14F-4D97-AF65-F5344CB8AC3E}">
        <p14:creationId xmlns:p14="http://schemas.microsoft.com/office/powerpoint/2010/main" val="386818269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Docker Container is equivalent to active VM(Virtual Server, Virtual Desktop </a:t>
            </a:r>
            <a:r>
              <a:rPr lang="en-US" sz="1600" dirty="0" err="1"/>
              <a:t>etc</a:t>
            </a:r>
            <a:r>
              <a:rPr lang="en-US" sz="1600" dirty="0"/>
              <a:t>)</a:t>
            </a:r>
          </a:p>
          <a:p>
            <a:r>
              <a:rPr lang="en-US" sz="1600" dirty="0"/>
              <a:t>Docker Image is VM template</a:t>
            </a:r>
          </a:p>
        </p:txBody>
      </p:sp>
      <p:sp>
        <p:nvSpPr>
          <p:cNvPr id="4" name="Slide Number Placeholder 3"/>
          <p:cNvSpPr>
            <a:spLocks noGrp="1"/>
          </p:cNvSpPr>
          <p:nvPr>
            <p:ph type="sldNum" sz="quarter" idx="10"/>
          </p:nvPr>
        </p:nvSpPr>
        <p:spPr/>
        <p:txBody>
          <a:bodyPr/>
          <a:lstStyle/>
          <a:p>
            <a:fld id="{86A7F7C4-99E3-4D42-8CFA-0962EEA6AB6F}" type="slidenum">
              <a:rPr lang="en-US" smtClean="0"/>
              <a:t>91</a:t>
            </a:fld>
            <a:endParaRPr lang="en-US"/>
          </a:p>
        </p:txBody>
      </p:sp>
    </p:spTree>
    <p:extLst>
      <p:ext uri="{BB962C8B-B14F-4D97-AF65-F5344CB8AC3E}">
        <p14:creationId xmlns:p14="http://schemas.microsoft.com/office/powerpoint/2010/main" val="144977969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92</a:t>
            </a:fld>
            <a:endParaRPr lang="en-US"/>
          </a:p>
        </p:txBody>
      </p:sp>
    </p:spTree>
    <p:extLst>
      <p:ext uri="{BB962C8B-B14F-4D97-AF65-F5344CB8AC3E}">
        <p14:creationId xmlns:p14="http://schemas.microsoft.com/office/powerpoint/2010/main" val="278738038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F1F1F"/>
                </a:solidFill>
                <a:effectLst/>
                <a:latin typeface="Google Sans"/>
              </a:rPr>
              <a:t>HDFS applications need a write-once-read-many access model for files. </a:t>
            </a:r>
            <a:r>
              <a:rPr lang="en-US" b="0" i="0" dirty="0">
                <a:solidFill>
                  <a:srgbClr val="040C28"/>
                </a:solidFill>
                <a:effectLst/>
                <a:latin typeface="Google Sans"/>
              </a:rPr>
              <a:t>A file once created, written, and closed need not be changed</a:t>
            </a:r>
            <a:endParaRPr lang="en-US" dirty="0"/>
          </a:p>
        </p:txBody>
      </p:sp>
      <p:sp>
        <p:nvSpPr>
          <p:cNvPr id="4" name="Slide Number Placeholder 3"/>
          <p:cNvSpPr>
            <a:spLocks noGrp="1"/>
          </p:cNvSpPr>
          <p:nvPr>
            <p:ph type="sldNum" sz="quarter" idx="5"/>
          </p:nvPr>
        </p:nvSpPr>
        <p:spPr/>
        <p:txBody>
          <a:bodyPr/>
          <a:lstStyle/>
          <a:p>
            <a:fld id="{86A7F7C4-99E3-4D42-8CFA-0962EEA6AB6F}" type="slidenum">
              <a:rPr lang="en-US" smtClean="0"/>
              <a:t>94</a:t>
            </a:fld>
            <a:endParaRPr lang="en-US"/>
          </a:p>
        </p:txBody>
      </p:sp>
    </p:spTree>
    <p:extLst>
      <p:ext uri="{BB962C8B-B14F-4D97-AF65-F5344CB8AC3E}">
        <p14:creationId xmlns:p14="http://schemas.microsoft.com/office/powerpoint/2010/main" val="19149066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b="0" i="0" dirty="0">
                <a:solidFill>
                  <a:srgbClr val="001D35"/>
                </a:solidFill>
                <a:effectLst/>
                <a:latin typeface="Google Sans"/>
              </a:rPr>
              <a:t>An Apache Hadoop cluster is a group of computers that work together to store, process, and analyze large amounts of data. Apache Hadoop is an open-source framework that uses multiple computers to process data in parallel. </a:t>
            </a:r>
            <a:endParaRPr lang="en-US" sz="2000" b="1" i="0" dirty="0">
              <a:solidFill>
                <a:srgbClr val="767676"/>
              </a:solidFill>
              <a:effectLst/>
              <a:latin typeface="Arial" panose="020B0604020202020204" pitchFamily="34" charset="0"/>
            </a:endParaRPr>
          </a:p>
          <a:p>
            <a:r>
              <a:rPr lang="en-US" sz="2000" b="1" i="0" dirty="0">
                <a:solidFill>
                  <a:srgbClr val="767676"/>
                </a:solidFill>
                <a:effectLst/>
                <a:latin typeface="Arial" panose="020B0604020202020204" pitchFamily="34" charset="0"/>
              </a:rPr>
              <a:t>Amazon EMR</a:t>
            </a:r>
            <a:r>
              <a:rPr lang="en-US" sz="2000" b="0" i="0" dirty="0">
                <a:solidFill>
                  <a:srgbClr val="474747"/>
                </a:solidFill>
                <a:effectLst/>
                <a:latin typeface="Arial" panose="020B0604020202020204" pitchFamily="34" charset="0"/>
              </a:rPr>
              <a:t> is a </a:t>
            </a:r>
            <a:r>
              <a:rPr lang="en-US" sz="2000" b="1" i="0" dirty="0">
                <a:solidFill>
                  <a:srgbClr val="767676"/>
                </a:solidFill>
                <a:effectLst/>
                <a:latin typeface="Arial" panose="020B0604020202020204" pitchFamily="34" charset="0"/>
              </a:rPr>
              <a:t>cloud</a:t>
            </a:r>
            <a:r>
              <a:rPr lang="en-US" sz="2000" b="0" i="0" dirty="0">
                <a:solidFill>
                  <a:srgbClr val="474747"/>
                </a:solidFill>
                <a:effectLst/>
                <a:latin typeface="Arial" panose="020B0604020202020204" pitchFamily="34" charset="0"/>
              </a:rPr>
              <a:t> big data platform for running large-scale distributed data processing jobs, interactive SQL queries, and machine learning applications</a:t>
            </a:r>
            <a:endParaRPr lang="en-US" sz="2000" dirty="0"/>
          </a:p>
        </p:txBody>
      </p:sp>
      <p:sp>
        <p:nvSpPr>
          <p:cNvPr id="4" name="Slide Number Placeholder 3"/>
          <p:cNvSpPr>
            <a:spLocks noGrp="1"/>
          </p:cNvSpPr>
          <p:nvPr>
            <p:ph type="sldNum" sz="quarter" idx="10"/>
          </p:nvPr>
        </p:nvSpPr>
        <p:spPr/>
        <p:txBody>
          <a:bodyPr/>
          <a:lstStyle/>
          <a:p>
            <a:fld id="{86A7F7C4-99E3-4D42-8CFA-0962EEA6AB6F}" type="slidenum">
              <a:rPr lang="en-US" smtClean="0"/>
              <a:t>95</a:t>
            </a:fld>
            <a:endParaRPr lang="en-US"/>
          </a:p>
        </p:txBody>
      </p:sp>
    </p:spTree>
    <p:extLst>
      <p:ext uri="{BB962C8B-B14F-4D97-AF65-F5344CB8AC3E}">
        <p14:creationId xmlns:p14="http://schemas.microsoft.com/office/powerpoint/2010/main" val="295536148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HDFS: </a:t>
            </a:r>
            <a:r>
              <a:rPr lang="en-US" b="0" i="0" dirty="0">
                <a:solidFill>
                  <a:srgbClr val="001D35"/>
                </a:solidFill>
                <a:effectLst/>
                <a:latin typeface="Google Sans"/>
              </a:rPr>
              <a:t>HDFS" (Hadoop Distributed File System) is a key component of Hadoop that acts as a distributed file system designed to manage massive data sets across multiple nodes on a cluster, </a:t>
            </a:r>
            <a:endParaRPr lang="en-US" dirty="0"/>
          </a:p>
        </p:txBody>
      </p:sp>
      <p:sp>
        <p:nvSpPr>
          <p:cNvPr id="4" name="Slide Number Placeholder 3"/>
          <p:cNvSpPr>
            <a:spLocks noGrp="1"/>
          </p:cNvSpPr>
          <p:nvPr>
            <p:ph type="sldNum" sz="quarter" idx="5"/>
          </p:nvPr>
        </p:nvSpPr>
        <p:spPr/>
        <p:txBody>
          <a:bodyPr/>
          <a:lstStyle/>
          <a:p>
            <a:fld id="{86A7F7C4-99E3-4D42-8CFA-0962EEA6AB6F}" type="slidenum">
              <a:rPr lang="en-US" smtClean="0"/>
              <a:t>96</a:t>
            </a:fld>
            <a:endParaRPr lang="en-US"/>
          </a:p>
        </p:txBody>
      </p:sp>
    </p:spTree>
    <p:extLst>
      <p:ext uri="{BB962C8B-B14F-4D97-AF65-F5344CB8AC3E}">
        <p14:creationId xmlns:p14="http://schemas.microsoft.com/office/powerpoint/2010/main" val="76941279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F1F1F"/>
                </a:solidFill>
                <a:effectLst/>
                <a:latin typeface="Google Sans"/>
              </a:rPr>
              <a:t>Volume The amount of data collected. Velocity How quickly data is produced. For example, how fast stock market data updates</a:t>
            </a:r>
          </a:p>
          <a:p>
            <a:r>
              <a:rPr lang="en-US" b="0" i="0" dirty="0">
                <a:solidFill>
                  <a:srgbClr val="1F1F1F"/>
                </a:solidFill>
                <a:effectLst/>
                <a:latin typeface="Google Sans"/>
              </a:rPr>
              <a:t>Variety The range of types of </a:t>
            </a:r>
            <a:r>
              <a:rPr lang="en-US" b="1" i="0" dirty="0">
                <a:solidFill>
                  <a:srgbClr val="1F1F1F"/>
                </a:solidFill>
                <a:effectLst/>
                <a:latin typeface="Google Sans"/>
              </a:rPr>
              <a:t>data Veracity How accurate and truthful the data is. For example, how much control a company has over the data-gathering process. </a:t>
            </a:r>
            <a:endParaRPr lang="en-US" sz="1200" b="1"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Data veracity refers to the biasedness, noise, and abnormality in data.</a:t>
            </a:r>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97</a:t>
            </a:fld>
            <a:endParaRPr lang="en-US"/>
          </a:p>
        </p:txBody>
      </p:sp>
    </p:spTree>
    <p:extLst>
      <p:ext uri="{BB962C8B-B14F-4D97-AF65-F5344CB8AC3E}">
        <p14:creationId xmlns:p14="http://schemas.microsoft.com/office/powerpoint/2010/main" val="21543106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000" dirty="0"/>
              <a:t>centralized system relies on a single point of processing, which can become overloaded when dealing with massive data volumes</a:t>
            </a:r>
            <a:r>
              <a:rPr lang="en-US" sz="2000" b="0" i="0" dirty="0">
                <a:solidFill>
                  <a:srgbClr val="001D35"/>
                </a:solidFill>
                <a:effectLst/>
                <a:latin typeface="Google Sans"/>
              </a:rPr>
              <a:t>;</a:t>
            </a:r>
            <a:endParaRPr lang="en-US" sz="2000" dirty="0"/>
          </a:p>
        </p:txBody>
      </p:sp>
      <p:sp>
        <p:nvSpPr>
          <p:cNvPr id="4" name="Slide Number Placeholder 3"/>
          <p:cNvSpPr>
            <a:spLocks noGrp="1"/>
          </p:cNvSpPr>
          <p:nvPr>
            <p:ph type="sldNum" sz="quarter" idx="10"/>
          </p:nvPr>
        </p:nvSpPr>
        <p:spPr/>
        <p:txBody>
          <a:bodyPr/>
          <a:lstStyle/>
          <a:p>
            <a:fld id="{86A7F7C4-99E3-4D42-8CFA-0962EEA6AB6F}" type="slidenum">
              <a:rPr lang="en-US" smtClean="0"/>
              <a:t>98</a:t>
            </a:fld>
            <a:endParaRPr lang="en-US"/>
          </a:p>
        </p:txBody>
      </p:sp>
    </p:spTree>
    <p:extLst>
      <p:ext uri="{BB962C8B-B14F-4D97-AF65-F5344CB8AC3E}">
        <p14:creationId xmlns:p14="http://schemas.microsoft.com/office/powerpoint/2010/main" val="32269400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99</a:t>
            </a:fld>
            <a:endParaRPr lang="en-US"/>
          </a:p>
        </p:txBody>
      </p:sp>
    </p:spTree>
    <p:extLst>
      <p:ext uri="{BB962C8B-B14F-4D97-AF65-F5344CB8AC3E}">
        <p14:creationId xmlns:p14="http://schemas.microsoft.com/office/powerpoint/2010/main" val="110855037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100</a:t>
            </a:fld>
            <a:endParaRPr lang="en-US"/>
          </a:p>
        </p:txBody>
      </p:sp>
    </p:spTree>
    <p:extLst>
      <p:ext uri="{BB962C8B-B14F-4D97-AF65-F5344CB8AC3E}">
        <p14:creationId xmlns:p14="http://schemas.microsoft.com/office/powerpoint/2010/main" val="296808336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101</a:t>
            </a:fld>
            <a:endParaRPr lang="en-US"/>
          </a:p>
        </p:txBody>
      </p:sp>
    </p:spTree>
    <p:extLst>
      <p:ext uri="{BB962C8B-B14F-4D97-AF65-F5344CB8AC3E}">
        <p14:creationId xmlns:p14="http://schemas.microsoft.com/office/powerpoint/2010/main" val="119518946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FEEE0-0E6B-551F-EE69-4A27855415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88603D-41F0-F639-FE21-6A734D5147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A0781C-4F31-005F-4986-3A111D6D74E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708A221-9135-FABC-A7EE-2F1628BD2B90}"/>
              </a:ext>
            </a:extLst>
          </p:cNvPr>
          <p:cNvSpPr>
            <a:spLocks noGrp="1"/>
          </p:cNvSpPr>
          <p:nvPr>
            <p:ph type="sldNum" sz="quarter" idx="10"/>
          </p:nvPr>
        </p:nvSpPr>
        <p:spPr/>
        <p:txBody>
          <a:bodyPr/>
          <a:lstStyle/>
          <a:p>
            <a:fld id="{86A7F7C4-99E3-4D42-8CFA-0962EEA6AB6F}" type="slidenum">
              <a:rPr lang="en-US" smtClean="0"/>
              <a:t>102</a:t>
            </a:fld>
            <a:endParaRPr lang="en-US"/>
          </a:p>
        </p:txBody>
      </p:sp>
    </p:spTree>
    <p:extLst>
      <p:ext uri="{BB962C8B-B14F-4D97-AF65-F5344CB8AC3E}">
        <p14:creationId xmlns:p14="http://schemas.microsoft.com/office/powerpoint/2010/main" val="315665292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eBay Inc. is an American multinational e-commerce corporation based in San Jose, California, that facilitates consumer-to-consumer and business-to-consumer sales through its website. eBay was founded by Pierre </a:t>
            </a:r>
            <a:r>
              <a:rPr lang="en-US" sz="1200" b="0" i="0" kern="1200" dirty="0" err="1">
                <a:solidFill>
                  <a:schemeClr val="tx1"/>
                </a:solidFill>
                <a:effectLst/>
                <a:latin typeface="+mn-lt"/>
                <a:ea typeface="+mn-ea"/>
                <a:cs typeface="+mn-cs"/>
              </a:rPr>
              <a:t>Omidyar</a:t>
            </a:r>
            <a:r>
              <a:rPr lang="en-US" sz="1200" b="0" i="0" kern="1200" dirty="0">
                <a:solidFill>
                  <a:schemeClr val="tx1"/>
                </a:solidFill>
                <a:effectLst/>
                <a:latin typeface="+mn-lt"/>
                <a:ea typeface="+mn-ea"/>
                <a:cs typeface="+mn-cs"/>
              </a:rPr>
              <a:t> in 1995, and became a notable success story of the dot-com bubble.</a:t>
            </a:r>
            <a:endParaRPr lang="en-US" dirty="0"/>
          </a:p>
        </p:txBody>
      </p:sp>
      <p:sp>
        <p:nvSpPr>
          <p:cNvPr id="4" name="Slide Number Placeholder 3"/>
          <p:cNvSpPr>
            <a:spLocks noGrp="1"/>
          </p:cNvSpPr>
          <p:nvPr>
            <p:ph type="sldNum" sz="quarter" idx="10"/>
          </p:nvPr>
        </p:nvSpPr>
        <p:spPr/>
        <p:txBody>
          <a:bodyPr/>
          <a:lstStyle/>
          <a:p>
            <a:fld id="{F448718F-14F3-46D6-A286-48376C41755A}" type="slidenum">
              <a:rPr lang="en-US" smtClean="0"/>
              <a:t>103</a:t>
            </a:fld>
            <a:endParaRPr lang="en-US"/>
          </a:p>
        </p:txBody>
      </p:sp>
    </p:spTree>
    <p:extLst>
      <p:ext uri="{BB962C8B-B14F-4D97-AF65-F5344CB8AC3E}">
        <p14:creationId xmlns:p14="http://schemas.microsoft.com/office/powerpoint/2010/main" val="311788813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104</a:t>
            </a:fld>
            <a:endParaRPr lang="en-US"/>
          </a:p>
        </p:txBody>
      </p:sp>
    </p:spTree>
    <p:extLst>
      <p:ext uri="{BB962C8B-B14F-4D97-AF65-F5344CB8AC3E}">
        <p14:creationId xmlns:p14="http://schemas.microsoft.com/office/powerpoint/2010/main" val="29127881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Data veracity refers to the biasedness, noise, and abnormality in data.</a:t>
            </a:r>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105</a:t>
            </a:fld>
            <a:endParaRPr lang="en-US"/>
          </a:p>
        </p:txBody>
      </p:sp>
    </p:spTree>
    <p:extLst>
      <p:ext uri="{BB962C8B-B14F-4D97-AF65-F5344CB8AC3E}">
        <p14:creationId xmlns:p14="http://schemas.microsoft.com/office/powerpoint/2010/main" val="356414330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Data veracity refers to the biasedness, noise, and abnormality in data.</a:t>
            </a:r>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106</a:t>
            </a:fld>
            <a:endParaRPr lang="en-US"/>
          </a:p>
        </p:txBody>
      </p:sp>
    </p:spTree>
    <p:extLst>
      <p:ext uri="{BB962C8B-B14F-4D97-AF65-F5344CB8AC3E}">
        <p14:creationId xmlns:p14="http://schemas.microsoft.com/office/powerpoint/2010/main" val="169363178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107</a:t>
            </a:fld>
            <a:endParaRPr lang="en-US"/>
          </a:p>
        </p:txBody>
      </p:sp>
    </p:spTree>
    <p:extLst>
      <p:ext uri="{BB962C8B-B14F-4D97-AF65-F5344CB8AC3E}">
        <p14:creationId xmlns:p14="http://schemas.microsoft.com/office/powerpoint/2010/main" val="87023773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108</a:t>
            </a:fld>
            <a:endParaRPr lang="en-US"/>
          </a:p>
        </p:txBody>
      </p:sp>
    </p:spTree>
    <p:extLst>
      <p:ext uri="{BB962C8B-B14F-4D97-AF65-F5344CB8AC3E}">
        <p14:creationId xmlns:p14="http://schemas.microsoft.com/office/powerpoint/2010/main" val="396633404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109</a:t>
            </a:fld>
            <a:endParaRPr lang="en-US"/>
          </a:p>
        </p:txBody>
      </p:sp>
    </p:spTree>
    <p:extLst>
      <p:ext uri="{BB962C8B-B14F-4D97-AF65-F5344CB8AC3E}">
        <p14:creationId xmlns:p14="http://schemas.microsoft.com/office/powerpoint/2010/main" val="1418502728"/>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IaaS;</a:t>
            </a:r>
            <a:r>
              <a:rPr lang="en-US" baseline="0" dirty="0"/>
              <a:t> Means delivering Cloud infrastructure  as on demand services, is one of the fundamental cloud model. It allows dynamic scaling and resources are distributed</a:t>
            </a:r>
          </a:p>
          <a:p>
            <a:r>
              <a:rPr lang="en-US" baseline="0" dirty="0"/>
              <a:t>PaaS: Is a cloud delivery model for applications composed of services managed by third party. It provides elastic scaling of your applications which allow developers to build applications over the Internet. Is also known as application </a:t>
            </a:r>
            <a:r>
              <a:rPr lang="en-US" baseline="0" dirty="0" err="1"/>
              <a:t>PaaS.It</a:t>
            </a:r>
            <a:r>
              <a:rPr lang="en-US" baseline="0" dirty="0"/>
              <a:t> helps in maintaining and organizing the of the useful applications</a:t>
            </a:r>
          </a:p>
          <a:p>
            <a:r>
              <a:rPr lang="en-US" baseline="0" dirty="0"/>
              <a:t>SaaS: Allows users to run existing online applications. SaaS services are used for the development  and deployment of modern applications. It allows the software and its functions to be accessed from anywhere </a:t>
            </a:r>
            <a:r>
              <a:rPr lang="en-US" baseline="0" dirty="0" err="1"/>
              <a:t>ith</a:t>
            </a:r>
            <a:r>
              <a:rPr lang="en-US" baseline="0" dirty="0"/>
              <a:t> good Internet connection and a browser</a:t>
            </a:r>
          </a:p>
          <a:p>
            <a:r>
              <a:rPr lang="en-US" sz="1200" b="1" i="0" kern="1200" dirty="0">
                <a:solidFill>
                  <a:schemeClr val="tx1"/>
                </a:solidFill>
                <a:effectLst/>
                <a:latin typeface="+mn-lt"/>
                <a:ea typeface="+mn-ea"/>
                <a:cs typeface="+mn-cs"/>
              </a:rPr>
              <a:t>SaaS offers ready-to-use, out-of-the-box solutions that meet a particular business </a:t>
            </a:r>
            <a:r>
              <a:rPr lang="en-US" sz="1200" b="0" i="0" kern="1200" dirty="0">
                <a:solidFill>
                  <a:schemeClr val="tx1"/>
                </a:solidFill>
                <a:effectLst/>
                <a:latin typeface="+mn-lt"/>
                <a:ea typeface="+mn-ea"/>
                <a:cs typeface="+mn-cs"/>
              </a:rPr>
              <a:t>need (such as a website or email). Most modern SaaS platforms are built on IaaS or PaaS platforms</a:t>
            </a:r>
            <a:endParaRPr lang="en-US" baseline="0" dirty="0"/>
          </a:p>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114</a:t>
            </a:fld>
            <a:endParaRPr lang="en-US"/>
          </a:p>
        </p:txBody>
      </p:sp>
    </p:spTree>
    <p:extLst>
      <p:ext uri="{BB962C8B-B14F-4D97-AF65-F5344CB8AC3E}">
        <p14:creationId xmlns:p14="http://schemas.microsoft.com/office/powerpoint/2010/main" val="258437043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1D35"/>
                </a:solidFill>
                <a:effectLst/>
                <a:latin typeface="Google Sans"/>
              </a:rPr>
              <a:t>Customer Relationship Management (CRM)</a:t>
            </a:r>
          </a:p>
          <a:p>
            <a:r>
              <a:rPr lang="en-US" sz="1200" b="0" i="0" kern="1200" dirty="0">
                <a:solidFill>
                  <a:schemeClr val="tx1"/>
                </a:solidFill>
                <a:effectLst/>
                <a:latin typeface="+mn-lt"/>
                <a:ea typeface="+mn-ea"/>
                <a:cs typeface="+mn-cs"/>
              </a:rPr>
              <a:t>Integrated lifecycle PaaS provides all of the capabilities that you need to support the complete web application lifecycle: </a:t>
            </a:r>
            <a:r>
              <a:rPr lang="en-US" sz="1200" b="1" i="0" kern="1200" dirty="0">
                <a:solidFill>
                  <a:schemeClr val="tx1"/>
                </a:solidFill>
                <a:effectLst/>
                <a:latin typeface="+mn-lt"/>
                <a:ea typeface="+mn-ea"/>
                <a:cs typeface="+mn-cs"/>
              </a:rPr>
              <a:t>building, testing, deploying, managing, and updating within the same integrated environment.</a:t>
            </a:r>
          </a:p>
          <a:p>
            <a:r>
              <a:rPr lang="en-US" dirty="0"/>
              <a:t>Anchored: based on business logic at the center of the approach. </a:t>
            </a:r>
            <a:endParaRPr lang="en-US" sz="1200" b="1" i="0" kern="1200" dirty="0">
              <a:solidFill>
                <a:schemeClr val="tx1"/>
              </a:solidFill>
              <a:effectLst/>
              <a:latin typeface="+mn-lt"/>
              <a:ea typeface="+mn-ea"/>
              <a:cs typeface="+mn-cs"/>
            </a:endParaRPr>
          </a:p>
          <a:p>
            <a:endParaRPr lang="en-US" b="1" dirty="0"/>
          </a:p>
        </p:txBody>
      </p:sp>
      <p:sp>
        <p:nvSpPr>
          <p:cNvPr id="4" name="Slide Number Placeholder 3"/>
          <p:cNvSpPr>
            <a:spLocks noGrp="1"/>
          </p:cNvSpPr>
          <p:nvPr>
            <p:ph type="sldNum" sz="quarter" idx="10"/>
          </p:nvPr>
        </p:nvSpPr>
        <p:spPr/>
        <p:txBody>
          <a:bodyPr/>
          <a:lstStyle/>
          <a:p>
            <a:fld id="{86A7F7C4-99E3-4D42-8CFA-0962EEA6AB6F}" type="slidenum">
              <a:rPr lang="en-US" smtClean="0"/>
              <a:t>115</a:t>
            </a:fld>
            <a:endParaRPr lang="en-US"/>
          </a:p>
        </p:txBody>
      </p:sp>
    </p:spTree>
    <p:extLst>
      <p:ext uri="{BB962C8B-B14F-4D97-AF65-F5344CB8AC3E}">
        <p14:creationId xmlns:p14="http://schemas.microsoft.com/office/powerpoint/2010/main" val="179648814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E5A3B-4F01-1222-CD97-C72B4C5C10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639E21-A23F-CDE6-DE79-0E34403B33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502575-E2F5-5809-62E0-AEACAF7286E7}"/>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Integrated lifecycle PaaS provides all of the capabilities that you need to support the complete web application lifecycle: </a:t>
            </a:r>
            <a:r>
              <a:rPr lang="en-US" sz="1200" b="1" i="0" kern="1200" dirty="0">
                <a:solidFill>
                  <a:schemeClr val="tx1"/>
                </a:solidFill>
                <a:effectLst/>
                <a:latin typeface="+mn-lt"/>
                <a:ea typeface="+mn-ea"/>
                <a:cs typeface="+mn-cs"/>
              </a:rPr>
              <a:t>building, testing, deploying, managing, and updating within the same integrated environment.</a:t>
            </a:r>
          </a:p>
          <a:p>
            <a:r>
              <a:rPr lang="en-US" dirty="0"/>
              <a:t>Anchored: based on business logic at the center of the approach. </a:t>
            </a:r>
            <a:endParaRPr lang="en-US" sz="1200" b="1" i="0" kern="1200" dirty="0">
              <a:solidFill>
                <a:schemeClr val="tx1"/>
              </a:solidFill>
              <a:effectLst/>
              <a:latin typeface="+mn-lt"/>
              <a:ea typeface="+mn-ea"/>
              <a:cs typeface="+mn-cs"/>
            </a:endParaRPr>
          </a:p>
          <a:p>
            <a:endParaRPr lang="en-US" b="1" dirty="0"/>
          </a:p>
        </p:txBody>
      </p:sp>
      <p:sp>
        <p:nvSpPr>
          <p:cNvPr id="4" name="Slide Number Placeholder 3">
            <a:extLst>
              <a:ext uri="{FF2B5EF4-FFF2-40B4-BE49-F238E27FC236}">
                <a16:creationId xmlns:a16="http://schemas.microsoft.com/office/drawing/2014/main" id="{85822F35-CC1C-ED65-F08D-0970573033E5}"/>
              </a:ext>
            </a:extLst>
          </p:cNvPr>
          <p:cNvSpPr>
            <a:spLocks noGrp="1"/>
          </p:cNvSpPr>
          <p:nvPr>
            <p:ph type="sldNum" sz="quarter" idx="10"/>
          </p:nvPr>
        </p:nvSpPr>
        <p:spPr/>
        <p:txBody>
          <a:bodyPr/>
          <a:lstStyle/>
          <a:p>
            <a:fld id="{86A7F7C4-99E3-4D42-8CFA-0962EEA6AB6F}" type="slidenum">
              <a:rPr lang="en-US" smtClean="0"/>
              <a:t>116</a:t>
            </a:fld>
            <a:endParaRPr lang="en-US"/>
          </a:p>
        </p:txBody>
      </p:sp>
    </p:spTree>
    <p:extLst>
      <p:ext uri="{BB962C8B-B14F-4D97-AF65-F5344CB8AC3E}">
        <p14:creationId xmlns:p14="http://schemas.microsoft.com/office/powerpoint/2010/main" val="1146520609"/>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z="1200" dirty="0"/>
              <a:t>A PaaS platform either provides the means to use programs you create in a </a:t>
            </a:r>
            <a:r>
              <a:rPr lang="en-US" sz="1200" b="1" dirty="0"/>
              <a:t>supported language or offers a visual development environment</a:t>
            </a:r>
            <a:r>
              <a:rPr lang="en-US" sz="1200" dirty="0"/>
              <a:t> that writes the code for you.</a:t>
            </a:r>
          </a:p>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117</a:t>
            </a:fld>
            <a:endParaRPr lang="en-US"/>
          </a:p>
        </p:txBody>
      </p:sp>
    </p:spTree>
    <p:extLst>
      <p:ext uri="{BB962C8B-B14F-4D97-AF65-F5344CB8AC3E}">
        <p14:creationId xmlns:p14="http://schemas.microsoft.com/office/powerpoint/2010/main" val="1635784498"/>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just"/>
            <a:r>
              <a:rPr lang="en-US" sz="1200" dirty="0"/>
              <a:t>A PaaS platform either provides the means to use programs you create in a </a:t>
            </a:r>
            <a:r>
              <a:rPr lang="en-US" sz="1200" b="1" dirty="0"/>
              <a:t>supported language or offers a visual development environment</a:t>
            </a:r>
            <a:r>
              <a:rPr lang="en-US" sz="1200" dirty="0"/>
              <a:t> that writes the code for you.</a:t>
            </a:r>
          </a:p>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118</a:t>
            </a:fld>
            <a:endParaRPr lang="en-US"/>
          </a:p>
        </p:txBody>
      </p:sp>
    </p:spTree>
    <p:extLst>
      <p:ext uri="{BB962C8B-B14F-4D97-AF65-F5344CB8AC3E}">
        <p14:creationId xmlns:p14="http://schemas.microsoft.com/office/powerpoint/2010/main" val="358406869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Multi-tenancy is an architecture </a:t>
            </a:r>
            <a:r>
              <a:rPr lang="en-US" sz="1200" b="1" i="0" kern="1200" dirty="0">
                <a:solidFill>
                  <a:schemeClr val="tx1"/>
                </a:solidFill>
                <a:effectLst/>
                <a:latin typeface="+mn-lt"/>
                <a:ea typeface="+mn-ea"/>
                <a:cs typeface="+mn-cs"/>
              </a:rPr>
              <a:t>in which a single instance of a software application serves multiple customers</a:t>
            </a:r>
          </a:p>
          <a:p>
            <a:r>
              <a:rPr lang="en-US" sz="1200" b="0" i="0" kern="1200" dirty="0">
                <a:solidFill>
                  <a:schemeClr val="tx1"/>
                </a:solidFill>
                <a:effectLst/>
                <a:latin typeface="+mn-lt"/>
                <a:ea typeface="+mn-ea"/>
                <a:cs typeface="+mn-cs"/>
              </a:rPr>
              <a:t>What is lifecycle management of </a:t>
            </a:r>
            <a:r>
              <a:rPr lang="en-US" sz="1200" b="0" i="0" kern="1200" dirty="0" err="1">
                <a:solidFill>
                  <a:schemeClr val="tx1"/>
                </a:solidFill>
                <a:effectLst/>
                <a:latin typeface="+mn-lt"/>
                <a:ea typeface="+mn-ea"/>
                <a:cs typeface="+mn-cs"/>
              </a:rPr>
              <a:t>CLoud</a:t>
            </a:r>
            <a:r>
              <a:rPr lang="en-US" sz="1200" b="0" i="0" kern="1200" dirty="0">
                <a:solidFill>
                  <a:schemeClr val="tx1"/>
                </a:solidFill>
                <a:effectLst/>
                <a:latin typeface="+mn-lt"/>
                <a:ea typeface="+mn-ea"/>
                <a:cs typeface="+mn-cs"/>
              </a:rPr>
              <a:t> services?</a:t>
            </a:r>
          </a:p>
          <a:p>
            <a:r>
              <a:rPr lang="en-US" sz="1200" b="0" i="0" kern="1200" dirty="0">
                <a:solidFill>
                  <a:schemeClr val="tx1"/>
                </a:solidFill>
                <a:effectLst/>
                <a:latin typeface="+mn-lt"/>
                <a:ea typeface="+mn-ea"/>
                <a:cs typeface="+mn-cs"/>
              </a:rPr>
              <a:t>PaaS provides all of the capabilities that you need to support the complete web application lifecycle: building, testing, deploying, managing, and updating within the same integrated environment.</a:t>
            </a:r>
          </a:p>
          <a:p>
            <a:r>
              <a:rPr lang="en-US" sz="1200" b="0" i="0" kern="1200" dirty="0">
                <a:solidFill>
                  <a:schemeClr val="tx1"/>
                </a:solidFill>
                <a:effectLst/>
                <a:latin typeface="+mn-lt"/>
                <a:ea typeface="+mn-ea"/>
                <a:cs typeface="+mn-cs"/>
              </a:rPr>
              <a:t>Cloud Lifecycle Management manages the dynamic nature of the cloud environment, accelerating provisioning, facilitating flexibility, and rapidly meeting the needs of the business</a:t>
            </a:r>
          </a:p>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119</a:t>
            </a:fld>
            <a:endParaRPr lang="en-US"/>
          </a:p>
        </p:txBody>
      </p:sp>
    </p:spTree>
    <p:extLst>
      <p:ext uri="{BB962C8B-B14F-4D97-AF65-F5344CB8AC3E}">
        <p14:creationId xmlns:p14="http://schemas.microsoft.com/office/powerpoint/2010/main" val="192518934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Salesforce.com developed Force.com to create applications and add</a:t>
            </a:r>
            <a:r>
              <a:rPr lang="en-US" baseline="0" dirty="0"/>
              <a:t> to Salesforce</a:t>
            </a:r>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120</a:t>
            </a:fld>
            <a:endParaRPr lang="en-US"/>
          </a:p>
        </p:txBody>
      </p:sp>
    </p:spTree>
    <p:extLst>
      <p:ext uri="{BB962C8B-B14F-4D97-AF65-F5344CB8AC3E}">
        <p14:creationId xmlns:p14="http://schemas.microsoft.com/office/powerpoint/2010/main" val="209420805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121</a:t>
            </a:fld>
            <a:endParaRPr lang="en-US"/>
          </a:p>
        </p:txBody>
      </p:sp>
    </p:spTree>
    <p:extLst>
      <p:ext uri="{BB962C8B-B14F-4D97-AF65-F5344CB8AC3E}">
        <p14:creationId xmlns:p14="http://schemas.microsoft.com/office/powerpoint/2010/main" val="53165326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122</a:t>
            </a:fld>
            <a:endParaRPr lang="en-US"/>
          </a:p>
        </p:txBody>
      </p:sp>
    </p:spTree>
    <p:extLst>
      <p:ext uri="{BB962C8B-B14F-4D97-AF65-F5344CB8AC3E}">
        <p14:creationId xmlns:p14="http://schemas.microsoft.com/office/powerpoint/2010/main" val="362012666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F1F1F"/>
                </a:solidFill>
                <a:effectLst/>
                <a:latin typeface="Google Sans"/>
              </a:rPr>
              <a:t>While Apex and Java share similar syntax and object-oriented features, Apex is specialized for Salesforce customization and is constrained by Salesforce's environment and governor limits. Java, on the other hand, is a more versatile and general-purpose language used in a wide variety of applications beyond Salesforce.</a:t>
            </a:r>
          </a:p>
          <a:p>
            <a:r>
              <a:rPr lang="en-US" sz="1200" b="0" i="0" kern="1200" dirty="0">
                <a:solidFill>
                  <a:schemeClr val="tx1"/>
                </a:solidFill>
                <a:effectLst/>
                <a:latin typeface="+mn-lt"/>
                <a:ea typeface="+mn-ea"/>
                <a:cs typeface="+mn-cs"/>
              </a:rPr>
              <a:t>Interface Builder enables you to create reusable user interface components known as custom views. </a:t>
            </a:r>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123</a:t>
            </a:fld>
            <a:endParaRPr lang="en-US"/>
          </a:p>
        </p:txBody>
      </p:sp>
    </p:spTree>
    <p:extLst>
      <p:ext uri="{BB962C8B-B14F-4D97-AF65-F5344CB8AC3E}">
        <p14:creationId xmlns:p14="http://schemas.microsoft.com/office/powerpoint/2010/main" val="232004600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124</a:t>
            </a:fld>
            <a:endParaRPr lang="en-US"/>
          </a:p>
        </p:txBody>
      </p:sp>
    </p:spTree>
    <p:extLst>
      <p:ext uri="{BB962C8B-B14F-4D97-AF65-F5344CB8AC3E}">
        <p14:creationId xmlns:p14="http://schemas.microsoft.com/office/powerpoint/2010/main" val="18678891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Composite applications are created by combining independent programs, data, and devices. The purpose is to deliver a new solution that was otherwise impossible for independent services to execute.</a:t>
            </a:r>
          </a:p>
          <a:p>
            <a:r>
              <a:rPr lang="en-US" sz="1200" b="0" i="0" kern="1200" dirty="0">
                <a:solidFill>
                  <a:schemeClr val="tx1"/>
                </a:solidFill>
                <a:effectLst/>
                <a:latin typeface="+mn-lt"/>
                <a:ea typeface="+mn-ea"/>
                <a:cs typeface="+mn-cs"/>
              </a:rPr>
              <a:t>A data portal is a web application, website, or page of a website that holds data from different sources, organized under subsets or categories to make it simple for the site's users to find.</a:t>
            </a:r>
          </a:p>
          <a:p>
            <a:r>
              <a:rPr lang="en-US" sz="1200" b="0" i="0" kern="1200" dirty="0">
                <a:solidFill>
                  <a:schemeClr val="tx1"/>
                </a:solidFill>
                <a:effectLst/>
                <a:latin typeface="+mn-lt"/>
                <a:ea typeface="+mn-ea"/>
                <a:cs typeface="+mn-cs"/>
              </a:rPr>
              <a:t>What is the purpose of a data portal?</a:t>
            </a:r>
          </a:p>
          <a:p>
            <a:r>
              <a:rPr lang="en-US" sz="1200" b="0" i="0" kern="1200" dirty="0">
                <a:solidFill>
                  <a:schemeClr val="tx1"/>
                </a:solidFill>
                <a:effectLst/>
                <a:latin typeface="+mn-lt"/>
                <a:ea typeface="+mn-ea"/>
                <a:cs typeface="+mn-cs"/>
              </a:rPr>
              <a:t>A data portal is a software that </a:t>
            </a:r>
            <a:r>
              <a:rPr lang="en-US" sz="1200" b="0" i="0" kern="1200" dirty="0" err="1">
                <a:solidFill>
                  <a:schemeClr val="tx1"/>
                </a:solidFill>
                <a:effectLst/>
                <a:latin typeface="+mn-lt"/>
                <a:ea typeface="+mn-ea"/>
                <a:cs typeface="+mn-cs"/>
              </a:rPr>
              <a:t>catalaogs</a:t>
            </a:r>
            <a:r>
              <a:rPr lang="en-US" sz="1200" b="0" i="0" kern="1200" dirty="0">
                <a:solidFill>
                  <a:schemeClr val="tx1"/>
                </a:solidFill>
                <a:effectLst/>
                <a:latin typeface="+mn-lt"/>
                <a:ea typeface="+mn-ea"/>
                <a:cs typeface="+mn-cs"/>
              </a:rPr>
              <a:t> datasets. There are two main types of data portal: open data portals for sharing public data, and internal data portals for sharing data within an organization. They serve as a single “point of truth” for an </a:t>
            </a:r>
            <a:r>
              <a:rPr lang="en-US" sz="1200" b="0" i="0" kern="1200" dirty="0" err="1">
                <a:solidFill>
                  <a:schemeClr val="tx1"/>
                </a:solidFill>
                <a:effectLst/>
                <a:latin typeface="+mn-lt"/>
                <a:ea typeface="+mn-ea"/>
                <a:cs typeface="+mn-cs"/>
              </a:rPr>
              <a:t>organisation's</a:t>
            </a:r>
            <a:r>
              <a:rPr lang="en-US" sz="1200" b="0" i="0" kern="1200" dirty="0">
                <a:solidFill>
                  <a:schemeClr val="tx1"/>
                </a:solidFill>
                <a:effectLst/>
                <a:latin typeface="+mn-lt"/>
                <a:ea typeface="+mn-ea"/>
                <a:cs typeface="+mn-cs"/>
              </a:rPr>
              <a:t> data or of data relating to a certain topic.</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A Web Mashup is a </a:t>
            </a:r>
            <a:r>
              <a:rPr lang="en-US" sz="1200" b="1" i="0" kern="1200" dirty="0">
                <a:solidFill>
                  <a:schemeClr val="tx1"/>
                </a:solidFill>
                <a:effectLst/>
                <a:latin typeface="+mn-lt"/>
                <a:ea typeface="+mn-ea"/>
                <a:cs typeface="+mn-cs"/>
              </a:rPr>
              <a:t>web application that is aggregated from many other web applications </a:t>
            </a:r>
            <a:r>
              <a:rPr lang="en-US" sz="1200" b="0" i="0" kern="1200" dirty="0">
                <a:solidFill>
                  <a:schemeClr val="tx1"/>
                </a:solidFill>
                <a:effectLst/>
                <a:latin typeface="+mn-lt"/>
                <a:ea typeface="+mn-ea"/>
                <a:cs typeface="+mn-cs"/>
              </a:rPr>
              <a:t>and contains data from different sources merged into a tool</a:t>
            </a:r>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125</a:t>
            </a:fld>
            <a:endParaRPr lang="en-US"/>
          </a:p>
        </p:txBody>
      </p:sp>
    </p:spTree>
    <p:extLst>
      <p:ext uri="{BB962C8B-B14F-4D97-AF65-F5344CB8AC3E}">
        <p14:creationId xmlns:p14="http://schemas.microsoft.com/office/powerpoint/2010/main" val="382486484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Basically, VMs are IaaS </a:t>
            </a:r>
            <a:r>
              <a:rPr lang="en-US" sz="1200" b="0" i="0" kern="1200" dirty="0" err="1">
                <a:solidFill>
                  <a:schemeClr val="tx1"/>
                </a:solidFill>
                <a:effectLst/>
                <a:latin typeface="+mn-lt"/>
                <a:ea typeface="+mn-ea"/>
                <a:cs typeface="+mn-cs"/>
              </a:rPr>
              <a:t>i.e</a:t>
            </a:r>
            <a:r>
              <a:rPr lang="en-US" sz="1200" b="0" i="0" kern="1200" dirty="0">
                <a:solidFill>
                  <a:schemeClr val="tx1"/>
                </a:solidFill>
                <a:effectLst/>
                <a:latin typeface="+mn-lt"/>
                <a:ea typeface="+mn-ea"/>
                <a:cs typeface="+mn-cs"/>
              </a:rPr>
              <a:t> Infrastructure as a Service as because on a virtual machine you can able to manage what all operations are takes place also what software is installed in it. Whereas PaaS can helps you manage the software that is running in the cloud like app services.</a:t>
            </a:r>
          </a:p>
          <a:p>
            <a:r>
              <a:rPr lang="en-US" sz="1200" b="0" i="0" kern="1200" dirty="0">
                <a:solidFill>
                  <a:schemeClr val="tx1"/>
                </a:solidFill>
                <a:effectLst/>
                <a:latin typeface="+mn-lt"/>
                <a:ea typeface="+mn-ea"/>
                <a:cs typeface="+mn-cs"/>
              </a:rPr>
              <a:t>Middleware is software that sits in between user-facing applications and the machine's operating system</a:t>
            </a:r>
          </a:p>
          <a:p>
            <a:r>
              <a:rPr lang="en-US" sz="1200" b="1" i="0" kern="1200" dirty="0">
                <a:solidFill>
                  <a:schemeClr val="tx1"/>
                </a:solidFill>
                <a:effectLst/>
                <a:latin typeface="+mn-lt"/>
                <a:ea typeface="+mn-ea"/>
                <a:cs typeface="+mn-cs"/>
              </a:rPr>
              <a:t>coding, integration, testing, delivery, deployment, and feedback</a:t>
            </a:r>
            <a:r>
              <a:rPr lang="en-US" sz="1200" b="0" i="0" kern="1200" dirty="0">
                <a:solidFill>
                  <a:schemeClr val="tx1"/>
                </a:solidFill>
                <a:effectLst/>
                <a:latin typeface="+mn-lt"/>
                <a:ea typeface="+mn-ea"/>
                <a:cs typeface="+mn-cs"/>
              </a:rPr>
              <a:t>.</a:t>
            </a:r>
          </a:p>
          <a:p>
            <a:br>
              <a:rPr lang="en-US" sz="1200" b="0" i="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126</a:t>
            </a:fld>
            <a:endParaRPr lang="en-US"/>
          </a:p>
        </p:txBody>
      </p:sp>
    </p:spTree>
    <p:extLst>
      <p:ext uri="{BB962C8B-B14F-4D97-AF65-F5344CB8AC3E}">
        <p14:creationId xmlns:p14="http://schemas.microsoft.com/office/powerpoint/2010/main" val="253823943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Instead of writing code from scratch, you can use an SDK, which often consists of libraries, compilers, debuggers, code samples, and documentation. An integrated development environment (IDE) is the software environment you use to connect all the tools bundled in the SDK.</a:t>
            </a:r>
          </a:p>
          <a:p>
            <a:r>
              <a:rPr lang="en-US" sz="1200" b="0" i="0" kern="1200" dirty="0">
                <a:solidFill>
                  <a:schemeClr val="tx1"/>
                </a:solidFill>
                <a:effectLst/>
                <a:latin typeface="+mn-lt"/>
                <a:ea typeface="+mn-ea"/>
                <a:cs typeface="+mn-cs"/>
              </a:rPr>
              <a:t>A unified environment provides continuity by connecting multiple disciplines and allowing teams to develop complex, connected products faster</a:t>
            </a:r>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127</a:t>
            </a:fld>
            <a:endParaRPr lang="en-US"/>
          </a:p>
        </p:txBody>
      </p:sp>
    </p:spTree>
    <p:extLst>
      <p:ext uri="{BB962C8B-B14F-4D97-AF65-F5344CB8AC3E}">
        <p14:creationId xmlns:p14="http://schemas.microsoft.com/office/powerpoint/2010/main" val="3628282975"/>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Management System</a:t>
            </a:r>
          </a:p>
          <a:p>
            <a:r>
              <a:rPr lang="en-US" sz="1200" b="0" i="0" kern="1200" dirty="0">
                <a:solidFill>
                  <a:schemeClr val="tx1"/>
                </a:solidFill>
                <a:effectLst/>
                <a:latin typeface="+mn-lt"/>
                <a:ea typeface="+mn-ea"/>
                <a:cs typeface="+mn-cs"/>
              </a:rPr>
              <a:t>Drupal is a flexible CMS based on the LAMP stack, with a modular design allowing features to be added and removed by installing and uninstalling modules, and allowing the entire look and feel of the website to be changed by installing and uninstalling themes.</a:t>
            </a:r>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128</a:t>
            </a:fld>
            <a:endParaRPr lang="en-US"/>
          </a:p>
        </p:txBody>
      </p:sp>
    </p:spTree>
    <p:extLst>
      <p:ext uri="{BB962C8B-B14F-4D97-AF65-F5344CB8AC3E}">
        <p14:creationId xmlns:p14="http://schemas.microsoft.com/office/powerpoint/2010/main" val="3352085308"/>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129</a:t>
            </a:fld>
            <a:endParaRPr lang="en-US"/>
          </a:p>
        </p:txBody>
      </p:sp>
    </p:spTree>
    <p:extLst>
      <p:ext uri="{BB962C8B-B14F-4D97-AF65-F5344CB8AC3E}">
        <p14:creationId xmlns:p14="http://schemas.microsoft.com/office/powerpoint/2010/main" val="1743849249"/>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130</a:t>
            </a:fld>
            <a:endParaRPr lang="en-US"/>
          </a:p>
        </p:txBody>
      </p:sp>
    </p:spTree>
    <p:extLst>
      <p:ext uri="{BB962C8B-B14F-4D97-AF65-F5344CB8AC3E}">
        <p14:creationId xmlns:p14="http://schemas.microsoft.com/office/powerpoint/2010/main" val="2966480523"/>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131</a:t>
            </a:fld>
            <a:endParaRPr lang="en-US"/>
          </a:p>
        </p:txBody>
      </p:sp>
    </p:spTree>
    <p:extLst>
      <p:ext uri="{BB962C8B-B14F-4D97-AF65-F5344CB8AC3E}">
        <p14:creationId xmlns:p14="http://schemas.microsoft.com/office/powerpoint/2010/main" val="96229432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132</a:t>
            </a:fld>
            <a:endParaRPr lang="en-US"/>
          </a:p>
        </p:txBody>
      </p:sp>
    </p:spTree>
    <p:extLst>
      <p:ext uri="{BB962C8B-B14F-4D97-AF65-F5344CB8AC3E}">
        <p14:creationId xmlns:p14="http://schemas.microsoft.com/office/powerpoint/2010/main" val="290587062"/>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133</a:t>
            </a:fld>
            <a:endParaRPr lang="en-US"/>
          </a:p>
        </p:txBody>
      </p:sp>
    </p:spTree>
    <p:extLst>
      <p:ext uri="{BB962C8B-B14F-4D97-AF65-F5344CB8AC3E}">
        <p14:creationId xmlns:p14="http://schemas.microsoft.com/office/powerpoint/2010/main" val="1002656597"/>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74747"/>
                </a:solidFill>
                <a:effectLst/>
                <a:latin typeface="Google Sans"/>
              </a:rPr>
              <a:t>Twitter sentiment analysis </a:t>
            </a:r>
            <a:r>
              <a:rPr lang="en-US" b="0" i="0" dirty="0">
                <a:solidFill>
                  <a:srgbClr val="040C28"/>
                </a:solidFill>
                <a:effectLst/>
                <a:latin typeface="Google Sans"/>
              </a:rPr>
              <a:t>analyzes the </a:t>
            </a:r>
            <a:r>
              <a:rPr lang="en-US" b="1" i="0" dirty="0">
                <a:solidFill>
                  <a:srgbClr val="040C28"/>
                </a:solidFill>
                <a:effectLst/>
                <a:latin typeface="Google Sans"/>
              </a:rPr>
              <a:t>sentiment or emotion of tweets</a:t>
            </a:r>
            <a:r>
              <a:rPr lang="en-US" b="0" i="0" dirty="0">
                <a:solidFill>
                  <a:srgbClr val="474747"/>
                </a:solidFill>
                <a:effectLst/>
                <a:latin typeface="Google Sans"/>
              </a:rPr>
              <a:t>. It uses natural language processing and machine learning algorithms to classify tweets automatically as positive, negative, or neutral based on their content.</a:t>
            </a:r>
            <a:endParaRPr lang="en-US" dirty="0"/>
          </a:p>
        </p:txBody>
      </p:sp>
      <p:sp>
        <p:nvSpPr>
          <p:cNvPr id="4" name="Slide Number Placeholder 3"/>
          <p:cNvSpPr>
            <a:spLocks noGrp="1"/>
          </p:cNvSpPr>
          <p:nvPr>
            <p:ph type="sldNum" sz="quarter" idx="5"/>
          </p:nvPr>
        </p:nvSpPr>
        <p:spPr/>
        <p:txBody>
          <a:bodyPr/>
          <a:lstStyle/>
          <a:p>
            <a:fld id="{86A7F7C4-99E3-4D42-8CFA-0962EEA6AB6F}" type="slidenum">
              <a:rPr lang="en-US" smtClean="0"/>
              <a:t>134</a:t>
            </a:fld>
            <a:endParaRPr lang="en-US"/>
          </a:p>
        </p:txBody>
      </p:sp>
    </p:spTree>
    <p:extLst>
      <p:ext uri="{BB962C8B-B14F-4D97-AF65-F5344CB8AC3E}">
        <p14:creationId xmlns:p14="http://schemas.microsoft.com/office/powerpoint/2010/main" val="1524094839"/>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An organization assigns a role-based access control role to every employee; the role determines which permissions the system grants to the user. M: data</a:t>
            </a:r>
            <a:r>
              <a:rPr lang="en-US" sz="1200" b="0" i="0" kern="1200" baseline="0" dirty="0">
                <a:solidFill>
                  <a:schemeClr val="tx1"/>
                </a:solidFill>
                <a:effectLst/>
                <a:latin typeface="+mn-lt"/>
                <a:ea typeface="+mn-ea"/>
                <a:cs typeface="+mn-cs"/>
              </a:rPr>
              <a:t> V: </a:t>
            </a:r>
            <a:r>
              <a:rPr lang="en-US" sz="1200" b="0" i="0" kern="1200" baseline="0" dirty="0" err="1">
                <a:solidFill>
                  <a:schemeClr val="tx1"/>
                </a:solidFill>
                <a:effectLst/>
                <a:latin typeface="+mn-lt"/>
                <a:ea typeface="+mn-ea"/>
                <a:cs typeface="+mn-cs"/>
              </a:rPr>
              <a:t>viw</a:t>
            </a:r>
            <a:r>
              <a:rPr lang="en-US" sz="1200" b="0" i="0" kern="1200" baseline="0" dirty="0">
                <a:solidFill>
                  <a:schemeClr val="tx1"/>
                </a:solidFill>
                <a:effectLst/>
                <a:latin typeface="+mn-lt"/>
                <a:ea typeface="+mn-ea"/>
                <a:cs typeface="+mn-cs"/>
              </a:rPr>
              <a:t>: C: control logic (separate logic and </a:t>
            </a:r>
            <a:r>
              <a:rPr lang="en-US" sz="1200" b="0" i="0" kern="1200" baseline="0" dirty="0" err="1">
                <a:solidFill>
                  <a:schemeClr val="tx1"/>
                </a:solidFill>
                <a:effectLst/>
                <a:latin typeface="+mn-lt"/>
                <a:ea typeface="+mn-ea"/>
                <a:cs typeface="+mn-cs"/>
              </a:rPr>
              <a:t>displaY</a:t>
            </a:r>
            <a:r>
              <a:rPr lang="en-US" sz="1200" b="0" i="0" kern="1200" baseline="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139</a:t>
            </a:fld>
            <a:endParaRPr lang="en-US"/>
          </a:p>
        </p:txBody>
      </p:sp>
    </p:spTree>
    <p:extLst>
      <p:ext uri="{BB962C8B-B14F-4D97-AF65-F5344CB8AC3E}">
        <p14:creationId xmlns:p14="http://schemas.microsoft.com/office/powerpoint/2010/main" val="203459256"/>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140</a:t>
            </a:fld>
            <a:endParaRPr lang="en-US"/>
          </a:p>
        </p:txBody>
      </p:sp>
    </p:spTree>
    <p:extLst>
      <p:ext uri="{BB962C8B-B14F-4D97-AF65-F5344CB8AC3E}">
        <p14:creationId xmlns:p14="http://schemas.microsoft.com/office/powerpoint/2010/main" val="76275579"/>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4CB3E-A263-7E86-1EC6-013F051073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8BFEF6-CC6D-0AB4-CE81-4381D5CB26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358420-5371-BD20-1B9A-BC06DE10BB59}"/>
              </a:ext>
            </a:extLst>
          </p:cNvPr>
          <p:cNvSpPr>
            <a:spLocks noGrp="1"/>
          </p:cNvSpPr>
          <p:nvPr>
            <p:ph type="body" idx="1"/>
          </p:nvPr>
        </p:nvSpPr>
        <p:spPr/>
        <p:txBody>
          <a:bodyPr/>
          <a:lstStyle/>
          <a:p>
            <a:r>
              <a:rPr lang="en-US" b="0" i="0" dirty="0">
                <a:solidFill>
                  <a:srgbClr val="474747"/>
                </a:solidFill>
                <a:effectLst/>
                <a:latin typeface="Google Sans"/>
              </a:rPr>
              <a:t>Twitter sentiment analysis </a:t>
            </a:r>
            <a:r>
              <a:rPr lang="en-US" b="0" i="0" dirty="0">
                <a:solidFill>
                  <a:srgbClr val="040C28"/>
                </a:solidFill>
                <a:effectLst/>
                <a:latin typeface="Google Sans"/>
              </a:rPr>
              <a:t>analyzes the </a:t>
            </a:r>
            <a:r>
              <a:rPr lang="en-US" b="1" i="0" dirty="0">
                <a:solidFill>
                  <a:srgbClr val="040C28"/>
                </a:solidFill>
                <a:effectLst/>
                <a:latin typeface="Google Sans"/>
              </a:rPr>
              <a:t>sentiment or emotion of tweets</a:t>
            </a:r>
            <a:r>
              <a:rPr lang="en-US" b="0" i="0" dirty="0">
                <a:solidFill>
                  <a:srgbClr val="474747"/>
                </a:solidFill>
                <a:effectLst/>
                <a:latin typeface="Google Sans"/>
              </a:rPr>
              <a:t>. It uses natural language processing and machine learning algorithms to classify tweets automatically as positive, negative, or neutral based on their content.</a:t>
            </a:r>
            <a:endParaRPr lang="en-US" dirty="0"/>
          </a:p>
        </p:txBody>
      </p:sp>
      <p:sp>
        <p:nvSpPr>
          <p:cNvPr id="4" name="Slide Number Placeholder 3">
            <a:extLst>
              <a:ext uri="{FF2B5EF4-FFF2-40B4-BE49-F238E27FC236}">
                <a16:creationId xmlns:a16="http://schemas.microsoft.com/office/drawing/2014/main" id="{D32E2EF9-3DC1-7BD8-D88F-DF6D3973BB00}"/>
              </a:ext>
            </a:extLst>
          </p:cNvPr>
          <p:cNvSpPr>
            <a:spLocks noGrp="1"/>
          </p:cNvSpPr>
          <p:nvPr>
            <p:ph type="sldNum" sz="quarter" idx="5"/>
          </p:nvPr>
        </p:nvSpPr>
        <p:spPr/>
        <p:txBody>
          <a:bodyPr/>
          <a:lstStyle/>
          <a:p>
            <a:fld id="{86A7F7C4-99E3-4D42-8CFA-0962EEA6AB6F}" type="slidenum">
              <a:rPr lang="en-US" smtClean="0"/>
              <a:t>141</a:t>
            </a:fld>
            <a:endParaRPr lang="en-US"/>
          </a:p>
        </p:txBody>
      </p:sp>
    </p:spTree>
    <p:extLst>
      <p:ext uri="{BB962C8B-B14F-4D97-AF65-F5344CB8AC3E}">
        <p14:creationId xmlns:p14="http://schemas.microsoft.com/office/powerpoint/2010/main" val="854325458"/>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142</a:t>
            </a:fld>
            <a:endParaRPr lang="en-US"/>
          </a:p>
        </p:txBody>
      </p:sp>
    </p:spTree>
    <p:extLst>
      <p:ext uri="{BB962C8B-B14F-4D97-AF65-F5344CB8AC3E}">
        <p14:creationId xmlns:p14="http://schemas.microsoft.com/office/powerpoint/2010/main" val="60861086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143</a:t>
            </a:fld>
            <a:endParaRPr lang="en-US"/>
          </a:p>
        </p:txBody>
      </p:sp>
    </p:spTree>
    <p:extLst>
      <p:ext uri="{BB962C8B-B14F-4D97-AF65-F5344CB8AC3E}">
        <p14:creationId xmlns:p14="http://schemas.microsoft.com/office/powerpoint/2010/main" val="2357477652"/>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Windows azure 2010,</a:t>
            </a:r>
            <a:r>
              <a:rPr lang="en-US" baseline="0" dirty="0"/>
              <a:t> Microsoft azure in  2014</a:t>
            </a:r>
          </a:p>
          <a:p>
            <a:r>
              <a:rPr lang="en-US" sz="1200" b="0" i="0" kern="1200" dirty="0">
                <a:solidFill>
                  <a:schemeClr val="tx1"/>
                </a:solidFill>
                <a:effectLst/>
                <a:latin typeface="+mn-lt"/>
                <a:ea typeface="+mn-ea"/>
                <a:cs typeface="+mn-cs"/>
              </a:rPr>
              <a:t>Azure availability zones are physically and logically separated datacenters with </a:t>
            </a:r>
            <a:r>
              <a:rPr lang="en-US" sz="1200" b="1" i="0" kern="1200" dirty="0">
                <a:solidFill>
                  <a:schemeClr val="tx1"/>
                </a:solidFill>
                <a:effectLst/>
                <a:latin typeface="+mn-lt"/>
                <a:ea typeface="+mn-ea"/>
                <a:cs typeface="+mn-cs"/>
              </a:rPr>
              <a:t>their own independent power source, network, and cooling</a:t>
            </a:r>
            <a:r>
              <a:rPr lang="en-US" sz="1200" b="0" i="0" kern="1200" dirty="0">
                <a:solidFill>
                  <a:schemeClr val="tx1"/>
                </a:solidFill>
                <a:effectLst/>
                <a:latin typeface="+mn-lt"/>
                <a:ea typeface="+mn-ea"/>
                <a:cs typeface="+mn-cs"/>
              </a:rPr>
              <a:t>. Availability Zones enable you to operate production </a:t>
            </a:r>
            <a:r>
              <a:rPr lang="en-US" sz="1200" b="1" i="0" kern="1200" dirty="0">
                <a:solidFill>
                  <a:schemeClr val="tx1"/>
                </a:solidFill>
                <a:effectLst/>
                <a:latin typeface="+mn-lt"/>
                <a:ea typeface="+mn-ea"/>
                <a:cs typeface="+mn-cs"/>
              </a:rPr>
              <a:t>applications and databases that are more highly available, fault tolerant, and scalable than possible when using a single data center. </a:t>
            </a:r>
            <a:endParaRPr lang="en-US" b="1" dirty="0"/>
          </a:p>
        </p:txBody>
      </p:sp>
      <p:sp>
        <p:nvSpPr>
          <p:cNvPr id="4" name="Slide Number Placeholder 3"/>
          <p:cNvSpPr>
            <a:spLocks noGrp="1"/>
          </p:cNvSpPr>
          <p:nvPr>
            <p:ph type="sldNum" sz="quarter" idx="10"/>
          </p:nvPr>
        </p:nvSpPr>
        <p:spPr/>
        <p:txBody>
          <a:bodyPr/>
          <a:lstStyle/>
          <a:p>
            <a:fld id="{86A7F7C4-99E3-4D42-8CFA-0962EEA6AB6F}" type="slidenum">
              <a:rPr lang="en-US" smtClean="0"/>
              <a:t>144</a:t>
            </a:fld>
            <a:endParaRPr lang="en-US"/>
          </a:p>
        </p:txBody>
      </p:sp>
    </p:spTree>
    <p:extLst>
      <p:ext uri="{BB962C8B-B14F-4D97-AF65-F5344CB8AC3E}">
        <p14:creationId xmlns:p14="http://schemas.microsoft.com/office/powerpoint/2010/main" val="2432046716"/>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145</a:t>
            </a:fld>
            <a:endParaRPr lang="en-US"/>
          </a:p>
        </p:txBody>
      </p:sp>
    </p:spTree>
    <p:extLst>
      <p:ext uri="{BB962C8B-B14F-4D97-AF65-F5344CB8AC3E}">
        <p14:creationId xmlns:p14="http://schemas.microsoft.com/office/powerpoint/2010/main" val="3573876980"/>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 cost, not easy</a:t>
            </a:r>
          </a:p>
        </p:txBody>
      </p:sp>
      <p:sp>
        <p:nvSpPr>
          <p:cNvPr id="4" name="Slide Number Placeholder 3"/>
          <p:cNvSpPr>
            <a:spLocks noGrp="1"/>
          </p:cNvSpPr>
          <p:nvPr>
            <p:ph type="sldNum" sz="quarter" idx="10"/>
          </p:nvPr>
        </p:nvSpPr>
        <p:spPr/>
        <p:txBody>
          <a:bodyPr/>
          <a:lstStyle/>
          <a:p>
            <a:fld id="{86A7F7C4-99E3-4D42-8CFA-0962EEA6AB6F}" type="slidenum">
              <a:rPr lang="en-US" smtClean="0"/>
              <a:t>146</a:t>
            </a:fld>
            <a:endParaRPr lang="en-US"/>
          </a:p>
        </p:txBody>
      </p:sp>
    </p:spTree>
    <p:extLst>
      <p:ext uri="{BB962C8B-B14F-4D97-AF65-F5344CB8AC3E}">
        <p14:creationId xmlns:p14="http://schemas.microsoft.com/office/powerpoint/2010/main" val="3554075187"/>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147</a:t>
            </a:fld>
            <a:endParaRPr lang="en-US"/>
          </a:p>
        </p:txBody>
      </p:sp>
    </p:spTree>
    <p:extLst>
      <p:ext uri="{BB962C8B-B14F-4D97-AF65-F5344CB8AC3E}">
        <p14:creationId xmlns:p14="http://schemas.microsoft.com/office/powerpoint/2010/main" val="2157790587"/>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6A7F7C4-99E3-4D42-8CFA-0962EEA6AB6F}" type="slidenum">
              <a:rPr lang="en-US" smtClean="0"/>
              <a:t>148</a:t>
            </a:fld>
            <a:endParaRPr lang="en-US"/>
          </a:p>
        </p:txBody>
      </p:sp>
    </p:spTree>
    <p:extLst>
      <p:ext uri="{BB962C8B-B14F-4D97-AF65-F5344CB8AC3E}">
        <p14:creationId xmlns:p14="http://schemas.microsoft.com/office/powerpoint/2010/main" val="12996219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71707510-E23F-4726-810B-38793CA814D2}" type="datetimeFigureOut">
              <a:rPr lang="en-US" smtClean="0"/>
              <a:t>1/31/2025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EB4F55-2322-4787-81A1-DD8A85CD91E1}" type="slidenum">
              <a:rPr lang="en-US" smtClean="0"/>
              <a:t>‹#›</a:t>
            </a:fld>
            <a:endParaRPr lang="en-US"/>
          </a:p>
        </p:txBody>
      </p:sp>
    </p:spTree>
    <p:extLst>
      <p:ext uri="{BB962C8B-B14F-4D97-AF65-F5344CB8AC3E}">
        <p14:creationId xmlns:p14="http://schemas.microsoft.com/office/powerpoint/2010/main" val="20756070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1707510-E23F-4726-810B-38793CA814D2}" type="datetimeFigureOut">
              <a:rPr lang="en-US" smtClean="0"/>
              <a:t>1/31/2025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EB4F55-2322-4787-81A1-DD8A85CD91E1}" type="slidenum">
              <a:rPr lang="en-US" smtClean="0"/>
              <a:t>‹#›</a:t>
            </a:fld>
            <a:endParaRPr lang="en-US"/>
          </a:p>
        </p:txBody>
      </p:sp>
    </p:spTree>
    <p:extLst>
      <p:ext uri="{BB962C8B-B14F-4D97-AF65-F5344CB8AC3E}">
        <p14:creationId xmlns:p14="http://schemas.microsoft.com/office/powerpoint/2010/main" val="32825398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1707510-E23F-4726-810B-38793CA814D2}" type="datetimeFigureOut">
              <a:rPr lang="en-US" smtClean="0"/>
              <a:t>1/31/2025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EB4F55-2322-4787-81A1-DD8A85CD91E1}" type="slidenum">
              <a:rPr lang="en-US" smtClean="0"/>
              <a:t>‹#›</a:t>
            </a:fld>
            <a:endParaRPr lang="en-US"/>
          </a:p>
        </p:txBody>
      </p:sp>
    </p:spTree>
    <p:extLst>
      <p:ext uri="{BB962C8B-B14F-4D97-AF65-F5344CB8AC3E}">
        <p14:creationId xmlns:p14="http://schemas.microsoft.com/office/powerpoint/2010/main" val="2235139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1707510-E23F-4726-810B-38793CA814D2}" type="datetimeFigureOut">
              <a:rPr lang="en-US" smtClean="0"/>
              <a:t>1/31/2025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DEB4F55-2322-4787-81A1-DD8A85CD91E1}" type="slidenum">
              <a:rPr lang="en-US" smtClean="0"/>
              <a:t>‹#›</a:t>
            </a:fld>
            <a:endParaRPr lang="en-US"/>
          </a:p>
        </p:txBody>
      </p:sp>
    </p:spTree>
    <p:extLst>
      <p:ext uri="{BB962C8B-B14F-4D97-AF65-F5344CB8AC3E}">
        <p14:creationId xmlns:p14="http://schemas.microsoft.com/office/powerpoint/2010/main" val="29266161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1707510-E23F-4726-810B-38793CA814D2}" type="datetimeFigureOut">
              <a:rPr lang="en-US" smtClean="0"/>
              <a:t>1/31/2025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DEB4F55-2322-4787-81A1-DD8A85CD91E1}" type="slidenum">
              <a:rPr lang="en-US" smtClean="0"/>
              <a:t>‹#›</a:t>
            </a:fld>
            <a:endParaRPr lang="en-US"/>
          </a:p>
        </p:txBody>
      </p:sp>
    </p:spTree>
    <p:extLst>
      <p:ext uri="{BB962C8B-B14F-4D97-AF65-F5344CB8AC3E}">
        <p14:creationId xmlns:p14="http://schemas.microsoft.com/office/powerpoint/2010/main" val="17406520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1707510-E23F-4726-810B-38793CA814D2}" type="datetimeFigureOut">
              <a:rPr lang="en-US" smtClean="0"/>
              <a:t>1/31/2025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DEB4F55-2322-4787-81A1-DD8A85CD91E1}" type="slidenum">
              <a:rPr lang="en-US" smtClean="0"/>
              <a:t>‹#›</a:t>
            </a:fld>
            <a:endParaRPr lang="en-US"/>
          </a:p>
        </p:txBody>
      </p:sp>
    </p:spTree>
    <p:extLst>
      <p:ext uri="{BB962C8B-B14F-4D97-AF65-F5344CB8AC3E}">
        <p14:creationId xmlns:p14="http://schemas.microsoft.com/office/powerpoint/2010/main" val="29225920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1707510-E23F-4726-810B-38793CA814D2}" type="datetimeFigureOut">
              <a:rPr lang="en-US" smtClean="0"/>
              <a:t>1/31/2025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DEB4F55-2322-4787-81A1-DD8A85CD91E1}" type="slidenum">
              <a:rPr lang="en-US" smtClean="0"/>
              <a:t>‹#›</a:t>
            </a:fld>
            <a:endParaRPr lang="en-US"/>
          </a:p>
        </p:txBody>
      </p:sp>
    </p:spTree>
    <p:extLst>
      <p:ext uri="{BB962C8B-B14F-4D97-AF65-F5344CB8AC3E}">
        <p14:creationId xmlns:p14="http://schemas.microsoft.com/office/powerpoint/2010/main" val="31348331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1707510-E23F-4726-810B-38793CA814D2}" type="datetimeFigureOut">
              <a:rPr lang="en-US" smtClean="0"/>
              <a:t>1/31/2025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DEB4F55-2322-4787-81A1-DD8A85CD91E1}" type="slidenum">
              <a:rPr lang="en-US" smtClean="0"/>
              <a:t>‹#›</a:t>
            </a:fld>
            <a:endParaRPr lang="en-US"/>
          </a:p>
        </p:txBody>
      </p:sp>
    </p:spTree>
    <p:extLst>
      <p:ext uri="{BB962C8B-B14F-4D97-AF65-F5344CB8AC3E}">
        <p14:creationId xmlns:p14="http://schemas.microsoft.com/office/powerpoint/2010/main" val="39221950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1707510-E23F-4726-810B-38793CA814D2}" type="datetimeFigureOut">
              <a:rPr lang="en-US" smtClean="0"/>
              <a:t>1/31/2025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DEB4F55-2322-4787-81A1-DD8A85CD91E1}" type="slidenum">
              <a:rPr lang="en-US" smtClean="0"/>
              <a:t>‹#›</a:t>
            </a:fld>
            <a:endParaRPr lang="en-US"/>
          </a:p>
        </p:txBody>
      </p:sp>
    </p:spTree>
    <p:extLst>
      <p:ext uri="{BB962C8B-B14F-4D97-AF65-F5344CB8AC3E}">
        <p14:creationId xmlns:p14="http://schemas.microsoft.com/office/powerpoint/2010/main" val="4171947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1707510-E23F-4726-810B-38793CA814D2}" type="datetimeFigureOut">
              <a:rPr lang="en-US" smtClean="0"/>
              <a:t>1/31/2025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EB4F55-2322-4787-81A1-DD8A85CD91E1}" type="slidenum">
              <a:rPr lang="en-US" smtClean="0"/>
              <a:t>‹#›</a:t>
            </a:fld>
            <a:endParaRPr lang="en-US"/>
          </a:p>
        </p:txBody>
      </p:sp>
    </p:spTree>
    <p:extLst>
      <p:ext uri="{BB962C8B-B14F-4D97-AF65-F5344CB8AC3E}">
        <p14:creationId xmlns:p14="http://schemas.microsoft.com/office/powerpoint/2010/main" val="3448396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1707510-E23F-4726-810B-38793CA814D2}" type="datetimeFigureOut">
              <a:rPr lang="en-US" smtClean="0"/>
              <a:t>1/31/2025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DEB4F55-2322-4787-81A1-DD8A85CD91E1}" type="slidenum">
              <a:rPr lang="en-US" smtClean="0"/>
              <a:t>‹#›</a:t>
            </a:fld>
            <a:endParaRPr lang="en-US"/>
          </a:p>
        </p:txBody>
      </p:sp>
    </p:spTree>
    <p:extLst>
      <p:ext uri="{BB962C8B-B14F-4D97-AF65-F5344CB8AC3E}">
        <p14:creationId xmlns:p14="http://schemas.microsoft.com/office/powerpoint/2010/main" val="2677919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1707510-E23F-4726-810B-38793CA814D2}" type="datetimeFigureOut">
              <a:rPr lang="en-US" smtClean="0"/>
              <a:t>1/31/2025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EB4F55-2322-4787-81A1-DD8A85CD91E1}" type="slidenum">
              <a:rPr lang="en-US" smtClean="0"/>
              <a:t>‹#›</a:t>
            </a:fld>
            <a:endParaRPr lang="en-US"/>
          </a:p>
        </p:txBody>
      </p:sp>
    </p:spTree>
    <p:extLst>
      <p:ext uri="{BB962C8B-B14F-4D97-AF65-F5344CB8AC3E}">
        <p14:creationId xmlns:p14="http://schemas.microsoft.com/office/powerpoint/2010/main" val="8518981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16.JPG"/></Relationships>
</file>

<file path=ppt/slides/_rels/slide38.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8" Type="http://schemas.openxmlformats.org/officeDocument/2006/relationships/hyperlink" Target="https://learn.microsoft.com/en-us/training/paths/azure-fundamentals-describe-azure-architecture-services/" TargetMode="External"/><Relationship Id="rId3" Type="http://schemas.openxmlformats.org/officeDocument/2006/relationships/hyperlink" Target="https://learn.microsoft.com/en-us/training/paths/student-intro-azure/" TargetMode="External"/><Relationship Id="rId7" Type="http://schemas.openxmlformats.org/officeDocument/2006/relationships/hyperlink" Target="https://learn.microsoft.com/en-us/training/paths/microsoft-azure-fundamentals-describe-cloud-concepts/" TargetMode="External"/><Relationship Id="rId12" Type="http://schemas.openxmlformats.org/officeDocument/2006/relationships/hyperlink" Target="https://learn.microsoft.com/en-us/training/paths/create-bots-azure-health-bot/" TargetMode="External"/><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hyperlink" Target="https://learn.microsoft.com/en-us/training/student-hub/certifications" TargetMode="External"/><Relationship Id="rId11" Type="http://schemas.openxmlformats.org/officeDocument/2006/relationships/hyperlink" Target="https://learn.microsoft.com/en-us/training/modules/host-a-web-app-with-azure-app-service/" TargetMode="External"/><Relationship Id="rId5" Type="http://schemas.openxmlformats.org/officeDocument/2006/relationships/hyperlink" Target="https://azure.microsoft.com/en-us/free/students/" TargetMode="External"/><Relationship Id="rId10" Type="http://schemas.openxmlformats.org/officeDocument/2006/relationships/hyperlink" Target="https://learn.microsoft.com/en-us/training/modules/create-windows-virtual-machine-in-azure/" TargetMode="External"/><Relationship Id="rId4" Type="http://schemas.openxmlformats.org/officeDocument/2006/relationships/hyperlink" Target="https://learn.microsoft.com/en-us/collections/wp3ec12803x1pq?WT.mc_id=academic-105496-cacaste" TargetMode="External"/><Relationship Id="rId9" Type="http://schemas.openxmlformats.org/officeDocument/2006/relationships/hyperlink" Target="https://learn.microsoft.com/en-us/training/paths/describe-azure-management-governance/" TargetMode="External"/></Relationships>
</file>

<file path=ppt/slides/_rels/slide7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hyperlink" Target="https://www.geeksforgeeks.org/treemap-in-java/" TargetMode="Externa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42.emf"/><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44.JP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45.JP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400" dirty="0"/>
              <a:t>Virtual Machines Provisioning and Migration Services</a:t>
            </a:r>
          </a:p>
        </p:txBody>
      </p:sp>
      <p:sp>
        <p:nvSpPr>
          <p:cNvPr id="3" name="Subtitle 2"/>
          <p:cNvSpPr>
            <a:spLocks noGrp="1"/>
          </p:cNvSpPr>
          <p:nvPr>
            <p:ph type="subTitle" idx="1"/>
          </p:nvPr>
        </p:nvSpPr>
        <p:spPr>
          <a:xfrm>
            <a:off x="1533099" y="3509963"/>
            <a:ext cx="9144000" cy="1655762"/>
          </a:xfrm>
        </p:spPr>
        <p:txBody>
          <a:bodyPr/>
          <a:lstStyle/>
          <a:p>
            <a:r>
              <a:rPr lang="en-US" dirty="0"/>
              <a:t>Module 2 (continued)</a:t>
            </a:r>
          </a:p>
        </p:txBody>
      </p:sp>
      <p:sp>
        <p:nvSpPr>
          <p:cNvPr id="4" name="Rectangle 3"/>
          <p:cNvSpPr/>
          <p:nvPr/>
        </p:nvSpPr>
        <p:spPr>
          <a:xfrm>
            <a:off x="3239069" y="4429919"/>
            <a:ext cx="6096000" cy="1754326"/>
          </a:xfrm>
          <a:prstGeom prst="rect">
            <a:avLst/>
          </a:prstGeom>
        </p:spPr>
        <p:txBody>
          <a:bodyPr>
            <a:spAutoFit/>
          </a:bodyPr>
          <a:lstStyle/>
          <a:p>
            <a:pPr lvl="0"/>
            <a:r>
              <a:rPr lang="en-US" b="1" dirty="0" err="1">
                <a:solidFill>
                  <a:srgbClr val="002060"/>
                </a:solidFill>
              </a:rPr>
              <a:t>Rajkumar</a:t>
            </a:r>
            <a:r>
              <a:rPr lang="en-US" b="1" dirty="0">
                <a:solidFill>
                  <a:srgbClr val="002060"/>
                </a:solidFill>
              </a:rPr>
              <a:t> </a:t>
            </a:r>
            <a:r>
              <a:rPr lang="en-US" b="1" dirty="0" err="1">
                <a:solidFill>
                  <a:srgbClr val="002060"/>
                </a:solidFill>
              </a:rPr>
              <a:t>Buyya</a:t>
            </a:r>
            <a:r>
              <a:rPr lang="en-US" b="1" dirty="0">
                <a:solidFill>
                  <a:srgbClr val="002060"/>
                </a:solidFill>
              </a:rPr>
              <a:t>, James </a:t>
            </a:r>
            <a:r>
              <a:rPr lang="en-US" b="1" dirty="0" err="1">
                <a:solidFill>
                  <a:srgbClr val="002060"/>
                </a:solidFill>
              </a:rPr>
              <a:t>Broberg</a:t>
            </a:r>
            <a:r>
              <a:rPr lang="en-US" b="1" dirty="0">
                <a:solidFill>
                  <a:srgbClr val="002060"/>
                </a:solidFill>
              </a:rPr>
              <a:t>, Andrzej </a:t>
            </a:r>
            <a:r>
              <a:rPr lang="en-US" b="1" dirty="0" err="1">
                <a:solidFill>
                  <a:srgbClr val="002060"/>
                </a:solidFill>
              </a:rPr>
              <a:t>Goscinski</a:t>
            </a:r>
            <a:r>
              <a:rPr lang="en-US" b="1" dirty="0">
                <a:solidFill>
                  <a:srgbClr val="002060"/>
                </a:solidFill>
              </a:rPr>
              <a:t> </a:t>
            </a:r>
            <a:r>
              <a:rPr lang="en-US" dirty="0">
                <a:solidFill>
                  <a:srgbClr val="002060"/>
                </a:solidFill>
              </a:rPr>
              <a:t>“Cloud  Computing Principles and Paradigms” Wiley Publications , 2013 </a:t>
            </a:r>
            <a:r>
              <a:rPr lang="en-US" b="1" dirty="0">
                <a:solidFill>
                  <a:srgbClr val="002060"/>
                </a:solidFill>
              </a:rPr>
              <a:t>(Text Book 1) </a:t>
            </a:r>
          </a:p>
          <a:p>
            <a:r>
              <a:rPr lang="en-US" b="1" dirty="0">
                <a:solidFill>
                  <a:srgbClr val="002060"/>
                </a:solidFill>
              </a:rPr>
              <a:t>Barrie </a:t>
            </a:r>
            <a:r>
              <a:rPr lang="en-US" b="1" dirty="0" err="1">
                <a:solidFill>
                  <a:srgbClr val="002060"/>
                </a:solidFill>
              </a:rPr>
              <a:t>Sosinsky</a:t>
            </a:r>
            <a:r>
              <a:rPr lang="en-US" dirty="0" err="1">
                <a:solidFill>
                  <a:srgbClr val="002060"/>
                </a:solidFill>
              </a:rPr>
              <a:t>“Cloud</a:t>
            </a:r>
            <a:r>
              <a:rPr lang="en-US" dirty="0">
                <a:solidFill>
                  <a:srgbClr val="002060"/>
                </a:solidFill>
              </a:rPr>
              <a:t>  Computing Bible” Wiley Publications , 2011 </a:t>
            </a:r>
            <a:r>
              <a:rPr lang="en-US" b="1" dirty="0">
                <a:solidFill>
                  <a:srgbClr val="002060"/>
                </a:solidFill>
              </a:rPr>
              <a:t>(Text Book 2) Chapter 7 to 10</a:t>
            </a:r>
            <a:endParaRPr lang="en-US" b="1" dirty="0"/>
          </a:p>
          <a:p>
            <a:pPr lvl="0"/>
            <a:endParaRPr lang="en-US" b="1" dirty="0"/>
          </a:p>
        </p:txBody>
      </p:sp>
    </p:spTree>
    <p:extLst>
      <p:ext uri="{BB962C8B-B14F-4D97-AF65-F5344CB8AC3E}">
        <p14:creationId xmlns:p14="http://schemas.microsoft.com/office/powerpoint/2010/main" val="32462729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3456" y="407867"/>
            <a:ext cx="9794543" cy="534521"/>
          </a:xfrm>
        </p:spPr>
        <p:txBody>
          <a:bodyPr>
            <a:noAutofit/>
          </a:bodyPr>
          <a:lstStyle/>
          <a:p>
            <a:r>
              <a:rPr lang="en-US" sz="2400" dirty="0"/>
              <a:t>Module 2 </a:t>
            </a:r>
            <a:r>
              <a:rPr lang="en-US" sz="2400" b="1" dirty="0">
                <a:solidFill>
                  <a:srgbClr val="C00000"/>
                </a:solidFill>
              </a:rPr>
              <a:t> (</a:t>
            </a:r>
            <a:r>
              <a:rPr lang="en-US" sz="2400" b="1" cap="all" dirty="0">
                <a:solidFill>
                  <a:srgbClr val="C00000"/>
                </a:solidFill>
              </a:rPr>
              <a:t>Virtual Machines Provisioning and Migration Services</a:t>
            </a:r>
            <a:r>
              <a:rPr lang="en-US" sz="2400" b="1" dirty="0">
                <a:solidFill>
                  <a:srgbClr val="C00000"/>
                </a:solidFill>
              </a:rPr>
              <a:t>)</a:t>
            </a:r>
          </a:p>
        </p:txBody>
      </p:sp>
      <p:sp>
        <p:nvSpPr>
          <p:cNvPr id="3" name="Content Placeholder 2"/>
          <p:cNvSpPr>
            <a:spLocks noGrp="1"/>
          </p:cNvSpPr>
          <p:nvPr>
            <p:ph idx="1"/>
          </p:nvPr>
        </p:nvSpPr>
        <p:spPr>
          <a:xfrm>
            <a:off x="873457" y="1385727"/>
            <a:ext cx="10495128" cy="5472273"/>
          </a:xfrm>
        </p:spPr>
        <p:txBody>
          <a:bodyPr>
            <a:normAutofit fontScale="32500" lnSpcReduction="20000"/>
          </a:bodyPr>
          <a:lstStyle/>
          <a:p>
            <a:endParaRPr lang="en-US" dirty="0"/>
          </a:p>
          <a:p>
            <a:pPr>
              <a:lnSpc>
                <a:spcPct val="160000"/>
              </a:lnSpc>
              <a:buFont typeface="Wingdings" panose="05000000000000000000" pitchFamily="2" charset="2"/>
              <a:buChar char="à"/>
            </a:pPr>
            <a:endParaRPr lang="en-US" sz="7200" dirty="0">
              <a:solidFill>
                <a:srgbClr val="0070C0"/>
              </a:solidFill>
              <a:sym typeface="Wingdings" panose="05000000000000000000" pitchFamily="2" charset="2"/>
            </a:endParaRPr>
          </a:p>
          <a:p>
            <a:pPr marL="0" indent="0">
              <a:lnSpc>
                <a:spcPct val="160000"/>
              </a:lnSpc>
              <a:buNone/>
            </a:pPr>
            <a:r>
              <a:rPr lang="en-US" sz="7200" dirty="0">
                <a:sym typeface="Wingdings" panose="05000000000000000000" pitchFamily="2" charset="2"/>
              </a:rPr>
              <a:t> </a:t>
            </a:r>
          </a:p>
          <a:p>
            <a:pPr>
              <a:lnSpc>
                <a:spcPct val="160000"/>
              </a:lnSpc>
              <a:buFont typeface="Wingdings" panose="05000000000000000000" pitchFamily="2" charset="2"/>
              <a:buChar char="à"/>
            </a:pPr>
            <a:r>
              <a:rPr lang="en-US" sz="7200" dirty="0">
                <a:solidFill>
                  <a:srgbClr val="0070C0"/>
                </a:solidFill>
                <a:sym typeface="Wingdings" panose="05000000000000000000" pitchFamily="2" charset="2"/>
              </a:rPr>
              <a:t>Virtual Machines Provisioning and Migration Services: Introduction and Inspiration, Background and Related Work, Virtual Machines Provisioning and Manageability, Virtual Machine Migration Services, VM Provisioning and Migration in Action, Provisioning in the Cloud Context      </a:t>
            </a:r>
          </a:p>
          <a:p>
            <a:pPr marL="0" indent="0">
              <a:lnSpc>
                <a:spcPct val="160000"/>
              </a:lnSpc>
              <a:buNone/>
            </a:pPr>
            <a:r>
              <a:rPr lang="en-US" sz="6000" dirty="0">
                <a:solidFill>
                  <a:srgbClr val="C00000"/>
                </a:solidFill>
                <a:sym typeface="Wingdings" panose="05000000000000000000" pitchFamily="2" charset="2"/>
              </a:rPr>
              <a:t>(</a:t>
            </a:r>
            <a:r>
              <a:rPr lang="en-US" sz="6000" b="1" dirty="0">
                <a:solidFill>
                  <a:srgbClr val="C00000"/>
                </a:solidFill>
                <a:sym typeface="Wingdings" panose="05000000000000000000" pitchFamily="2" charset="2"/>
              </a:rPr>
              <a:t> </a:t>
            </a:r>
            <a:r>
              <a:rPr lang="en-US" sz="6000" dirty="0">
                <a:solidFill>
                  <a:srgbClr val="C00000"/>
                </a:solidFill>
                <a:sym typeface="Wingdings" panose="05000000000000000000" pitchFamily="2" charset="2"/>
              </a:rPr>
              <a:t>Chapter 5  Sections 5.1 to 5.6 of </a:t>
            </a:r>
            <a:r>
              <a:rPr lang="en-US" sz="6000" b="1" dirty="0">
                <a:solidFill>
                  <a:srgbClr val="C00000"/>
                </a:solidFill>
                <a:sym typeface="Wingdings" panose="05000000000000000000" pitchFamily="2" charset="2"/>
              </a:rPr>
              <a:t>Text Book 1 </a:t>
            </a:r>
            <a:r>
              <a:rPr lang="en-US" sz="6000" dirty="0">
                <a:solidFill>
                  <a:srgbClr val="C00000"/>
                </a:solidFill>
                <a:sym typeface="Wingdings" panose="05000000000000000000" pitchFamily="2" charset="2"/>
              </a:rPr>
              <a:t>)	 </a:t>
            </a:r>
          </a:p>
          <a:p>
            <a:pPr marL="0" indent="0">
              <a:lnSpc>
                <a:spcPct val="160000"/>
              </a:lnSpc>
              <a:buNone/>
            </a:pPr>
            <a:r>
              <a:rPr lang="en-US" sz="7200" dirty="0">
                <a:sym typeface="Wingdings" panose="05000000000000000000" pitchFamily="2" charset="2"/>
              </a:rPr>
              <a:t>		</a:t>
            </a:r>
          </a:p>
          <a:p>
            <a:pPr marL="0" indent="0">
              <a:lnSpc>
                <a:spcPct val="160000"/>
              </a:lnSpc>
              <a:buNone/>
            </a:pPr>
            <a:endParaRPr lang="en-US" sz="4800" dirty="0">
              <a:sym typeface="Wingdings" panose="05000000000000000000" pitchFamily="2" charset="2"/>
            </a:endParaRPr>
          </a:p>
          <a:p>
            <a:pPr marL="0" indent="0">
              <a:lnSpc>
                <a:spcPct val="160000"/>
              </a:lnSpc>
              <a:buNone/>
            </a:pPr>
            <a:endParaRPr lang="en-US" sz="4800" dirty="0">
              <a:sym typeface="Wingdings" panose="05000000000000000000" pitchFamily="2" charset="2"/>
            </a:endParaRPr>
          </a:p>
          <a:p>
            <a:pPr marL="0" indent="0">
              <a:lnSpc>
                <a:spcPct val="160000"/>
              </a:lnSpc>
              <a:buNone/>
            </a:pPr>
            <a:endParaRPr lang="en-US" sz="3825" dirty="0">
              <a:sym typeface="Wingdings" panose="05000000000000000000" pitchFamily="2" charset="2"/>
            </a:endParaRPr>
          </a:p>
          <a:p>
            <a:pPr marL="0" indent="0">
              <a:lnSpc>
                <a:spcPct val="160000"/>
              </a:lnSpc>
              <a:buNone/>
            </a:pPr>
            <a:endParaRPr lang="en-US" dirty="0"/>
          </a:p>
        </p:txBody>
      </p:sp>
      <p:sp>
        <p:nvSpPr>
          <p:cNvPr id="4" name="TextBox 3"/>
          <p:cNvSpPr txBox="1"/>
          <p:nvPr/>
        </p:nvSpPr>
        <p:spPr>
          <a:xfrm>
            <a:off x="1736631" y="1737885"/>
            <a:ext cx="8931369" cy="646331"/>
          </a:xfrm>
          <a:prstGeom prst="rect">
            <a:avLst/>
          </a:prstGeom>
          <a:solidFill>
            <a:schemeClr val="bg2"/>
          </a:solidFill>
        </p:spPr>
        <p:txBody>
          <a:bodyPr wrap="square" rtlCol="0">
            <a:spAutoFit/>
          </a:bodyPr>
          <a:lstStyle/>
          <a:p>
            <a:pPr lvl="0"/>
            <a:r>
              <a:rPr lang="en-US" b="1" dirty="0" err="1">
                <a:solidFill>
                  <a:srgbClr val="002060"/>
                </a:solidFill>
              </a:rPr>
              <a:t>Rajkumar</a:t>
            </a:r>
            <a:r>
              <a:rPr lang="en-US" b="1" dirty="0">
                <a:solidFill>
                  <a:srgbClr val="002060"/>
                </a:solidFill>
              </a:rPr>
              <a:t> </a:t>
            </a:r>
            <a:r>
              <a:rPr lang="en-US" b="1" dirty="0" err="1">
                <a:solidFill>
                  <a:srgbClr val="002060"/>
                </a:solidFill>
              </a:rPr>
              <a:t>Buyya</a:t>
            </a:r>
            <a:r>
              <a:rPr lang="en-US" b="1" dirty="0">
                <a:solidFill>
                  <a:srgbClr val="002060"/>
                </a:solidFill>
              </a:rPr>
              <a:t>, James </a:t>
            </a:r>
            <a:r>
              <a:rPr lang="en-US" b="1" dirty="0" err="1">
                <a:solidFill>
                  <a:srgbClr val="002060"/>
                </a:solidFill>
              </a:rPr>
              <a:t>Broberg</a:t>
            </a:r>
            <a:r>
              <a:rPr lang="en-US" b="1" dirty="0">
                <a:solidFill>
                  <a:srgbClr val="002060"/>
                </a:solidFill>
              </a:rPr>
              <a:t>, Andrzej </a:t>
            </a:r>
            <a:r>
              <a:rPr lang="en-US" b="1" dirty="0" err="1">
                <a:solidFill>
                  <a:srgbClr val="002060"/>
                </a:solidFill>
              </a:rPr>
              <a:t>Goscinski</a:t>
            </a:r>
            <a:r>
              <a:rPr lang="en-US" b="1" dirty="0">
                <a:solidFill>
                  <a:srgbClr val="002060"/>
                </a:solidFill>
              </a:rPr>
              <a:t> </a:t>
            </a:r>
            <a:r>
              <a:rPr lang="en-US" dirty="0">
                <a:solidFill>
                  <a:srgbClr val="002060"/>
                </a:solidFill>
              </a:rPr>
              <a:t>“Cloud  Computing Principles and Paradigms” Wiley Publications , 2013 </a:t>
            </a:r>
            <a:r>
              <a:rPr lang="en-US" b="1" dirty="0">
                <a:solidFill>
                  <a:srgbClr val="002060"/>
                </a:solidFill>
              </a:rPr>
              <a:t>(Text Book 2)</a:t>
            </a:r>
            <a:endParaRPr lang="en-US" b="1" dirty="0"/>
          </a:p>
        </p:txBody>
      </p:sp>
    </p:spTree>
    <p:extLst>
      <p:ext uri="{BB962C8B-B14F-4D97-AF65-F5344CB8AC3E}">
        <p14:creationId xmlns:p14="http://schemas.microsoft.com/office/powerpoint/2010/main" val="37701345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22381"/>
          </a:xfrm>
        </p:spPr>
        <p:txBody>
          <a:bodyPr>
            <a:normAutofit fontScale="90000"/>
          </a:bodyPr>
          <a:lstStyle/>
          <a:p>
            <a:r>
              <a:rPr lang="en-US" dirty="0"/>
              <a:t>5.1 Introduction</a:t>
            </a:r>
          </a:p>
        </p:txBody>
      </p:sp>
      <p:sp>
        <p:nvSpPr>
          <p:cNvPr id="3" name="Content Placeholder 2"/>
          <p:cNvSpPr>
            <a:spLocks noGrp="1"/>
          </p:cNvSpPr>
          <p:nvPr>
            <p:ph idx="1"/>
          </p:nvPr>
        </p:nvSpPr>
        <p:spPr>
          <a:xfrm>
            <a:off x="838200" y="887506"/>
            <a:ext cx="10515600" cy="5289457"/>
          </a:xfrm>
        </p:spPr>
        <p:txBody>
          <a:bodyPr>
            <a:normAutofit/>
          </a:bodyPr>
          <a:lstStyle/>
          <a:p>
            <a:pPr>
              <a:lnSpc>
                <a:spcPct val="150000"/>
              </a:lnSpc>
            </a:pPr>
            <a:r>
              <a:rPr lang="en-US" sz="2000" dirty="0"/>
              <a:t>Cloud Computing – Builds on achievements on research areas like </a:t>
            </a:r>
            <a:r>
              <a:rPr lang="en-US" sz="2000" b="1" dirty="0"/>
              <a:t>SOA, grid computing and virtualization technology</a:t>
            </a:r>
          </a:p>
          <a:p>
            <a:pPr>
              <a:lnSpc>
                <a:spcPct val="150000"/>
              </a:lnSpc>
            </a:pPr>
            <a:r>
              <a:rPr lang="en-US" sz="2000" dirty="0"/>
              <a:t>It provides IAAS – based on </a:t>
            </a:r>
            <a:r>
              <a:rPr lang="en-US" sz="2000" b="1" dirty="0"/>
              <a:t>pay as you use </a:t>
            </a:r>
            <a:r>
              <a:rPr lang="en-US" sz="2000" dirty="0"/>
              <a:t>and </a:t>
            </a:r>
            <a:r>
              <a:rPr lang="en-US" sz="2000" b="1" dirty="0"/>
              <a:t>on-demand</a:t>
            </a:r>
            <a:r>
              <a:rPr lang="en-US" sz="2000" dirty="0"/>
              <a:t> computing models to end users.</a:t>
            </a:r>
          </a:p>
          <a:p>
            <a:pPr>
              <a:lnSpc>
                <a:spcPct val="150000"/>
              </a:lnSpc>
            </a:pPr>
            <a:r>
              <a:rPr lang="en-US" sz="2000" dirty="0"/>
              <a:t>To provide this service- </a:t>
            </a:r>
            <a:r>
              <a:rPr lang="en-US" sz="2000" b="1" dirty="0"/>
              <a:t>provisioning of cloud infrastructure </a:t>
            </a:r>
            <a:r>
              <a:rPr lang="en-US" sz="2000" dirty="0"/>
              <a:t>in data centers are prerequisite.</a:t>
            </a:r>
          </a:p>
          <a:p>
            <a:pPr>
              <a:lnSpc>
                <a:spcPct val="150000"/>
              </a:lnSpc>
            </a:pPr>
            <a:r>
              <a:rPr lang="en-US" sz="2000" dirty="0"/>
              <a:t>This chapter focus on the core services that enable users to get </a:t>
            </a:r>
            <a:r>
              <a:rPr lang="en-US" sz="2000" b="1" dirty="0"/>
              <a:t>best out of </a:t>
            </a:r>
            <a:r>
              <a:rPr lang="en-US" sz="2000" b="1" dirty="0" err="1"/>
              <a:t>IaaS</a:t>
            </a:r>
            <a:r>
              <a:rPr lang="en-US" sz="2000" b="1" dirty="0"/>
              <a:t> model in public and private cloud setups which will be more on VM provisioning and migration services.</a:t>
            </a:r>
          </a:p>
          <a:p>
            <a:pPr>
              <a:lnSpc>
                <a:spcPct val="150000"/>
              </a:lnSpc>
            </a:pPr>
            <a:endParaRPr lang="en-US" sz="2000" b="1" dirty="0"/>
          </a:p>
          <a:p>
            <a:pPr>
              <a:lnSpc>
                <a:spcPct val="150000"/>
              </a:lnSpc>
            </a:pPr>
            <a:endParaRPr lang="en-US" sz="2000" dirty="0"/>
          </a:p>
        </p:txBody>
      </p:sp>
    </p:spTree>
    <p:extLst>
      <p:ext uri="{BB962C8B-B14F-4D97-AF65-F5344CB8AC3E}">
        <p14:creationId xmlns:p14="http://schemas.microsoft.com/office/powerpoint/2010/main" val="42558782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22381"/>
          </a:xfrm>
        </p:spPr>
        <p:txBody>
          <a:bodyPr>
            <a:normAutofit fontScale="90000"/>
          </a:bodyPr>
          <a:lstStyle/>
          <a:p>
            <a:r>
              <a:rPr lang="en-US" dirty="0"/>
              <a:t>Background and Related Work:</a:t>
            </a:r>
            <a:br>
              <a:rPr lang="en-US" dirty="0"/>
            </a:br>
            <a:endParaRPr lang="en-US" dirty="0"/>
          </a:p>
        </p:txBody>
      </p:sp>
      <p:sp>
        <p:nvSpPr>
          <p:cNvPr id="3" name="Content Placeholder 2"/>
          <p:cNvSpPr>
            <a:spLocks noGrp="1"/>
          </p:cNvSpPr>
          <p:nvPr>
            <p:ph idx="1"/>
          </p:nvPr>
        </p:nvSpPr>
        <p:spPr>
          <a:xfrm>
            <a:off x="838199" y="887506"/>
            <a:ext cx="10954871" cy="5419165"/>
          </a:xfrm>
        </p:spPr>
        <p:txBody>
          <a:bodyPr>
            <a:normAutofit fontScale="85000" lnSpcReduction="10000"/>
          </a:bodyPr>
          <a:lstStyle/>
          <a:p>
            <a:pPr marL="0" indent="0">
              <a:lnSpc>
                <a:spcPct val="150000"/>
              </a:lnSpc>
              <a:buNone/>
            </a:pPr>
            <a:r>
              <a:rPr lang="en-US" sz="2400" b="1" dirty="0"/>
              <a:t>5.2.1 Virtualization Technology Overview</a:t>
            </a:r>
            <a:endParaRPr lang="en-US" b="1" dirty="0"/>
          </a:p>
          <a:p>
            <a:pPr>
              <a:lnSpc>
                <a:spcPct val="150000"/>
              </a:lnSpc>
            </a:pPr>
            <a:r>
              <a:rPr lang="en-US" sz="2000" dirty="0"/>
              <a:t>Virtualization </a:t>
            </a:r>
            <a:r>
              <a:rPr lang="en-US" sz="2000" b="1" dirty="0"/>
              <a:t>has revolutionized data center’s technology </a:t>
            </a:r>
            <a:r>
              <a:rPr lang="en-US" sz="2000" dirty="0"/>
              <a:t>through a set of techniques and tools that facilitate the </a:t>
            </a:r>
            <a:r>
              <a:rPr lang="en-US" sz="2000" b="1" dirty="0"/>
              <a:t>providing and management of the dynamic data center’s infrastructure</a:t>
            </a:r>
            <a:r>
              <a:rPr lang="en-US" sz="2000" dirty="0"/>
              <a:t>. </a:t>
            </a:r>
          </a:p>
          <a:p>
            <a:pPr>
              <a:lnSpc>
                <a:spcPct val="150000"/>
              </a:lnSpc>
            </a:pPr>
            <a:r>
              <a:rPr lang="en-US" sz="2000" dirty="0"/>
              <a:t>Virtualization can be defined as the </a:t>
            </a:r>
            <a:r>
              <a:rPr lang="en-US" sz="2000" b="1" dirty="0"/>
              <a:t>abstraction of the four computing resources</a:t>
            </a:r>
            <a:r>
              <a:rPr lang="en-US" sz="2000" dirty="0"/>
              <a:t> (storage, processing power, memory, and network or I/O). </a:t>
            </a:r>
          </a:p>
          <a:p>
            <a:pPr>
              <a:lnSpc>
                <a:spcPct val="150000"/>
              </a:lnSpc>
            </a:pPr>
            <a:r>
              <a:rPr lang="en-US" sz="2000" dirty="0"/>
              <a:t>It is conceptually similar to </a:t>
            </a:r>
          </a:p>
          <a:p>
            <a:pPr marL="0" indent="0">
              <a:lnSpc>
                <a:spcPct val="150000"/>
              </a:lnSpc>
              <a:buNone/>
            </a:pPr>
            <a:r>
              <a:rPr lang="en-US" sz="2000" b="1" dirty="0"/>
              <a:t>	Emulation</a:t>
            </a:r>
            <a:r>
              <a:rPr lang="en-US" sz="2000" dirty="0"/>
              <a:t> -  where a system pretends to be another system,</a:t>
            </a:r>
          </a:p>
          <a:p>
            <a:pPr marL="0" indent="0">
              <a:lnSpc>
                <a:spcPct val="150000"/>
              </a:lnSpc>
              <a:buNone/>
            </a:pPr>
            <a:r>
              <a:rPr lang="en-US" sz="2000" b="1" dirty="0"/>
              <a:t>	virtualization - </a:t>
            </a:r>
            <a:r>
              <a:rPr lang="en-US" sz="2000" dirty="0"/>
              <a:t>  a system pretending to be two or more of the same system .</a:t>
            </a:r>
          </a:p>
          <a:p>
            <a:pPr lvl="0" algn="just">
              <a:lnSpc>
                <a:spcPct val="150000"/>
              </a:lnSpc>
            </a:pPr>
            <a:r>
              <a:rPr lang="en-US" sz="2000" b="1" dirty="0"/>
              <a:t>Virtualization layer </a:t>
            </a:r>
            <a:r>
              <a:rPr lang="en-US" sz="2000" dirty="0"/>
              <a:t>will partition the physical resource of the </a:t>
            </a:r>
            <a:r>
              <a:rPr lang="en-US" sz="2000" b="1" dirty="0"/>
              <a:t>underlying physical server into multiple virtual machines with different workloads. </a:t>
            </a:r>
          </a:p>
          <a:p>
            <a:pPr lvl="0" algn="just">
              <a:lnSpc>
                <a:spcPct val="150000"/>
              </a:lnSpc>
            </a:pPr>
            <a:r>
              <a:rPr lang="en-US" sz="2000" dirty="0"/>
              <a:t>VM </a:t>
            </a:r>
            <a:r>
              <a:rPr lang="en-US" sz="2000" u="sng" dirty="0"/>
              <a:t>schedules, allocates the physical resource, </a:t>
            </a:r>
            <a:r>
              <a:rPr lang="en-US" sz="2000" b="1" dirty="0"/>
              <a:t>and makes each virtual machine think that it totally owns the whole underlying hardware’s physical resource  (processor, disks, rams, etc.)</a:t>
            </a:r>
          </a:p>
          <a:p>
            <a:pPr marL="0" indent="0">
              <a:lnSpc>
                <a:spcPct val="150000"/>
              </a:lnSpc>
              <a:buNone/>
            </a:pPr>
            <a:endParaRPr lang="en-US" sz="2000" dirty="0"/>
          </a:p>
          <a:p>
            <a:pPr marL="0" indent="0">
              <a:buNone/>
            </a:pPr>
            <a:endParaRPr lang="en-US" sz="2000" dirty="0"/>
          </a:p>
          <a:p>
            <a:pPr marL="0" indent="0">
              <a:buNone/>
            </a:pPr>
            <a:endParaRPr lang="en-US" sz="2000" dirty="0"/>
          </a:p>
        </p:txBody>
      </p:sp>
    </p:spTree>
    <p:extLst>
      <p:ext uri="{BB962C8B-B14F-4D97-AF65-F5344CB8AC3E}">
        <p14:creationId xmlns:p14="http://schemas.microsoft.com/office/powerpoint/2010/main" val="34255696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74609" y="2592740"/>
            <a:ext cx="5402989" cy="3548416"/>
          </a:xfrm>
          <a:prstGeom prst="rect">
            <a:avLst/>
          </a:prstGeom>
        </p:spPr>
      </p:pic>
      <p:sp>
        <p:nvSpPr>
          <p:cNvPr id="5" name="Rectangle 4"/>
          <p:cNvSpPr/>
          <p:nvPr/>
        </p:nvSpPr>
        <p:spPr>
          <a:xfrm>
            <a:off x="293511" y="99790"/>
            <a:ext cx="11424355" cy="3416320"/>
          </a:xfrm>
          <a:prstGeom prst="rect">
            <a:avLst/>
          </a:prstGeom>
        </p:spPr>
        <p:txBody>
          <a:bodyPr wrap="square">
            <a:spAutoFit/>
          </a:bodyPr>
          <a:lstStyle/>
          <a:p>
            <a:pPr marL="285750" indent="-285750">
              <a:lnSpc>
                <a:spcPct val="150000"/>
              </a:lnSpc>
              <a:buFont typeface="Arial" panose="020B0604020202020204" pitchFamily="34" charset="0"/>
              <a:buChar char="•"/>
            </a:pPr>
            <a:r>
              <a:rPr lang="en-US" b="1" dirty="0"/>
              <a:t>Virtualization layer </a:t>
            </a:r>
            <a:r>
              <a:rPr lang="en-US" dirty="0"/>
              <a:t>will partition the physical resource of the underlying physical server into multiple virtual machines with different work loads</a:t>
            </a:r>
          </a:p>
          <a:p>
            <a:pPr marL="285750" indent="-285750">
              <a:lnSpc>
                <a:spcPct val="150000"/>
              </a:lnSpc>
              <a:buFont typeface="Arial" panose="020B0604020202020204" pitchFamily="34" charset="0"/>
              <a:buChar char="•"/>
            </a:pPr>
            <a:r>
              <a:rPr lang="en-US" dirty="0"/>
              <a:t>Virtual machines technology </a:t>
            </a:r>
            <a:r>
              <a:rPr lang="en-US" b="1" dirty="0"/>
              <a:t>makes it very flexible and easy to manage the resources in the cloud computing </a:t>
            </a:r>
            <a:r>
              <a:rPr lang="en-US" dirty="0"/>
              <a:t>environment because they improve the utilization of the resources by multiplexing many virtual machines on single physical server. These </a:t>
            </a:r>
            <a:r>
              <a:rPr lang="en-US" b="1" dirty="0"/>
              <a:t>machines can be scaled up and down on demand with high level of resource abstraction</a:t>
            </a:r>
          </a:p>
          <a:p>
            <a:pPr marL="285750" indent="-285750">
              <a:lnSpc>
                <a:spcPct val="150000"/>
              </a:lnSpc>
              <a:buFont typeface="Arial" panose="020B0604020202020204" pitchFamily="34" charset="0"/>
              <a:buChar char="•"/>
            </a:pPr>
            <a:endParaRPr lang="en-US" dirty="0"/>
          </a:p>
          <a:p>
            <a:pPr marL="285750" indent="-285750">
              <a:lnSpc>
                <a:spcPct val="150000"/>
              </a:lnSpc>
              <a:buFont typeface="Arial" panose="020B0604020202020204" pitchFamily="34" charset="0"/>
              <a:buChar char="•"/>
            </a:pPr>
            <a:endParaRPr lang="en-US" dirty="0"/>
          </a:p>
          <a:p>
            <a:pPr marL="285750" indent="-285750">
              <a:lnSpc>
                <a:spcPct val="150000"/>
              </a:lnSpc>
              <a:buFont typeface="Arial" panose="020B0604020202020204" pitchFamily="34" charset="0"/>
              <a:buChar char="•"/>
            </a:pPr>
            <a:endParaRPr lang="en-US" dirty="0"/>
          </a:p>
        </p:txBody>
      </p:sp>
    </p:spTree>
    <p:extLst>
      <p:ext uri="{BB962C8B-B14F-4D97-AF65-F5344CB8AC3E}">
        <p14:creationId xmlns:p14="http://schemas.microsoft.com/office/powerpoint/2010/main" val="33384247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55494"/>
            <a:ext cx="10515600" cy="5921469"/>
          </a:xfrm>
        </p:spPr>
        <p:txBody>
          <a:bodyPr>
            <a:normAutofit lnSpcReduction="10000"/>
          </a:bodyPr>
          <a:lstStyle/>
          <a:p>
            <a:pPr marL="0" indent="0">
              <a:lnSpc>
                <a:spcPct val="150000"/>
              </a:lnSpc>
              <a:buNone/>
            </a:pPr>
            <a:r>
              <a:rPr lang="en-US" sz="2400" b="1" dirty="0"/>
              <a:t>5.2.2 	Public Cloud and Infrastructure Services </a:t>
            </a:r>
          </a:p>
          <a:p>
            <a:pPr algn="just">
              <a:lnSpc>
                <a:spcPct val="150000"/>
              </a:lnSpc>
            </a:pPr>
            <a:r>
              <a:rPr lang="en-US" sz="2400" dirty="0"/>
              <a:t>Here resources are dynamically provisioned via publicly accessible  Web applications/Web  services (SOAP  or  RESTful interfaces) from an  off-site third-party  provider.</a:t>
            </a:r>
          </a:p>
          <a:p>
            <a:pPr>
              <a:lnSpc>
                <a:spcPct val="150000"/>
              </a:lnSpc>
            </a:pPr>
            <a:r>
              <a:rPr lang="en-US" sz="2400" dirty="0"/>
              <a:t>The </a:t>
            </a:r>
            <a:r>
              <a:rPr lang="en-US" sz="2400" b="1" dirty="0"/>
              <a:t>user pays only for the capacity of the provisioned </a:t>
            </a:r>
            <a:r>
              <a:rPr lang="en-US" sz="2400" dirty="0"/>
              <a:t>resources at a particular time.</a:t>
            </a:r>
          </a:p>
          <a:p>
            <a:pPr>
              <a:lnSpc>
                <a:spcPct val="150000"/>
              </a:lnSpc>
            </a:pPr>
            <a:r>
              <a:rPr lang="en-US" sz="2400" b="1" dirty="0"/>
              <a:t>Vendors publicly provide infrastructure as a service</a:t>
            </a:r>
            <a:r>
              <a:rPr lang="en-US" sz="2400" dirty="0"/>
              <a:t>. </a:t>
            </a:r>
          </a:p>
          <a:p>
            <a:pPr marL="0" indent="0">
              <a:lnSpc>
                <a:spcPct val="150000"/>
              </a:lnSpc>
              <a:buNone/>
            </a:pPr>
            <a:r>
              <a:rPr lang="en-US" sz="2400" b="1" dirty="0"/>
              <a:t> Examples:</a:t>
            </a:r>
          </a:p>
          <a:p>
            <a:pPr marL="0" indent="0">
              <a:lnSpc>
                <a:spcPct val="150000"/>
              </a:lnSpc>
              <a:buNone/>
            </a:pPr>
            <a:r>
              <a:rPr lang="en-US" sz="2400" dirty="0"/>
              <a:t>Amazon Elastic Compute Cloud (EC2) ,  </a:t>
            </a:r>
            <a:r>
              <a:rPr lang="en-US" sz="2400" dirty="0" err="1"/>
              <a:t>GoGrid</a:t>
            </a:r>
            <a:r>
              <a:rPr lang="en-US" sz="2400" dirty="0"/>
              <a:t>, </a:t>
            </a:r>
            <a:r>
              <a:rPr lang="en-US" sz="2400" dirty="0" err="1"/>
              <a:t>AppNexus</a:t>
            </a:r>
            <a:r>
              <a:rPr lang="en-US" sz="2400" dirty="0"/>
              <a:t> , </a:t>
            </a:r>
            <a:r>
              <a:rPr lang="en-US" sz="2400" dirty="0" err="1"/>
              <a:t>FlexiScale</a:t>
            </a:r>
            <a:r>
              <a:rPr lang="en-US" sz="2400" dirty="0"/>
              <a:t> , </a:t>
            </a:r>
            <a:r>
              <a:rPr lang="en-US" sz="2400" dirty="0" err="1"/>
              <a:t>Manjrasoft</a:t>
            </a:r>
            <a:r>
              <a:rPr lang="en-US" sz="2400" dirty="0"/>
              <a:t>  ,Aneka </a:t>
            </a:r>
            <a:r>
              <a:rPr lang="en-US" sz="2400" dirty="0" err="1"/>
              <a:t>etc</a:t>
            </a:r>
            <a:endParaRPr lang="en-US" sz="2400" dirty="0"/>
          </a:p>
          <a:p>
            <a:endParaRPr lang="en-US" sz="3600" dirty="0"/>
          </a:p>
        </p:txBody>
      </p:sp>
    </p:spTree>
    <p:extLst>
      <p:ext uri="{BB962C8B-B14F-4D97-AF65-F5344CB8AC3E}">
        <p14:creationId xmlns:p14="http://schemas.microsoft.com/office/powerpoint/2010/main" val="39719974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271" y="297889"/>
            <a:ext cx="10515600" cy="522381"/>
          </a:xfrm>
        </p:spPr>
        <p:txBody>
          <a:bodyPr>
            <a:normAutofit fontScale="90000"/>
          </a:bodyPr>
          <a:lstStyle/>
          <a:p>
            <a:pPr lvl="2" algn="l" rtl="0">
              <a:lnSpc>
                <a:spcPct val="90000"/>
              </a:lnSpc>
              <a:spcBef>
                <a:spcPct val="0"/>
              </a:spcBef>
            </a:pPr>
            <a:r>
              <a:rPr lang="en-US" dirty="0"/>
              <a:t>	</a:t>
            </a:r>
            <a:r>
              <a:rPr lang="en-US" sz="2000" b="1" dirty="0"/>
              <a:t>5.2.3  </a:t>
            </a:r>
            <a:r>
              <a:rPr lang="en-US" sz="2700" b="1" u="sng" dirty="0"/>
              <a:t>Private Cloud and Infrastructure Services </a:t>
            </a:r>
            <a:br>
              <a:rPr lang="en-US" sz="4400" b="1" dirty="0"/>
            </a:br>
            <a:endParaRPr lang="en-US" sz="2700" b="1" dirty="0"/>
          </a:p>
        </p:txBody>
      </p:sp>
      <p:sp>
        <p:nvSpPr>
          <p:cNvPr id="3" name="Content Placeholder 2"/>
          <p:cNvSpPr>
            <a:spLocks noGrp="1"/>
          </p:cNvSpPr>
          <p:nvPr>
            <p:ph idx="1"/>
          </p:nvPr>
        </p:nvSpPr>
        <p:spPr>
          <a:xfrm>
            <a:off x="838200" y="658906"/>
            <a:ext cx="10515600" cy="5518057"/>
          </a:xfrm>
        </p:spPr>
        <p:txBody>
          <a:bodyPr>
            <a:normAutofit/>
          </a:bodyPr>
          <a:lstStyle/>
          <a:p>
            <a:pPr marL="0" indent="0">
              <a:buNone/>
            </a:pPr>
            <a:endParaRPr lang="en-US" sz="3600" dirty="0"/>
          </a:p>
          <a:p>
            <a:pPr lvl="0"/>
            <a:r>
              <a:rPr lang="en-US" sz="2200" dirty="0"/>
              <a:t>A </a:t>
            </a:r>
            <a:r>
              <a:rPr lang="en-US" sz="2200" b="1" dirty="0"/>
              <a:t>private cloud aims </a:t>
            </a:r>
            <a:r>
              <a:rPr lang="en-US" sz="2200" dirty="0"/>
              <a:t>at providing public cloud functionality</a:t>
            </a:r>
            <a:r>
              <a:rPr lang="en-US" sz="2200" b="1" dirty="0"/>
              <a:t>, but on private resources</a:t>
            </a:r>
            <a:r>
              <a:rPr lang="en-US" sz="2200" dirty="0"/>
              <a:t>.</a:t>
            </a:r>
            <a:endParaRPr lang="en-US" sz="3000" dirty="0"/>
          </a:p>
          <a:p>
            <a:pPr lvl="0"/>
            <a:r>
              <a:rPr lang="en-US" sz="2200" dirty="0"/>
              <a:t>Private cloud exhibits a highly virtualized cloud data center </a:t>
            </a:r>
            <a:r>
              <a:rPr lang="en-US" sz="2200" u="sng" dirty="0"/>
              <a:t>located inside organization’s firewall</a:t>
            </a:r>
            <a:r>
              <a:rPr lang="en-US" sz="2200" dirty="0"/>
              <a:t>. </a:t>
            </a:r>
            <a:endParaRPr lang="en-US" sz="3000" dirty="0"/>
          </a:p>
          <a:p>
            <a:pPr marL="0" indent="0">
              <a:buNone/>
            </a:pPr>
            <a:endParaRPr lang="en-US" sz="3000" dirty="0"/>
          </a:p>
          <a:p>
            <a:pPr marL="0" indent="0">
              <a:buNone/>
            </a:pPr>
            <a:r>
              <a:rPr lang="en-US" sz="2200" u="sng" dirty="0"/>
              <a:t>Private clouds exhibit the following characteristics: </a:t>
            </a:r>
            <a:endParaRPr lang="en-US" sz="3000" dirty="0"/>
          </a:p>
          <a:p>
            <a:pPr lvl="0"/>
            <a:r>
              <a:rPr lang="en-US" sz="2200" dirty="0"/>
              <a:t>Allow service provisioning and compute capability for an organization’s users in a self-service manner. </a:t>
            </a:r>
            <a:endParaRPr lang="en-US" sz="3000" dirty="0"/>
          </a:p>
          <a:p>
            <a:pPr lvl="0"/>
            <a:r>
              <a:rPr lang="en-US" sz="2200" dirty="0"/>
              <a:t>Automate and provide well-managed virtualized environments.</a:t>
            </a:r>
            <a:endParaRPr lang="en-US" sz="3000" dirty="0"/>
          </a:p>
          <a:p>
            <a:pPr lvl="0"/>
            <a:r>
              <a:rPr lang="en-US" sz="2200" dirty="0"/>
              <a:t>Optimize computing resources, and servers’ utilization. </a:t>
            </a:r>
            <a:endParaRPr lang="en-US" sz="3000" dirty="0"/>
          </a:p>
          <a:p>
            <a:pPr lvl="0"/>
            <a:r>
              <a:rPr lang="en-US" sz="2200" dirty="0"/>
              <a:t>Support specific workloads.</a:t>
            </a:r>
            <a:endParaRPr lang="en-US" sz="3000" dirty="0"/>
          </a:p>
          <a:p>
            <a:pPr marL="0" indent="0">
              <a:buNone/>
            </a:pPr>
            <a:r>
              <a:rPr lang="en-US" dirty="0"/>
              <a:t>Example providers: Eucalyptus, </a:t>
            </a:r>
            <a:r>
              <a:rPr lang="en-US" dirty="0" err="1"/>
              <a:t>OpenNebula</a:t>
            </a:r>
            <a:endParaRPr lang="en-US" dirty="0"/>
          </a:p>
        </p:txBody>
      </p:sp>
    </p:spTree>
    <p:extLst>
      <p:ext uri="{BB962C8B-B14F-4D97-AF65-F5344CB8AC3E}">
        <p14:creationId xmlns:p14="http://schemas.microsoft.com/office/powerpoint/2010/main" val="4049974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30306"/>
            <a:ext cx="10515600" cy="5746657"/>
          </a:xfrm>
        </p:spPr>
        <p:txBody>
          <a:bodyPr>
            <a:normAutofit/>
          </a:bodyPr>
          <a:lstStyle/>
          <a:p>
            <a:pPr algn="just">
              <a:lnSpc>
                <a:spcPct val="150000"/>
              </a:lnSpc>
            </a:pPr>
            <a:r>
              <a:rPr lang="en-US" sz="2400" dirty="0"/>
              <a:t>The third type of cloud setup named “hybrid cloud,” in which a </a:t>
            </a:r>
            <a:r>
              <a:rPr lang="en-US" sz="2400" b="1" dirty="0"/>
              <a:t>combination </a:t>
            </a:r>
            <a:r>
              <a:rPr lang="en-US" sz="2400" dirty="0"/>
              <a:t>of </a:t>
            </a:r>
            <a:r>
              <a:rPr lang="en-US" sz="2400" b="1" u="sng" dirty="0"/>
              <a:t>private</a:t>
            </a:r>
            <a:r>
              <a:rPr lang="en-US" sz="2400" u="sng" dirty="0"/>
              <a:t>/internal and </a:t>
            </a:r>
            <a:r>
              <a:rPr lang="en-US" sz="2400" b="1" u="sng" dirty="0"/>
              <a:t>external cloud resources exist together</a:t>
            </a:r>
            <a:r>
              <a:rPr lang="en-US" sz="2400" u="sng" dirty="0"/>
              <a:t> by enabling outsourcing of noncritical services and functions in public  cloud  and  keeping  the  critical  ones  internal</a:t>
            </a:r>
            <a:r>
              <a:rPr lang="en-US" sz="2400" dirty="0"/>
              <a:t>.  </a:t>
            </a:r>
          </a:p>
          <a:p>
            <a:pPr algn="just">
              <a:lnSpc>
                <a:spcPct val="150000"/>
              </a:lnSpc>
            </a:pPr>
            <a:endParaRPr lang="en-US" sz="2400" dirty="0"/>
          </a:p>
          <a:p>
            <a:pPr algn="just">
              <a:lnSpc>
                <a:spcPct val="150000"/>
              </a:lnSpc>
            </a:pPr>
            <a:r>
              <a:rPr lang="en-US" sz="2400" dirty="0"/>
              <a:t>Hybrid  cloud’s  main function is to release resources from a public cloud and to handle sudden demand usage, which is called “cloud bursting.” </a:t>
            </a:r>
          </a:p>
          <a:p>
            <a:pPr marL="0" indent="0">
              <a:buNone/>
            </a:pPr>
            <a:endParaRPr lang="en-US" dirty="0"/>
          </a:p>
        </p:txBody>
      </p:sp>
    </p:spTree>
    <p:extLst>
      <p:ext uri="{BB962C8B-B14F-4D97-AF65-F5344CB8AC3E}">
        <p14:creationId xmlns:p14="http://schemas.microsoft.com/office/powerpoint/2010/main" val="30461966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36176"/>
            <a:ext cx="10515600" cy="5840787"/>
          </a:xfrm>
        </p:spPr>
        <p:txBody>
          <a:bodyPr/>
          <a:lstStyle/>
          <a:p>
            <a:pPr marL="0" indent="0">
              <a:buNone/>
            </a:pPr>
            <a:r>
              <a:rPr lang="en-US" dirty="0"/>
              <a:t>5.2.4 	Distributed Management of Virtualization </a:t>
            </a:r>
          </a:p>
          <a:p>
            <a:pPr algn="just">
              <a:lnSpc>
                <a:spcPct val="150000"/>
              </a:lnSpc>
            </a:pPr>
            <a:r>
              <a:rPr lang="en-US" sz="2000" dirty="0"/>
              <a:t>Many commercial, </a:t>
            </a:r>
            <a:r>
              <a:rPr lang="en-US" sz="2000" b="1" dirty="0"/>
              <a:t>open source products and research projects such as </a:t>
            </a:r>
            <a:r>
              <a:rPr lang="en-US" sz="2000" b="1" dirty="0" err="1"/>
              <a:t>OpenNebula</a:t>
            </a:r>
            <a:r>
              <a:rPr lang="en-US" sz="2000" b="1" dirty="0"/>
              <a:t> , IBM  Virtualization  Manager </a:t>
            </a:r>
            <a:r>
              <a:rPr lang="en-US" sz="2000" dirty="0"/>
              <a:t>and  VMware are  being developed  </a:t>
            </a:r>
            <a:r>
              <a:rPr lang="en-US" sz="2000" b="1" dirty="0"/>
              <a:t>to dynamically provision virtual  machines</a:t>
            </a:r>
            <a:r>
              <a:rPr lang="en-US" sz="2000" dirty="0"/>
              <a:t>, utilizing the  physical  infrastructure.  </a:t>
            </a:r>
          </a:p>
          <a:p>
            <a:pPr marL="0" indent="0" algn="just">
              <a:lnSpc>
                <a:spcPct val="150000"/>
              </a:lnSpc>
              <a:buNone/>
            </a:pPr>
            <a:endParaRPr lang="en-US" sz="2000" dirty="0"/>
          </a:p>
          <a:p>
            <a:pPr algn="just">
              <a:lnSpc>
                <a:spcPct val="150000"/>
              </a:lnSpc>
            </a:pPr>
            <a:r>
              <a:rPr lang="en-US" sz="2000" dirty="0"/>
              <a:t>There  are  also  </a:t>
            </a:r>
            <a:r>
              <a:rPr lang="en-US" sz="2000" b="1" dirty="0"/>
              <a:t>some  commercial  and  scientific  infrastructure  </a:t>
            </a:r>
            <a:r>
              <a:rPr lang="en-US" sz="2000" dirty="0"/>
              <a:t>cloud  computing  initiatives,  such  as  Globus  VWS,  Eucalyptus   and Amazon,  </a:t>
            </a:r>
            <a:r>
              <a:rPr lang="en-US" sz="2000" b="1" dirty="0"/>
              <a:t>which  provide  remote  interfaces  </a:t>
            </a:r>
            <a:r>
              <a:rPr lang="en-US" sz="2000" dirty="0"/>
              <a:t>for  controlling  and  monitoring virtual resources. </a:t>
            </a:r>
          </a:p>
          <a:p>
            <a:pPr algn="just">
              <a:lnSpc>
                <a:spcPct val="150000"/>
              </a:lnSpc>
            </a:pPr>
            <a:r>
              <a:rPr lang="en-US" dirty="0"/>
              <a:t>Virtualization in distributed computing brings </a:t>
            </a:r>
            <a:r>
              <a:rPr lang="en-US" b="1" dirty="0"/>
              <a:t>flexibility, scalability, portability and cost advantage to an organization</a:t>
            </a:r>
            <a:r>
              <a:rPr lang="en-US" dirty="0"/>
              <a:t>.</a:t>
            </a:r>
            <a:endParaRPr lang="en-US" sz="2000" dirty="0"/>
          </a:p>
          <a:p>
            <a:pPr marL="0" indent="0">
              <a:buNone/>
            </a:pPr>
            <a:endParaRPr lang="en-US" dirty="0"/>
          </a:p>
        </p:txBody>
      </p:sp>
    </p:spTree>
    <p:extLst>
      <p:ext uri="{BB962C8B-B14F-4D97-AF65-F5344CB8AC3E}">
        <p14:creationId xmlns:p14="http://schemas.microsoft.com/office/powerpoint/2010/main" val="3815460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01706"/>
            <a:ext cx="10515600" cy="5975257"/>
          </a:xfrm>
        </p:spPr>
        <p:txBody>
          <a:bodyPr>
            <a:normAutofit/>
          </a:bodyPr>
          <a:lstStyle/>
          <a:p>
            <a:pPr marL="0" indent="0">
              <a:buNone/>
            </a:pPr>
            <a:r>
              <a:rPr lang="en-US" dirty="0"/>
              <a:t>5.2.5 	High Availability </a:t>
            </a:r>
          </a:p>
          <a:p>
            <a:pPr algn="just">
              <a:lnSpc>
                <a:spcPct val="150000"/>
              </a:lnSpc>
            </a:pPr>
            <a:r>
              <a:rPr lang="en-US" sz="2000" dirty="0"/>
              <a:t>Availability refers to the </a:t>
            </a:r>
            <a:r>
              <a:rPr lang="en-US" sz="2000" u="sng" dirty="0"/>
              <a:t>ability of a user’s community to access  the  system</a:t>
            </a:r>
            <a:r>
              <a:rPr lang="en-US" sz="2000" dirty="0"/>
              <a:t>—whether  for  </a:t>
            </a:r>
            <a:r>
              <a:rPr lang="en-US" sz="2000" b="1" dirty="0"/>
              <a:t>submitting  new  work</a:t>
            </a:r>
            <a:r>
              <a:rPr lang="en-US" sz="2000" dirty="0"/>
              <a:t>,  </a:t>
            </a:r>
            <a:r>
              <a:rPr lang="en-US" sz="2000" b="1" dirty="0"/>
              <a:t>updating  or  altering existing work</a:t>
            </a:r>
            <a:r>
              <a:rPr lang="en-US" sz="2000" dirty="0"/>
              <a:t>, or </a:t>
            </a:r>
            <a:r>
              <a:rPr lang="en-US" sz="2000" b="1" dirty="0"/>
              <a:t>collecting the results of the previous work</a:t>
            </a:r>
            <a:r>
              <a:rPr lang="en-US" sz="2000" dirty="0"/>
              <a:t>. If a user cannot access the system, it is said to be unavailable. </a:t>
            </a:r>
          </a:p>
          <a:p>
            <a:pPr algn="just">
              <a:lnSpc>
                <a:spcPct val="150000"/>
              </a:lnSpc>
            </a:pPr>
            <a:r>
              <a:rPr lang="en-US" sz="2000" dirty="0"/>
              <a:t>This means that </a:t>
            </a:r>
            <a:r>
              <a:rPr lang="en-US" sz="2000" b="1" dirty="0"/>
              <a:t>services should be available all the time</a:t>
            </a:r>
            <a:r>
              <a:rPr lang="en-US" sz="2000" dirty="0"/>
              <a:t> along with some planned/unplanned downtime according to a certain SLA.</a:t>
            </a:r>
          </a:p>
          <a:p>
            <a:pPr algn="just">
              <a:lnSpc>
                <a:spcPct val="150000"/>
              </a:lnSpc>
            </a:pPr>
            <a:r>
              <a:rPr lang="en-US" sz="2000" dirty="0"/>
              <a:t>In the context of virtualized infrastructure, </a:t>
            </a:r>
            <a:r>
              <a:rPr lang="en-US" sz="2000" b="1" dirty="0"/>
              <a:t>high availability allows virtual machines to automatically be restarted in case of an underlying hardware failure </a:t>
            </a:r>
            <a:r>
              <a:rPr lang="en-US" sz="2000" dirty="0"/>
              <a:t>or individual VM failure</a:t>
            </a:r>
            <a:r>
              <a:rPr lang="en-US" sz="2000" b="1" dirty="0"/>
              <a:t>. </a:t>
            </a:r>
          </a:p>
          <a:p>
            <a:pPr algn="just">
              <a:lnSpc>
                <a:spcPct val="150000"/>
              </a:lnSpc>
            </a:pPr>
            <a:r>
              <a:rPr lang="en-US" sz="2000" b="1" dirty="0"/>
              <a:t>If one of your servers fails, the VMs </a:t>
            </a:r>
            <a:r>
              <a:rPr lang="en-US" sz="2000" dirty="0"/>
              <a:t>will be </a:t>
            </a:r>
            <a:r>
              <a:rPr lang="en-US" sz="2000" b="1" dirty="0"/>
              <a:t>restarted</a:t>
            </a:r>
            <a:r>
              <a:rPr lang="en-US" sz="2000" dirty="0"/>
              <a:t> on </a:t>
            </a:r>
            <a:r>
              <a:rPr lang="en-US" sz="2000" b="1" dirty="0"/>
              <a:t>other</a:t>
            </a:r>
            <a:r>
              <a:rPr lang="en-US" sz="2000" dirty="0"/>
              <a:t> </a:t>
            </a:r>
            <a:r>
              <a:rPr lang="en-US" sz="2000" b="1" dirty="0"/>
              <a:t>virtualized servers in the resource pool,</a:t>
            </a:r>
            <a:r>
              <a:rPr lang="en-US" sz="2000" dirty="0"/>
              <a:t> restoring the essential services with minimal service interruption.</a:t>
            </a:r>
          </a:p>
        </p:txBody>
      </p:sp>
    </p:spTree>
    <p:extLst>
      <p:ext uri="{BB962C8B-B14F-4D97-AF65-F5344CB8AC3E}">
        <p14:creationId xmlns:p14="http://schemas.microsoft.com/office/powerpoint/2010/main" val="41147149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15153" y="0"/>
            <a:ext cx="11685494" cy="6858000"/>
          </a:xfrm>
        </p:spPr>
        <p:txBody>
          <a:bodyPr>
            <a:normAutofit/>
          </a:bodyPr>
          <a:lstStyle/>
          <a:p>
            <a:pPr marL="0" indent="0">
              <a:buNone/>
            </a:pPr>
            <a:r>
              <a:rPr lang="en-US" sz="2400" b="1" u="sng" dirty="0"/>
              <a:t>5.3 VIRTUAL MACHINES PROVISIONING AND MANAGEABILITY </a:t>
            </a:r>
          </a:p>
          <a:p>
            <a:pPr lvl="0">
              <a:lnSpc>
                <a:spcPct val="150000"/>
              </a:lnSpc>
            </a:pPr>
            <a:r>
              <a:rPr lang="en-US" sz="2000" dirty="0"/>
              <a:t>The cycle starts by a </a:t>
            </a:r>
            <a:r>
              <a:rPr lang="en-US" sz="2000" b="1" dirty="0"/>
              <a:t>request delivered to the IT department</a:t>
            </a:r>
            <a:r>
              <a:rPr lang="en-US" sz="2000" dirty="0"/>
              <a:t>, stating the requirement for creating a new server for a particular service. </a:t>
            </a:r>
          </a:p>
          <a:p>
            <a:pPr lvl="0">
              <a:lnSpc>
                <a:spcPct val="150000"/>
              </a:lnSpc>
            </a:pPr>
            <a:r>
              <a:rPr lang="en-US" sz="2000" dirty="0"/>
              <a:t>This request is being processed by the IT administration to start seeing the servers’ resource pool, </a:t>
            </a:r>
            <a:r>
              <a:rPr lang="en-US" sz="2000" b="1" dirty="0"/>
              <a:t>matching these resources with the requirements,</a:t>
            </a:r>
            <a:r>
              <a:rPr lang="en-US" sz="2000" dirty="0"/>
              <a:t> and </a:t>
            </a:r>
            <a:r>
              <a:rPr lang="en-US" sz="2000" b="1" dirty="0"/>
              <a:t>starting the provision of the needed virtual machine. </a:t>
            </a:r>
          </a:p>
          <a:p>
            <a:pPr lvl="0">
              <a:lnSpc>
                <a:spcPct val="150000"/>
              </a:lnSpc>
            </a:pPr>
            <a:r>
              <a:rPr lang="en-US" sz="2000" b="1" dirty="0"/>
              <a:t>Once it is provisioned and started</a:t>
            </a:r>
            <a:r>
              <a:rPr lang="en-US" sz="2000" dirty="0"/>
              <a:t>, it is ready to </a:t>
            </a:r>
            <a:r>
              <a:rPr lang="en-US" sz="2000" b="1" dirty="0"/>
              <a:t>provide the required service according to an SLA</a:t>
            </a:r>
            <a:r>
              <a:rPr lang="en-US" sz="2000" dirty="0"/>
              <a:t>, or a time period after which the virtual is being released. </a:t>
            </a:r>
          </a:p>
          <a:p>
            <a:pPr marL="0" indent="0" algn="just">
              <a:lnSpc>
                <a:spcPct val="150000"/>
              </a:lnSpc>
              <a:buNone/>
            </a:pPr>
            <a:endParaRPr lang="en-US" sz="2000" dirty="0"/>
          </a:p>
          <a:p>
            <a:pPr marL="0" indent="0">
              <a:buNone/>
            </a:pPr>
            <a:endParaRPr lang="en-US" dirty="0"/>
          </a:p>
        </p:txBody>
      </p:sp>
      <p:pic>
        <p:nvPicPr>
          <p:cNvPr id="4" name="Picture 3"/>
          <p:cNvPicPr>
            <a:picLocks noChangeAspect="1"/>
          </p:cNvPicPr>
          <p:nvPr/>
        </p:nvPicPr>
        <p:blipFill>
          <a:blip r:embed="rId3"/>
          <a:stretch>
            <a:fillRect/>
          </a:stretch>
        </p:blipFill>
        <p:spPr>
          <a:xfrm>
            <a:off x="3409513" y="3444592"/>
            <a:ext cx="3963958" cy="3413408"/>
          </a:xfrm>
          <a:prstGeom prst="rect">
            <a:avLst/>
          </a:prstGeom>
        </p:spPr>
      </p:pic>
      <p:sp>
        <p:nvSpPr>
          <p:cNvPr id="5" name="TextBox 4"/>
          <p:cNvSpPr txBox="1"/>
          <p:nvPr/>
        </p:nvSpPr>
        <p:spPr>
          <a:xfrm>
            <a:off x="6871447" y="4155141"/>
            <a:ext cx="301686" cy="369332"/>
          </a:xfrm>
          <a:prstGeom prst="rect">
            <a:avLst/>
          </a:prstGeom>
          <a:noFill/>
        </p:spPr>
        <p:txBody>
          <a:bodyPr wrap="none" rtlCol="0">
            <a:spAutoFit/>
          </a:bodyPr>
          <a:lstStyle/>
          <a:p>
            <a:r>
              <a:rPr lang="en-US" dirty="0"/>
              <a:t>1</a:t>
            </a:r>
          </a:p>
        </p:txBody>
      </p:sp>
      <p:sp>
        <p:nvSpPr>
          <p:cNvPr id="6" name="TextBox 5"/>
          <p:cNvSpPr txBox="1"/>
          <p:nvPr/>
        </p:nvSpPr>
        <p:spPr>
          <a:xfrm>
            <a:off x="6720604" y="5806699"/>
            <a:ext cx="301686" cy="369332"/>
          </a:xfrm>
          <a:prstGeom prst="rect">
            <a:avLst/>
          </a:prstGeom>
          <a:noFill/>
        </p:spPr>
        <p:txBody>
          <a:bodyPr wrap="none" rtlCol="0">
            <a:spAutoFit/>
          </a:bodyPr>
          <a:lstStyle/>
          <a:p>
            <a:r>
              <a:rPr lang="en-US" dirty="0"/>
              <a:t>2</a:t>
            </a:r>
          </a:p>
        </p:txBody>
      </p:sp>
      <p:sp>
        <p:nvSpPr>
          <p:cNvPr id="7" name="TextBox 6"/>
          <p:cNvSpPr txBox="1"/>
          <p:nvPr/>
        </p:nvSpPr>
        <p:spPr>
          <a:xfrm>
            <a:off x="3433482" y="5778873"/>
            <a:ext cx="301686" cy="369332"/>
          </a:xfrm>
          <a:prstGeom prst="rect">
            <a:avLst/>
          </a:prstGeom>
          <a:noFill/>
        </p:spPr>
        <p:txBody>
          <a:bodyPr wrap="none" rtlCol="0">
            <a:spAutoFit/>
          </a:bodyPr>
          <a:lstStyle/>
          <a:p>
            <a:r>
              <a:rPr lang="en-US" dirty="0"/>
              <a:t>3</a:t>
            </a:r>
          </a:p>
        </p:txBody>
      </p:sp>
      <p:sp>
        <p:nvSpPr>
          <p:cNvPr id="8" name="TextBox 7"/>
          <p:cNvSpPr txBox="1"/>
          <p:nvPr/>
        </p:nvSpPr>
        <p:spPr>
          <a:xfrm>
            <a:off x="3409513" y="3923873"/>
            <a:ext cx="301686" cy="369332"/>
          </a:xfrm>
          <a:prstGeom prst="rect">
            <a:avLst/>
          </a:prstGeom>
          <a:noFill/>
        </p:spPr>
        <p:txBody>
          <a:bodyPr wrap="none" rtlCol="0">
            <a:spAutoFit/>
          </a:bodyPr>
          <a:lstStyle/>
          <a:p>
            <a:r>
              <a:rPr lang="en-US" dirty="0"/>
              <a:t>4</a:t>
            </a:r>
          </a:p>
        </p:txBody>
      </p:sp>
    </p:spTree>
    <p:extLst>
      <p:ext uri="{BB962C8B-B14F-4D97-AF65-F5344CB8AC3E}">
        <p14:creationId xmlns:p14="http://schemas.microsoft.com/office/powerpoint/2010/main" val="39941656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42211" y="2077132"/>
            <a:ext cx="10602693" cy="4294762"/>
          </a:xfrm>
          <a:prstGeom prst="rect">
            <a:avLst/>
          </a:prstGeom>
        </p:spPr>
      </p:pic>
      <p:sp>
        <p:nvSpPr>
          <p:cNvPr id="2" name="Rectangle 1"/>
          <p:cNvSpPr/>
          <p:nvPr/>
        </p:nvSpPr>
        <p:spPr>
          <a:xfrm>
            <a:off x="3196232" y="353217"/>
            <a:ext cx="5181285" cy="584775"/>
          </a:xfrm>
          <a:prstGeom prst="rect">
            <a:avLst/>
          </a:prstGeom>
        </p:spPr>
        <p:txBody>
          <a:bodyPr wrap="square">
            <a:spAutoFit/>
          </a:bodyPr>
          <a:lstStyle/>
          <a:p>
            <a:r>
              <a:rPr lang="en-US" sz="3200" u="sng" dirty="0"/>
              <a:t>5.3.1 VM Provisioning Process</a:t>
            </a:r>
          </a:p>
        </p:txBody>
      </p:sp>
      <p:sp>
        <p:nvSpPr>
          <p:cNvPr id="3" name="Rectangle 2"/>
          <p:cNvSpPr/>
          <p:nvPr/>
        </p:nvSpPr>
        <p:spPr>
          <a:xfrm>
            <a:off x="488811" y="1322896"/>
            <a:ext cx="9088326" cy="369332"/>
          </a:xfrm>
          <a:prstGeom prst="rect">
            <a:avLst/>
          </a:prstGeom>
        </p:spPr>
        <p:txBody>
          <a:bodyPr wrap="square">
            <a:spAutoFit/>
          </a:bodyPr>
          <a:lstStyle/>
          <a:p>
            <a:r>
              <a:rPr lang="en-US" dirty="0"/>
              <a:t>Provisioning a virtual machine or server can be explained and illustrated as in Figure 5.4</a:t>
            </a:r>
          </a:p>
        </p:txBody>
      </p:sp>
    </p:spTree>
    <p:extLst>
      <p:ext uri="{BB962C8B-B14F-4D97-AF65-F5344CB8AC3E}">
        <p14:creationId xmlns:p14="http://schemas.microsoft.com/office/powerpoint/2010/main" val="20069656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199" y="268941"/>
            <a:ext cx="10784305" cy="5908022"/>
          </a:xfrm>
        </p:spPr>
        <p:txBody>
          <a:bodyPr>
            <a:normAutofit/>
          </a:bodyPr>
          <a:lstStyle/>
          <a:p>
            <a:pPr marL="0" indent="0">
              <a:buNone/>
            </a:pPr>
            <a:r>
              <a:rPr lang="en-US" u="sng" dirty="0"/>
              <a:t>5.3.1 VM Provisioning Process</a:t>
            </a:r>
          </a:p>
          <a:p>
            <a:pPr marL="0" indent="0">
              <a:buNone/>
            </a:pPr>
            <a:r>
              <a:rPr lang="en-US" u="sng" dirty="0"/>
              <a:t>Steps to Provision VM:</a:t>
            </a:r>
          </a:p>
          <a:p>
            <a:pPr>
              <a:lnSpc>
                <a:spcPct val="150000"/>
              </a:lnSpc>
            </a:pPr>
            <a:r>
              <a:rPr lang="en-US" sz="2000" dirty="0"/>
              <a:t>Firstly, </a:t>
            </a:r>
            <a:r>
              <a:rPr lang="en-US" sz="2000" b="1" dirty="0"/>
              <a:t>we need to select a server from a pool of available</a:t>
            </a:r>
            <a:r>
              <a:rPr lang="en-US" sz="2000" dirty="0"/>
              <a:t> </a:t>
            </a:r>
            <a:r>
              <a:rPr lang="en-US" sz="2000" b="1" dirty="0"/>
              <a:t>servers</a:t>
            </a:r>
            <a:r>
              <a:rPr lang="en-US" sz="2000" dirty="0"/>
              <a:t> along with the appropriate OS template we need to provision the virtual machine.</a:t>
            </a:r>
          </a:p>
          <a:p>
            <a:pPr>
              <a:lnSpc>
                <a:spcPct val="150000"/>
              </a:lnSpc>
            </a:pPr>
            <a:r>
              <a:rPr lang="en-US" sz="2000" dirty="0"/>
              <a:t> Secondly, </a:t>
            </a:r>
            <a:r>
              <a:rPr lang="en-US" sz="2000" b="1" dirty="0"/>
              <a:t>we need to load the appropriate software (operating system, device drivers, middleware, and the needed applications for the service required</a:t>
            </a:r>
            <a:r>
              <a:rPr lang="en-US" sz="2000" dirty="0"/>
              <a:t>).</a:t>
            </a:r>
          </a:p>
          <a:p>
            <a:pPr>
              <a:lnSpc>
                <a:spcPct val="150000"/>
              </a:lnSpc>
            </a:pPr>
            <a:r>
              <a:rPr lang="en-US" sz="2000" dirty="0"/>
              <a:t> Thirdly, we need to </a:t>
            </a:r>
            <a:r>
              <a:rPr lang="en-US" sz="2000" b="1" dirty="0"/>
              <a:t>customize and configure the machine </a:t>
            </a:r>
            <a:r>
              <a:rPr lang="en-US" sz="2000" dirty="0"/>
              <a:t>(e.g., IP address, Gateway) to configure an associated network and storage resources.</a:t>
            </a:r>
          </a:p>
          <a:p>
            <a:pPr>
              <a:lnSpc>
                <a:spcPct val="150000"/>
              </a:lnSpc>
            </a:pPr>
            <a:r>
              <a:rPr lang="en-US" sz="2000" dirty="0"/>
              <a:t> </a:t>
            </a:r>
            <a:r>
              <a:rPr lang="en-US" sz="2000" b="1" dirty="0"/>
              <a:t>Finally, the virtual server is ready to start </a:t>
            </a:r>
            <a:r>
              <a:rPr lang="en-US" sz="2000" dirty="0"/>
              <a:t>with its newly loaded software.</a:t>
            </a:r>
          </a:p>
        </p:txBody>
      </p:sp>
    </p:spTree>
    <p:extLst>
      <p:ext uri="{BB962C8B-B14F-4D97-AF65-F5344CB8AC3E}">
        <p14:creationId xmlns:p14="http://schemas.microsoft.com/office/powerpoint/2010/main" val="4276410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3071" y="242047"/>
            <a:ext cx="10990729" cy="5934916"/>
          </a:xfrm>
        </p:spPr>
        <p:txBody>
          <a:bodyPr>
            <a:normAutofit fontScale="92500" lnSpcReduction="10000"/>
          </a:bodyPr>
          <a:lstStyle/>
          <a:p>
            <a:pPr marL="0" indent="0" algn="just">
              <a:lnSpc>
                <a:spcPct val="150000"/>
              </a:lnSpc>
              <a:buNone/>
            </a:pPr>
            <a:r>
              <a:rPr lang="en-US" sz="2600" dirty="0"/>
              <a:t>To summarize, </a:t>
            </a:r>
          </a:p>
          <a:p>
            <a:pPr algn="just">
              <a:lnSpc>
                <a:spcPct val="150000"/>
              </a:lnSpc>
            </a:pPr>
            <a:r>
              <a:rPr lang="en-US" sz="1800" dirty="0"/>
              <a:t>Server provisioning is </a:t>
            </a:r>
            <a:r>
              <a:rPr lang="en-US" sz="1800" u="sng" dirty="0"/>
              <a:t>defining server’s configuration based on the organization requirements</a:t>
            </a:r>
            <a:r>
              <a:rPr lang="en-US" sz="1800" dirty="0"/>
              <a:t>, a hardware, and software component (processor, RAM, storage, networking, operating system, applications, etc.). </a:t>
            </a:r>
          </a:p>
          <a:p>
            <a:pPr algn="just">
              <a:lnSpc>
                <a:spcPct val="150000"/>
              </a:lnSpc>
            </a:pPr>
            <a:r>
              <a:rPr lang="en-US" sz="1800" dirty="0"/>
              <a:t>Normally, virtual machines can be provisioned by manually installing an operating system</a:t>
            </a:r>
            <a:r>
              <a:rPr lang="en-US" sz="1800" b="1" dirty="0"/>
              <a:t>, </a:t>
            </a:r>
            <a:r>
              <a:rPr lang="en-US" sz="1800" b="1" u="sng" dirty="0"/>
              <a:t>by using a preconfigured VM template</a:t>
            </a:r>
            <a:r>
              <a:rPr lang="en-US" sz="1800" u="sng" dirty="0"/>
              <a:t>, by cloning an existing VM, or by importing a physical server or a virtual server from another hosting platform</a:t>
            </a:r>
            <a:r>
              <a:rPr lang="en-US" sz="1800" dirty="0"/>
              <a:t>. </a:t>
            </a:r>
          </a:p>
          <a:p>
            <a:pPr algn="just">
              <a:lnSpc>
                <a:spcPct val="150000"/>
              </a:lnSpc>
            </a:pPr>
            <a:r>
              <a:rPr lang="en-US" sz="1800" dirty="0"/>
              <a:t>After creating a </a:t>
            </a:r>
            <a:r>
              <a:rPr lang="en-US" sz="1800" b="1" dirty="0"/>
              <a:t>virtual machine by virtualizing a physical server</a:t>
            </a:r>
            <a:r>
              <a:rPr lang="en-US" sz="1800" dirty="0"/>
              <a:t>, or by building a new virtual server in the virtual environment</a:t>
            </a:r>
            <a:r>
              <a:rPr lang="en-US" sz="1800" b="1" dirty="0"/>
              <a:t>, a template can be created out of it. </a:t>
            </a:r>
          </a:p>
          <a:p>
            <a:pPr>
              <a:lnSpc>
                <a:spcPct val="150000"/>
              </a:lnSpc>
            </a:pPr>
            <a:r>
              <a:rPr lang="en-US" sz="1800" dirty="0"/>
              <a:t>Most virtualization management vendors (VMware, </a:t>
            </a:r>
            <a:r>
              <a:rPr lang="en-US" sz="1800" dirty="0" err="1"/>
              <a:t>XenServer</a:t>
            </a:r>
            <a:r>
              <a:rPr lang="en-US" sz="1800" dirty="0"/>
              <a:t>, etc.) provide the data center’s administration with the ability to do such tasks in an easy way. </a:t>
            </a:r>
          </a:p>
          <a:p>
            <a:pPr>
              <a:lnSpc>
                <a:spcPct val="150000"/>
              </a:lnSpc>
            </a:pPr>
            <a:r>
              <a:rPr lang="en-US" sz="1800" b="1" dirty="0"/>
              <a:t>Provisioning from a template is an invaluable feature, </a:t>
            </a:r>
            <a:r>
              <a:rPr lang="en-US" sz="1800" dirty="0"/>
              <a:t>because it reduces the time required to create a new virtual machine.</a:t>
            </a:r>
          </a:p>
          <a:p>
            <a:pPr algn="just">
              <a:lnSpc>
                <a:spcPct val="150000"/>
              </a:lnSpc>
            </a:pPr>
            <a:r>
              <a:rPr lang="en-US" sz="1800" b="1" dirty="0"/>
              <a:t>Administrators can create different templates for different purposes. This </a:t>
            </a:r>
            <a:r>
              <a:rPr lang="en-US" sz="1800" dirty="0"/>
              <a:t>enables the administrator to quickly provision a correctly configured virtual server on demand.</a:t>
            </a:r>
          </a:p>
        </p:txBody>
      </p:sp>
    </p:spTree>
    <p:extLst>
      <p:ext uri="{BB962C8B-B14F-4D97-AF65-F5344CB8AC3E}">
        <p14:creationId xmlns:p14="http://schemas.microsoft.com/office/powerpoint/2010/main" val="26876988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36176"/>
            <a:ext cx="10515600" cy="5840787"/>
          </a:xfrm>
        </p:spPr>
        <p:txBody>
          <a:bodyPr>
            <a:normAutofit fontScale="62500" lnSpcReduction="20000"/>
          </a:bodyPr>
          <a:lstStyle/>
          <a:p>
            <a:pPr marL="0" indent="0">
              <a:buNone/>
            </a:pPr>
            <a:r>
              <a:rPr lang="en-US" b="1" u="sng" dirty="0"/>
              <a:t>5.4 VIRTUAL MACHINE MIGRATION SERVICES</a:t>
            </a:r>
          </a:p>
          <a:p>
            <a:pPr algn="just">
              <a:lnSpc>
                <a:spcPct val="150000"/>
              </a:lnSpc>
            </a:pPr>
            <a:r>
              <a:rPr lang="en-US" dirty="0"/>
              <a:t>Migration service, in the context of virtual machines, is </a:t>
            </a:r>
            <a:r>
              <a:rPr lang="en-US" b="1" dirty="0"/>
              <a:t>the process of moving a virtual machine from one host server or storage location to another.</a:t>
            </a:r>
          </a:p>
          <a:p>
            <a:pPr algn="just">
              <a:lnSpc>
                <a:spcPct val="150000"/>
              </a:lnSpc>
            </a:pPr>
            <a:r>
              <a:rPr lang="en-US" dirty="0"/>
              <a:t>Virtual Machine (VM) migration is a powerful management technique that </a:t>
            </a:r>
            <a:r>
              <a:rPr lang="en-US" b="1" dirty="0"/>
              <a:t>gives data center operators the ability to adapt the placement of VMs in order to better satisfy performance objectives</a:t>
            </a:r>
            <a:r>
              <a:rPr lang="en-US" dirty="0"/>
              <a:t>, improve resource utilization and communication locality, mitigate performance hotspots, achieve fault tolerance</a:t>
            </a:r>
          </a:p>
          <a:p>
            <a:pPr algn="just">
              <a:lnSpc>
                <a:spcPct val="150000"/>
              </a:lnSpc>
            </a:pPr>
            <a:r>
              <a:rPr lang="en-US" dirty="0"/>
              <a:t> There are different techniques of VM migration, </a:t>
            </a:r>
          </a:p>
          <a:p>
            <a:pPr marL="514350" indent="-514350" algn="just">
              <a:lnSpc>
                <a:spcPct val="150000"/>
              </a:lnSpc>
              <a:buAutoNum type="arabicParenR"/>
            </a:pPr>
            <a:r>
              <a:rPr lang="en-US" dirty="0"/>
              <a:t>hot/live migration</a:t>
            </a:r>
          </a:p>
          <a:p>
            <a:pPr marL="514350" indent="-514350" algn="just">
              <a:lnSpc>
                <a:spcPct val="150000"/>
              </a:lnSpc>
              <a:buAutoNum type="arabicParenR"/>
            </a:pPr>
            <a:r>
              <a:rPr lang="en-US" dirty="0"/>
              <a:t>cold/regular migration</a:t>
            </a:r>
          </a:p>
          <a:p>
            <a:pPr marL="514350" indent="-514350" algn="just">
              <a:lnSpc>
                <a:spcPct val="150000"/>
              </a:lnSpc>
              <a:buAutoNum type="arabicParenR"/>
            </a:pPr>
            <a:r>
              <a:rPr lang="en-US" dirty="0"/>
              <a:t> live storage migration</a:t>
            </a:r>
          </a:p>
          <a:p>
            <a:pPr algn="just">
              <a:lnSpc>
                <a:spcPct val="150000"/>
              </a:lnSpc>
            </a:pPr>
            <a:r>
              <a:rPr lang="en-US" dirty="0"/>
              <a:t>In this process, </a:t>
            </a:r>
            <a:r>
              <a:rPr lang="en-US" b="1" dirty="0"/>
              <a:t>all key machines’ components, such as CPU, storage disks, networking, and memory, are completely virtualized</a:t>
            </a:r>
            <a:r>
              <a:rPr lang="en-US" dirty="0"/>
              <a:t>, thereby facilitating the entire state of a virtual machine to be captured by a set of easily moved data files. </a:t>
            </a:r>
          </a:p>
        </p:txBody>
      </p:sp>
    </p:spTree>
    <p:extLst>
      <p:ext uri="{BB962C8B-B14F-4D97-AF65-F5344CB8AC3E}">
        <p14:creationId xmlns:p14="http://schemas.microsoft.com/office/powerpoint/2010/main" val="10017698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24435"/>
            <a:ext cx="10515600" cy="5652528"/>
          </a:xfrm>
        </p:spPr>
        <p:txBody>
          <a:bodyPr>
            <a:normAutofit/>
          </a:bodyPr>
          <a:lstStyle/>
          <a:p>
            <a:pPr marL="0" indent="0">
              <a:buNone/>
            </a:pPr>
            <a:r>
              <a:rPr lang="en-US" u="sng" dirty="0"/>
              <a:t>5.4.1 Migrations Techniques</a:t>
            </a:r>
          </a:p>
          <a:p>
            <a:pPr marL="0" indent="0">
              <a:buNone/>
            </a:pPr>
            <a:r>
              <a:rPr lang="en-US" u="sng" dirty="0"/>
              <a:t>Live Migration and High Availability:</a:t>
            </a:r>
          </a:p>
          <a:p>
            <a:pPr algn="just">
              <a:lnSpc>
                <a:spcPct val="150000"/>
              </a:lnSpc>
            </a:pPr>
            <a:r>
              <a:rPr lang="en-US" sz="2000" dirty="0"/>
              <a:t>Live migration (which is also called </a:t>
            </a:r>
            <a:r>
              <a:rPr lang="en-US" sz="2000" b="1" dirty="0"/>
              <a:t>hot or real-time migration</a:t>
            </a:r>
            <a:r>
              <a:rPr lang="en-US" sz="2000" dirty="0"/>
              <a:t>) can be defined as the movement of a virtual machine from one physical host to another </a:t>
            </a:r>
            <a:r>
              <a:rPr lang="en-US" sz="2000" b="1" dirty="0"/>
              <a:t>while being powered on</a:t>
            </a:r>
            <a:r>
              <a:rPr lang="en-US" sz="2000" dirty="0"/>
              <a:t>. </a:t>
            </a:r>
          </a:p>
          <a:p>
            <a:pPr algn="just">
              <a:lnSpc>
                <a:spcPct val="150000"/>
              </a:lnSpc>
            </a:pPr>
            <a:r>
              <a:rPr lang="en-US" sz="2000" dirty="0"/>
              <a:t>When it is properly carried out, this process takes place without any noticeable effect from the end user’s point of view (a matter of milliseconds). </a:t>
            </a:r>
          </a:p>
          <a:p>
            <a:pPr algn="just">
              <a:lnSpc>
                <a:spcPct val="150000"/>
              </a:lnSpc>
            </a:pPr>
            <a:r>
              <a:rPr lang="en-US" sz="2000" dirty="0"/>
              <a:t>One of the most significant advantages of live migration is the fact that </a:t>
            </a:r>
            <a:r>
              <a:rPr lang="en-US" sz="2000" b="1" dirty="0"/>
              <a:t>it  facilitates proactive maintenance in case of failure</a:t>
            </a:r>
            <a:r>
              <a:rPr lang="en-US" sz="2000" dirty="0"/>
              <a:t>, because the potential problem can be resolved before the disruption of service occurs.</a:t>
            </a:r>
          </a:p>
          <a:p>
            <a:pPr algn="just">
              <a:lnSpc>
                <a:spcPct val="150000"/>
              </a:lnSpc>
            </a:pPr>
            <a:r>
              <a:rPr lang="en-US" sz="2000" dirty="0"/>
              <a:t> </a:t>
            </a:r>
            <a:r>
              <a:rPr lang="en-US" sz="2000" b="1" dirty="0"/>
              <a:t>Live migration can also be used for load balancing </a:t>
            </a:r>
            <a:r>
              <a:rPr lang="en-US" sz="2000" dirty="0"/>
              <a:t>in which work is shared among computers in order to </a:t>
            </a:r>
            <a:r>
              <a:rPr lang="en-US" sz="2000" b="1" dirty="0"/>
              <a:t>optimize the utilization</a:t>
            </a:r>
            <a:r>
              <a:rPr lang="en-US" sz="2000" dirty="0"/>
              <a:t> of available </a:t>
            </a:r>
            <a:r>
              <a:rPr lang="en-US" sz="2000" b="1" dirty="0"/>
              <a:t>CPU resources.</a:t>
            </a:r>
          </a:p>
        </p:txBody>
      </p:sp>
    </p:spTree>
    <p:extLst>
      <p:ext uri="{BB962C8B-B14F-4D97-AF65-F5344CB8AC3E}">
        <p14:creationId xmlns:p14="http://schemas.microsoft.com/office/powerpoint/2010/main" val="15355801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11306" y="295835"/>
            <a:ext cx="10515600" cy="6002151"/>
          </a:xfrm>
        </p:spPr>
        <p:txBody>
          <a:bodyPr>
            <a:normAutofit fontScale="92500" lnSpcReduction="20000"/>
          </a:bodyPr>
          <a:lstStyle/>
          <a:p>
            <a:pPr marL="0" indent="0">
              <a:buNone/>
            </a:pPr>
            <a:r>
              <a:rPr lang="en-US" sz="2600" u="sng" dirty="0"/>
              <a:t>The migration process has been viewed as a transactional interaction between the two hosts involved:</a:t>
            </a:r>
          </a:p>
          <a:p>
            <a:pPr algn="just">
              <a:lnSpc>
                <a:spcPct val="150000"/>
              </a:lnSpc>
            </a:pPr>
            <a:r>
              <a:rPr lang="en-US" sz="2400" b="1" dirty="0"/>
              <a:t>Stage 0</a:t>
            </a:r>
            <a:r>
              <a:rPr lang="en-US" sz="2400" dirty="0"/>
              <a:t>: </a:t>
            </a:r>
            <a:r>
              <a:rPr lang="en-US" sz="2400" u="sng" dirty="0"/>
              <a:t>Pre-Migration</a:t>
            </a:r>
            <a:r>
              <a:rPr lang="en-US" sz="2400" dirty="0"/>
              <a:t>. An </a:t>
            </a:r>
            <a:r>
              <a:rPr lang="en-US" sz="2400" b="1" dirty="0"/>
              <a:t>active virtual machine exists </a:t>
            </a:r>
            <a:r>
              <a:rPr lang="en-US" sz="2400" dirty="0"/>
              <a:t>on the physical host A.</a:t>
            </a:r>
          </a:p>
          <a:p>
            <a:pPr algn="just">
              <a:lnSpc>
                <a:spcPct val="150000"/>
              </a:lnSpc>
            </a:pPr>
            <a:r>
              <a:rPr lang="en-US" sz="2400" b="1" dirty="0"/>
              <a:t>Stage 1</a:t>
            </a:r>
            <a:r>
              <a:rPr lang="en-US" sz="2400" dirty="0"/>
              <a:t>: </a:t>
            </a:r>
            <a:r>
              <a:rPr lang="en-US" sz="2400" u="sng" dirty="0"/>
              <a:t>Reservation</a:t>
            </a:r>
            <a:r>
              <a:rPr lang="en-US" sz="2400" dirty="0"/>
              <a:t>. A </a:t>
            </a:r>
            <a:r>
              <a:rPr lang="en-US" sz="2400" b="1" dirty="0"/>
              <a:t>request is issued to migrate an OS from host A to host B </a:t>
            </a:r>
            <a:r>
              <a:rPr lang="en-US" sz="2400" dirty="0"/>
              <a:t>(a precondition is that the necessary resources exist on B and on a VM container of that size).</a:t>
            </a:r>
          </a:p>
          <a:p>
            <a:pPr algn="just">
              <a:lnSpc>
                <a:spcPct val="150000"/>
              </a:lnSpc>
            </a:pPr>
            <a:r>
              <a:rPr lang="en-US" sz="2400" b="1" dirty="0"/>
              <a:t>Stage 2</a:t>
            </a:r>
            <a:r>
              <a:rPr lang="en-US" sz="2400" dirty="0"/>
              <a:t>: </a:t>
            </a:r>
            <a:r>
              <a:rPr lang="en-US" sz="2400" u="sng" dirty="0"/>
              <a:t>Iterative Pre-Copy</a:t>
            </a:r>
            <a:r>
              <a:rPr lang="en-US" sz="2400" dirty="0"/>
              <a:t>. During the first iteration, </a:t>
            </a:r>
            <a:r>
              <a:rPr lang="en-US" sz="2400" b="1" dirty="0"/>
              <a:t>all pages are transferred from A to B. Subsequent iterations copy only those pages dirtied</a:t>
            </a:r>
            <a:r>
              <a:rPr lang="en-US" sz="2400" dirty="0"/>
              <a:t> during the previous transfer phase.</a:t>
            </a:r>
          </a:p>
          <a:p>
            <a:pPr algn="just">
              <a:lnSpc>
                <a:spcPct val="150000"/>
              </a:lnSpc>
            </a:pPr>
            <a:r>
              <a:rPr lang="en-US" sz="2400" b="1" dirty="0"/>
              <a:t>Stage 3</a:t>
            </a:r>
            <a:r>
              <a:rPr lang="en-US" sz="2400" dirty="0"/>
              <a:t>: </a:t>
            </a:r>
            <a:r>
              <a:rPr lang="en-US" sz="2400" u="sng" dirty="0"/>
              <a:t>Stop-and-Copy</a:t>
            </a:r>
            <a:r>
              <a:rPr lang="en-US" sz="2400" dirty="0"/>
              <a:t>. </a:t>
            </a:r>
            <a:r>
              <a:rPr lang="en-US" sz="2400" b="1" dirty="0"/>
              <a:t>Running OS instance at A is suspended</a:t>
            </a:r>
            <a:r>
              <a:rPr lang="en-US" sz="2400" dirty="0"/>
              <a:t>, and its </a:t>
            </a:r>
            <a:r>
              <a:rPr lang="en-US" sz="2400" b="1" dirty="0"/>
              <a:t>network traffic is redirected to B.</a:t>
            </a:r>
            <a:r>
              <a:rPr lang="en-US" sz="2400" dirty="0"/>
              <a:t> CPU state and any remaining inconsistent memory pages are then transferred. At the end of this stage, there is a consistent suspended copy of the VM at both A and B. The copy at A is considered primary and is resumed in case of failure.</a:t>
            </a:r>
          </a:p>
        </p:txBody>
      </p:sp>
    </p:spTree>
    <p:extLst>
      <p:ext uri="{BB962C8B-B14F-4D97-AF65-F5344CB8AC3E}">
        <p14:creationId xmlns:p14="http://schemas.microsoft.com/office/powerpoint/2010/main" val="20405723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82388"/>
            <a:ext cx="10515600" cy="5894575"/>
          </a:xfrm>
        </p:spPr>
        <p:txBody>
          <a:bodyPr>
            <a:normAutofit/>
          </a:bodyPr>
          <a:lstStyle/>
          <a:p>
            <a:pPr algn="just">
              <a:lnSpc>
                <a:spcPct val="150000"/>
              </a:lnSpc>
            </a:pPr>
            <a:r>
              <a:rPr lang="en-US" sz="2400" b="1" dirty="0"/>
              <a:t>Stage 4</a:t>
            </a:r>
            <a:r>
              <a:rPr lang="en-US" sz="2400" dirty="0"/>
              <a:t>: </a:t>
            </a:r>
            <a:r>
              <a:rPr lang="en-US" sz="2400" u="sng" dirty="0"/>
              <a:t>Commitment</a:t>
            </a:r>
            <a:r>
              <a:rPr lang="en-US" sz="2400" dirty="0"/>
              <a:t>. </a:t>
            </a:r>
            <a:r>
              <a:rPr lang="en-US" sz="2400" b="1" dirty="0"/>
              <a:t>Host B indicates to A that it has successfully received </a:t>
            </a:r>
            <a:r>
              <a:rPr lang="en-US" sz="2400" dirty="0"/>
              <a:t>a </a:t>
            </a:r>
            <a:r>
              <a:rPr lang="en-US" sz="2400" b="1" dirty="0"/>
              <a:t>consistent OS image</a:t>
            </a:r>
            <a:r>
              <a:rPr lang="en-US" sz="2400" dirty="0"/>
              <a:t>. </a:t>
            </a:r>
            <a:r>
              <a:rPr lang="en-US" sz="2400" b="1" dirty="0"/>
              <a:t>Host A acknowledges this message as a commitment of the migration transaction</a:t>
            </a:r>
            <a:r>
              <a:rPr lang="en-US" sz="2400" dirty="0"/>
              <a:t>. </a:t>
            </a:r>
            <a:r>
              <a:rPr lang="en-US" sz="2400" b="1" dirty="0"/>
              <a:t>Host A may now discard </a:t>
            </a:r>
            <a:r>
              <a:rPr lang="en-US" sz="2400" dirty="0"/>
              <a:t>the original VM, and </a:t>
            </a:r>
            <a:r>
              <a:rPr lang="en-US" sz="2400" b="1" dirty="0"/>
              <a:t>Host B becomes the primary host.</a:t>
            </a:r>
          </a:p>
          <a:p>
            <a:pPr algn="just">
              <a:lnSpc>
                <a:spcPct val="150000"/>
              </a:lnSpc>
            </a:pPr>
            <a:r>
              <a:rPr lang="en-US" sz="2400" b="1" dirty="0"/>
              <a:t>Stage 5</a:t>
            </a:r>
            <a:r>
              <a:rPr lang="en-US" sz="2400" dirty="0"/>
              <a:t>: </a:t>
            </a:r>
            <a:r>
              <a:rPr lang="en-US" sz="2400" u="sng" dirty="0"/>
              <a:t>Activation</a:t>
            </a:r>
            <a:r>
              <a:rPr lang="en-US" sz="2400" dirty="0"/>
              <a:t>. </a:t>
            </a:r>
            <a:r>
              <a:rPr lang="en-US" sz="2400" b="1" dirty="0"/>
              <a:t>The migrated VM on B is now activated. </a:t>
            </a:r>
            <a:r>
              <a:rPr lang="en-US" sz="2400" dirty="0"/>
              <a:t>Post-migration code runs to reattach the device’s drivers to the new machine and advertise moved IP addresses.</a:t>
            </a:r>
          </a:p>
          <a:p>
            <a:pPr algn="just">
              <a:lnSpc>
                <a:spcPct val="150000"/>
              </a:lnSpc>
            </a:pPr>
            <a:r>
              <a:rPr lang="en-US" sz="2400" dirty="0"/>
              <a:t>With live migration approach </a:t>
            </a:r>
            <a:r>
              <a:rPr lang="en-US" sz="2400" b="1" dirty="0"/>
              <a:t>to failure management ensures that at least one host has a consistent VM image at all times during migration. </a:t>
            </a:r>
            <a:r>
              <a:rPr lang="en-US" sz="2400" dirty="0"/>
              <a:t>It is based on the assumption that the </a:t>
            </a:r>
            <a:r>
              <a:rPr lang="en-US" sz="2400" b="1" dirty="0"/>
              <a:t>original host remains stable until the migration commits</a:t>
            </a:r>
          </a:p>
          <a:p>
            <a:pPr algn="just">
              <a:lnSpc>
                <a:spcPct val="150000"/>
              </a:lnSpc>
            </a:pPr>
            <a:endParaRPr lang="en-US" sz="2400" dirty="0"/>
          </a:p>
          <a:p>
            <a:pPr algn="just">
              <a:lnSpc>
                <a:spcPct val="150000"/>
              </a:lnSpc>
            </a:pPr>
            <a:endParaRPr lang="en-US" sz="2400" b="1" dirty="0"/>
          </a:p>
        </p:txBody>
      </p:sp>
    </p:spTree>
    <p:extLst>
      <p:ext uri="{BB962C8B-B14F-4D97-AF65-F5344CB8AC3E}">
        <p14:creationId xmlns:p14="http://schemas.microsoft.com/office/powerpoint/2010/main" val="32979903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a:stretch>
            <a:fillRect/>
          </a:stretch>
        </p:blipFill>
        <p:spPr>
          <a:xfrm>
            <a:off x="2864225" y="135771"/>
            <a:ext cx="7301752" cy="6472344"/>
          </a:xfrm>
          <a:prstGeom prst="rect">
            <a:avLst/>
          </a:prstGeom>
        </p:spPr>
      </p:pic>
    </p:spTree>
    <p:extLst>
      <p:ext uri="{BB962C8B-B14F-4D97-AF65-F5344CB8AC3E}">
        <p14:creationId xmlns:p14="http://schemas.microsoft.com/office/powerpoint/2010/main" val="37583888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64776"/>
            <a:ext cx="10515600" cy="5612187"/>
          </a:xfrm>
        </p:spPr>
        <p:txBody>
          <a:bodyPr>
            <a:normAutofit fontScale="92500" lnSpcReduction="20000"/>
          </a:bodyPr>
          <a:lstStyle/>
          <a:p>
            <a:pPr marL="0" indent="0">
              <a:buNone/>
            </a:pPr>
            <a:r>
              <a:rPr lang="en-US" u="sng" dirty="0"/>
              <a:t>Cold migration or Regular Migration:</a:t>
            </a:r>
          </a:p>
          <a:p>
            <a:pPr algn="just">
              <a:lnSpc>
                <a:spcPct val="150000"/>
              </a:lnSpc>
            </a:pPr>
            <a:r>
              <a:rPr lang="en-US" sz="2000" dirty="0"/>
              <a:t>Cold migration  is the </a:t>
            </a:r>
            <a:r>
              <a:rPr lang="en-US" sz="2000" b="1" dirty="0"/>
              <a:t>migration of a powered-off virtual machine</a:t>
            </a:r>
            <a:r>
              <a:rPr lang="en-US" sz="2000" dirty="0"/>
              <a:t>. </a:t>
            </a:r>
          </a:p>
          <a:p>
            <a:pPr algn="just">
              <a:lnSpc>
                <a:spcPct val="150000"/>
              </a:lnSpc>
            </a:pPr>
            <a:r>
              <a:rPr lang="en-US" sz="2000" dirty="0"/>
              <a:t>With cold migration, </a:t>
            </a:r>
            <a:r>
              <a:rPr lang="en-US" sz="2000" b="1" dirty="0"/>
              <a:t>we have the option of moving the associated disks from one data store to another. </a:t>
            </a:r>
          </a:p>
          <a:p>
            <a:pPr algn="just">
              <a:lnSpc>
                <a:spcPct val="150000"/>
              </a:lnSpc>
            </a:pPr>
            <a:r>
              <a:rPr lang="en-US" sz="2000" dirty="0"/>
              <a:t>The </a:t>
            </a:r>
            <a:r>
              <a:rPr lang="en-US" sz="2000" b="1" dirty="0"/>
              <a:t>virtual machines are not required to be on a shared storage</a:t>
            </a:r>
            <a:r>
              <a:rPr lang="en-US" sz="2000" dirty="0"/>
              <a:t>.</a:t>
            </a:r>
          </a:p>
          <a:p>
            <a:pPr algn="just">
              <a:lnSpc>
                <a:spcPct val="150000"/>
              </a:lnSpc>
            </a:pPr>
            <a:r>
              <a:rPr lang="en-US" sz="2000" dirty="0"/>
              <a:t> It’s important to highlight that the two main differences between live migration and cold migration are …</a:t>
            </a:r>
          </a:p>
          <a:p>
            <a:pPr algn="just">
              <a:lnSpc>
                <a:spcPct val="150000"/>
              </a:lnSpc>
            </a:pPr>
            <a:r>
              <a:rPr lang="en-US" sz="2000" b="1" dirty="0"/>
              <a:t>Live migration needs a shared storage for virtual machines in the server’s pool </a:t>
            </a:r>
            <a:r>
              <a:rPr lang="en-US" sz="2000" dirty="0"/>
              <a:t>but cold migration shared storage is not required.</a:t>
            </a:r>
          </a:p>
          <a:p>
            <a:pPr algn="just">
              <a:lnSpc>
                <a:spcPct val="150000"/>
              </a:lnSpc>
            </a:pPr>
            <a:r>
              <a:rPr lang="en-US" sz="2000" b="1" dirty="0"/>
              <a:t> In live migration </a:t>
            </a:r>
            <a:r>
              <a:rPr lang="en-US" sz="2000" dirty="0"/>
              <a:t>for a virtual machine between two hosts, </a:t>
            </a:r>
            <a:r>
              <a:rPr lang="en-US" sz="2000" b="1" dirty="0"/>
              <a:t>there would be certain CPU compatibility checks to be applied </a:t>
            </a:r>
            <a:r>
              <a:rPr lang="en-US" sz="2000" dirty="0"/>
              <a:t>while in cold migration this checks do not apply.</a:t>
            </a:r>
          </a:p>
          <a:p>
            <a:pPr algn="just">
              <a:lnSpc>
                <a:spcPct val="150000"/>
              </a:lnSpc>
            </a:pPr>
            <a:r>
              <a:rPr lang="en-US" sz="2000" dirty="0"/>
              <a:t>Cold migration is simple to implement</a:t>
            </a:r>
          </a:p>
        </p:txBody>
      </p:sp>
    </p:spTree>
    <p:extLst>
      <p:ext uri="{BB962C8B-B14F-4D97-AF65-F5344CB8AC3E}">
        <p14:creationId xmlns:p14="http://schemas.microsoft.com/office/powerpoint/2010/main" val="36780613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64776"/>
            <a:ext cx="10515600" cy="5612187"/>
          </a:xfrm>
        </p:spPr>
        <p:txBody>
          <a:bodyPr>
            <a:normAutofit/>
          </a:bodyPr>
          <a:lstStyle/>
          <a:p>
            <a:pPr marL="0" indent="0">
              <a:buNone/>
            </a:pPr>
            <a:r>
              <a:rPr lang="en-US" u="sng" dirty="0"/>
              <a:t>Cold migration or Regular Migration:</a:t>
            </a:r>
          </a:p>
          <a:p>
            <a:pPr algn="just">
              <a:lnSpc>
                <a:spcPct val="150000"/>
              </a:lnSpc>
            </a:pPr>
            <a:r>
              <a:rPr lang="en-US" sz="2000" dirty="0"/>
              <a:t>The steps involved in cold migration are as follows:</a:t>
            </a:r>
          </a:p>
          <a:p>
            <a:pPr algn="just">
              <a:lnSpc>
                <a:spcPct val="150000"/>
              </a:lnSpc>
              <a:buFont typeface="Wingdings" panose="05000000000000000000" pitchFamily="2" charset="2"/>
              <a:buChar char="Ø"/>
            </a:pPr>
            <a:r>
              <a:rPr lang="en-US" sz="2000" dirty="0"/>
              <a:t>The configuration files, including the NVRAM file (</a:t>
            </a:r>
            <a:r>
              <a:rPr lang="en-US" sz="2000" b="1" dirty="0"/>
              <a:t>BIOS settings), log files, as well as the disks of the virtual machine, are moved from the source host to the destination host’s associated storage area. </a:t>
            </a:r>
          </a:p>
          <a:p>
            <a:pPr algn="just">
              <a:lnSpc>
                <a:spcPct val="150000"/>
              </a:lnSpc>
              <a:buFont typeface="Wingdings" panose="05000000000000000000" pitchFamily="2" charset="2"/>
              <a:buChar char="Ø"/>
            </a:pPr>
            <a:r>
              <a:rPr lang="en-US" sz="2000" dirty="0"/>
              <a:t>The virtual machine is registered with the new host.</a:t>
            </a:r>
          </a:p>
          <a:p>
            <a:pPr algn="just">
              <a:lnSpc>
                <a:spcPct val="150000"/>
              </a:lnSpc>
              <a:buFont typeface="Wingdings" panose="05000000000000000000" pitchFamily="2" charset="2"/>
              <a:buChar char="Ø"/>
            </a:pPr>
            <a:r>
              <a:rPr lang="en-US" sz="2000" dirty="0"/>
              <a:t> After the migration is completed, the old version of the virtual machine is deleted from the source host.</a:t>
            </a:r>
          </a:p>
        </p:txBody>
      </p:sp>
    </p:spTree>
    <p:extLst>
      <p:ext uri="{BB962C8B-B14F-4D97-AF65-F5344CB8AC3E}">
        <p14:creationId xmlns:p14="http://schemas.microsoft.com/office/powerpoint/2010/main" val="14477385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70647"/>
            <a:ext cx="10515600" cy="5706316"/>
          </a:xfrm>
        </p:spPr>
        <p:txBody>
          <a:bodyPr/>
          <a:lstStyle/>
          <a:p>
            <a:pPr marL="0" indent="0">
              <a:buNone/>
            </a:pPr>
            <a:r>
              <a:rPr lang="en-US" u="sng" dirty="0"/>
              <a:t>Live Storage Migration </a:t>
            </a:r>
            <a:r>
              <a:rPr lang="en-US" dirty="0"/>
              <a:t>:</a:t>
            </a:r>
          </a:p>
          <a:p>
            <a:pPr marL="0" indent="0" algn="just">
              <a:lnSpc>
                <a:spcPct val="150000"/>
              </a:lnSpc>
              <a:buNone/>
            </a:pPr>
            <a:r>
              <a:rPr lang="en-US" sz="2400" dirty="0"/>
              <a:t>Live storage migration of Virtual Machine constitutes</a:t>
            </a:r>
          </a:p>
          <a:p>
            <a:pPr algn="just">
              <a:lnSpc>
                <a:spcPct val="150000"/>
              </a:lnSpc>
            </a:pPr>
            <a:r>
              <a:rPr lang="en-US" sz="2400" b="1" dirty="0"/>
              <a:t>moving the virtual disks or configuration file of a running virtual machine to a new data store without any interruption </a:t>
            </a:r>
            <a:r>
              <a:rPr lang="en-US" sz="2400" dirty="0"/>
              <a:t>in the availability of the virtual machine’s service. </a:t>
            </a:r>
          </a:p>
        </p:txBody>
      </p:sp>
    </p:spTree>
    <p:extLst>
      <p:ext uri="{BB962C8B-B14F-4D97-AF65-F5344CB8AC3E}">
        <p14:creationId xmlns:p14="http://schemas.microsoft.com/office/powerpoint/2010/main" val="33148834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64776"/>
            <a:ext cx="10515600" cy="5612187"/>
          </a:xfrm>
        </p:spPr>
        <p:txBody>
          <a:bodyPr>
            <a:normAutofit/>
          </a:bodyPr>
          <a:lstStyle/>
          <a:p>
            <a:pPr marL="0" indent="0">
              <a:buNone/>
            </a:pPr>
            <a:r>
              <a:rPr lang="en-US" u="sng" dirty="0"/>
              <a:t>VM Migration, SLA and On-Demand Computing:</a:t>
            </a:r>
          </a:p>
          <a:p>
            <a:pPr algn="just">
              <a:lnSpc>
                <a:spcPct val="150000"/>
              </a:lnSpc>
            </a:pPr>
            <a:r>
              <a:rPr lang="en-US" sz="2000" dirty="0"/>
              <a:t>virtual machines’ migration plays an important role in data centers by making it easy to adjust resource’s priorities to match resource’s demand conditions.</a:t>
            </a:r>
          </a:p>
          <a:p>
            <a:pPr algn="just">
              <a:lnSpc>
                <a:spcPct val="150000"/>
              </a:lnSpc>
            </a:pPr>
            <a:r>
              <a:rPr lang="en-US" sz="2000" dirty="0"/>
              <a:t>This role is completely going in the </a:t>
            </a:r>
            <a:r>
              <a:rPr lang="en-US" sz="2000" b="1" dirty="0"/>
              <a:t>direction of meeting SLAs</a:t>
            </a:r>
            <a:r>
              <a:rPr lang="en-US" sz="2000" dirty="0"/>
              <a:t>:</a:t>
            </a:r>
          </a:p>
          <a:p>
            <a:pPr algn="just">
              <a:lnSpc>
                <a:spcPct val="150000"/>
              </a:lnSpc>
            </a:pPr>
            <a:r>
              <a:rPr lang="en-US" sz="2000" b="1" dirty="0"/>
              <a:t>Once it has been detected </a:t>
            </a:r>
            <a:r>
              <a:rPr lang="en-US" sz="2000" dirty="0"/>
              <a:t>that a </a:t>
            </a:r>
            <a:r>
              <a:rPr lang="en-US" sz="2000" b="1" dirty="0"/>
              <a:t>particular VM is consuming more than its fair share of resources at the expense of other VMs on the same host</a:t>
            </a:r>
            <a:r>
              <a:rPr lang="en-US" sz="2000" dirty="0"/>
              <a:t>, it will be eligible, for this machine, to either be </a:t>
            </a:r>
            <a:r>
              <a:rPr lang="en-US" sz="2000" b="1" dirty="0"/>
              <a:t>moved to another underutilized host </a:t>
            </a:r>
            <a:r>
              <a:rPr lang="en-US" sz="2000" dirty="0"/>
              <a:t>or assign more resources for it, in case that the host machine still has resources t</a:t>
            </a:r>
            <a:r>
              <a:rPr lang="en-US" sz="2000" b="1" dirty="0"/>
              <a:t>his in turn will highly avoid the violations of the SLA </a:t>
            </a:r>
            <a:r>
              <a:rPr lang="en-US" sz="2000" dirty="0"/>
              <a:t>and will also, fulfill the requirements of on-demand computing resources. </a:t>
            </a:r>
          </a:p>
        </p:txBody>
      </p:sp>
    </p:spTree>
    <p:extLst>
      <p:ext uri="{BB962C8B-B14F-4D97-AF65-F5344CB8AC3E}">
        <p14:creationId xmlns:p14="http://schemas.microsoft.com/office/powerpoint/2010/main" val="8091941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64776"/>
            <a:ext cx="10515600" cy="5612187"/>
          </a:xfrm>
        </p:spPr>
        <p:txBody>
          <a:bodyPr>
            <a:normAutofit/>
          </a:bodyPr>
          <a:lstStyle/>
          <a:p>
            <a:pPr marL="0" indent="0">
              <a:buNone/>
            </a:pPr>
            <a:r>
              <a:rPr lang="en-US" u="sng" dirty="0"/>
              <a:t>VM Migration, SLA and On-Demand Computing:</a:t>
            </a:r>
          </a:p>
          <a:p>
            <a:pPr algn="just">
              <a:lnSpc>
                <a:spcPct val="150000"/>
              </a:lnSpc>
            </a:pPr>
            <a:r>
              <a:rPr lang="en-US" sz="2000" dirty="0"/>
              <a:t>In order to achieve above said goals, </a:t>
            </a:r>
            <a:r>
              <a:rPr lang="en-US" sz="2000" b="1" dirty="0"/>
              <a:t>there should be an integration between virtualization’s management tools</a:t>
            </a:r>
            <a:r>
              <a:rPr lang="en-US" sz="2000" dirty="0"/>
              <a:t> (with its migrations and performance’s monitoring capabilities), and </a:t>
            </a:r>
            <a:r>
              <a:rPr lang="en-US" sz="2000" b="1" dirty="0"/>
              <a:t>SLA’s management tools </a:t>
            </a:r>
            <a:r>
              <a:rPr lang="en-US" sz="2000" dirty="0"/>
              <a:t>to </a:t>
            </a:r>
            <a:r>
              <a:rPr lang="en-US" sz="2000" b="1" dirty="0"/>
              <a:t>achieve balance in resources </a:t>
            </a:r>
            <a:r>
              <a:rPr lang="en-US" sz="2000" dirty="0"/>
              <a:t>by migrating and monitoring the workloads, and </a:t>
            </a:r>
            <a:r>
              <a:rPr lang="en-US" sz="2000" b="1" dirty="0"/>
              <a:t>accordingly, meeting the SLA</a:t>
            </a:r>
          </a:p>
        </p:txBody>
      </p:sp>
    </p:spTree>
    <p:extLst>
      <p:ext uri="{BB962C8B-B14F-4D97-AF65-F5344CB8AC3E}">
        <p14:creationId xmlns:p14="http://schemas.microsoft.com/office/powerpoint/2010/main" val="40713524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64776"/>
            <a:ext cx="10515600" cy="5612187"/>
          </a:xfrm>
        </p:spPr>
        <p:txBody>
          <a:bodyPr>
            <a:normAutofit/>
          </a:bodyPr>
          <a:lstStyle/>
          <a:p>
            <a:pPr marL="0" indent="0">
              <a:buNone/>
            </a:pPr>
            <a:r>
              <a:rPr lang="en-US" dirty="0"/>
              <a:t>Migration of Virtual Machines to Alternate Platforms</a:t>
            </a:r>
            <a:r>
              <a:rPr lang="en-US" u="sng" dirty="0"/>
              <a:t>:</a:t>
            </a:r>
          </a:p>
          <a:p>
            <a:pPr algn="just">
              <a:lnSpc>
                <a:spcPct val="150000"/>
              </a:lnSpc>
            </a:pPr>
            <a:r>
              <a:rPr lang="en-US" sz="2000" dirty="0"/>
              <a:t>One of the nicest advantages of having facility in data center’s technologies is to have the ability to </a:t>
            </a:r>
            <a:r>
              <a:rPr lang="en-US" sz="2000" b="1" dirty="0"/>
              <a:t>migrate virtual machines from one platform to another</a:t>
            </a:r>
            <a:r>
              <a:rPr lang="en-US" sz="2000" dirty="0"/>
              <a:t>;</a:t>
            </a:r>
          </a:p>
          <a:p>
            <a:pPr algn="just">
              <a:lnSpc>
                <a:spcPct val="150000"/>
              </a:lnSpc>
            </a:pPr>
            <a:r>
              <a:rPr lang="en-US" sz="2000" dirty="0"/>
              <a:t>There are a number of ways for achieving this, such as depending on the source and target virtualization’s platforms and on the vendor’s tools that manage this facility</a:t>
            </a:r>
          </a:p>
          <a:p>
            <a:pPr algn="just">
              <a:lnSpc>
                <a:spcPct val="150000"/>
              </a:lnSpc>
            </a:pPr>
            <a:r>
              <a:rPr lang="en-US" sz="2000" dirty="0"/>
              <a:t>For example: </a:t>
            </a:r>
          </a:p>
          <a:p>
            <a:pPr algn="just">
              <a:lnSpc>
                <a:spcPct val="150000"/>
              </a:lnSpc>
              <a:buFont typeface="Wingdings" panose="05000000000000000000" pitchFamily="2" charset="2"/>
              <a:buChar char="Ø"/>
            </a:pPr>
            <a:r>
              <a:rPr lang="en-US" sz="2000" dirty="0"/>
              <a:t> the VMware converter that handles migrations between ESX hosts(hypervisor or virtualization platform); the VMware server; and the VMware workstation. </a:t>
            </a:r>
          </a:p>
          <a:p>
            <a:pPr algn="just">
              <a:lnSpc>
                <a:spcPct val="150000"/>
              </a:lnSpc>
              <a:buFont typeface="Wingdings" panose="05000000000000000000" pitchFamily="2" charset="2"/>
              <a:buChar char="Ø"/>
            </a:pPr>
            <a:r>
              <a:rPr lang="en-US" sz="2000" dirty="0"/>
              <a:t>The VMware converter can also import from other virtualization platforms, such as Microsoft virtual server machines</a:t>
            </a:r>
          </a:p>
        </p:txBody>
      </p:sp>
    </p:spTree>
    <p:extLst>
      <p:ext uri="{BB962C8B-B14F-4D97-AF65-F5344CB8AC3E}">
        <p14:creationId xmlns:p14="http://schemas.microsoft.com/office/powerpoint/2010/main" val="25572379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8757" y="300789"/>
            <a:ext cx="11634537" cy="6172199"/>
          </a:xfrm>
        </p:spPr>
        <p:txBody>
          <a:bodyPr>
            <a:normAutofit fontScale="85000" lnSpcReduction="10000"/>
          </a:bodyPr>
          <a:lstStyle/>
          <a:p>
            <a:pPr marL="0" indent="0">
              <a:buNone/>
            </a:pPr>
            <a:r>
              <a:rPr lang="en-US" dirty="0"/>
              <a:t>VM PROVISIONING AND MIGRATION IN ACTION</a:t>
            </a:r>
            <a:r>
              <a:rPr lang="en-US" u="sng" dirty="0"/>
              <a:t>:</a:t>
            </a:r>
          </a:p>
          <a:p>
            <a:pPr algn="just">
              <a:lnSpc>
                <a:spcPct val="150000"/>
              </a:lnSpc>
            </a:pPr>
            <a:r>
              <a:rPr lang="en-US" sz="2000" dirty="0"/>
              <a:t>Now, it is time to get into business with a real example of </a:t>
            </a:r>
            <a:r>
              <a:rPr lang="en-US" sz="2000" b="1" dirty="0"/>
              <a:t>how we can manage the life cycle, provision, and migrate a virtual machine by the help of one Of the open source frameworks </a:t>
            </a:r>
            <a:r>
              <a:rPr lang="en-US" sz="2000" dirty="0"/>
              <a:t>used to manage virtualized infrastructure. </a:t>
            </a:r>
          </a:p>
          <a:p>
            <a:pPr algn="just">
              <a:lnSpc>
                <a:spcPct val="150000"/>
              </a:lnSpc>
            </a:pPr>
            <a:r>
              <a:rPr lang="en-US" sz="2000" dirty="0"/>
              <a:t>Here, we will use </a:t>
            </a:r>
            <a:r>
              <a:rPr lang="en-US" sz="2000" b="1" dirty="0" err="1"/>
              <a:t>ConVirt</a:t>
            </a:r>
            <a:r>
              <a:rPr lang="en-US" sz="2000" b="1" dirty="0"/>
              <a:t> (open source framework for the management of open source virtualization</a:t>
            </a:r>
            <a:r>
              <a:rPr lang="en-US" sz="2000" dirty="0"/>
              <a:t> ) for example:</a:t>
            </a:r>
          </a:p>
          <a:p>
            <a:pPr marL="0" indent="0" algn="just">
              <a:lnSpc>
                <a:spcPct val="150000"/>
              </a:lnSpc>
              <a:buNone/>
            </a:pPr>
            <a:r>
              <a:rPr lang="en-US" sz="2000" b="1" dirty="0" err="1"/>
              <a:t>ConVirt</a:t>
            </a:r>
            <a:r>
              <a:rPr lang="en-US" sz="2000" b="1" dirty="0"/>
              <a:t> Deployment Scenario:</a:t>
            </a:r>
          </a:p>
          <a:p>
            <a:pPr algn="just">
              <a:lnSpc>
                <a:spcPct val="150000"/>
              </a:lnSpc>
            </a:pPr>
            <a:r>
              <a:rPr lang="en-US" sz="2000" dirty="0" err="1"/>
              <a:t>ConVirt</a:t>
            </a:r>
            <a:r>
              <a:rPr lang="en-US" sz="2000" dirty="0"/>
              <a:t> deployment </a:t>
            </a:r>
            <a:r>
              <a:rPr lang="en-US" sz="2000" b="1" dirty="0"/>
              <a:t>consists of at least one </a:t>
            </a:r>
            <a:r>
              <a:rPr lang="en-US" sz="2000" b="1" dirty="0" err="1"/>
              <a:t>ConVirt</a:t>
            </a:r>
            <a:r>
              <a:rPr lang="en-US" sz="2000" b="1" dirty="0"/>
              <a:t> workstation</a:t>
            </a:r>
            <a:r>
              <a:rPr lang="en-US" sz="2000" dirty="0"/>
              <a:t>, where </a:t>
            </a:r>
            <a:r>
              <a:rPr lang="en-US" sz="2000" dirty="0" err="1"/>
              <a:t>ConVirt</a:t>
            </a:r>
            <a:r>
              <a:rPr lang="en-US" sz="2000" dirty="0"/>
              <a:t> is installed and ran, which </a:t>
            </a:r>
            <a:r>
              <a:rPr lang="en-US" sz="2000" b="1" dirty="0"/>
              <a:t>provides the main console for managing the VM life cycle, managing images, provisioning new VMs, monitoring machine resources, and so on</a:t>
            </a:r>
          </a:p>
          <a:p>
            <a:pPr algn="just">
              <a:lnSpc>
                <a:spcPct val="150000"/>
              </a:lnSpc>
            </a:pPr>
            <a:r>
              <a:rPr lang="en-US" sz="2000" dirty="0"/>
              <a:t>There are </a:t>
            </a:r>
            <a:r>
              <a:rPr lang="en-US" sz="2000" b="1" dirty="0"/>
              <a:t>two essential deployment scenarios for </a:t>
            </a:r>
            <a:r>
              <a:rPr lang="en-US" sz="2000" b="1" dirty="0" err="1"/>
              <a:t>ConVirt</a:t>
            </a:r>
            <a:r>
              <a:rPr lang="en-US" sz="2000" dirty="0"/>
              <a:t>:</a:t>
            </a:r>
          </a:p>
          <a:p>
            <a:pPr marL="0" indent="0" algn="just">
              <a:lnSpc>
                <a:spcPct val="150000"/>
              </a:lnSpc>
              <a:buNone/>
            </a:pPr>
            <a:r>
              <a:rPr lang="en-US" sz="2000" dirty="0"/>
              <a:t> (</a:t>
            </a:r>
            <a:r>
              <a:rPr lang="en-US" sz="2000" dirty="0" err="1"/>
              <a:t>i</a:t>
            </a:r>
            <a:r>
              <a:rPr lang="en-US" sz="2000" dirty="0"/>
              <a:t>) </a:t>
            </a:r>
            <a:r>
              <a:rPr lang="en-US" sz="2000" b="1" dirty="0"/>
              <a:t>basic configuration in which the </a:t>
            </a:r>
            <a:r>
              <a:rPr lang="en-US" sz="2000" b="1" dirty="0" err="1"/>
              <a:t>Xen</a:t>
            </a:r>
            <a:r>
              <a:rPr lang="en-US" sz="2000" b="1" dirty="0"/>
              <a:t> or KVM virtualization platform is on the local machine,</a:t>
            </a:r>
            <a:r>
              <a:rPr lang="en-US" sz="2000" dirty="0"/>
              <a:t> where </a:t>
            </a:r>
            <a:r>
              <a:rPr lang="en-US" sz="2000" dirty="0" err="1"/>
              <a:t>ConVirt</a:t>
            </a:r>
            <a:r>
              <a:rPr lang="en-US" sz="2000" dirty="0"/>
              <a:t> is already installed; </a:t>
            </a:r>
          </a:p>
          <a:p>
            <a:pPr marL="0" indent="0" algn="just">
              <a:lnSpc>
                <a:spcPct val="150000"/>
              </a:lnSpc>
              <a:buNone/>
            </a:pPr>
            <a:r>
              <a:rPr lang="en-US" sz="2000" dirty="0"/>
              <a:t>(ii) </a:t>
            </a:r>
            <a:r>
              <a:rPr lang="en-US" sz="2000" b="1" dirty="0"/>
              <a:t>an advanced configuration </a:t>
            </a:r>
            <a:r>
              <a:rPr lang="en-US" sz="2000" dirty="0"/>
              <a:t>in which the </a:t>
            </a:r>
            <a:r>
              <a:rPr lang="en-US" sz="2000" b="1" dirty="0" err="1"/>
              <a:t>Xen</a:t>
            </a:r>
            <a:r>
              <a:rPr lang="en-US" sz="2000" b="1" dirty="0"/>
              <a:t> or KVM is on one or more remote servers. </a:t>
            </a:r>
          </a:p>
          <a:p>
            <a:pPr algn="just">
              <a:lnSpc>
                <a:spcPct val="150000"/>
              </a:lnSpc>
            </a:pPr>
            <a:r>
              <a:rPr lang="en-US" sz="2000" dirty="0"/>
              <a:t>The scenario in use here is the advanced one.</a:t>
            </a:r>
          </a:p>
        </p:txBody>
      </p:sp>
    </p:spTree>
    <p:extLst>
      <p:ext uri="{BB962C8B-B14F-4D97-AF65-F5344CB8AC3E}">
        <p14:creationId xmlns:p14="http://schemas.microsoft.com/office/powerpoint/2010/main" val="955799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8757" y="300789"/>
            <a:ext cx="11634537" cy="6172199"/>
          </a:xfrm>
        </p:spPr>
        <p:txBody>
          <a:bodyPr>
            <a:normAutofit/>
          </a:bodyPr>
          <a:lstStyle/>
          <a:p>
            <a:pPr marL="0" indent="0">
              <a:buNone/>
            </a:pPr>
            <a:r>
              <a:rPr lang="en-US" dirty="0" err="1"/>
              <a:t>ConVirt</a:t>
            </a:r>
            <a:r>
              <a:rPr lang="en-US" dirty="0"/>
              <a:t> installation</a:t>
            </a:r>
            <a:r>
              <a:rPr lang="en-US" u="sng" dirty="0"/>
              <a:t>:</a:t>
            </a:r>
          </a:p>
          <a:p>
            <a:pPr algn="just">
              <a:lnSpc>
                <a:spcPct val="150000"/>
              </a:lnSpc>
              <a:spcBef>
                <a:spcPts val="0"/>
              </a:spcBef>
            </a:pPr>
            <a:r>
              <a:rPr lang="en-US" sz="2000" dirty="0"/>
              <a:t>The installation process involves the following:</a:t>
            </a:r>
          </a:p>
          <a:p>
            <a:pPr algn="just">
              <a:lnSpc>
                <a:spcPct val="150000"/>
              </a:lnSpc>
              <a:spcBef>
                <a:spcPts val="0"/>
              </a:spcBef>
            </a:pPr>
            <a:r>
              <a:rPr lang="en-US" sz="2000" dirty="0"/>
              <a:t> Installing </a:t>
            </a:r>
            <a:r>
              <a:rPr lang="en-US" sz="2000" dirty="0" err="1"/>
              <a:t>ConVirt</a:t>
            </a:r>
            <a:r>
              <a:rPr lang="en-US" sz="2000" dirty="0"/>
              <a:t> on at least one computer. </a:t>
            </a:r>
          </a:p>
          <a:p>
            <a:pPr algn="just">
              <a:lnSpc>
                <a:spcPct val="150000"/>
              </a:lnSpc>
              <a:spcBef>
                <a:spcPts val="0"/>
              </a:spcBef>
            </a:pPr>
            <a:r>
              <a:rPr lang="en-US" sz="2000" dirty="0"/>
              <a:t> Preparing each managed server to be managed by </a:t>
            </a:r>
            <a:r>
              <a:rPr lang="en-US" sz="2000" dirty="0" err="1"/>
              <a:t>ConVirt</a:t>
            </a:r>
            <a:r>
              <a:rPr lang="en-US" sz="2000" dirty="0"/>
              <a:t>. </a:t>
            </a:r>
          </a:p>
          <a:p>
            <a:pPr algn="just">
              <a:lnSpc>
                <a:spcPct val="150000"/>
              </a:lnSpc>
              <a:spcBef>
                <a:spcPts val="0"/>
              </a:spcBef>
            </a:pPr>
            <a:r>
              <a:rPr lang="en-US" sz="2000" dirty="0"/>
              <a:t>We have two managing servers with the following Ips (managed server 1, IP:172.16.2.22; and managed server 2, IP:172.16.2.25) as shown in the deployment diagram (Figure 5.7).</a:t>
            </a:r>
          </a:p>
          <a:p>
            <a:pPr algn="just">
              <a:lnSpc>
                <a:spcPct val="150000"/>
              </a:lnSpc>
              <a:spcBef>
                <a:spcPts val="0"/>
              </a:spcBef>
            </a:pPr>
            <a:r>
              <a:rPr lang="en-US" sz="2000" dirty="0"/>
              <a:t> Starting </a:t>
            </a:r>
            <a:r>
              <a:rPr lang="en-US" sz="2000" dirty="0" err="1"/>
              <a:t>ConVirt</a:t>
            </a:r>
            <a:r>
              <a:rPr lang="en-US" sz="2000" dirty="0"/>
              <a:t> and discovering the managed servers you have prepared</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66411" y="3572377"/>
            <a:ext cx="4527884" cy="3194674"/>
          </a:xfrm>
          <a:prstGeom prst="rect">
            <a:avLst/>
          </a:prstGeom>
        </p:spPr>
      </p:pic>
    </p:spTree>
    <p:extLst>
      <p:ext uri="{BB962C8B-B14F-4D97-AF65-F5344CB8AC3E}">
        <p14:creationId xmlns:p14="http://schemas.microsoft.com/office/powerpoint/2010/main" val="34016897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8757" y="300789"/>
            <a:ext cx="11634537" cy="6172199"/>
          </a:xfrm>
        </p:spPr>
        <p:txBody>
          <a:bodyPr>
            <a:normAutofit/>
          </a:bodyPr>
          <a:lstStyle/>
          <a:p>
            <a:pPr marL="0" indent="0">
              <a:buNone/>
            </a:pPr>
            <a:r>
              <a:rPr lang="en-US" dirty="0" err="1"/>
              <a:t>ConVirt</a:t>
            </a:r>
            <a:r>
              <a:rPr lang="en-US" dirty="0"/>
              <a:t> installation</a:t>
            </a:r>
            <a:r>
              <a:rPr lang="en-US" u="sng" dirty="0"/>
              <a:t>:</a:t>
            </a:r>
          </a:p>
          <a:p>
            <a:r>
              <a:rPr lang="en-US" sz="2000" dirty="0"/>
              <a:t>Adding Managed Servers and Provisioning VM: Once the installation is done and you are ready to manage your virtual infrastructure, then you can start the </a:t>
            </a:r>
            <a:r>
              <a:rPr lang="en-US" sz="2000" dirty="0" err="1"/>
              <a:t>ConVirt</a:t>
            </a:r>
            <a:r>
              <a:rPr lang="en-US" sz="2000" dirty="0"/>
              <a:t> management console (see Figure 5.8):</a:t>
            </a:r>
          </a:p>
          <a:p>
            <a:r>
              <a:rPr lang="en-US" sz="2000" dirty="0"/>
              <a:t> Select any of servers’ pools existing and on its context menu, select “Add Server.”</a:t>
            </a:r>
            <a:endParaRPr lang="en-US" sz="2000" u="sng"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03270" y="2251158"/>
            <a:ext cx="6734175" cy="4352925"/>
          </a:xfrm>
          <a:prstGeom prst="rect">
            <a:avLst/>
          </a:prstGeom>
        </p:spPr>
      </p:pic>
    </p:spTree>
    <p:extLst>
      <p:ext uri="{BB962C8B-B14F-4D97-AF65-F5344CB8AC3E}">
        <p14:creationId xmlns:p14="http://schemas.microsoft.com/office/powerpoint/2010/main" val="27646382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8757" y="300789"/>
            <a:ext cx="11634537" cy="6172199"/>
          </a:xfrm>
        </p:spPr>
        <p:txBody>
          <a:bodyPr>
            <a:normAutofit/>
          </a:bodyPr>
          <a:lstStyle/>
          <a:p>
            <a:pPr marL="0" indent="0">
              <a:buNone/>
            </a:pPr>
            <a:r>
              <a:rPr lang="en-US" dirty="0" err="1"/>
              <a:t>ConVirt</a:t>
            </a:r>
            <a:r>
              <a:rPr lang="en-US" dirty="0"/>
              <a:t> installation</a:t>
            </a:r>
            <a:r>
              <a:rPr lang="en-US" u="sng" dirty="0"/>
              <a:t>:</a:t>
            </a:r>
          </a:p>
          <a:p>
            <a:r>
              <a:rPr lang="en-US" sz="2000" dirty="0"/>
              <a:t>Select any of servers’ pools existing (QA Lab in our scenario) and on its context menu, select “Add Server.”</a:t>
            </a:r>
          </a:p>
          <a:p>
            <a:r>
              <a:rPr lang="en-US" sz="2000" dirty="0"/>
              <a:t> You will be faced with a message asking about the virtualization platform you want to manage (</a:t>
            </a:r>
            <a:r>
              <a:rPr lang="en-US" sz="2000" dirty="0" err="1"/>
              <a:t>Xen</a:t>
            </a:r>
            <a:r>
              <a:rPr lang="en-US" sz="2000" dirty="0"/>
              <a:t> or KVM), as shown in Figure 5.9:</a:t>
            </a:r>
            <a:endParaRPr lang="en-US" sz="2000" u="sng"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38912" y="1933074"/>
            <a:ext cx="7134225" cy="4724400"/>
          </a:xfrm>
          <a:prstGeom prst="rect">
            <a:avLst/>
          </a:prstGeom>
        </p:spPr>
      </p:pic>
    </p:spTree>
    <p:extLst>
      <p:ext uri="{BB962C8B-B14F-4D97-AF65-F5344CB8AC3E}">
        <p14:creationId xmlns:p14="http://schemas.microsoft.com/office/powerpoint/2010/main" val="16308416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8757" y="300789"/>
            <a:ext cx="11634537" cy="6172199"/>
          </a:xfrm>
        </p:spPr>
        <p:txBody>
          <a:bodyPr>
            <a:normAutofit/>
          </a:bodyPr>
          <a:lstStyle/>
          <a:p>
            <a:pPr marL="0" indent="0">
              <a:buNone/>
            </a:pPr>
            <a:r>
              <a:rPr lang="en-US" dirty="0" err="1"/>
              <a:t>ConVirt</a:t>
            </a:r>
            <a:r>
              <a:rPr lang="en-US" dirty="0"/>
              <a:t> installation</a:t>
            </a:r>
            <a:r>
              <a:rPr lang="en-US" u="sng" dirty="0"/>
              <a:t>:</a:t>
            </a:r>
          </a:p>
          <a:p>
            <a:r>
              <a:rPr lang="en-US" sz="2000" dirty="0"/>
              <a:t>Choose KVM, and then enter the managed server information and credentials (IP, username, and password) as shown in Figure 5.10.</a:t>
            </a:r>
            <a:endParaRPr lang="en-US" sz="2000" u="sng"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8192" y="1710488"/>
            <a:ext cx="6743700" cy="4762500"/>
          </a:xfrm>
          <a:prstGeom prst="rect">
            <a:avLst/>
          </a:prstGeom>
        </p:spPr>
      </p:pic>
    </p:spTree>
    <p:extLst>
      <p:ext uri="{BB962C8B-B14F-4D97-AF65-F5344CB8AC3E}">
        <p14:creationId xmlns:p14="http://schemas.microsoft.com/office/powerpoint/2010/main" val="3082541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8757" y="300789"/>
            <a:ext cx="11634537" cy="6172199"/>
          </a:xfrm>
        </p:spPr>
        <p:txBody>
          <a:bodyPr>
            <a:normAutofit/>
          </a:bodyPr>
          <a:lstStyle/>
          <a:p>
            <a:pPr marL="0" indent="0">
              <a:buNone/>
            </a:pPr>
            <a:r>
              <a:rPr lang="en-US" dirty="0" err="1"/>
              <a:t>ConVirt</a:t>
            </a:r>
            <a:r>
              <a:rPr lang="en-US" dirty="0"/>
              <a:t> installation</a:t>
            </a:r>
            <a:r>
              <a:rPr lang="en-US" u="sng" dirty="0"/>
              <a:t>:</a:t>
            </a:r>
          </a:p>
          <a:p>
            <a:r>
              <a:rPr lang="en-US" sz="2000" dirty="0"/>
              <a:t>Once the server is synchronized and authenticated with the </a:t>
            </a:r>
            <a:r>
              <a:rPr lang="en-US" sz="2000" dirty="0" err="1"/>
              <a:t>management</a:t>
            </a:r>
            <a:r>
              <a:rPr lang="en-US" sz="2000" dirty="0"/>
              <a:t> console, it will appear in the left pane/of the </a:t>
            </a:r>
            <a:r>
              <a:rPr lang="en-US" sz="2000" dirty="0" err="1"/>
              <a:t>ConVirt</a:t>
            </a:r>
            <a:r>
              <a:rPr lang="en-US" sz="2000" dirty="0"/>
              <a:t>, as shown in Figure 5.11.</a:t>
            </a:r>
            <a:endParaRPr lang="en-US" sz="2000" u="sng"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9653" y="1843838"/>
            <a:ext cx="6638925" cy="4629150"/>
          </a:xfrm>
          <a:prstGeom prst="rect">
            <a:avLst/>
          </a:prstGeom>
        </p:spPr>
      </p:pic>
    </p:spTree>
    <p:extLst>
      <p:ext uri="{BB962C8B-B14F-4D97-AF65-F5344CB8AC3E}">
        <p14:creationId xmlns:p14="http://schemas.microsoft.com/office/powerpoint/2010/main" val="6578114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8757" y="300789"/>
            <a:ext cx="11634537" cy="6172199"/>
          </a:xfrm>
        </p:spPr>
        <p:txBody>
          <a:bodyPr>
            <a:normAutofit/>
          </a:bodyPr>
          <a:lstStyle/>
          <a:p>
            <a:pPr marL="0" indent="0">
              <a:buNone/>
            </a:pPr>
            <a:r>
              <a:rPr lang="en-US" dirty="0" err="1"/>
              <a:t>ConVirt</a:t>
            </a:r>
            <a:r>
              <a:rPr lang="en-US" dirty="0"/>
              <a:t> installation</a:t>
            </a:r>
            <a:r>
              <a:rPr lang="en-US" u="sng" dirty="0"/>
              <a:t>:</a:t>
            </a:r>
          </a:p>
          <a:p>
            <a:r>
              <a:rPr lang="en-US" sz="2000" dirty="0"/>
              <a:t>Select this server, and start provisioning your virtual machine as in Figure 5.12:</a:t>
            </a:r>
            <a:endParaRPr lang="en-US" sz="2000" u="sng"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14048" y="1467352"/>
            <a:ext cx="6953250" cy="4476750"/>
          </a:xfrm>
          <a:prstGeom prst="rect">
            <a:avLst/>
          </a:prstGeom>
        </p:spPr>
      </p:pic>
    </p:spTree>
    <p:extLst>
      <p:ext uri="{BB962C8B-B14F-4D97-AF65-F5344CB8AC3E}">
        <p14:creationId xmlns:p14="http://schemas.microsoft.com/office/powerpoint/2010/main" val="125252268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8757" y="300789"/>
            <a:ext cx="11634537" cy="6172199"/>
          </a:xfrm>
        </p:spPr>
        <p:txBody>
          <a:bodyPr>
            <a:normAutofit/>
          </a:bodyPr>
          <a:lstStyle/>
          <a:p>
            <a:pPr marL="0" indent="0">
              <a:buNone/>
            </a:pPr>
            <a:r>
              <a:rPr lang="en-US" dirty="0" err="1"/>
              <a:t>ConVirt</a:t>
            </a:r>
            <a:r>
              <a:rPr lang="en-US" dirty="0"/>
              <a:t> installation</a:t>
            </a:r>
            <a:r>
              <a:rPr lang="en-US" u="sng" dirty="0"/>
              <a:t>:</a:t>
            </a:r>
          </a:p>
          <a:p>
            <a:r>
              <a:rPr lang="en-US" sz="2000" dirty="0"/>
              <a:t>Fill in the virtual machine’s information (name, storage, OS template, etc.; Figure 5.13); then you will find it created on the managed server tree powered-off.</a:t>
            </a:r>
            <a:endParaRPr lang="en-US" sz="2000" u="sng"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28900" y="1652587"/>
            <a:ext cx="6934200" cy="3552825"/>
          </a:xfrm>
          <a:prstGeom prst="rect">
            <a:avLst/>
          </a:prstGeom>
        </p:spPr>
      </p:pic>
      <p:sp>
        <p:nvSpPr>
          <p:cNvPr id="5" name="Rectangle 4"/>
          <p:cNvSpPr/>
          <p:nvPr/>
        </p:nvSpPr>
        <p:spPr>
          <a:xfrm>
            <a:off x="4083548" y="5469868"/>
            <a:ext cx="4044953" cy="369332"/>
          </a:xfrm>
          <a:prstGeom prst="rect">
            <a:avLst/>
          </a:prstGeom>
        </p:spPr>
        <p:txBody>
          <a:bodyPr wrap="none">
            <a:spAutoFit/>
          </a:bodyPr>
          <a:lstStyle/>
          <a:p>
            <a:r>
              <a:rPr lang="en-US"/>
              <a:t>FIGURE 5.13. </a:t>
            </a:r>
            <a:r>
              <a:rPr lang="en-US" dirty="0"/>
              <a:t>Configuring virtual machine</a:t>
            </a:r>
          </a:p>
        </p:txBody>
      </p:sp>
    </p:spTree>
    <p:extLst>
      <p:ext uri="{BB962C8B-B14F-4D97-AF65-F5344CB8AC3E}">
        <p14:creationId xmlns:p14="http://schemas.microsoft.com/office/powerpoint/2010/main" val="30199826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8757" y="300789"/>
            <a:ext cx="11634537" cy="6172199"/>
          </a:xfrm>
        </p:spPr>
        <p:txBody>
          <a:bodyPr>
            <a:normAutofit/>
          </a:bodyPr>
          <a:lstStyle/>
          <a:p>
            <a:pPr marL="0" indent="0">
              <a:buNone/>
            </a:pPr>
            <a:r>
              <a:rPr lang="en-US" dirty="0" err="1"/>
              <a:t>ConVirt</a:t>
            </a:r>
            <a:r>
              <a:rPr lang="en-US" dirty="0"/>
              <a:t> installation</a:t>
            </a:r>
            <a:r>
              <a:rPr lang="en-US" u="sng" dirty="0"/>
              <a:t>:</a:t>
            </a:r>
          </a:p>
          <a:p>
            <a:r>
              <a:rPr lang="en-US" sz="2000" dirty="0"/>
              <a:t>Start your VM (Figures 5.14 and 5.15), and make sure the installation media of the operating system you need is placed in drive, in order to use it for booting the new VM and proceed in the installation process;</a:t>
            </a:r>
            <a:endParaRPr lang="en-US" sz="2000" u="sng"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6399" y="1760871"/>
            <a:ext cx="6991350" cy="4467225"/>
          </a:xfrm>
          <a:prstGeom prst="rect">
            <a:avLst/>
          </a:prstGeom>
        </p:spPr>
      </p:pic>
    </p:spTree>
    <p:extLst>
      <p:ext uri="{BB962C8B-B14F-4D97-AF65-F5344CB8AC3E}">
        <p14:creationId xmlns:p14="http://schemas.microsoft.com/office/powerpoint/2010/main" val="10073545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8757" y="300789"/>
            <a:ext cx="11634537" cy="6172199"/>
          </a:xfrm>
        </p:spPr>
        <p:txBody>
          <a:bodyPr>
            <a:normAutofit/>
          </a:bodyPr>
          <a:lstStyle/>
          <a:p>
            <a:pPr marL="0" indent="0">
              <a:buNone/>
            </a:pPr>
            <a:r>
              <a:rPr lang="en-US" dirty="0" err="1"/>
              <a:t>ConVirt</a:t>
            </a:r>
            <a:r>
              <a:rPr lang="en-US" dirty="0"/>
              <a:t> installation</a:t>
            </a:r>
            <a:r>
              <a:rPr lang="en-US" u="sng" dirty="0"/>
              <a:t>:</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76537" y="1157287"/>
            <a:ext cx="6638925" cy="4543425"/>
          </a:xfrm>
          <a:prstGeom prst="rect">
            <a:avLst/>
          </a:prstGeom>
        </p:spPr>
      </p:pic>
    </p:spTree>
    <p:extLst>
      <p:ext uri="{BB962C8B-B14F-4D97-AF65-F5344CB8AC3E}">
        <p14:creationId xmlns:p14="http://schemas.microsoft.com/office/powerpoint/2010/main" val="312611206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8757" y="300789"/>
            <a:ext cx="11634537" cy="6172199"/>
          </a:xfrm>
        </p:spPr>
        <p:txBody>
          <a:bodyPr>
            <a:normAutofit/>
          </a:bodyPr>
          <a:lstStyle/>
          <a:p>
            <a:pPr marL="0" indent="0">
              <a:buNone/>
            </a:pPr>
            <a:r>
              <a:rPr lang="en-US" dirty="0" err="1"/>
              <a:t>ConVirt</a:t>
            </a:r>
            <a:r>
              <a:rPr lang="en-US" dirty="0"/>
              <a:t> installation</a:t>
            </a:r>
            <a:r>
              <a:rPr lang="en-US" u="sng" dirty="0"/>
              <a:t>:</a:t>
            </a:r>
          </a:p>
          <a:p>
            <a:r>
              <a:rPr lang="en-US" sz="2000" dirty="0"/>
              <a:t>then start the installation process as shown in Figure 5.16.</a:t>
            </a:r>
          </a:p>
          <a:p>
            <a:r>
              <a:rPr lang="en-US" sz="2000" dirty="0"/>
              <a:t> Once the installation finishes, you can access your provisioned virtual machine from the </a:t>
            </a:r>
            <a:r>
              <a:rPr lang="en-US" sz="2000" dirty="0" err="1"/>
              <a:t>consol</a:t>
            </a:r>
            <a:r>
              <a:rPr lang="en-US" sz="2000" dirty="0"/>
              <a:t> icon on the top of your </a:t>
            </a:r>
            <a:r>
              <a:rPr lang="en-US" sz="2000" dirty="0" err="1"/>
              <a:t>ConVirt</a:t>
            </a:r>
            <a:r>
              <a:rPr lang="en-US" sz="2000" dirty="0"/>
              <a:t> management console.</a:t>
            </a:r>
          </a:p>
          <a:p>
            <a:r>
              <a:rPr lang="en-US" sz="2000" dirty="0"/>
              <a:t> Reaching this step, you have created your first managed server and provisioned virtual machine. You can repeat the same procedure to add the second managed server in your pool to be ready for the next step of</a:t>
            </a:r>
          </a:p>
          <a:p>
            <a:r>
              <a:rPr lang="en-US" sz="2000" dirty="0"/>
              <a:t>migrating one virtual machine from one server to the other</a:t>
            </a:r>
            <a:endParaRPr lang="en-US" sz="2000" u="sng" dirty="0"/>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84848" y="2911642"/>
            <a:ext cx="5972976" cy="4037598"/>
          </a:xfrm>
          <a:prstGeom prst="rect">
            <a:avLst/>
          </a:prstGeom>
        </p:spPr>
      </p:pic>
    </p:spTree>
    <p:extLst>
      <p:ext uri="{BB962C8B-B14F-4D97-AF65-F5344CB8AC3E}">
        <p14:creationId xmlns:p14="http://schemas.microsoft.com/office/powerpoint/2010/main" val="40650222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8757" y="300789"/>
            <a:ext cx="11634537" cy="6172199"/>
          </a:xfrm>
        </p:spPr>
        <p:txBody>
          <a:bodyPr>
            <a:normAutofit/>
          </a:bodyPr>
          <a:lstStyle/>
          <a:p>
            <a:pPr marL="0" indent="0">
              <a:buNone/>
            </a:pPr>
            <a:r>
              <a:rPr lang="en-US" dirty="0"/>
              <a:t>Migration Process in </a:t>
            </a:r>
            <a:r>
              <a:rPr lang="en-US" dirty="0" err="1"/>
              <a:t>ConVirt</a:t>
            </a:r>
            <a:r>
              <a:rPr lang="en-US" u="sng" dirty="0"/>
              <a:t>:</a:t>
            </a:r>
          </a:p>
          <a:p>
            <a:r>
              <a:rPr lang="en-US" sz="2000" dirty="0"/>
              <a:t>Migration Process in </a:t>
            </a:r>
            <a:r>
              <a:rPr lang="en-US" sz="2000" dirty="0" err="1"/>
              <a:t>ConVirt</a:t>
            </a:r>
            <a:endParaRPr lang="en-US" sz="2000" dirty="0"/>
          </a:p>
          <a:p>
            <a:r>
              <a:rPr lang="en-US" sz="2000" dirty="0"/>
              <a:t> To start the migration of a virtual machine from one host to the other, select it and choose a migrating virtual machine, as shown in Figure 5.17.  You will have a window containing all the managed servers in your data center (as shown in Figure 5.18)</a:t>
            </a:r>
          </a:p>
          <a:p>
            <a:endParaRPr lang="en-US" sz="2000" u="sng"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86138" y="2056397"/>
            <a:ext cx="4438650" cy="3009900"/>
          </a:xfrm>
          <a:prstGeom prst="rect">
            <a:avLst/>
          </a:prstGeom>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21329" y="1984959"/>
            <a:ext cx="4610100" cy="3152775"/>
          </a:xfrm>
          <a:prstGeom prst="rect">
            <a:avLst/>
          </a:prstGeom>
        </p:spPr>
      </p:pic>
    </p:spTree>
    <p:extLst>
      <p:ext uri="{BB962C8B-B14F-4D97-AF65-F5344CB8AC3E}">
        <p14:creationId xmlns:p14="http://schemas.microsoft.com/office/powerpoint/2010/main" val="19051388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88757" y="300789"/>
            <a:ext cx="11634537" cy="6172199"/>
          </a:xfrm>
        </p:spPr>
        <p:txBody>
          <a:bodyPr>
            <a:normAutofit/>
          </a:bodyPr>
          <a:lstStyle/>
          <a:p>
            <a:pPr marL="0" indent="0">
              <a:buNone/>
            </a:pPr>
            <a:r>
              <a:rPr lang="en-US" sz="2000" u="sng" dirty="0"/>
              <a:t>Migration process in </a:t>
            </a:r>
            <a:r>
              <a:rPr lang="en-US" sz="2000" u="sng" dirty="0" err="1"/>
              <a:t>ConVirt</a:t>
            </a:r>
            <a:endParaRPr lang="en-US" sz="2000" u="sng" dirty="0"/>
          </a:p>
          <a:p>
            <a:r>
              <a:rPr lang="en-US" sz="2000" dirty="0"/>
              <a:t>Once the virtual machine has been successfully placed and migrated to the destination host, you can see it still living and working (as shown in Figure 5.19).</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10000" y="2052637"/>
            <a:ext cx="4572000" cy="2752725"/>
          </a:xfrm>
          <a:prstGeom prst="rect">
            <a:avLst/>
          </a:prstGeom>
        </p:spPr>
      </p:pic>
      <p:sp>
        <p:nvSpPr>
          <p:cNvPr id="4" name="Rectangle 3"/>
          <p:cNvSpPr/>
          <p:nvPr/>
        </p:nvSpPr>
        <p:spPr>
          <a:xfrm>
            <a:off x="3481137" y="5139172"/>
            <a:ext cx="6096000" cy="646331"/>
          </a:xfrm>
          <a:prstGeom prst="rect">
            <a:avLst/>
          </a:prstGeom>
        </p:spPr>
        <p:txBody>
          <a:bodyPr>
            <a:spAutoFit/>
          </a:bodyPr>
          <a:lstStyle/>
          <a:p>
            <a:r>
              <a:rPr lang="en-US" dirty="0"/>
              <a:t>FIGURE 5.19. VM started on the destination server after migration</a:t>
            </a:r>
          </a:p>
        </p:txBody>
      </p:sp>
    </p:spTree>
    <p:extLst>
      <p:ext uri="{BB962C8B-B14F-4D97-AF65-F5344CB8AC3E}">
        <p14:creationId xmlns:p14="http://schemas.microsoft.com/office/powerpoint/2010/main" val="11745318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76337" y="465039"/>
            <a:ext cx="4329327" cy="369332"/>
          </a:xfrm>
          <a:prstGeom prst="rect">
            <a:avLst/>
          </a:prstGeom>
        </p:spPr>
        <p:txBody>
          <a:bodyPr wrap="none">
            <a:spAutoFit/>
          </a:bodyPr>
          <a:lstStyle/>
          <a:p>
            <a:r>
              <a:rPr lang="en-US" b="1" dirty="0"/>
              <a:t>5.6 PROVISIONING IN THE CLOUD CONTEXT</a:t>
            </a:r>
          </a:p>
        </p:txBody>
      </p:sp>
      <p:sp>
        <p:nvSpPr>
          <p:cNvPr id="5" name="Rectangle 4"/>
          <p:cNvSpPr/>
          <p:nvPr/>
        </p:nvSpPr>
        <p:spPr>
          <a:xfrm>
            <a:off x="136358" y="1228091"/>
            <a:ext cx="11510210" cy="216982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t>In the cloud context, we shall discuss systems that provide the virtual machine provisioning and migration services</a:t>
            </a:r>
          </a:p>
          <a:p>
            <a:pPr marL="285750" indent="-285750" algn="just">
              <a:lnSpc>
                <a:spcPct val="150000"/>
              </a:lnSpc>
              <a:buFont typeface="Arial" panose="020B0604020202020204" pitchFamily="34" charset="0"/>
              <a:buChar char="•"/>
            </a:pPr>
            <a:r>
              <a:rPr lang="en-US" dirty="0"/>
              <a:t> </a:t>
            </a:r>
            <a:r>
              <a:rPr lang="en-US" b="1" dirty="0"/>
              <a:t>Amazon EC2 is a widely known example for vendors </a:t>
            </a:r>
            <a:r>
              <a:rPr lang="en-US" dirty="0"/>
              <a:t>that provide </a:t>
            </a:r>
            <a:r>
              <a:rPr lang="en-US" b="1" dirty="0"/>
              <a:t>public cloud services. </a:t>
            </a:r>
          </a:p>
          <a:p>
            <a:pPr marL="285750" indent="-285750" algn="just">
              <a:lnSpc>
                <a:spcPct val="150000"/>
              </a:lnSpc>
              <a:buFont typeface="Arial" panose="020B0604020202020204" pitchFamily="34" charset="0"/>
              <a:buChar char="•"/>
            </a:pPr>
            <a:r>
              <a:rPr lang="en-US" dirty="0"/>
              <a:t>Also, </a:t>
            </a:r>
            <a:r>
              <a:rPr lang="en-US" b="1" dirty="0"/>
              <a:t>Eucalyptus and </a:t>
            </a:r>
            <a:r>
              <a:rPr lang="en-US" b="1" dirty="0" err="1"/>
              <a:t>OpenNebula</a:t>
            </a:r>
            <a:r>
              <a:rPr lang="en-US" dirty="0"/>
              <a:t> are two complementary and </a:t>
            </a:r>
            <a:r>
              <a:rPr lang="en-US" b="1" dirty="0"/>
              <a:t>enabling technologies for open source cloud tools</a:t>
            </a:r>
            <a:r>
              <a:rPr lang="en-US" dirty="0"/>
              <a:t>, which play an invaluable role in infrastructure as a service and in building private, public, and hybrid cloud architecture.</a:t>
            </a:r>
          </a:p>
        </p:txBody>
      </p:sp>
    </p:spTree>
    <p:extLst>
      <p:ext uri="{BB962C8B-B14F-4D97-AF65-F5344CB8AC3E}">
        <p14:creationId xmlns:p14="http://schemas.microsoft.com/office/powerpoint/2010/main" val="28413639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76337" y="465039"/>
            <a:ext cx="3668248" cy="369332"/>
          </a:xfrm>
          <a:prstGeom prst="rect">
            <a:avLst/>
          </a:prstGeom>
        </p:spPr>
        <p:txBody>
          <a:bodyPr wrap="none">
            <a:spAutoFit/>
          </a:bodyPr>
          <a:lstStyle/>
          <a:p>
            <a:r>
              <a:rPr lang="en-US" b="1" dirty="0"/>
              <a:t>5.6.1 Amazon Elastic Compute Cloud</a:t>
            </a:r>
          </a:p>
        </p:txBody>
      </p:sp>
      <p:sp>
        <p:nvSpPr>
          <p:cNvPr id="5" name="Rectangle 4"/>
          <p:cNvSpPr/>
          <p:nvPr/>
        </p:nvSpPr>
        <p:spPr>
          <a:xfrm>
            <a:off x="136358" y="1228091"/>
            <a:ext cx="11510210" cy="378885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t>The </a:t>
            </a:r>
            <a:r>
              <a:rPr lang="en-US" b="1" dirty="0"/>
              <a:t>Amazon EC2 (Elastic Compute Cloud) is a Web service </a:t>
            </a:r>
            <a:r>
              <a:rPr lang="en-US" dirty="0"/>
              <a:t>that allows users </a:t>
            </a:r>
            <a:r>
              <a:rPr lang="en-US" b="1" dirty="0"/>
              <a:t>to provision new machines </a:t>
            </a:r>
            <a:r>
              <a:rPr lang="en-US" dirty="0"/>
              <a:t>into Amazon’s virtualized infrastructure in a </a:t>
            </a:r>
            <a:r>
              <a:rPr lang="en-US" b="1" dirty="0"/>
              <a:t>matter of minutes</a:t>
            </a:r>
            <a:r>
              <a:rPr lang="en-US" dirty="0"/>
              <a:t>; </a:t>
            </a:r>
            <a:r>
              <a:rPr lang="en-US" b="1" dirty="0"/>
              <a:t>using a publicly available API </a:t>
            </a:r>
            <a:r>
              <a:rPr lang="en-US" dirty="0"/>
              <a:t>(application programming interface), it </a:t>
            </a:r>
            <a:r>
              <a:rPr lang="en-US" b="1" dirty="0"/>
              <a:t>reduces the time required to obtain and boot a new server. </a:t>
            </a:r>
          </a:p>
          <a:p>
            <a:pPr marL="285750" indent="-285750" algn="just">
              <a:lnSpc>
                <a:spcPct val="150000"/>
              </a:lnSpc>
              <a:buFont typeface="Arial" panose="020B0604020202020204" pitchFamily="34" charset="0"/>
              <a:buChar char="•"/>
            </a:pPr>
            <a:r>
              <a:rPr lang="en-US" dirty="0"/>
              <a:t>Users get full root access and can install almost any OS or application in their AMIs (Amazon Machine Images).</a:t>
            </a:r>
          </a:p>
          <a:p>
            <a:pPr marL="285750" indent="-285750" algn="just">
              <a:lnSpc>
                <a:spcPct val="150000"/>
              </a:lnSpc>
              <a:buFont typeface="Arial" panose="020B0604020202020204" pitchFamily="34" charset="0"/>
              <a:buChar char="•"/>
            </a:pPr>
            <a:r>
              <a:rPr lang="en-US" dirty="0"/>
              <a:t> Web services APIs allow users to reboot their instances remotely, </a:t>
            </a:r>
            <a:r>
              <a:rPr lang="en-US" b="1" dirty="0"/>
              <a:t>scale capacity quickly, and use on-demand service when needed; by adding tens, or even hundreds, of machines.</a:t>
            </a:r>
          </a:p>
          <a:p>
            <a:pPr marL="285750" indent="-285750" algn="just">
              <a:lnSpc>
                <a:spcPct val="150000"/>
              </a:lnSpc>
              <a:buFont typeface="Arial" panose="020B0604020202020204" pitchFamily="34" charset="0"/>
              <a:buChar char="•"/>
            </a:pPr>
            <a:r>
              <a:rPr lang="en-US" dirty="0"/>
              <a:t> It is very important to mention that </a:t>
            </a:r>
            <a:r>
              <a:rPr lang="en-US" b="1" dirty="0"/>
              <a:t>there is no up-front hardware setup and there are no installation costs</a:t>
            </a:r>
            <a:r>
              <a:rPr lang="en-US" dirty="0"/>
              <a:t>, because Amazon charges only for the capacity you actually use.</a:t>
            </a:r>
          </a:p>
          <a:p>
            <a:pPr marL="285750" indent="-285750" algn="just">
              <a:lnSpc>
                <a:spcPct val="150000"/>
              </a:lnSpc>
              <a:buFont typeface="Arial" panose="020B0604020202020204" pitchFamily="34" charset="0"/>
              <a:buChar char="•"/>
            </a:pPr>
            <a:r>
              <a:rPr lang="en-US" b="1" dirty="0"/>
              <a:t> EC2 instance is typically a virtual machine with </a:t>
            </a:r>
            <a:r>
              <a:rPr lang="en-US" dirty="0"/>
              <a:t>a certain amount </a:t>
            </a:r>
            <a:r>
              <a:rPr lang="en-US" b="1" dirty="0"/>
              <a:t>of RAM, CPU, and storage capacity</a:t>
            </a:r>
            <a:r>
              <a:rPr lang="en-US" dirty="0"/>
              <a:t>.</a:t>
            </a:r>
          </a:p>
        </p:txBody>
      </p:sp>
    </p:spTree>
    <p:extLst>
      <p:ext uri="{BB962C8B-B14F-4D97-AF65-F5344CB8AC3E}">
        <p14:creationId xmlns:p14="http://schemas.microsoft.com/office/powerpoint/2010/main" val="3189017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76337" y="465039"/>
            <a:ext cx="3668248" cy="369332"/>
          </a:xfrm>
          <a:prstGeom prst="rect">
            <a:avLst/>
          </a:prstGeom>
        </p:spPr>
        <p:txBody>
          <a:bodyPr wrap="none">
            <a:spAutoFit/>
          </a:bodyPr>
          <a:lstStyle/>
          <a:p>
            <a:r>
              <a:rPr lang="en-US" b="1" dirty="0"/>
              <a:t>5.6.1 Amazon Elastic Compute Cloud</a:t>
            </a:r>
          </a:p>
        </p:txBody>
      </p:sp>
      <p:sp>
        <p:nvSpPr>
          <p:cNvPr id="5" name="Rectangle 4"/>
          <p:cNvSpPr/>
          <p:nvPr/>
        </p:nvSpPr>
        <p:spPr>
          <a:xfrm>
            <a:off x="136358" y="1228091"/>
            <a:ext cx="11510210" cy="341632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t>Amazon EC2 provides its customers with </a:t>
            </a:r>
            <a:r>
              <a:rPr lang="en-US" b="1" dirty="0"/>
              <a:t>three flexible purchasing models </a:t>
            </a:r>
            <a:r>
              <a:rPr lang="en-US" dirty="0"/>
              <a:t>to make it easy for the cost optimization:</a:t>
            </a:r>
          </a:p>
          <a:p>
            <a:pPr marL="285750" indent="-285750" algn="just">
              <a:lnSpc>
                <a:spcPct val="150000"/>
              </a:lnSpc>
              <a:buFont typeface="Arial" panose="020B0604020202020204" pitchFamily="34" charset="0"/>
              <a:buChar char="•"/>
            </a:pPr>
            <a:r>
              <a:rPr lang="en-US" b="1" dirty="0"/>
              <a:t>(</a:t>
            </a:r>
            <a:r>
              <a:rPr lang="en-US" b="1" dirty="0" err="1"/>
              <a:t>i</a:t>
            </a:r>
            <a:r>
              <a:rPr lang="en-US" b="1" dirty="0"/>
              <a:t>) On-Demand instances</a:t>
            </a:r>
            <a:r>
              <a:rPr lang="en-US" dirty="0"/>
              <a:t>, which allow you to </a:t>
            </a:r>
            <a:r>
              <a:rPr lang="en-US" b="1" dirty="0"/>
              <a:t>pay a fixed rate by the hour with no commitment</a:t>
            </a:r>
            <a:r>
              <a:rPr lang="en-US" dirty="0"/>
              <a:t>. </a:t>
            </a:r>
          </a:p>
          <a:p>
            <a:pPr marL="285750" indent="-285750" algn="just">
              <a:lnSpc>
                <a:spcPct val="150000"/>
              </a:lnSpc>
              <a:buFont typeface="Arial" panose="020B0604020202020204" pitchFamily="34" charset="0"/>
              <a:buChar char="•"/>
            </a:pPr>
            <a:r>
              <a:rPr lang="en-US" dirty="0"/>
              <a:t>(ii</a:t>
            </a:r>
            <a:r>
              <a:rPr lang="en-US" b="1" dirty="0"/>
              <a:t>) Reserved </a:t>
            </a:r>
            <a:r>
              <a:rPr lang="en-US" dirty="0"/>
              <a:t>instances, which allow you to pay a low, </a:t>
            </a:r>
            <a:r>
              <a:rPr lang="en-US" b="1" dirty="0"/>
              <a:t>one-time fee </a:t>
            </a:r>
            <a:r>
              <a:rPr lang="en-US" dirty="0"/>
              <a:t>and</a:t>
            </a:r>
            <a:r>
              <a:rPr lang="en-US" b="1" dirty="0"/>
              <a:t> in turn receive a significant discount on the hourly usage </a:t>
            </a:r>
            <a:r>
              <a:rPr lang="en-US" dirty="0"/>
              <a:t>charge for that instance. It ensures that any </a:t>
            </a:r>
            <a:r>
              <a:rPr lang="en-US" b="1" dirty="0"/>
              <a:t>reserved instance you launch is guaranteed </a:t>
            </a:r>
            <a:r>
              <a:rPr lang="en-US" dirty="0"/>
              <a:t>to succeed (provided that you have booked them in advance). This means that </a:t>
            </a:r>
            <a:r>
              <a:rPr lang="en-US" b="1" dirty="0"/>
              <a:t>users of these instances should not be affected by any transient limitations in EC2 capacity. </a:t>
            </a:r>
          </a:p>
          <a:p>
            <a:pPr marL="285750" indent="-285750" algn="just">
              <a:lnSpc>
                <a:spcPct val="150000"/>
              </a:lnSpc>
              <a:buFont typeface="Arial" panose="020B0604020202020204" pitchFamily="34" charset="0"/>
              <a:buChar char="•"/>
            </a:pPr>
            <a:r>
              <a:rPr lang="en-US" dirty="0"/>
              <a:t>(</a:t>
            </a:r>
            <a:r>
              <a:rPr lang="en-US" b="1" dirty="0"/>
              <a:t>iii)  Spot instances</a:t>
            </a:r>
            <a:r>
              <a:rPr lang="en-US" dirty="0"/>
              <a:t>, which </a:t>
            </a:r>
            <a:r>
              <a:rPr lang="en-US" b="1" dirty="0"/>
              <a:t>enable you to bid </a:t>
            </a:r>
            <a:r>
              <a:rPr lang="en-US" dirty="0"/>
              <a:t>whatever price you want for instance capacity, </a:t>
            </a:r>
            <a:r>
              <a:rPr lang="en-US" b="1" dirty="0"/>
              <a:t>providing for even greater savings</a:t>
            </a:r>
            <a:r>
              <a:rPr lang="en-US" dirty="0"/>
              <a:t>, </a:t>
            </a:r>
            <a:r>
              <a:rPr lang="en-US" b="1" dirty="0"/>
              <a:t>if your applications have flexible start and end times</a:t>
            </a:r>
          </a:p>
        </p:txBody>
      </p:sp>
    </p:spTree>
    <p:extLst>
      <p:ext uri="{BB962C8B-B14F-4D97-AF65-F5344CB8AC3E}">
        <p14:creationId xmlns:p14="http://schemas.microsoft.com/office/powerpoint/2010/main" val="19629363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32794" y="0"/>
            <a:ext cx="4519955" cy="461665"/>
          </a:xfrm>
          <a:prstGeom prst="rect">
            <a:avLst/>
          </a:prstGeom>
        </p:spPr>
        <p:txBody>
          <a:bodyPr wrap="none">
            <a:spAutoFit/>
          </a:bodyPr>
          <a:lstStyle/>
          <a:p>
            <a:r>
              <a:rPr lang="en-US" sz="2400" b="1" dirty="0"/>
              <a:t>Amazon and Provisioning Services</a:t>
            </a:r>
          </a:p>
        </p:txBody>
      </p:sp>
      <p:sp>
        <p:nvSpPr>
          <p:cNvPr id="5" name="Rectangle 4"/>
          <p:cNvSpPr/>
          <p:nvPr/>
        </p:nvSpPr>
        <p:spPr>
          <a:xfrm>
            <a:off x="179901" y="542291"/>
            <a:ext cx="11510210" cy="665592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sz="2000" dirty="0"/>
              <a:t>Amazon provides an </a:t>
            </a:r>
            <a:r>
              <a:rPr lang="en-US" sz="2000" b="1" dirty="0"/>
              <a:t>excellent set of tools that help in provisioning service</a:t>
            </a:r>
            <a:r>
              <a:rPr lang="en-US" sz="2000" dirty="0"/>
              <a:t>; </a:t>
            </a:r>
          </a:p>
          <a:p>
            <a:pPr marL="285750" indent="-285750" algn="just">
              <a:lnSpc>
                <a:spcPct val="150000"/>
              </a:lnSpc>
              <a:buFont typeface="Arial" panose="020B0604020202020204" pitchFamily="34" charset="0"/>
              <a:buChar char="•"/>
            </a:pPr>
            <a:r>
              <a:rPr lang="en-US" sz="2000" dirty="0"/>
              <a:t>Amazon </a:t>
            </a:r>
            <a:r>
              <a:rPr lang="en-US" sz="2000" b="1" dirty="0"/>
              <a:t>Auto Scaling </a:t>
            </a:r>
            <a:r>
              <a:rPr lang="en-US" sz="2000" dirty="0"/>
              <a:t>[30] is a set of command line tools that allows </a:t>
            </a:r>
            <a:r>
              <a:rPr lang="en-US" sz="2000" b="1" dirty="0"/>
              <a:t>scaling Amazon EC2 capacity up or down </a:t>
            </a:r>
            <a:r>
              <a:rPr lang="en-US" sz="2000" dirty="0"/>
              <a:t>automatically and according to the conditions the end user defines. This feature ensures that the number of Amazon </a:t>
            </a:r>
            <a:r>
              <a:rPr lang="en-US" sz="2000" b="1" dirty="0"/>
              <a:t>EC2 instances can scale up seamlessly during demand spikes </a:t>
            </a:r>
            <a:r>
              <a:rPr lang="en-US" sz="2000" dirty="0"/>
              <a:t>to </a:t>
            </a:r>
            <a:r>
              <a:rPr lang="en-US" sz="2000" b="1" dirty="0"/>
              <a:t>maintain performance </a:t>
            </a:r>
            <a:r>
              <a:rPr lang="en-US" sz="2000" dirty="0"/>
              <a:t>and </a:t>
            </a:r>
            <a:r>
              <a:rPr lang="en-US" sz="2000" b="1" dirty="0"/>
              <a:t>can scale down automatically when loads diminish </a:t>
            </a:r>
            <a:r>
              <a:rPr lang="en-US" sz="2000" dirty="0"/>
              <a:t>and become less intensive to </a:t>
            </a:r>
            <a:r>
              <a:rPr lang="en-US" sz="2000" b="1" dirty="0"/>
              <a:t>minimize the costs</a:t>
            </a:r>
            <a:r>
              <a:rPr lang="en-US" sz="2000" dirty="0"/>
              <a:t>.</a:t>
            </a:r>
          </a:p>
          <a:p>
            <a:pPr marL="285750" indent="-285750" algn="just">
              <a:lnSpc>
                <a:spcPct val="150000"/>
              </a:lnSpc>
              <a:buFont typeface="Arial" panose="020B0604020202020204" pitchFamily="34" charset="0"/>
              <a:buChar char="•"/>
            </a:pPr>
            <a:r>
              <a:rPr lang="en-US" sz="2000" dirty="0"/>
              <a:t>Auto Scaling service and </a:t>
            </a:r>
            <a:r>
              <a:rPr lang="en-US" sz="2000" b="1" dirty="0" err="1"/>
              <a:t>CloudWatch</a:t>
            </a:r>
            <a:r>
              <a:rPr lang="en-US" sz="2000" b="1" dirty="0"/>
              <a:t> </a:t>
            </a:r>
            <a:r>
              <a:rPr lang="en-US" sz="2000" dirty="0"/>
              <a:t>[31] (</a:t>
            </a:r>
            <a:r>
              <a:rPr lang="en-US" sz="2000" b="1" dirty="0"/>
              <a:t>a monitoring service for AWS cloud resources and their utilization</a:t>
            </a:r>
            <a:r>
              <a:rPr lang="en-US" sz="2000" dirty="0"/>
              <a:t>) help in </a:t>
            </a:r>
            <a:r>
              <a:rPr lang="en-US" sz="2000" b="1" dirty="0"/>
              <a:t>exposing functionalities required for provisioning application services on Amazon EC2.</a:t>
            </a:r>
          </a:p>
          <a:p>
            <a:pPr marL="285750" indent="-285750" algn="just">
              <a:lnSpc>
                <a:spcPct val="150000"/>
              </a:lnSpc>
              <a:buFont typeface="Arial" panose="020B0604020202020204" pitchFamily="34" charset="0"/>
              <a:buChar char="•"/>
            </a:pPr>
            <a:r>
              <a:rPr lang="en-US" sz="2000" dirty="0"/>
              <a:t> Amazon Elastic </a:t>
            </a:r>
            <a:r>
              <a:rPr lang="en-US" sz="2000" b="1" dirty="0"/>
              <a:t>Load Balancer </a:t>
            </a:r>
            <a:r>
              <a:rPr lang="en-US" sz="2000" dirty="0"/>
              <a:t>[32] is another service </a:t>
            </a:r>
            <a:r>
              <a:rPr lang="en-US" sz="2000" b="1" dirty="0"/>
              <a:t>that helps in building fault-tolerant applications by automatically </a:t>
            </a:r>
            <a:r>
              <a:rPr lang="en-US" sz="2000" dirty="0"/>
              <a:t>provisioning incoming application </a:t>
            </a:r>
            <a:r>
              <a:rPr lang="en-US" sz="2000" b="1" dirty="0"/>
              <a:t>workload across available Amazon EC2 instances and </a:t>
            </a:r>
            <a:r>
              <a:rPr lang="en-US" sz="2000" b="1" u="sng" dirty="0"/>
              <a:t>in multiple availability zones</a:t>
            </a:r>
          </a:p>
          <a:p>
            <a:pPr algn="just">
              <a:lnSpc>
                <a:spcPct val="150000"/>
              </a:lnSpc>
            </a:pPr>
            <a:endParaRPr lang="en-US" b="1" dirty="0"/>
          </a:p>
          <a:p>
            <a:r>
              <a:rPr lang="en-US" sz="1600" i="1" dirty="0"/>
              <a:t>30. Amazon Auto Scaling Service, http://aws.amazon.com/autoscaling/, March 23, 2010.</a:t>
            </a:r>
          </a:p>
          <a:p>
            <a:r>
              <a:rPr lang="en-US" sz="1600" i="1" dirty="0"/>
              <a:t>31. Amazon </a:t>
            </a:r>
            <a:r>
              <a:rPr lang="en-US" sz="1600" i="1" dirty="0" err="1"/>
              <a:t>CloudWatch</a:t>
            </a:r>
            <a:r>
              <a:rPr lang="en-US" sz="1600" i="1" dirty="0"/>
              <a:t> Service, http://aws.amazon.com/cloudwatch/, March 23,2010.</a:t>
            </a:r>
          </a:p>
          <a:p>
            <a:r>
              <a:rPr lang="en-US" sz="1600" i="1" dirty="0"/>
              <a:t>32. Amazon Load Balancer Service, http://aws.amazon.com/elasticloadbalancing/.March 21, 2010.</a:t>
            </a:r>
          </a:p>
          <a:p>
            <a:pPr marL="285750" indent="-285750" algn="just">
              <a:lnSpc>
                <a:spcPct val="150000"/>
              </a:lnSpc>
              <a:buFont typeface="Arial" panose="020B0604020202020204" pitchFamily="34" charset="0"/>
              <a:buChar char="•"/>
            </a:pPr>
            <a:endParaRPr lang="en-US" sz="1600" i="1" dirty="0"/>
          </a:p>
        </p:txBody>
      </p:sp>
    </p:spTree>
    <p:extLst>
      <p:ext uri="{BB962C8B-B14F-4D97-AF65-F5344CB8AC3E}">
        <p14:creationId xmlns:p14="http://schemas.microsoft.com/office/powerpoint/2010/main" val="285776940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1B9CF2-5340-A1F5-C675-03DAA97646C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D1866C2-87F2-F1C2-7AEF-C0DEF572679B}"/>
              </a:ext>
            </a:extLst>
          </p:cNvPr>
          <p:cNvSpPr/>
          <p:nvPr/>
        </p:nvSpPr>
        <p:spPr>
          <a:xfrm>
            <a:off x="3376337" y="465039"/>
            <a:ext cx="4519955" cy="461665"/>
          </a:xfrm>
          <a:prstGeom prst="rect">
            <a:avLst/>
          </a:prstGeom>
        </p:spPr>
        <p:txBody>
          <a:bodyPr wrap="none">
            <a:spAutoFit/>
          </a:bodyPr>
          <a:lstStyle/>
          <a:p>
            <a:r>
              <a:rPr lang="en-US" sz="2400" b="1" dirty="0"/>
              <a:t>Amazon and Provisioning Services</a:t>
            </a:r>
          </a:p>
        </p:txBody>
      </p:sp>
      <p:sp>
        <p:nvSpPr>
          <p:cNvPr id="5" name="Rectangle 4">
            <a:extLst>
              <a:ext uri="{FF2B5EF4-FFF2-40B4-BE49-F238E27FC236}">
                <a16:creationId xmlns:a16="http://schemas.microsoft.com/office/drawing/2014/main" id="{B85617A9-6EDB-0AE0-0A4A-063282D75DDC}"/>
              </a:ext>
            </a:extLst>
          </p:cNvPr>
          <p:cNvSpPr/>
          <p:nvPr/>
        </p:nvSpPr>
        <p:spPr>
          <a:xfrm>
            <a:off x="136358" y="1228091"/>
            <a:ext cx="11510210" cy="5424818"/>
          </a:xfrm>
          <a:prstGeom prst="rect">
            <a:avLst/>
          </a:prstGeom>
        </p:spPr>
        <p:txBody>
          <a:bodyPr wrap="square">
            <a:spAutoFit/>
          </a:bodyPr>
          <a:lstStyle/>
          <a:p>
            <a:pPr algn="just">
              <a:lnSpc>
                <a:spcPct val="150000"/>
              </a:lnSpc>
            </a:pPr>
            <a:r>
              <a:rPr lang="en-US" sz="2400" b="1" dirty="0"/>
              <a:t>Amazon Auto Scaling [30]</a:t>
            </a:r>
          </a:p>
          <a:p>
            <a:pPr algn="just">
              <a:lnSpc>
                <a:spcPct val="150000"/>
              </a:lnSpc>
            </a:pPr>
            <a:r>
              <a:rPr lang="en-US" sz="2400" b="1" dirty="0"/>
              <a:t>Why Auto scaling?</a:t>
            </a:r>
          </a:p>
          <a:p>
            <a:pPr marL="342900" indent="-342900" algn="just">
              <a:lnSpc>
                <a:spcPct val="150000"/>
              </a:lnSpc>
              <a:buFont typeface="Arial" panose="020B0604020202020204" pitchFamily="34" charset="0"/>
              <a:buChar char="•"/>
            </a:pPr>
            <a:r>
              <a:rPr lang="en-US" sz="2000" b="0" i="0" dirty="0">
                <a:solidFill>
                  <a:srgbClr val="232B37"/>
                </a:solidFill>
                <a:effectLst/>
                <a:latin typeface="Amazon Ember Display"/>
              </a:rPr>
              <a:t>AWS Auto Scaling monitors your applications and automatically adjusts capacity to maintain steady, predictable performance at the lowest possible cost. </a:t>
            </a:r>
          </a:p>
          <a:p>
            <a:pPr marL="342900" indent="-342900" algn="just">
              <a:lnSpc>
                <a:spcPct val="150000"/>
              </a:lnSpc>
              <a:buFont typeface="Arial" panose="020B0604020202020204" pitchFamily="34" charset="0"/>
              <a:buChar char="•"/>
            </a:pPr>
            <a:r>
              <a:rPr lang="en-US" sz="2000" b="0" i="0" dirty="0">
                <a:solidFill>
                  <a:srgbClr val="232B37"/>
                </a:solidFill>
                <a:effectLst/>
                <a:latin typeface="Amazon Ember Display"/>
              </a:rPr>
              <a:t>Using AWS Auto Scaling, </a:t>
            </a:r>
            <a:r>
              <a:rPr lang="en-US" sz="2000" b="1" i="0" dirty="0">
                <a:solidFill>
                  <a:srgbClr val="232B37"/>
                </a:solidFill>
                <a:effectLst/>
                <a:latin typeface="Amazon Ember Display"/>
              </a:rPr>
              <a:t>it’s easy to set up application scaling for multiple resources across multiple services in minutes.</a:t>
            </a:r>
          </a:p>
          <a:p>
            <a:pPr marL="342900" indent="-342900" algn="just">
              <a:lnSpc>
                <a:spcPct val="150000"/>
              </a:lnSpc>
              <a:buFont typeface="Arial" panose="020B0604020202020204" pitchFamily="34" charset="0"/>
              <a:buChar char="•"/>
            </a:pPr>
            <a:r>
              <a:rPr lang="en-US" sz="2000" b="0" i="0" dirty="0">
                <a:solidFill>
                  <a:srgbClr val="232B37"/>
                </a:solidFill>
                <a:effectLst/>
                <a:latin typeface="Amazon Ember Display"/>
              </a:rPr>
              <a:t>AWS Auto Scaling makes scaling simple with recommendations that allow you </a:t>
            </a:r>
            <a:r>
              <a:rPr lang="en-US" sz="2000" b="1" i="0" dirty="0">
                <a:solidFill>
                  <a:srgbClr val="232B37"/>
                </a:solidFill>
                <a:effectLst/>
                <a:latin typeface="Amazon Ember Display"/>
              </a:rPr>
              <a:t>to optimize performance</a:t>
            </a:r>
            <a:r>
              <a:rPr lang="en-US" sz="2000" b="0" i="0" dirty="0">
                <a:solidFill>
                  <a:srgbClr val="232B37"/>
                </a:solidFill>
                <a:effectLst/>
                <a:latin typeface="Amazon Ember Display"/>
              </a:rPr>
              <a:t>, </a:t>
            </a:r>
            <a:r>
              <a:rPr lang="en-US" sz="2000" b="1" i="0" dirty="0">
                <a:solidFill>
                  <a:srgbClr val="232B37"/>
                </a:solidFill>
                <a:effectLst/>
                <a:latin typeface="Amazon Ember Display"/>
              </a:rPr>
              <a:t>costs, or balance between them</a:t>
            </a:r>
            <a:r>
              <a:rPr lang="en-US" sz="2000" b="0" i="0" dirty="0">
                <a:solidFill>
                  <a:srgbClr val="232B37"/>
                </a:solidFill>
                <a:effectLst/>
                <a:latin typeface="Amazon Ember Display"/>
              </a:rPr>
              <a:t>. </a:t>
            </a:r>
            <a:endParaRPr lang="en-US" sz="2000" dirty="0">
              <a:solidFill>
                <a:srgbClr val="232B37"/>
              </a:solidFill>
              <a:latin typeface="Amazon Ember Display"/>
            </a:endParaRPr>
          </a:p>
          <a:p>
            <a:pPr marL="342900" indent="-342900" algn="just">
              <a:lnSpc>
                <a:spcPct val="150000"/>
              </a:lnSpc>
              <a:buFont typeface="Arial" panose="020B0604020202020204" pitchFamily="34" charset="0"/>
              <a:buChar char="•"/>
            </a:pPr>
            <a:r>
              <a:rPr lang="en-US" sz="2000" b="0" i="0" dirty="0">
                <a:solidFill>
                  <a:srgbClr val="232B37"/>
                </a:solidFill>
                <a:effectLst/>
                <a:latin typeface="Amazon Ember Display"/>
              </a:rPr>
              <a:t>With AWS Auto Scaling, your applications always have the right resources at the right time.</a:t>
            </a:r>
            <a:endParaRPr lang="en-US" sz="2000" dirty="0"/>
          </a:p>
          <a:p>
            <a:pPr marL="285750" indent="-285750" algn="just">
              <a:lnSpc>
                <a:spcPct val="150000"/>
              </a:lnSpc>
              <a:buFont typeface="Arial" panose="020B0604020202020204" pitchFamily="34" charset="0"/>
              <a:buChar char="•"/>
            </a:pPr>
            <a:endParaRPr lang="en-US" b="1" dirty="0"/>
          </a:p>
          <a:p>
            <a:r>
              <a:rPr lang="en-US" sz="1600" i="1" dirty="0"/>
              <a:t>30. Amazon Auto Scaling Service, http://aws.amazon.com/autoscaling/, March 23, 2010.</a:t>
            </a:r>
          </a:p>
          <a:p>
            <a:pPr algn="just">
              <a:lnSpc>
                <a:spcPct val="150000"/>
              </a:lnSpc>
            </a:pPr>
            <a:endParaRPr lang="en-US" sz="1600" i="1" dirty="0"/>
          </a:p>
        </p:txBody>
      </p:sp>
    </p:spTree>
    <p:extLst>
      <p:ext uri="{BB962C8B-B14F-4D97-AF65-F5344CB8AC3E}">
        <p14:creationId xmlns:p14="http://schemas.microsoft.com/office/powerpoint/2010/main" val="24537816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722BC-3ABC-6536-9CDD-8A4089240136}"/>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13A84BF-34E6-A176-656F-0CB6030ED33C}"/>
              </a:ext>
            </a:extLst>
          </p:cNvPr>
          <p:cNvSpPr/>
          <p:nvPr/>
        </p:nvSpPr>
        <p:spPr>
          <a:xfrm>
            <a:off x="3376337" y="465039"/>
            <a:ext cx="4519955" cy="461665"/>
          </a:xfrm>
          <a:prstGeom prst="rect">
            <a:avLst/>
          </a:prstGeom>
        </p:spPr>
        <p:txBody>
          <a:bodyPr wrap="none">
            <a:spAutoFit/>
          </a:bodyPr>
          <a:lstStyle/>
          <a:p>
            <a:r>
              <a:rPr lang="en-US" sz="2400" b="1" dirty="0"/>
              <a:t>Amazon and Provisioning Services</a:t>
            </a:r>
          </a:p>
        </p:txBody>
      </p:sp>
      <p:sp>
        <p:nvSpPr>
          <p:cNvPr id="5" name="Rectangle 4">
            <a:extLst>
              <a:ext uri="{FF2B5EF4-FFF2-40B4-BE49-F238E27FC236}">
                <a16:creationId xmlns:a16="http://schemas.microsoft.com/office/drawing/2014/main" id="{BC8F6FCE-D16C-CBE4-459D-0FAF47A38C38}"/>
              </a:ext>
            </a:extLst>
          </p:cNvPr>
          <p:cNvSpPr/>
          <p:nvPr/>
        </p:nvSpPr>
        <p:spPr>
          <a:xfrm>
            <a:off x="136357" y="1228091"/>
            <a:ext cx="11772613" cy="5655651"/>
          </a:xfrm>
          <a:prstGeom prst="rect">
            <a:avLst/>
          </a:prstGeom>
        </p:spPr>
        <p:txBody>
          <a:bodyPr wrap="square">
            <a:spAutoFit/>
          </a:bodyPr>
          <a:lstStyle/>
          <a:p>
            <a:pPr algn="just">
              <a:lnSpc>
                <a:spcPct val="150000"/>
              </a:lnSpc>
            </a:pPr>
            <a:r>
              <a:rPr lang="en-US" sz="2400" b="1" dirty="0"/>
              <a:t>CloudWatch </a:t>
            </a:r>
            <a:r>
              <a:rPr lang="en-US" sz="2400" dirty="0"/>
              <a:t>[31] </a:t>
            </a:r>
          </a:p>
          <a:p>
            <a:pPr algn="just">
              <a:lnSpc>
                <a:spcPct val="150000"/>
              </a:lnSpc>
            </a:pPr>
            <a:r>
              <a:rPr lang="en-US" sz="2400" b="1" dirty="0"/>
              <a:t>Why CloudWatch?</a:t>
            </a:r>
          </a:p>
          <a:p>
            <a:pPr marL="342900" indent="-342900" algn="just">
              <a:lnSpc>
                <a:spcPct val="150000"/>
              </a:lnSpc>
              <a:buFont typeface="Arial" panose="020B0604020202020204" pitchFamily="34" charset="0"/>
              <a:buChar char="•"/>
            </a:pPr>
            <a:r>
              <a:rPr lang="en-US" sz="2400" b="0" i="0" dirty="0">
                <a:solidFill>
                  <a:srgbClr val="232B37"/>
                </a:solidFill>
                <a:effectLst/>
                <a:latin typeface="Amazon Ember Display"/>
              </a:rPr>
              <a:t>CloudWatch is a service that </a:t>
            </a:r>
            <a:r>
              <a:rPr lang="en-US" sz="2400" b="1" i="0" dirty="0">
                <a:solidFill>
                  <a:srgbClr val="232B37"/>
                </a:solidFill>
                <a:effectLst/>
                <a:latin typeface="Amazon Ember Display"/>
              </a:rPr>
              <a:t>monitors applications, responds to performance changes</a:t>
            </a:r>
            <a:r>
              <a:rPr lang="en-US" sz="2400" b="0" i="0" dirty="0">
                <a:solidFill>
                  <a:srgbClr val="232B37"/>
                </a:solidFill>
                <a:effectLst/>
                <a:latin typeface="Amazon Ember Display"/>
              </a:rPr>
              <a:t>, optimizes resource use, and </a:t>
            </a:r>
            <a:r>
              <a:rPr lang="en-US" sz="2400" b="1" i="0" dirty="0">
                <a:solidFill>
                  <a:srgbClr val="232B37"/>
                </a:solidFill>
                <a:effectLst/>
                <a:latin typeface="Amazon Ember Display"/>
              </a:rPr>
              <a:t>provides insights into operational health. </a:t>
            </a:r>
            <a:r>
              <a:rPr lang="en-US" sz="2400" b="0" i="0" dirty="0">
                <a:solidFill>
                  <a:srgbClr val="1F1F1F"/>
                </a:solidFill>
                <a:effectLst/>
                <a:latin typeface="Google Sans"/>
              </a:rPr>
              <a:t>Tracks the health of your AWS resources, including applications, infrastructure, networks, and services </a:t>
            </a:r>
            <a:endParaRPr lang="en-US" sz="2400" b="1" i="0" dirty="0">
              <a:solidFill>
                <a:srgbClr val="232B37"/>
              </a:solidFill>
              <a:effectLst/>
              <a:latin typeface="Amazon Ember Display"/>
            </a:endParaRPr>
          </a:p>
          <a:p>
            <a:pPr marL="342900" indent="-342900" algn="just">
              <a:lnSpc>
                <a:spcPct val="150000"/>
              </a:lnSpc>
              <a:buFont typeface="Arial" panose="020B0604020202020204" pitchFamily="34" charset="0"/>
              <a:buChar char="•"/>
            </a:pPr>
            <a:r>
              <a:rPr lang="en-US" sz="2400" b="0" i="0" dirty="0">
                <a:solidFill>
                  <a:srgbClr val="232B37"/>
                </a:solidFill>
                <a:effectLst/>
                <a:latin typeface="Amazon Ember Display"/>
              </a:rPr>
              <a:t>By collecting data across AWS resources, </a:t>
            </a:r>
            <a:r>
              <a:rPr lang="en-US" sz="2400" i="0" dirty="0">
                <a:solidFill>
                  <a:srgbClr val="232B37"/>
                </a:solidFill>
                <a:effectLst/>
                <a:latin typeface="Amazon Ember Display"/>
              </a:rPr>
              <a:t>CloudWatch gives </a:t>
            </a:r>
            <a:r>
              <a:rPr lang="en-US" sz="2400" b="1" i="0" dirty="0">
                <a:solidFill>
                  <a:srgbClr val="232B37"/>
                </a:solidFill>
                <a:effectLst/>
                <a:latin typeface="Amazon Ember Display"/>
              </a:rPr>
              <a:t>visibility into system-wide performance and allows </a:t>
            </a:r>
            <a:r>
              <a:rPr lang="en-US" sz="2400" b="1" i="0" u="sng" dirty="0">
                <a:solidFill>
                  <a:srgbClr val="232B37"/>
                </a:solidFill>
                <a:effectLst/>
                <a:latin typeface="Amazon Ember Display"/>
              </a:rPr>
              <a:t>users to set alarms</a:t>
            </a:r>
            <a:r>
              <a:rPr lang="en-US" sz="2400" b="1" i="0" dirty="0">
                <a:solidFill>
                  <a:srgbClr val="232B37"/>
                </a:solidFill>
                <a:effectLst/>
                <a:latin typeface="Amazon Ember Display"/>
              </a:rPr>
              <a:t>, automatically react to changes</a:t>
            </a:r>
            <a:r>
              <a:rPr lang="en-US" sz="2400" b="0" i="0" dirty="0">
                <a:solidFill>
                  <a:srgbClr val="232B37"/>
                </a:solidFill>
                <a:effectLst/>
                <a:latin typeface="Amazon Ember Display"/>
              </a:rPr>
              <a:t>, and </a:t>
            </a:r>
            <a:r>
              <a:rPr lang="en-US" sz="2400" b="1" i="0" dirty="0">
                <a:solidFill>
                  <a:srgbClr val="232B37"/>
                </a:solidFill>
                <a:effectLst/>
                <a:latin typeface="Amazon Ember Display"/>
              </a:rPr>
              <a:t>gain a unified view of operational health.</a:t>
            </a:r>
          </a:p>
          <a:p>
            <a:pPr marL="342900" indent="-342900" algn="just">
              <a:lnSpc>
                <a:spcPct val="150000"/>
              </a:lnSpc>
              <a:buFont typeface="Arial" panose="020B0604020202020204" pitchFamily="34" charset="0"/>
              <a:buChar char="•"/>
            </a:pPr>
            <a:endParaRPr lang="en-US" sz="2400" b="1" dirty="0"/>
          </a:p>
          <a:p>
            <a:r>
              <a:rPr lang="en-US" sz="1600" i="1" dirty="0"/>
              <a:t>31. Amazon CloudWatch Service, http://aws.amazon.com/cloudwatch/, March 23,2010.</a:t>
            </a:r>
          </a:p>
          <a:p>
            <a:pPr algn="just">
              <a:lnSpc>
                <a:spcPct val="150000"/>
              </a:lnSpc>
            </a:pPr>
            <a:endParaRPr lang="en-US" sz="1600" i="1" dirty="0"/>
          </a:p>
        </p:txBody>
      </p:sp>
    </p:spTree>
    <p:extLst>
      <p:ext uri="{BB962C8B-B14F-4D97-AF65-F5344CB8AC3E}">
        <p14:creationId xmlns:p14="http://schemas.microsoft.com/office/powerpoint/2010/main" val="25087889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298E3-671C-7569-5F18-439024B5A99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0F822E9-F2B9-D0B7-FA61-C314D20D3197}"/>
              </a:ext>
            </a:extLst>
          </p:cNvPr>
          <p:cNvSpPr/>
          <p:nvPr/>
        </p:nvSpPr>
        <p:spPr>
          <a:xfrm>
            <a:off x="3398109" y="-3047"/>
            <a:ext cx="4519955" cy="461665"/>
          </a:xfrm>
          <a:prstGeom prst="rect">
            <a:avLst/>
          </a:prstGeom>
        </p:spPr>
        <p:txBody>
          <a:bodyPr wrap="none">
            <a:spAutoFit/>
          </a:bodyPr>
          <a:lstStyle/>
          <a:p>
            <a:r>
              <a:rPr lang="en-US" sz="2400" b="1" dirty="0"/>
              <a:t>Amazon and Provisioning Services</a:t>
            </a:r>
          </a:p>
        </p:txBody>
      </p:sp>
      <p:sp>
        <p:nvSpPr>
          <p:cNvPr id="5" name="Rectangle 4">
            <a:extLst>
              <a:ext uri="{FF2B5EF4-FFF2-40B4-BE49-F238E27FC236}">
                <a16:creationId xmlns:a16="http://schemas.microsoft.com/office/drawing/2014/main" id="{8B747432-E494-ED69-C28A-C1BE35D0E93E}"/>
              </a:ext>
            </a:extLst>
          </p:cNvPr>
          <p:cNvSpPr/>
          <p:nvPr/>
        </p:nvSpPr>
        <p:spPr>
          <a:xfrm>
            <a:off x="169015" y="438265"/>
            <a:ext cx="11510210" cy="6763646"/>
          </a:xfrm>
          <a:prstGeom prst="rect">
            <a:avLst/>
          </a:prstGeom>
        </p:spPr>
        <p:txBody>
          <a:bodyPr wrap="square">
            <a:spAutoFit/>
          </a:bodyPr>
          <a:lstStyle/>
          <a:p>
            <a:pPr algn="just">
              <a:lnSpc>
                <a:spcPct val="150000"/>
              </a:lnSpc>
            </a:pPr>
            <a:r>
              <a:rPr lang="en-US" sz="2400" b="1" dirty="0"/>
              <a:t>Amazon Elastic Load Balancer [32]</a:t>
            </a:r>
          </a:p>
          <a:p>
            <a:pPr algn="just">
              <a:lnSpc>
                <a:spcPct val="150000"/>
              </a:lnSpc>
            </a:pPr>
            <a:r>
              <a:rPr lang="en-US" sz="2400" b="1" dirty="0"/>
              <a:t>What is AWS load balancing? Why?</a:t>
            </a:r>
          </a:p>
          <a:p>
            <a:pPr marL="342900" indent="-342900" algn="just">
              <a:lnSpc>
                <a:spcPct val="150000"/>
              </a:lnSpc>
              <a:buFont typeface="Arial" panose="020B0604020202020204" pitchFamily="34" charset="0"/>
              <a:buChar char="•"/>
            </a:pPr>
            <a:r>
              <a:rPr lang="en-US" sz="2400" b="0" i="0" dirty="0">
                <a:solidFill>
                  <a:srgbClr val="232B37"/>
                </a:solidFill>
                <a:effectLst/>
                <a:latin typeface="Amazon Ember Display"/>
              </a:rPr>
              <a:t>Elastic Load Balancing automatically </a:t>
            </a:r>
            <a:r>
              <a:rPr lang="en-US" sz="2400" b="1" i="0" dirty="0">
                <a:solidFill>
                  <a:srgbClr val="232B37"/>
                </a:solidFill>
                <a:effectLst/>
                <a:latin typeface="Amazon Ember Display"/>
              </a:rPr>
              <a:t>distributes your incoming traffic across multiple targets, such as EC2 instances, containers, </a:t>
            </a:r>
            <a:r>
              <a:rPr lang="en-US" sz="2400" b="0" i="0" dirty="0">
                <a:solidFill>
                  <a:srgbClr val="232B37"/>
                </a:solidFill>
                <a:effectLst/>
                <a:latin typeface="Amazon Ember Display"/>
              </a:rPr>
              <a:t>and IP addresses, in one or more Availability Zones. </a:t>
            </a:r>
          </a:p>
          <a:p>
            <a:pPr marL="342900" indent="-342900" algn="just">
              <a:lnSpc>
                <a:spcPct val="150000"/>
              </a:lnSpc>
              <a:buFont typeface="Arial" panose="020B0604020202020204" pitchFamily="34" charset="0"/>
              <a:buChar char="•"/>
            </a:pPr>
            <a:r>
              <a:rPr lang="en-US" sz="2400" b="0" i="0" dirty="0">
                <a:solidFill>
                  <a:srgbClr val="232B37"/>
                </a:solidFill>
                <a:effectLst/>
                <a:latin typeface="Amazon Ember Display"/>
              </a:rPr>
              <a:t>It monitors the health of its registered targets, and </a:t>
            </a:r>
            <a:r>
              <a:rPr lang="en-US" sz="2400" b="1" i="0" dirty="0">
                <a:solidFill>
                  <a:srgbClr val="232B37"/>
                </a:solidFill>
                <a:effectLst/>
                <a:latin typeface="Amazon Ember Display"/>
              </a:rPr>
              <a:t>routes traffic only to the healthy targets. </a:t>
            </a:r>
            <a:r>
              <a:rPr lang="en-US" sz="2400" b="0" i="0" dirty="0">
                <a:solidFill>
                  <a:srgbClr val="232B37"/>
                </a:solidFill>
                <a:effectLst/>
                <a:latin typeface="Amazon Ember Display"/>
              </a:rPr>
              <a:t>Elastic Load Balancing scales your load balancer capacity automatically in response to changes in incoming traffic.</a:t>
            </a:r>
          </a:p>
          <a:p>
            <a:pPr marL="342900" indent="-342900" algn="just">
              <a:lnSpc>
                <a:spcPct val="150000"/>
              </a:lnSpc>
              <a:buFont typeface="Arial" panose="020B0604020202020204" pitchFamily="34" charset="0"/>
              <a:buChar char="•"/>
            </a:pPr>
            <a:r>
              <a:rPr lang="en-US" sz="2400" b="0" i="0" dirty="0">
                <a:solidFill>
                  <a:srgbClr val="0F141A"/>
                </a:solidFill>
                <a:effectLst/>
                <a:latin typeface="Amazon Ember"/>
              </a:rPr>
              <a:t>A load balancer distributes workloads across multiple compute resources, such as virtual servers. </a:t>
            </a:r>
          </a:p>
          <a:p>
            <a:pPr marL="342900" indent="-342900" algn="just">
              <a:lnSpc>
                <a:spcPct val="150000"/>
              </a:lnSpc>
              <a:buFont typeface="Arial" panose="020B0604020202020204" pitchFamily="34" charset="0"/>
              <a:buChar char="•"/>
            </a:pPr>
            <a:r>
              <a:rPr lang="en-US" sz="2400" b="0" i="0" dirty="0">
                <a:solidFill>
                  <a:srgbClr val="0F141A"/>
                </a:solidFill>
                <a:effectLst/>
                <a:latin typeface="Amazon Ember"/>
              </a:rPr>
              <a:t>Using a </a:t>
            </a:r>
            <a:r>
              <a:rPr lang="en-US" sz="2400" b="1" i="0" dirty="0">
                <a:solidFill>
                  <a:srgbClr val="0F141A"/>
                </a:solidFill>
                <a:effectLst/>
                <a:latin typeface="Amazon Ember"/>
              </a:rPr>
              <a:t>load balancer increases the availability and fault tolerance of your applications</a:t>
            </a:r>
            <a:r>
              <a:rPr lang="en-US" sz="2400" b="0" i="0" dirty="0">
                <a:solidFill>
                  <a:srgbClr val="0F141A"/>
                </a:solidFill>
                <a:effectLst/>
                <a:latin typeface="Amazon Ember"/>
              </a:rPr>
              <a:t>.</a:t>
            </a:r>
            <a:endParaRPr lang="en-US" b="1" dirty="0"/>
          </a:p>
          <a:p>
            <a:r>
              <a:rPr lang="en-US" sz="1600" i="1" dirty="0"/>
              <a:t>32. Amazon Load Balancer Service, http://aws.amazon.com/elasticloadbalancing/.March 21, 2010.</a:t>
            </a:r>
          </a:p>
          <a:p>
            <a:pPr algn="just">
              <a:lnSpc>
                <a:spcPct val="150000"/>
              </a:lnSpc>
            </a:pPr>
            <a:endParaRPr lang="en-US" sz="1600" i="1" dirty="0"/>
          </a:p>
        </p:txBody>
      </p:sp>
    </p:spTree>
    <p:extLst>
      <p:ext uri="{BB962C8B-B14F-4D97-AF65-F5344CB8AC3E}">
        <p14:creationId xmlns:p14="http://schemas.microsoft.com/office/powerpoint/2010/main" val="13410890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76337" y="465039"/>
            <a:ext cx="4521109" cy="461665"/>
          </a:xfrm>
          <a:prstGeom prst="rect">
            <a:avLst/>
          </a:prstGeom>
        </p:spPr>
        <p:txBody>
          <a:bodyPr wrap="none">
            <a:spAutoFit/>
          </a:bodyPr>
          <a:lstStyle/>
          <a:p>
            <a:r>
              <a:rPr lang="en-US" sz="2400" dirty="0"/>
              <a:t>Infrastructure Enabling Technology</a:t>
            </a:r>
            <a:endParaRPr lang="en-US" sz="2400" b="1" dirty="0"/>
          </a:p>
        </p:txBody>
      </p:sp>
      <p:sp>
        <p:nvSpPr>
          <p:cNvPr id="5" name="Rectangle 4"/>
          <p:cNvSpPr/>
          <p:nvPr/>
        </p:nvSpPr>
        <p:spPr>
          <a:xfrm>
            <a:off x="136358" y="1228091"/>
            <a:ext cx="11510210" cy="268086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sz="2400" b="1" dirty="0"/>
              <a:t>Offering infrastructure as a service requires software </a:t>
            </a:r>
            <a:r>
              <a:rPr lang="en-US" sz="2400" dirty="0"/>
              <a:t>and </a:t>
            </a:r>
            <a:r>
              <a:rPr lang="en-US" sz="2400" b="1" dirty="0"/>
              <a:t>platforms to manage the Infrastructure</a:t>
            </a:r>
            <a:r>
              <a:rPr lang="en-US" sz="2400" dirty="0"/>
              <a:t> being shared and dynamically provisioned.</a:t>
            </a:r>
          </a:p>
          <a:p>
            <a:pPr marL="285750" indent="-285750" algn="just">
              <a:lnSpc>
                <a:spcPct val="150000"/>
              </a:lnSpc>
              <a:buFont typeface="Arial" panose="020B0604020202020204" pitchFamily="34" charset="0"/>
              <a:buChar char="•"/>
            </a:pPr>
            <a:r>
              <a:rPr lang="en-US" sz="2400" dirty="0"/>
              <a:t>For this, there are </a:t>
            </a:r>
            <a:r>
              <a:rPr lang="en-US" sz="2400" b="1" dirty="0"/>
              <a:t>three noteworthy technologies to be considered: Eucalyptus, </a:t>
            </a:r>
            <a:r>
              <a:rPr lang="en-US" sz="2400" b="1" dirty="0" err="1"/>
              <a:t>OpenNebula</a:t>
            </a:r>
            <a:r>
              <a:rPr lang="en-US" sz="2400" b="1" dirty="0"/>
              <a:t>, and Aneka</a:t>
            </a:r>
          </a:p>
          <a:p>
            <a:pPr marL="285750" indent="-285750" algn="just">
              <a:lnSpc>
                <a:spcPct val="150000"/>
              </a:lnSpc>
              <a:buFont typeface="Arial" panose="020B0604020202020204" pitchFamily="34" charset="0"/>
              <a:buChar char="•"/>
            </a:pPr>
            <a:endParaRPr lang="en-US" dirty="0"/>
          </a:p>
        </p:txBody>
      </p:sp>
    </p:spTree>
    <p:extLst>
      <p:ext uri="{BB962C8B-B14F-4D97-AF65-F5344CB8AC3E}">
        <p14:creationId xmlns:p14="http://schemas.microsoft.com/office/powerpoint/2010/main" val="12800865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731685" y="785201"/>
            <a:ext cx="9379659" cy="5271367"/>
          </a:xfrm>
          <a:prstGeom prst="rect">
            <a:avLst/>
          </a:prstGeom>
        </p:spPr>
      </p:pic>
    </p:spTree>
    <p:extLst>
      <p:ext uri="{BB962C8B-B14F-4D97-AF65-F5344CB8AC3E}">
        <p14:creationId xmlns:p14="http://schemas.microsoft.com/office/powerpoint/2010/main" val="94936985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1" y="930896"/>
            <a:ext cx="10945090" cy="3913059"/>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sz="2400" dirty="0"/>
              <a:t>Eucalyptus [11] is an </a:t>
            </a:r>
            <a:r>
              <a:rPr lang="en-US" sz="2400" b="1" dirty="0"/>
              <a:t>open-source infrastructure for the implementation of cloud computing </a:t>
            </a:r>
            <a:r>
              <a:rPr lang="en-US" sz="2400" dirty="0"/>
              <a:t>on computer clusters.</a:t>
            </a:r>
          </a:p>
          <a:p>
            <a:pPr marL="285750" indent="-285750" algn="just">
              <a:lnSpc>
                <a:spcPct val="150000"/>
              </a:lnSpc>
              <a:buFont typeface="Arial" panose="020B0604020202020204" pitchFamily="34" charset="0"/>
              <a:buChar char="•"/>
            </a:pPr>
            <a:r>
              <a:rPr lang="en-US" sz="2400" dirty="0"/>
              <a:t>It is considered one of the </a:t>
            </a:r>
            <a:r>
              <a:rPr lang="en-US" sz="2400" b="1" dirty="0"/>
              <a:t>earliest tools </a:t>
            </a:r>
            <a:r>
              <a:rPr lang="en-US" sz="2400" dirty="0"/>
              <a:t>developed as a surge computing (in which data center’s </a:t>
            </a:r>
            <a:r>
              <a:rPr lang="en-US" sz="2400" b="1" dirty="0"/>
              <a:t>private cloud </a:t>
            </a:r>
            <a:r>
              <a:rPr lang="en-US" sz="2400" dirty="0"/>
              <a:t>could augment its ability to handle workload’s spikes by a design that allows it to send overflow work to a public cloud) tool.</a:t>
            </a:r>
          </a:p>
          <a:p>
            <a:pPr marL="285750" indent="-285750" algn="just">
              <a:lnSpc>
                <a:spcPct val="150000"/>
              </a:lnSpc>
              <a:buFont typeface="Arial" panose="020B0604020202020204" pitchFamily="34" charset="0"/>
              <a:buChar char="•"/>
            </a:pPr>
            <a:r>
              <a:rPr lang="en-US" sz="2400" dirty="0"/>
              <a:t>Its name is an acronym for “</a:t>
            </a:r>
            <a:r>
              <a:rPr lang="en-US" sz="2400" b="1" dirty="0"/>
              <a:t>elastic utility computing architecture for linking your programs to useful systems</a:t>
            </a:r>
            <a:r>
              <a:rPr lang="en-US" sz="2400" dirty="0"/>
              <a:t>.”</a:t>
            </a:r>
          </a:p>
        </p:txBody>
      </p:sp>
      <p:sp>
        <p:nvSpPr>
          <p:cNvPr id="3" name="Rectangle 2"/>
          <p:cNvSpPr/>
          <p:nvPr/>
        </p:nvSpPr>
        <p:spPr>
          <a:xfrm>
            <a:off x="3344778" y="469231"/>
            <a:ext cx="3097585" cy="523220"/>
          </a:xfrm>
          <a:prstGeom prst="rect">
            <a:avLst/>
          </a:prstGeom>
        </p:spPr>
        <p:txBody>
          <a:bodyPr wrap="square">
            <a:spAutoFit/>
          </a:bodyPr>
          <a:lstStyle/>
          <a:p>
            <a:pPr algn="ctr"/>
            <a:r>
              <a:rPr lang="en-US" sz="2800" b="1" dirty="0"/>
              <a:t>Eucalyptus</a:t>
            </a:r>
          </a:p>
        </p:txBody>
      </p:sp>
    </p:spTree>
    <p:extLst>
      <p:ext uri="{BB962C8B-B14F-4D97-AF65-F5344CB8AC3E}">
        <p14:creationId xmlns:p14="http://schemas.microsoft.com/office/powerpoint/2010/main" val="21719453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412545-36F9-4F68-2315-7C7154132A3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C389047-8FB1-D6E9-14E3-27DE19B1BC5A}"/>
              </a:ext>
            </a:extLst>
          </p:cNvPr>
          <p:cNvSpPr/>
          <p:nvPr/>
        </p:nvSpPr>
        <p:spPr>
          <a:xfrm>
            <a:off x="304801" y="930896"/>
            <a:ext cx="11680370" cy="3913059"/>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sz="2400" dirty="0"/>
              <a:t>The open-source cloud refers to software or applications </a:t>
            </a:r>
            <a:r>
              <a:rPr lang="en-US" sz="2400" b="1" dirty="0"/>
              <a:t>publicly available for the users in the cloud to set up for their own purpose or for their organization.</a:t>
            </a:r>
          </a:p>
          <a:p>
            <a:pPr marL="285750" indent="-285750" algn="just">
              <a:lnSpc>
                <a:spcPct val="150000"/>
              </a:lnSpc>
              <a:buFont typeface="Arial" panose="020B0604020202020204" pitchFamily="34" charset="0"/>
              <a:buChar char="•"/>
            </a:pPr>
            <a:r>
              <a:rPr lang="en-US" sz="2400" dirty="0"/>
              <a:t>Eucalyptus is a </a:t>
            </a:r>
            <a:r>
              <a:rPr lang="en-US" sz="2400" b="1" dirty="0"/>
              <a:t>Linux-based open-source software architecture for cloud computing </a:t>
            </a:r>
            <a:r>
              <a:rPr lang="en-US" sz="2400" dirty="0"/>
              <a:t>and also a storage platform that implements Infrastructure a Service (IaaS).</a:t>
            </a:r>
          </a:p>
          <a:p>
            <a:pPr marL="285750" indent="-285750" algn="just">
              <a:lnSpc>
                <a:spcPct val="150000"/>
              </a:lnSpc>
              <a:buFont typeface="Arial" panose="020B0604020202020204" pitchFamily="34" charset="0"/>
              <a:buChar char="•"/>
            </a:pPr>
            <a:r>
              <a:rPr lang="en-US" sz="2400" dirty="0"/>
              <a:t>It provides </a:t>
            </a:r>
            <a:r>
              <a:rPr lang="en-US" sz="2400" b="1" dirty="0"/>
              <a:t>quick and efficient computing services</a:t>
            </a:r>
            <a:r>
              <a:rPr lang="en-US" sz="2400" dirty="0"/>
              <a:t>. </a:t>
            </a:r>
          </a:p>
          <a:p>
            <a:pPr marL="285750" indent="-285750" algn="just">
              <a:lnSpc>
                <a:spcPct val="150000"/>
              </a:lnSpc>
              <a:buFont typeface="Arial" panose="020B0604020202020204" pitchFamily="34" charset="0"/>
              <a:buChar char="•"/>
            </a:pPr>
            <a:r>
              <a:rPr lang="en-US" sz="2400" dirty="0"/>
              <a:t>Eucalyptus was designed to provide </a:t>
            </a:r>
            <a:r>
              <a:rPr lang="en-US" sz="2400" b="1" dirty="0"/>
              <a:t>services compatible with Amazon’s EC2 cloud and Simple Storage Service(S3).</a:t>
            </a:r>
          </a:p>
        </p:txBody>
      </p:sp>
      <p:sp>
        <p:nvSpPr>
          <p:cNvPr id="3" name="Rectangle 2">
            <a:extLst>
              <a:ext uri="{FF2B5EF4-FFF2-40B4-BE49-F238E27FC236}">
                <a16:creationId xmlns:a16="http://schemas.microsoft.com/office/drawing/2014/main" id="{C026ACA6-23B1-F9F1-2950-113DE26BE928}"/>
              </a:ext>
            </a:extLst>
          </p:cNvPr>
          <p:cNvSpPr/>
          <p:nvPr/>
        </p:nvSpPr>
        <p:spPr>
          <a:xfrm>
            <a:off x="3344778" y="469231"/>
            <a:ext cx="3097585" cy="523220"/>
          </a:xfrm>
          <a:prstGeom prst="rect">
            <a:avLst/>
          </a:prstGeom>
        </p:spPr>
        <p:txBody>
          <a:bodyPr wrap="square">
            <a:spAutoFit/>
          </a:bodyPr>
          <a:lstStyle/>
          <a:p>
            <a:pPr algn="ctr"/>
            <a:r>
              <a:rPr lang="en-US" sz="2800" b="1" dirty="0"/>
              <a:t>Eucalyptus</a:t>
            </a:r>
          </a:p>
        </p:txBody>
      </p:sp>
    </p:spTree>
    <p:extLst>
      <p:ext uri="{BB962C8B-B14F-4D97-AF65-F5344CB8AC3E}">
        <p14:creationId xmlns:p14="http://schemas.microsoft.com/office/powerpoint/2010/main" val="25946589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3097585" cy="523220"/>
          </a:xfrm>
          <a:prstGeom prst="rect">
            <a:avLst/>
          </a:prstGeom>
        </p:spPr>
        <p:txBody>
          <a:bodyPr wrap="square">
            <a:spAutoFit/>
          </a:bodyPr>
          <a:lstStyle/>
          <a:p>
            <a:pPr algn="ctr"/>
            <a:r>
              <a:rPr lang="en-US" sz="2800" b="1" dirty="0"/>
              <a:t>Eucalyptus</a:t>
            </a:r>
          </a:p>
        </p:txBody>
      </p:sp>
      <p:sp>
        <p:nvSpPr>
          <p:cNvPr id="5" name="Rectangle 4"/>
          <p:cNvSpPr/>
          <p:nvPr/>
        </p:nvSpPr>
        <p:spPr>
          <a:xfrm>
            <a:off x="179901" y="730841"/>
            <a:ext cx="11510210" cy="5990551"/>
          </a:xfrm>
          <a:prstGeom prst="rect">
            <a:avLst/>
          </a:prstGeom>
        </p:spPr>
        <p:txBody>
          <a:bodyPr wrap="square">
            <a:spAutoFit/>
          </a:bodyPr>
          <a:lstStyle/>
          <a:p>
            <a:pPr algn="just">
              <a:lnSpc>
                <a:spcPct val="150000"/>
              </a:lnSpc>
            </a:pPr>
            <a:endParaRPr lang="en-US" dirty="0"/>
          </a:p>
          <a:p>
            <a:pPr algn="just">
              <a:lnSpc>
                <a:spcPct val="150000"/>
              </a:lnSpc>
            </a:pPr>
            <a:r>
              <a:rPr lang="en-US" sz="2400" dirty="0"/>
              <a:t>Here are some of </a:t>
            </a:r>
            <a:r>
              <a:rPr lang="en-US" sz="2400" b="1" dirty="0"/>
              <a:t>the Eucalyptus features [11]: </a:t>
            </a:r>
          </a:p>
          <a:p>
            <a:pPr marL="342900" indent="-342900" algn="just">
              <a:lnSpc>
                <a:spcPct val="150000"/>
              </a:lnSpc>
              <a:buFont typeface="+mj-lt"/>
              <a:buAutoNum type="arabicPeriod"/>
            </a:pPr>
            <a:r>
              <a:rPr lang="en-US" sz="2400" dirty="0"/>
              <a:t>Interface compatibility with EC2, and S3 (both Web service and Query/ REST interfaces). </a:t>
            </a:r>
          </a:p>
          <a:p>
            <a:pPr marL="342900" indent="-342900" algn="just">
              <a:lnSpc>
                <a:spcPct val="150000"/>
              </a:lnSpc>
              <a:buFont typeface="+mj-lt"/>
              <a:buAutoNum type="arabicPeriod"/>
            </a:pPr>
            <a:r>
              <a:rPr lang="en-US" sz="2400" dirty="0"/>
              <a:t>Simple installation and deployment.</a:t>
            </a:r>
          </a:p>
          <a:p>
            <a:pPr marL="342900" indent="-342900" algn="just">
              <a:lnSpc>
                <a:spcPct val="150000"/>
              </a:lnSpc>
              <a:buFont typeface="+mj-lt"/>
              <a:buAutoNum type="arabicPeriod"/>
            </a:pPr>
            <a:r>
              <a:rPr lang="en-US" sz="2400" dirty="0"/>
              <a:t>Support for most </a:t>
            </a:r>
            <a:r>
              <a:rPr lang="en-US" sz="2400" b="1" dirty="0"/>
              <a:t>Linux distributions </a:t>
            </a:r>
            <a:r>
              <a:rPr lang="en-US" sz="2400" dirty="0"/>
              <a:t>(source and binary packages). </a:t>
            </a:r>
          </a:p>
          <a:p>
            <a:pPr marL="342900" indent="-342900" algn="just">
              <a:lnSpc>
                <a:spcPct val="150000"/>
              </a:lnSpc>
              <a:buFont typeface="+mj-lt"/>
              <a:buAutoNum type="arabicPeriod"/>
            </a:pPr>
            <a:r>
              <a:rPr lang="en-US" sz="2400" dirty="0"/>
              <a:t>Support for running </a:t>
            </a:r>
            <a:r>
              <a:rPr lang="en-US" sz="2400" b="1" dirty="0"/>
              <a:t>VMs that run atop the </a:t>
            </a:r>
            <a:r>
              <a:rPr lang="en-US" sz="2400" b="1" dirty="0" err="1"/>
              <a:t>Xen</a:t>
            </a:r>
            <a:r>
              <a:rPr lang="en-US" sz="2400" b="1" dirty="0"/>
              <a:t> hypervisor or KVM</a:t>
            </a:r>
            <a:r>
              <a:rPr lang="en-US" sz="2400" dirty="0"/>
              <a:t>. Support for other kinds of VMs, such as VMware, is targeted for future releases. </a:t>
            </a:r>
          </a:p>
          <a:p>
            <a:pPr marL="342900" indent="-342900" algn="just">
              <a:lnSpc>
                <a:spcPct val="150000"/>
              </a:lnSpc>
              <a:buFont typeface="+mj-lt"/>
              <a:buAutoNum type="arabicPeriod"/>
            </a:pPr>
            <a:r>
              <a:rPr lang="en-US" sz="2400" b="1" dirty="0"/>
              <a:t>Secure internal communication </a:t>
            </a:r>
            <a:r>
              <a:rPr lang="en-US" sz="2400" dirty="0"/>
              <a:t>using SOAP with WS security. </a:t>
            </a:r>
          </a:p>
          <a:p>
            <a:pPr marL="342900" indent="-342900" algn="just">
              <a:lnSpc>
                <a:spcPct val="150000"/>
              </a:lnSpc>
              <a:buFont typeface="+mj-lt"/>
              <a:buAutoNum type="arabicPeriod"/>
            </a:pPr>
            <a:r>
              <a:rPr lang="en-US" sz="2400" dirty="0"/>
              <a:t>Cloud administrator’s tool for system’s management and user’s accounting.</a:t>
            </a:r>
          </a:p>
          <a:p>
            <a:pPr marL="342900" indent="-342900" algn="just">
              <a:lnSpc>
                <a:spcPct val="150000"/>
              </a:lnSpc>
              <a:buFont typeface="+mj-lt"/>
              <a:buAutoNum type="arabicPeriod"/>
            </a:pPr>
            <a:r>
              <a:rPr lang="en-US" sz="2400" dirty="0"/>
              <a:t>The </a:t>
            </a:r>
            <a:r>
              <a:rPr lang="en-US" sz="2400" b="1" dirty="0"/>
              <a:t>ability to configure multiple clusters </a:t>
            </a:r>
            <a:r>
              <a:rPr lang="en-US" sz="2400" dirty="0"/>
              <a:t>each with private internal network addresses </a:t>
            </a:r>
            <a:r>
              <a:rPr lang="en-US" sz="2400" b="1" dirty="0"/>
              <a:t>into a single cloud</a:t>
            </a:r>
            <a:r>
              <a:rPr lang="en-US" dirty="0"/>
              <a:t>.</a:t>
            </a:r>
            <a:endParaRPr lang="en-US" b="1" dirty="0"/>
          </a:p>
        </p:txBody>
      </p:sp>
    </p:spTree>
    <p:extLst>
      <p:ext uri="{BB962C8B-B14F-4D97-AF65-F5344CB8AC3E}">
        <p14:creationId xmlns:p14="http://schemas.microsoft.com/office/powerpoint/2010/main" val="208903016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3097585" cy="461665"/>
          </a:xfrm>
          <a:prstGeom prst="rect">
            <a:avLst/>
          </a:prstGeom>
        </p:spPr>
        <p:txBody>
          <a:bodyPr wrap="square">
            <a:spAutoFit/>
          </a:bodyPr>
          <a:lstStyle/>
          <a:p>
            <a:pPr algn="ctr"/>
            <a:r>
              <a:rPr lang="en-US" sz="2400" b="1" dirty="0"/>
              <a:t>Eucalyptus</a:t>
            </a:r>
          </a:p>
        </p:txBody>
      </p:sp>
      <p:sp>
        <p:nvSpPr>
          <p:cNvPr id="2" name="Rectangle 1"/>
          <p:cNvSpPr/>
          <p:nvPr/>
        </p:nvSpPr>
        <p:spPr>
          <a:xfrm>
            <a:off x="110837" y="1071333"/>
            <a:ext cx="11637818" cy="44670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sz="2400" dirty="0">
                <a:solidFill>
                  <a:srgbClr val="4D5156"/>
                </a:solidFill>
                <a:latin typeface="Google Sans"/>
              </a:rPr>
              <a:t>Amazon Simple Storage Service (Amazon S3) is </a:t>
            </a:r>
            <a:r>
              <a:rPr lang="en-US" sz="2400" dirty="0">
                <a:solidFill>
                  <a:srgbClr val="040C28"/>
                </a:solidFill>
                <a:latin typeface="Google Sans"/>
              </a:rPr>
              <a:t>an object storage service that offers industry-leading </a:t>
            </a:r>
            <a:r>
              <a:rPr lang="en-US" sz="2400" b="1" dirty="0">
                <a:solidFill>
                  <a:srgbClr val="040C28"/>
                </a:solidFill>
                <a:latin typeface="Google Sans"/>
              </a:rPr>
              <a:t>scalability,</a:t>
            </a:r>
            <a:r>
              <a:rPr lang="en-US" sz="2400" dirty="0">
                <a:solidFill>
                  <a:srgbClr val="040C28"/>
                </a:solidFill>
                <a:latin typeface="Google Sans"/>
              </a:rPr>
              <a:t> </a:t>
            </a:r>
            <a:r>
              <a:rPr lang="en-US" sz="2400" b="1" dirty="0">
                <a:solidFill>
                  <a:srgbClr val="040C28"/>
                </a:solidFill>
                <a:latin typeface="Google Sans"/>
              </a:rPr>
              <a:t>data availability, security, and performance</a:t>
            </a:r>
            <a:r>
              <a:rPr lang="en-US" sz="2400" b="1" dirty="0">
                <a:solidFill>
                  <a:srgbClr val="4D5156"/>
                </a:solidFill>
                <a:latin typeface="Google Sans"/>
              </a:rPr>
              <a:t>. </a:t>
            </a:r>
          </a:p>
          <a:p>
            <a:pPr marL="285750" indent="-285750" algn="just">
              <a:lnSpc>
                <a:spcPct val="150000"/>
              </a:lnSpc>
              <a:buFont typeface="Arial" panose="020B0604020202020204" pitchFamily="34" charset="0"/>
              <a:buChar char="•"/>
            </a:pPr>
            <a:r>
              <a:rPr lang="en-US" sz="2400" dirty="0">
                <a:solidFill>
                  <a:srgbClr val="4D5156"/>
                </a:solidFill>
                <a:latin typeface="Google Sans"/>
              </a:rPr>
              <a:t>You can </a:t>
            </a:r>
            <a:r>
              <a:rPr lang="en-US" sz="2400" b="1" dirty="0">
                <a:solidFill>
                  <a:srgbClr val="4D5156"/>
                </a:solidFill>
                <a:latin typeface="Google Sans"/>
              </a:rPr>
              <a:t>use Amazon S3 to store and retrieve any amount of data at any time</a:t>
            </a:r>
            <a:r>
              <a:rPr lang="en-US" sz="2400" dirty="0">
                <a:solidFill>
                  <a:srgbClr val="4D5156"/>
                </a:solidFill>
                <a:latin typeface="Google Sans"/>
              </a:rPr>
              <a:t>, from anywhere.</a:t>
            </a:r>
          </a:p>
          <a:p>
            <a:pPr marL="285750" indent="-285750" algn="just">
              <a:lnSpc>
                <a:spcPct val="150000"/>
              </a:lnSpc>
              <a:buFont typeface="Arial" panose="020B0604020202020204" pitchFamily="34" charset="0"/>
              <a:buChar char="•"/>
            </a:pPr>
            <a:r>
              <a:rPr lang="en-US" sz="2400" dirty="0"/>
              <a:t>Amazon EC2 is a popular solution for running various applications in the cloud. </a:t>
            </a:r>
          </a:p>
          <a:p>
            <a:pPr marL="285750" indent="-285750" algn="just">
              <a:lnSpc>
                <a:spcPct val="150000"/>
              </a:lnSpc>
              <a:buFont typeface="Arial" panose="020B0604020202020204" pitchFamily="34" charset="0"/>
              <a:buChar char="•"/>
            </a:pPr>
            <a:r>
              <a:rPr lang="en-US" sz="2400" dirty="0"/>
              <a:t>However, these </a:t>
            </a:r>
            <a:r>
              <a:rPr lang="en-US" sz="2400" b="1" dirty="0"/>
              <a:t>applications might need some static data to operate with</a:t>
            </a:r>
            <a:r>
              <a:rPr lang="en-US" sz="2400" dirty="0"/>
              <a:t>. </a:t>
            </a:r>
          </a:p>
          <a:p>
            <a:pPr marL="285750" indent="-285750" algn="just">
              <a:lnSpc>
                <a:spcPct val="150000"/>
              </a:lnSpc>
              <a:buFont typeface="Arial" panose="020B0604020202020204" pitchFamily="34" charset="0"/>
              <a:buChar char="•"/>
            </a:pPr>
            <a:r>
              <a:rPr lang="en-US" sz="2400" dirty="0"/>
              <a:t>For those use cases,</a:t>
            </a:r>
            <a:r>
              <a:rPr lang="en-US" sz="2400" b="1" dirty="0"/>
              <a:t> Amazon S3 offers an easy and highly scalable storage for any static data</a:t>
            </a:r>
            <a:r>
              <a:rPr lang="en-US" sz="2400" dirty="0"/>
              <a:t>, such as data for website hosting, for example.</a:t>
            </a:r>
          </a:p>
        </p:txBody>
      </p:sp>
    </p:spTree>
    <p:extLst>
      <p:ext uri="{BB962C8B-B14F-4D97-AF65-F5344CB8AC3E}">
        <p14:creationId xmlns:p14="http://schemas.microsoft.com/office/powerpoint/2010/main" val="376198896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1D0A4-182F-220F-5460-47FEECFFBD4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408C95D-AF87-B6DA-09F1-FB841C8C29D7}"/>
              </a:ext>
            </a:extLst>
          </p:cNvPr>
          <p:cNvSpPr/>
          <p:nvPr/>
        </p:nvSpPr>
        <p:spPr>
          <a:xfrm>
            <a:off x="3344778" y="469231"/>
            <a:ext cx="3097585" cy="461665"/>
          </a:xfrm>
          <a:prstGeom prst="rect">
            <a:avLst/>
          </a:prstGeom>
        </p:spPr>
        <p:txBody>
          <a:bodyPr wrap="square">
            <a:spAutoFit/>
          </a:bodyPr>
          <a:lstStyle/>
          <a:p>
            <a:pPr algn="ctr"/>
            <a:r>
              <a:rPr lang="en-US" sz="2400" b="1" dirty="0"/>
              <a:t>Eucalyptus</a:t>
            </a:r>
          </a:p>
        </p:txBody>
      </p:sp>
      <p:sp>
        <p:nvSpPr>
          <p:cNvPr id="5" name="TextBox 4">
            <a:extLst>
              <a:ext uri="{FF2B5EF4-FFF2-40B4-BE49-F238E27FC236}">
                <a16:creationId xmlns:a16="http://schemas.microsoft.com/office/drawing/2014/main" id="{6A4E7E6C-4A2B-FE69-8E9A-200429D63CDB}"/>
              </a:ext>
            </a:extLst>
          </p:cNvPr>
          <p:cNvSpPr txBox="1"/>
          <p:nvPr/>
        </p:nvSpPr>
        <p:spPr>
          <a:xfrm>
            <a:off x="195943" y="1177935"/>
            <a:ext cx="11702143" cy="5770811"/>
          </a:xfrm>
          <a:prstGeom prst="rect">
            <a:avLst/>
          </a:prstGeom>
          <a:noFill/>
        </p:spPr>
        <p:txBody>
          <a:bodyPr wrap="square">
            <a:spAutoFit/>
          </a:bodyPr>
          <a:lstStyle/>
          <a:p>
            <a:pPr algn="l" fontAlgn="base">
              <a:spcBef>
                <a:spcPts val="1800"/>
              </a:spcBef>
              <a:spcAft>
                <a:spcPts val="1800"/>
              </a:spcAft>
            </a:pPr>
            <a:r>
              <a:rPr lang="en-US" sz="2400" b="0" i="0" dirty="0">
                <a:solidFill>
                  <a:srgbClr val="244D71"/>
                </a:solidFill>
                <a:effectLst/>
                <a:latin typeface="Roboto" panose="02000000000000000000" pitchFamily="2" charset="0"/>
              </a:rPr>
              <a:t>Amazon S3 vs. EC2: What’s Similar, What’s Different?</a:t>
            </a:r>
          </a:p>
          <a:p>
            <a:pPr marL="342900" indent="-342900" algn="just" fontAlgn="base">
              <a:spcBef>
                <a:spcPts val="1800"/>
              </a:spcBef>
              <a:spcAft>
                <a:spcPts val="1800"/>
              </a:spcAft>
              <a:buFont typeface="Arial" panose="020B0604020202020204" pitchFamily="34" charset="0"/>
              <a:buChar char="•"/>
            </a:pPr>
            <a:r>
              <a:rPr lang="en-US" sz="2400" b="0" i="0" dirty="0">
                <a:solidFill>
                  <a:srgbClr val="404040"/>
                </a:solidFill>
                <a:effectLst/>
                <a:latin typeface="Roboto" panose="02000000000000000000" pitchFamily="2" charset="0"/>
              </a:rPr>
              <a:t>Amazon EC2 is an instance to access cloud-based servers, while Amazon S3 is used for storing data. However, </a:t>
            </a:r>
            <a:r>
              <a:rPr lang="en-US" sz="2400" b="1" i="0" dirty="0">
                <a:solidFill>
                  <a:srgbClr val="404040"/>
                </a:solidFill>
                <a:effectLst/>
                <a:latin typeface="Roboto" panose="02000000000000000000" pitchFamily="2" charset="0"/>
              </a:rPr>
              <a:t>you might need both of them for your operations</a:t>
            </a:r>
            <a:r>
              <a:rPr lang="en-US" sz="2400" b="0" i="0" dirty="0">
                <a:solidFill>
                  <a:srgbClr val="404040"/>
                </a:solidFill>
                <a:effectLst/>
                <a:latin typeface="Roboto" panose="02000000000000000000" pitchFamily="2" charset="0"/>
              </a:rPr>
              <a:t>.</a:t>
            </a:r>
          </a:p>
          <a:p>
            <a:pPr algn="just" fontAlgn="base">
              <a:spcAft>
                <a:spcPts val="1800"/>
              </a:spcAft>
              <a:buFont typeface="Arial" panose="020B0604020202020204" pitchFamily="34" charset="0"/>
              <a:buChar char="•"/>
            </a:pPr>
            <a:r>
              <a:rPr lang="en-US" sz="2400" b="0" i="0" dirty="0">
                <a:solidFill>
                  <a:srgbClr val="404040"/>
                </a:solidFill>
                <a:effectLst/>
                <a:latin typeface="Roboto" panose="02000000000000000000" pitchFamily="2" charset="0"/>
              </a:rPr>
              <a:t>Amazon </a:t>
            </a:r>
            <a:r>
              <a:rPr lang="en-US" sz="2400" b="1" i="0" dirty="0">
                <a:solidFill>
                  <a:srgbClr val="404040"/>
                </a:solidFill>
                <a:effectLst/>
                <a:latin typeface="Roboto" panose="02000000000000000000" pitchFamily="2" charset="0"/>
              </a:rPr>
              <a:t>EC2 is a popular solution for running various applications in the cloud</a:t>
            </a:r>
            <a:r>
              <a:rPr lang="en-US" sz="2400" b="0" i="0" dirty="0">
                <a:solidFill>
                  <a:srgbClr val="404040"/>
                </a:solidFill>
                <a:effectLst/>
                <a:latin typeface="Roboto" panose="02000000000000000000" pitchFamily="2" charset="0"/>
              </a:rPr>
              <a:t>. However, these applications might need some static data to operate with. For those use cases, Amazon S3 offers easy and highly scalable storage for any static data, such as data for website hosting, for example.</a:t>
            </a:r>
          </a:p>
          <a:p>
            <a:pPr algn="l" fontAlgn="base">
              <a:spcAft>
                <a:spcPts val="1800"/>
              </a:spcAft>
              <a:buFont typeface="Arial" panose="020B0604020202020204" pitchFamily="34" charset="0"/>
              <a:buChar char="•"/>
            </a:pPr>
            <a:r>
              <a:rPr lang="en-US" sz="2400" b="0" i="0" dirty="0">
                <a:solidFill>
                  <a:srgbClr val="404040"/>
                </a:solidFill>
                <a:effectLst/>
                <a:latin typeface="Roboto" panose="02000000000000000000" pitchFamily="2" charset="0"/>
              </a:rPr>
              <a:t>You can set up Amazon S3 buckets as a backup destination for Amazon EC2 data.</a:t>
            </a:r>
          </a:p>
          <a:p>
            <a:pPr algn="just" fontAlgn="base">
              <a:spcAft>
                <a:spcPts val="1800"/>
              </a:spcAft>
              <a:buFont typeface="Arial" panose="020B0604020202020204" pitchFamily="34" charset="0"/>
              <a:buChar char="•"/>
            </a:pPr>
            <a:r>
              <a:rPr lang="en-US" sz="2400" b="0" i="0" dirty="0">
                <a:solidFill>
                  <a:srgbClr val="404040"/>
                </a:solidFill>
                <a:effectLst/>
                <a:latin typeface="Roboto" panose="02000000000000000000" pitchFamily="2" charset="0"/>
              </a:rPr>
              <a:t>Amazon S3 buckets might be used to exchange data between EC2 instances or between the cloud and local infrastructure.</a:t>
            </a:r>
          </a:p>
          <a:p>
            <a:pPr marL="342900" indent="-342900" algn="just" fontAlgn="base">
              <a:spcBef>
                <a:spcPts val="1800"/>
              </a:spcBef>
              <a:spcAft>
                <a:spcPts val="1800"/>
              </a:spcAft>
              <a:buFont typeface="Arial" panose="020B0604020202020204" pitchFamily="34" charset="0"/>
              <a:buChar char="•"/>
            </a:pPr>
            <a:endParaRPr lang="en-US" sz="2400" b="0" i="0" dirty="0">
              <a:solidFill>
                <a:srgbClr val="244D71"/>
              </a:solidFill>
              <a:effectLst/>
              <a:latin typeface="Roboto" panose="02000000000000000000" pitchFamily="2" charset="0"/>
            </a:endParaRPr>
          </a:p>
        </p:txBody>
      </p:sp>
    </p:spTree>
    <p:extLst>
      <p:ext uri="{BB962C8B-B14F-4D97-AF65-F5344CB8AC3E}">
        <p14:creationId xmlns:p14="http://schemas.microsoft.com/office/powerpoint/2010/main" val="1253082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410092" y="77345"/>
            <a:ext cx="4808622" cy="461665"/>
          </a:xfrm>
          <a:prstGeom prst="rect">
            <a:avLst/>
          </a:prstGeom>
        </p:spPr>
        <p:txBody>
          <a:bodyPr wrap="square">
            <a:spAutoFit/>
          </a:bodyPr>
          <a:lstStyle/>
          <a:p>
            <a:pPr algn="ctr"/>
            <a:r>
              <a:rPr lang="en-US" sz="2400" b="1" dirty="0"/>
              <a:t>Eucalyptus Architecture</a:t>
            </a:r>
          </a:p>
        </p:txBody>
      </p:sp>
      <p:sp>
        <p:nvSpPr>
          <p:cNvPr id="5" name="Rectangle 4"/>
          <p:cNvSpPr/>
          <p:nvPr/>
        </p:nvSpPr>
        <p:spPr>
          <a:xfrm>
            <a:off x="245215" y="539010"/>
            <a:ext cx="11510210" cy="114307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sz="2400" dirty="0"/>
              <a:t>Eucalyptus architecture, as illustrated in Figure 5.20, constitutes each high-level system’s component as a stand-alone Web service with the following high-level components.</a:t>
            </a:r>
            <a:endParaRPr lang="en-US" sz="2400" b="1"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67412" y="2203784"/>
            <a:ext cx="4767513" cy="5003528"/>
          </a:xfrm>
          <a:prstGeom prst="rect">
            <a:avLst/>
          </a:prstGeom>
        </p:spPr>
      </p:pic>
    </p:spTree>
    <p:extLst>
      <p:ext uri="{BB962C8B-B14F-4D97-AF65-F5344CB8AC3E}">
        <p14:creationId xmlns:p14="http://schemas.microsoft.com/office/powerpoint/2010/main" val="356549061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9" y="469231"/>
            <a:ext cx="1243108" cy="369332"/>
          </a:xfrm>
          <a:prstGeom prst="rect">
            <a:avLst/>
          </a:prstGeom>
        </p:spPr>
        <p:txBody>
          <a:bodyPr wrap="square">
            <a:spAutoFit/>
          </a:bodyPr>
          <a:lstStyle/>
          <a:p>
            <a:pPr algn="ctr"/>
            <a:r>
              <a:rPr lang="en-US" b="1" dirty="0"/>
              <a:t>Eucalyptus</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5952" y="1484144"/>
            <a:ext cx="9534629" cy="4915386"/>
          </a:xfrm>
          <a:prstGeom prst="rect">
            <a:avLst/>
          </a:prstGeom>
        </p:spPr>
      </p:pic>
    </p:spTree>
    <p:extLst>
      <p:ext uri="{BB962C8B-B14F-4D97-AF65-F5344CB8AC3E}">
        <p14:creationId xmlns:p14="http://schemas.microsoft.com/office/powerpoint/2010/main" val="9920295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3"/>
          <p:cNvSpPr/>
          <p:nvPr/>
        </p:nvSpPr>
        <p:spPr>
          <a:xfrm>
            <a:off x="3344779" y="469231"/>
            <a:ext cx="1243108" cy="369332"/>
          </a:xfrm>
          <a:prstGeom prst="rect">
            <a:avLst/>
          </a:prstGeom>
        </p:spPr>
        <p:txBody>
          <a:bodyPr wrap="square">
            <a:spAutoFit/>
          </a:bodyPr>
          <a:lstStyle/>
          <a:p>
            <a:pPr algn="ctr"/>
            <a:r>
              <a:rPr lang="en-US" b="1" dirty="0"/>
              <a:t>Eucalyptus</a:t>
            </a:r>
          </a:p>
        </p:txBody>
      </p:sp>
      <p:sp>
        <p:nvSpPr>
          <p:cNvPr id="5" name="Rectangle 4"/>
          <p:cNvSpPr/>
          <p:nvPr/>
        </p:nvSpPr>
        <p:spPr>
          <a:xfrm>
            <a:off x="136358" y="1228091"/>
            <a:ext cx="11510210" cy="590931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t>Its design is an </a:t>
            </a:r>
            <a:r>
              <a:rPr lang="en-US" b="1" dirty="0"/>
              <a:t>open and elegant one</a:t>
            </a:r>
            <a:r>
              <a:rPr lang="en-US" dirty="0"/>
              <a:t>. </a:t>
            </a:r>
          </a:p>
          <a:p>
            <a:pPr marL="285750" indent="-285750" algn="just">
              <a:lnSpc>
                <a:spcPct val="150000"/>
              </a:lnSpc>
              <a:buFont typeface="Arial" panose="020B0604020202020204" pitchFamily="34" charset="0"/>
              <a:buChar char="•"/>
            </a:pPr>
            <a:r>
              <a:rPr lang="en-US" b="1" dirty="0"/>
              <a:t>It can be very beneficial in testing and </a:t>
            </a:r>
            <a:r>
              <a:rPr lang="en-US" b="1" u="sng" dirty="0"/>
              <a:t>debugging purposes before deploying it on a real cloud</a:t>
            </a:r>
            <a:r>
              <a:rPr lang="en-US" dirty="0"/>
              <a:t>. </a:t>
            </a:r>
          </a:p>
          <a:p>
            <a:pPr marL="285750" indent="-285750" algn="just">
              <a:lnSpc>
                <a:spcPct val="150000"/>
              </a:lnSpc>
              <a:buFont typeface="Arial" panose="020B0604020202020204" pitchFamily="34" charset="0"/>
              <a:buChar char="•"/>
            </a:pPr>
            <a:r>
              <a:rPr lang="en-US" dirty="0"/>
              <a:t>For more details about Eucalyptus architecture and design, check reference 11.</a:t>
            </a:r>
          </a:p>
          <a:p>
            <a:pPr algn="just">
              <a:lnSpc>
                <a:spcPct val="150000"/>
              </a:lnSpc>
            </a:pPr>
            <a:r>
              <a:rPr lang="en-US" b="1" dirty="0"/>
              <a:t>Ubuntu Enterprise Cloud and Eucalyptus.:</a:t>
            </a:r>
            <a:r>
              <a:rPr lang="en-US" dirty="0"/>
              <a:t> </a:t>
            </a:r>
          </a:p>
          <a:p>
            <a:pPr marL="285750" indent="-285750" algn="just">
              <a:lnSpc>
                <a:spcPct val="150000"/>
              </a:lnSpc>
              <a:buFont typeface="Arial" panose="020B0604020202020204" pitchFamily="34" charset="0"/>
              <a:buChar char="•"/>
            </a:pPr>
            <a:r>
              <a:rPr lang="en-US" dirty="0"/>
              <a:t>Ubuntu Enterprise Cloud (UEC) [33] is a </a:t>
            </a:r>
            <a:r>
              <a:rPr lang="en-US" i="1" dirty="0"/>
              <a:t>new initiative by Ubuntu to make it easier to </a:t>
            </a:r>
            <a:r>
              <a:rPr lang="en-US" b="1" i="1" dirty="0"/>
              <a:t>provision, deploy, configure, and use cloud infrastructures </a:t>
            </a:r>
            <a:r>
              <a:rPr lang="en-US" b="1" dirty="0"/>
              <a:t>based on Eucalyptus. </a:t>
            </a:r>
          </a:p>
          <a:p>
            <a:pPr marL="285750" indent="-285750" algn="just">
              <a:lnSpc>
                <a:spcPct val="150000"/>
              </a:lnSpc>
              <a:buFont typeface="Arial" panose="020B0604020202020204" pitchFamily="34" charset="0"/>
              <a:buChar char="•"/>
            </a:pPr>
            <a:r>
              <a:rPr lang="en-US" dirty="0"/>
              <a:t>UEC brings amazon EC2-like infrastructure’s capabilities inside the firewall.</a:t>
            </a:r>
          </a:p>
          <a:p>
            <a:pPr marL="285750" indent="-285750" algn="just">
              <a:lnSpc>
                <a:spcPct val="150000"/>
              </a:lnSpc>
              <a:buFont typeface="Arial" panose="020B0604020202020204" pitchFamily="34" charset="0"/>
              <a:buChar char="•"/>
            </a:pPr>
            <a:r>
              <a:rPr lang="en-US" dirty="0"/>
              <a:t>This is by far </a:t>
            </a:r>
            <a:r>
              <a:rPr lang="en-US" b="1" dirty="0"/>
              <a:t>the simplest way to install and try Eucalyptus</a:t>
            </a:r>
            <a:r>
              <a:rPr lang="en-US" dirty="0"/>
              <a:t>. </a:t>
            </a:r>
          </a:p>
          <a:p>
            <a:pPr marL="285750" indent="-285750" algn="just">
              <a:lnSpc>
                <a:spcPct val="150000"/>
              </a:lnSpc>
              <a:buFont typeface="Arial" panose="020B0604020202020204" pitchFamily="34" charset="0"/>
              <a:buChar char="•"/>
            </a:pPr>
            <a:r>
              <a:rPr lang="en-US" b="1" dirty="0"/>
              <a:t>Just download the Ubuntu server version and install it wherever you want. </a:t>
            </a:r>
          </a:p>
          <a:p>
            <a:pPr marL="285750" indent="-285750" algn="just">
              <a:lnSpc>
                <a:spcPct val="150000"/>
              </a:lnSpc>
              <a:buFont typeface="Arial" panose="020B0604020202020204" pitchFamily="34" charset="0"/>
              <a:buChar char="•"/>
            </a:pPr>
            <a:r>
              <a:rPr lang="en-US" b="1" dirty="0"/>
              <a:t>UEC is also the first open source project </a:t>
            </a:r>
            <a:r>
              <a:rPr lang="en-US" dirty="0"/>
              <a:t>that lets you create cloud services in your local  environment easily and leverage the power of cloud computing.</a:t>
            </a:r>
          </a:p>
          <a:p>
            <a:pPr marL="285750" indent="-285750" algn="just">
              <a:lnSpc>
                <a:spcPct val="150000"/>
              </a:lnSpc>
              <a:buFont typeface="Arial" panose="020B0604020202020204" pitchFamily="34" charset="0"/>
              <a:buChar char="•"/>
            </a:pPr>
            <a:endParaRPr lang="en-US" b="1" dirty="0"/>
          </a:p>
          <a:p>
            <a:r>
              <a:rPr lang="pl-PL" i="1" dirty="0"/>
              <a:t>11. D. Nurmi, R. Wolski, C. Grzegorczyk, G. Obertelli, S. Soman, L. Youseff, D.</a:t>
            </a:r>
            <a:r>
              <a:rPr lang="en-US" i="1" dirty="0"/>
              <a:t> </a:t>
            </a:r>
            <a:r>
              <a:rPr lang="en-US" i="1" dirty="0" err="1"/>
              <a:t>Zagorodnov</a:t>
            </a:r>
            <a:r>
              <a:rPr lang="en-US" i="1" dirty="0"/>
              <a:t>, The Eucalyptus Open-source Cloud-computing System, in Proceedings of 9th IEEE International Symposium on Cluster Computing and the Grid,</a:t>
            </a:r>
          </a:p>
          <a:p>
            <a:r>
              <a:rPr lang="en-US" i="1" dirty="0"/>
              <a:t>Shanghai, China, pp. 124131.</a:t>
            </a:r>
            <a:endParaRPr lang="en-US" b="1" i="1" dirty="0"/>
          </a:p>
        </p:txBody>
      </p:sp>
    </p:spTree>
    <p:extLst>
      <p:ext uri="{BB962C8B-B14F-4D97-AF65-F5344CB8AC3E}">
        <p14:creationId xmlns:p14="http://schemas.microsoft.com/office/powerpoint/2010/main" val="41644655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9" y="469231"/>
            <a:ext cx="6996650" cy="461665"/>
          </a:xfrm>
          <a:prstGeom prst="rect">
            <a:avLst/>
          </a:prstGeom>
        </p:spPr>
        <p:txBody>
          <a:bodyPr wrap="square">
            <a:spAutoFit/>
          </a:bodyPr>
          <a:lstStyle/>
          <a:p>
            <a:pPr algn="ctr"/>
            <a:r>
              <a:rPr lang="en-US" sz="2400" b="1" dirty="0"/>
              <a:t>VM Dynamic Management Using </a:t>
            </a:r>
            <a:r>
              <a:rPr lang="en-US" sz="2400" b="1" dirty="0" err="1"/>
              <a:t>OpenNebula</a:t>
            </a:r>
            <a:endParaRPr lang="en-US" sz="2400" b="1" dirty="0"/>
          </a:p>
        </p:txBody>
      </p:sp>
      <p:sp>
        <p:nvSpPr>
          <p:cNvPr id="5" name="Rectangle 4"/>
          <p:cNvSpPr/>
          <p:nvPr/>
        </p:nvSpPr>
        <p:spPr>
          <a:xfrm>
            <a:off x="136358" y="1240123"/>
            <a:ext cx="11510210" cy="3913059"/>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sz="2400" dirty="0" err="1"/>
              <a:t>OpenNebula</a:t>
            </a:r>
            <a:r>
              <a:rPr lang="en-US" sz="2400" dirty="0"/>
              <a:t> [12] is an </a:t>
            </a:r>
            <a:r>
              <a:rPr lang="en-US" sz="2400" b="1" dirty="0"/>
              <a:t>open and flexible tool that fits into existing data center’s environments to build any type of cloud deployment. </a:t>
            </a:r>
          </a:p>
          <a:p>
            <a:pPr marL="285750" indent="-285750" algn="just">
              <a:lnSpc>
                <a:spcPct val="150000"/>
              </a:lnSpc>
              <a:buFont typeface="Arial" panose="020B0604020202020204" pitchFamily="34" charset="0"/>
              <a:buChar char="•"/>
            </a:pPr>
            <a:r>
              <a:rPr lang="en-US" sz="2400" dirty="0" err="1"/>
              <a:t>OpenNebula</a:t>
            </a:r>
            <a:r>
              <a:rPr lang="en-US" sz="2400" dirty="0"/>
              <a:t> can be </a:t>
            </a:r>
            <a:r>
              <a:rPr lang="en-US" sz="2400" b="1" dirty="0"/>
              <a:t>primarily</a:t>
            </a:r>
            <a:r>
              <a:rPr lang="en-US" sz="2400" dirty="0"/>
              <a:t> used as a </a:t>
            </a:r>
            <a:r>
              <a:rPr lang="en-US" sz="2400" b="1" dirty="0"/>
              <a:t>virtualization tool to manage your virtual infrastructure, </a:t>
            </a:r>
            <a:r>
              <a:rPr lang="en-US" sz="2400" dirty="0"/>
              <a:t>which is usually referred to as </a:t>
            </a:r>
            <a:r>
              <a:rPr lang="en-US" sz="2400" b="1" dirty="0"/>
              <a:t>private cloud. </a:t>
            </a:r>
          </a:p>
          <a:p>
            <a:pPr marL="285750" indent="-285750" algn="just">
              <a:lnSpc>
                <a:spcPct val="150000"/>
              </a:lnSpc>
              <a:buFont typeface="Arial" panose="020B0604020202020204" pitchFamily="34" charset="0"/>
              <a:buChar char="•"/>
            </a:pPr>
            <a:r>
              <a:rPr lang="en-US" sz="2400" b="1" dirty="0" err="1"/>
              <a:t>OpenNebula</a:t>
            </a:r>
            <a:r>
              <a:rPr lang="en-US" sz="2400" b="1" dirty="0"/>
              <a:t> supports a hybrid cloud to combine local infrastructure with public </a:t>
            </a:r>
            <a:r>
              <a:rPr lang="en-US" sz="2400" dirty="0"/>
              <a:t>cloud-based infrastructure, enabling highly scalable hosting environments.</a:t>
            </a:r>
          </a:p>
          <a:p>
            <a:pPr marL="285750" indent="-285750" algn="just">
              <a:lnSpc>
                <a:spcPct val="150000"/>
              </a:lnSpc>
              <a:buFont typeface="Arial" panose="020B0604020202020204" pitchFamily="34" charset="0"/>
              <a:buChar char="•"/>
            </a:pPr>
            <a:endParaRPr lang="en-US" b="1" dirty="0"/>
          </a:p>
        </p:txBody>
      </p:sp>
      <p:sp>
        <p:nvSpPr>
          <p:cNvPr id="2" name="Rectangle 1"/>
          <p:cNvSpPr/>
          <p:nvPr/>
        </p:nvSpPr>
        <p:spPr>
          <a:xfrm>
            <a:off x="449361" y="5795216"/>
            <a:ext cx="11457709" cy="523220"/>
          </a:xfrm>
          <a:prstGeom prst="rect">
            <a:avLst/>
          </a:prstGeom>
        </p:spPr>
        <p:txBody>
          <a:bodyPr wrap="square">
            <a:spAutoFit/>
          </a:bodyPr>
          <a:lstStyle/>
          <a:p>
            <a:pPr algn="just"/>
            <a:r>
              <a:rPr lang="en-US" sz="1400" i="1" dirty="0">
                <a:latin typeface="AdvTimes"/>
              </a:rPr>
              <a:t>12. B. Sotomayor, R. Santiago Montero, I. </a:t>
            </a:r>
            <a:r>
              <a:rPr lang="en-US" sz="1400" i="1" dirty="0" err="1">
                <a:latin typeface="AdvTimes"/>
              </a:rPr>
              <a:t>Martı´n</a:t>
            </a:r>
            <a:r>
              <a:rPr lang="en-US" sz="1400" i="1" dirty="0">
                <a:latin typeface="AdvTimes"/>
              </a:rPr>
              <a:t> </a:t>
            </a:r>
            <a:r>
              <a:rPr lang="en-US" sz="1400" i="1" dirty="0" err="1">
                <a:latin typeface="AdvTimes"/>
              </a:rPr>
              <a:t>Llorente</a:t>
            </a:r>
            <a:r>
              <a:rPr lang="en-US" sz="1400" i="1" dirty="0">
                <a:latin typeface="AdvTimes"/>
              </a:rPr>
              <a:t>, I. Foster, Capacity Leasing in Cloud Systems using the </a:t>
            </a:r>
            <a:r>
              <a:rPr lang="en-US" sz="1400" i="1" dirty="0" err="1">
                <a:latin typeface="AdvTimes"/>
              </a:rPr>
              <a:t>OpenNebula</a:t>
            </a:r>
            <a:r>
              <a:rPr lang="en-US" sz="1400" i="1" dirty="0">
                <a:latin typeface="AdvTimes"/>
              </a:rPr>
              <a:t> Engine (short paper). </a:t>
            </a:r>
            <a:r>
              <a:rPr lang="en-US" sz="1400" i="1" dirty="0">
                <a:latin typeface="AdvTimes-i"/>
              </a:rPr>
              <a:t>Workshop on Cloud Computing and its Applications </a:t>
            </a:r>
            <a:r>
              <a:rPr lang="en-US" sz="1400" i="1" dirty="0">
                <a:latin typeface="AdvTimes"/>
              </a:rPr>
              <a:t>2008 (CCA08), October 2223, 2008,Chicago, Illinois, USA.</a:t>
            </a:r>
            <a:endParaRPr lang="en-US" sz="1400" i="1" dirty="0"/>
          </a:p>
        </p:txBody>
      </p:sp>
    </p:spTree>
    <p:extLst>
      <p:ext uri="{BB962C8B-B14F-4D97-AF65-F5344CB8AC3E}">
        <p14:creationId xmlns:p14="http://schemas.microsoft.com/office/powerpoint/2010/main" val="7064547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79AA7-7384-A643-83D2-0ED8D58DB23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56F8A05-B177-27F3-8922-7ED07659F209}"/>
              </a:ext>
            </a:extLst>
          </p:cNvPr>
          <p:cNvSpPr/>
          <p:nvPr/>
        </p:nvSpPr>
        <p:spPr>
          <a:xfrm>
            <a:off x="3344779" y="469231"/>
            <a:ext cx="6996650" cy="461665"/>
          </a:xfrm>
          <a:prstGeom prst="rect">
            <a:avLst/>
          </a:prstGeom>
        </p:spPr>
        <p:txBody>
          <a:bodyPr wrap="square">
            <a:spAutoFit/>
          </a:bodyPr>
          <a:lstStyle/>
          <a:p>
            <a:pPr algn="ctr"/>
            <a:r>
              <a:rPr lang="en-US" sz="2400" b="1" dirty="0"/>
              <a:t>VM Dynamic Management Using </a:t>
            </a:r>
            <a:r>
              <a:rPr lang="en-US" sz="2400" b="1" dirty="0" err="1"/>
              <a:t>OpenNebula</a:t>
            </a:r>
            <a:endParaRPr lang="en-US" sz="2400" b="1" dirty="0"/>
          </a:p>
        </p:txBody>
      </p:sp>
      <p:sp>
        <p:nvSpPr>
          <p:cNvPr id="5" name="Rectangle 4">
            <a:extLst>
              <a:ext uri="{FF2B5EF4-FFF2-40B4-BE49-F238E27FC236}">
                <a16:creationId xmlns:a16="http://schemas.microsoft.com/office/drawing/2014/main" id="{3C24E114-E49A-10D7-0870-6C828A1E6898}"/>
              </a:ext>
            </a:extLst>
          </p:cNvPr>
          <p:cNvSpPr/>
          <p:nvPr/>
        </p:nvSpPr>
        <p:spPr>
          <a:xfrm>
            <a:off x="136357" y="1240123"/>
            <a:ext cx="11859699" cy="323486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sz="2400" dirty="0" err="1"/>
              <a:t>OpenNebula</a:t>
            </a:r>
            <a:r>
              <a:rPr lang="en-US" sz="2400" dirty="0"/>
              <a:t> also supports public clouds by providing cloud interfaces to expose its functionality for virtual machine, storage, and network management. </a:t>
            </a:r>
          </a:p>
          <a:p>
            <a:pPr marL="285750" indent="-285750" algn="just">
              <a:lnSpc>
                <a:spcPct val="150000"/>
              </a:lnSpc>
              <a:buFont typeface="Arial" panose="020B0604020202020204" pitchFamily="34" charset="0"/>
              <a:buChar char="•"/>
            </a:pPr>
            <a:r>
              <a:rPr lang="en-US" sz="2400" dirty="0" err="1"/>
              <a:t>OpenNebula</a:t>
            </a:r>
            <a:r>
              <a:rPr lang="en-US" sz="2400" dirty="0"/>
              <a:t> supports Xen, KVM, and VMware hypervisors.</a:t>
            </a:r>
          </a:p>
          <a:p>
            <a:pPr marL="285750" indent="-285750" algn="just">
              <a:lnSpc>
                <a:spcPct val="150000"/>
              </a:lnSpc>
              <a:buFont typeface="Arial" panose="020B0604020202020204" pitchFamily="34" charset="0"/>
              <a:buChar char="•"/>
            </a:pPr>
            <a:r>
              <a:rPr lang="en-US" sz="2400" dirty="0" err="1"/>
              <a:t>OpenNebula</a:t>
            </a:r>
            <a:r>
              <a:rPr lang="en-US" sz="2400" dirty="0"/>
              <a:t> architecture is shown in Figure 5.21, which illustrates the </a:t>
            </a:r>
            <a:r>
              <a:rPr lang="en-US" sz="2400" b="1" dirty="0"/>
              <a:t>existence of public and private clouds and also the resources being managed by its virtual manager.</a:t>
            </a:r>
          </a:p>
          <a:p>
            <a:pPr algn="just">
              <a:lnSpc>
                <a:spcPct val="150000"/>
              </a:lnSpc>
            </a:pPr>
            <a:endParaRPr lang="en-US" b="1" dirty="0"/>
          </a:p>
        </p:txBody>
      </p:sp>
      <p:sp>
        <p:nvSpPr>
          <p:cNvPr id="2" name="Rectangle 1">
            <a:extLst>
              <a:ext uri="{FF2B5EF4-FFF2-40B4-BE49-F238E27FC236}">
                <a16:creationId xmlns:a16="http://schemas.microsoft.com/office/drawing/2014/main" id="{014228D4-CA2D-62F7-901C-D08BF5ECDF8C}"/>
              </a:ext>
            </a:extLst>
          </p:cNvPr>
          <p:cNvSpPr/>
          <p:nvPr/>
        </p:nvSpPr>
        <p:spPr>
          <a:xfrm>
            <a:off x="449361" y="5795216"/>
            <a:ext cx="11457709" cy="523220"/>
          </a:xfrm>
          <a:prstGeom prst="rect">
            <a:avLst/>
          </a:prstGeom>
        </p:spPr>
        <p:txBody>
          <a:bodyPr wrap="square">
            <a:spAutoFit/>
          </a:bodyPr>
          <a:lstStyle/>
          <a:p>
            <a:pPr algn="just"/>
            <a:r>
              <a:rPr lang="en-US" sz="1400" i="1" dirty="0">
                <a:latin typeface="AdvTimes"/>
              </a:rPr>
              <a:t>12. B. Sotomayor, R. Santiago Montero, I. </a:t>
            </a:r>
            <a:r>
              <a:rPr lang="en-US" sz="1400" i="1" dirty="0" err="1">
                <a:latin typeface="AdvTimes"/>
              </a:rPr>
              <a:t>Martı´n</a:t>
            </a:r>
            <a:r>
              <a:rPr lang="en-US" sz="1400" i="1" dirty="0">
                <a:latin typeface="AdvTimes"/>
              </a:rPr>
              <a:t> </a:t>
            </a:r>
            <a:r>
              <a:rPr lang="en-US" sz="1400" i="1" dirty="0" err="1">
                <a:latin typeface="AdvTimes"/>
              </a:rPr>
              <a:t>Llorente</a:t>
            </a:r>
            <a:r>
              <a:rPr lang="en-US" sz="1400" i="1" dirty="0">
                <a:latin typeface="AdvTimes"/>
              </a:rPr>
              <a:t>, I. Foster, Capacity Leasing in Cloud Systems using the </a:t>
            </a:r>
            <a:r>
              <a:rPr lang="en-US" sz="1400" i="1" dirty="0" err="1">
                <a:latin typeface="AdvTimes"/>
              </a:rPr>
              <a:t>OpenNebula</a:t>
            </a:r>
            <a:r>
              <a:rPr lang="en-US" sz="1400" i="1" dirty="0">
                <a:latin typeface="AdvTimes"/>
              </a:rPr>
              <a:t> Engine (short paper). </a:t>
            </a:r>
            <a:r>
              <a:rPr lang="en-US" sz="1400" i="1" dirty="0">
                <a:latin typeface="AdvTimes-i"/>
              </a:rPr>
              <a:t>Workshop on Cloud Computing and its Applications </a:t>
            </a:r>
            <a:r>
              <a:rPr lang="en-US" sz="1400" i="1" dirty="0">
                <a:latin typeface="AdvTimes"/>
              </a:rPr>
              <a:t>2008 (CCA08), October 2223, 2008,Chicago, Illinois, USA.</a:t>
            </a:r>
            <a:endParaRPr lang="en-US" sz="1400" i="1" dirty="0"/>
          </a:p>
        </p:txBody>
      </p:sp>
    </p:spTree>
    <p:extLst>
      <p:ext uri="{BB962C8B-B14F-4D97-AF65-F5344CB8AC3E}">
        <p14:creationId xmlns:p14="http://schemas.microsoft.com/office/powerpoint/2010/main" val="272986660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88320" y="104129"/>
            <a:ext cx="2839453" cy="400110"/>
          </a:xfrm>
          <a:prstGeom prst="rect">
            <a:avLst/>
          </a:prstGeom>
        </p:spPr>
        <p:txBody>
          <a:bodyPr wrap="square">
            <a:spAutoFit/>
          </a:bodyPr>
          <a:lstStyle/>
          <a:p>
            <a:pPr algn="ctr"/>
            <a:r>
              <a:rPr lang="en-US" sz="2000" b="1" dirty="0" err="1"/>
              <a:t>OpenNebula</a:t>
            </a:r>
            <a:endParaRPr lang="en-US" sz="2000" b="1" dirty="0"/>
          </a:p>
        </p:txBody>
      </p:sp>
      <p:sp>
        <p:nvSpPr>
          <p:cNvPr id="5" name="Rectangle 4"/>
          <p:cNvSpPr/>
          <p:nvPr/>
        </p:nvSpPr>
        <p:spPr>
          <a:xfrm>
            <a:off x="144379" y="582986"/>
            <a:ext cx="11903242" cy="830997"/>
          </a:xfrm>
          <a:prstGeom prst="rect">
            <a:avLst/>
          </a:prstGeom>
        </p:spPr>
        <p:txBody>
          <a:bodyPr wrap="square">
            <a:spAutoFit/>
          </a:bodyPr>
          <a:lstStyle/>
          <a:p>
            <a:pPr marL="285750" indent="-285750" algn="just">
              <a:buFont typeface="Arial" panose="020B0604020202020204" pitchFamily="34" charset="0"/>
              <a:buChar char="•"/>
            </a:pPr>
            <a:r>
              <a:rPr lang="en-US" sz="2400" dirty="0"/>
              <a:t>which illustrates the existence of public and private clouds and also the resources being managed by its virtual manager. </a:t>
            </a:r>
            <a:endParaRPr lang="en-US" sz="2400" b="1" dirty="0"/>
          </a:p>
        </p:txBody>
      </p:sp>
      <p:pic>
        <p:nvPicPr>
          <p:cNvPr id="2" name="Picture 1">
            <a:extLst>
              <a:ext uri="{FF2B5EF4-FFF2-40B4-BE49-F238E27FC236}">
                <a16:creationId xmlns:a16="http://schemas.microsoft.com/office/drawing/2014/main" id="{8CC43D81-EDF7-10EF-ADEA-1F4B31856CC5}"/>
              </a:ext>
            </a:extLst>
          </p:cNvPr>
          <p:cNvPicPr>
            <a:picLocks noChangeAspect="1"/>
          </p:cNvPicPr>
          <p:nvPr/>
        </p:nvPicPr>
        <p:blipFill>
          <a:blip r:embed="rId3"/>
          <a:stretch>
            <a:fillRect/>
          </a:stretch>
        </p:blipFill>
        <p:spPr>
          <a:xfrm>
            <a:off x="3151198" y="1606322"/>
            <a:ext cx="6153150" cy="4429125"/>
          </a:xfrm>
          <a:prstGeom prst="rect">
            <a:avLst/>
          </a:prstGeom>
        </p:spPr>
      </p:pic>
    </p:spTree>
    <p:extLst>
      <p:ext uri="{BB962C8B-B14F-4D97-AF65-F5344CB8AC3E}">
        <p14:creationId xmlns:p14="http://schemas.microsoft.com/office/powerpoint/2010/main" val="91510938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7886E1-2B79-C813-9669-D6AFEC5BD1F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A3EBB8C-803A-A7F9-46EA-32601C207670}"/>
              </a:ext>
            </a:extLst>
          </p:cNvPr>
          <p:cNvSpPr/>
          <p:nvPr/>
        </p:nvSpPr>
        <p:spPr>
          <a:xfrm>
            <a:off x="3203265" y="77899"/>
            <a:ext cx="6996650" cy="461665"/>
          </a:xfrm>
          <a:prstGeom prst="rect">
            <a:avLst/>
          </a:prstGeom>
        </p:spPr>
        <p:txBody>
          <a:bodyPr wrap="square">
            <a:spAutoFit/>
          </a:bodyPr>
          <a:lstStyle/>
          <a:p>
            <a:pPr algn="ctr"/>
            <a:r>
              <a:rPr lang="en-US" sz="2400" b="1" dirty="0"/>
              <a:t> </a:t>
            </a:r>
            <a:r>
              <a:rPr lang="en-US" sz="2400" b="1" dirty="0" err="1"/>
              <a:t>OpenNebula</a:t>
            </a:r>
            <a:endParaRPr lang="en-US" sz="2400" b="1" dirty="0"/>
          </a:p>
        </p:txBody>
      </p:sp>
      <p:sp>
        <p:nvSpPr>
          <p:cNvPr id="6" name="TextBox 5">
            <a:extLst>
              <a:ext uri="{FF2B5EF4-FFF2-40B4-BE49-F238E27FC236}">
                <a16:creationId xmlns:a16="http://schemas.microsoft.com/office/drawing/2014/main" id="{4D67C094-AE7C-5454-CD66-90E7A8FBA127}"/>
              </a:ext>
            </a:extLst>
          </p:cNvPr>
          <p:cNvSpPr txBox="1"/>
          <p:nvPr/>
        </p:nvSpPr>
        <p:spPr>
          <a:xfrm>
            <a:off x="304800" y="539564"/>
            <a:ext cx="11713029" cy="4469622"/>
          </a:xfrm>
          <a:prstGeom prst="rect">
            <a:avLst/>
          </a:prstGeom>
          <a:noFill/>
        </p:spPr>
        <p:txBody>
          <a:bodyPr wrap="square">
            <a:spAutoFit/>
          </a:bodyPr>
          <a:lstStyle/>
          <a:p>
            <a:pPr algn="l">
              <a:lnSpc>
                <a:spcPts val="1950"/>
              </a:lnSpc>
              <a:spcAft>
                <a:spcPts val="1950"/>
              </a:spcAft>
            </a:pPr>
            <a:r>
              <a:rPr lang="en-US" sz="2400" b="1" i="0" dirty="0">
                <a:solidFill>
                  <a:srgbClr val="222222"/>
                </a:solidFill>
                <a:effectLst/>
                <a:latin typeface="-apple-system"/>
              </a:rPr>
              <a:t>Components of </a:t>
            </a:r>
            <a:r>
              <a:rPr lang="en-US" sz="2400" b="1" i="0" dirty="0" err="1">
                <a:solidFill>
                  <a:srgbClr val="222222"/>
                </a:solidFill>
                <a:effectLst/>
                <a:latin typeface="-apple-system"/>
              </a:rPr>
              <a:t>OpenNebula</a:t>
            </a:r>
            <a:endParaRPr lang="en-US" sz="2400" b="1" i="0" dirty="0">
              <a:solidFill>
                <a:srgbClr val="222222"/>
              </a:solidFill>
              <a:effectLst/>
              <a:latin typeface="-apple-system"/>
            </a:endParaRPr>
          </a:p>
          <a:p>
            <a:pPr algn="l">
              <a:lnSpc>
                <a:spcPts val="1950"/>
              </a:lnSpc>
              <a:spcAft>
                <a:spcPts val="1950"/>
              </a:spcAft>
            </a:pPr>
            <a:br>
              <a:rPr lang="en-US" sz="2400" b="0" i="0" dirty="0">
                <a:solidFill>
                  <a:srgbClr val="222222"/>
                </a:solidFill>
                <a:effectLst/>
                <a:latin typeface="-apple-system"/>
              </a:rPr>
            </a:br>
            <a:r>
              <a:rPr lang="en-US" sz="2400" b="0" i="0" dirty="0">
                <a:solidFill>
                  <a:srgbClr val="222222"/>
                </a:solidFill>
                <a:effectLst/>
                <a:latin typeface="-apple-system"/>
              </a:rPr>
              <a:t>Based on the existing infrastructure, </a:t>
            </a:r>
            <a:r>
              <a:rPr lang="en-US" sz="2400" b="0" i="0" dirty="0" err="1">
                <a:solidFill>
                  <a:srgbClr val="222222"/>
                </a:solidFill>
                <a:effectLst/>
                <a:latin typeface="-apple-system"/>
              </a:rPr>
              <a:t>OpenNebula</a:t>
            </a:r>
            <a:r>
              <a:rPr lang="en-US" sz="2400" b="0" i="0" dirty="0">
                <a:solidFill>
                  <a:srgbClr val="222222"/>
                </a:solidFill>
                <a:effectLst/>
                <a:latin typeface="-apple-system"/>
              </a:rPr>
              <a:t> provides various services and resources. You can view the components in Figure 3.</a:t>
            </a:r>
          </a:p>
          <a:p>
            <a:pPr algn="l">
              <a:lnSpc>
                <a:spcPts val="1950"/>
              </a:lnSpc>
              <a:spcAft>
                <a:spcPts val="1950"/>
              </a:spcAft>
              <a:buFont typeface="Arial" panose="020B0604020202020204" pitchFamily="34" charset="0"/>
              <a:buChar char="•"/>
            </a:pPr>
            <a:r>
              <a:rPr lang="en-US" sz="2400" b="1" i="1" dirty="0">
                <a:solidFill>
                  <a:srgbClr val="222222"/>
                </a:solidFill>
                <a:effectLst/>
                <a:latin typeface="-apple-system"/>
              </a:rPr>
              <a:t>APIs and interfaces:</a:t>
            </a:r>
            <a:r>
              <a:rPr lang="en-US" sz="2400" b="0" i="0" dirty="0">
                <a:solidFill>
                  <a:srgbClr val="222222"/>
                </a:solidFill>
                <a:effectLst/>
                <a:latin typeface="-apple-system"/>
              </a:rPr>
              <a:t> These are used to manage and monitor </a:t>
            </a:r>
            <a:r>
              <a:rPr lang="en-US" sz="2400" b="0" i="0" dirty="0" err="1">
                <a:solidFill>
                  <a:srgbClr val="222222"/>
                </a:solidFill>
                <a:effectLst/>
                <a:latin typeface="-apple-system"/>
              </a:rPr>
              <a:t>OpenNebula</a:t>
            </a:r>
            <a:r>
              <a:rPr lang="en-US" sz="2400" b="0" i="0" dirty="0">
                <a:solidFill>
                  <a:srgbClr val="222222"/>
                </a:solidFill>
                <a:effectLst/>
                <a:latin typeface="-apple-system"/>
              </a:rPr>
              <a:t> components. To manage physical and virtual resources, they work as an interface.</a:t>
            </a:r>
          </a:p>
          <a:p>
            <a:pPr algn="l">
              <a:lnSpc>
                <a:spcPts val="1950"/>
              </a:lnSpc>
              <a:spcAft>
                <a:spcPts val="1950"/>
              </a:spcAft>
              <a:buFont typeface="Arial" panose="020B0604020202020204" pitchFamily="34" charset="0"/>
              <a:buChar char="•"/>
            </a:pPr>
            <a:r>
              <a:rPr lang="en-US" sz="2400" b="1" i="1" dirty="0">
                <a:solidFill>
                  <a:srgbClr val="222222"/>
                </a:solidFill>
                <a:effectLst/>
                <a:latin typeface="-apple-system"/>
              </a:rPr>
              <a:t>Hosts and VM resources:</a:t>
            </a:r>
            <a:r>
              <a:rPr lang="en-US" sz="2400" b="0" i="0" dirty="0">
                <a:solidFill>
                  <a:srgbClr val="222222"/>
                </a:solidFill>
                <a:effectLst/>
                <a:latin typeface="-apple-system"/>
              </a:rPr>
              <a:t> These are a key aspect of a heterogeneous cloud that is managed and monitored, e.g., Xen, VMware.</a:t>
            </a:r>
          </a:p>
          <a:p>
            <a:pPr algn="just">
              <a:lnSpc>
                <a:spcPts val="1950"/>
              </a:lnSpc>
              <a:spcAft>
                <a:spcPts val="1950"/>
              </a:spcAft>
              <a:buFont typeface="Arial" panose="020B0604020202020204" pitchFamily="34" charset="0"/>
              <a:buChar char="•"/>
            </a:pPr>
            <a:r>
              <a:rPr lang="en-US" sz="2400" b="1" i="1" dirty="0">
                <a:solidFill>
                  <a:srgbClr val="222222"/>
                </a:solidFill>
                <a:effectLst/>
                <a:latin typeface="-apple-system"/>
              </a:rPr>
              <a:t>Storage components:</a:t>
            </a:r>
            <a:r>
              <a:rPr lang="en-US" sz="2400" b="0" i="0" dirty="0">
                <a:solidFill>
                  <a:srgbClr val="222222"/>
                </a:solidFill>
                <a:effectLst/>
                <a:latin typeface="-apple-system"/>
              </a:rPr>
              <a:t> These are the basis for </a:t>
            </a:r>
            <a:r>
              <a:rPr lang="en-US" sz="2400" b="0" i="0" dirty="0" err="1">
                <a:solidFill>
                  <a:srgbClr val="222222"/>
                </a:solidFill>
                <a:effectLst/>
                <a:latin typeface="-apple-system"/>
              </a:rPr>
              <a:t>centralised</a:t>
            </a:r>
            <a:r>
              <a:rPr lang="en-US" sz="2400" b="0" i="0" dirty="0">
                <a:solidFill>
                  <a:srgbClr val="222222"/>
                </a:solidFill>
                <a:effectLst/>
                <a:latin typeface="-apple-system"/>
              </a:rPr>
              <a:t> or </a:t>
            </a:r>
            <a:r>
              <a:rPr lang="en-US" sz="2400" b="0" i="0" dirty="0" err="1">
                <a:solidFill>
                  <a:srgbClr val="222222"/>
                </a:solidFill>
                <a:effectLst/>
                <a:latin typeface="-apple-system"/>
              </a:rPr>
              <a:t>decentralised</a:t>
            </a:r>
            <a:r>
              <a:rPr lang="en-US" sz="2400" b="0" i="0" dirty="0">
                <a:solidFill>
                  <a:srgbClr val="222222"/>
                </a:solidFill>
                <a:effectLst/>
                <a:latin typeface="-apple-system"/>
              </a:rPr>
              <a:t> template repositories.</a:t>
            </a:r>
          </a:p>
          <a:p>
            <a:pPr algn="l">
              <a:lnSpc>
                <a:spcPts val="1950"/>
              </a:lnSpc>
              <a:spcAft>
                <a:spcPts val="1950"/>
              </a:spcAft>
              <a:buFont typeface="Arial" panose="020B0604020202020204" pitchFamily="34" charset="0"/>
              <a:buChar char="•"/>
            </a:pPr>
            <a:r>
              <a:rPr lang="en-US" sz="2400" b="1" i="1" dirty="0">
                <a:solidFill>
                  <a:srgbClr val="222222"/>
                </a:solidFill>
                <a:effectLst/>
                <a:latin typeface="-apple-system"/>
              </a:rPr>
              <a:t>Network components:</a:t>
            </a:r>
            <a:r>
              <a:rPr lang="en-US" sz="2400" b="0" i="0" dirty="0">
                <a:solidFill>
                  <a:srgbClr val="222222"/>
                </a:solidFill>
                <a:effectLst/>
                <a:latin typeface="-apple-system"/>
              </a:rPr>
              <a:t> These can be managed flexibly. Naturally, there is support for VLANs and Open </a:t>
            </a:r>
            <a:r>
              <a:rPr lang="en-US" sz="2400" b="0" i="0" dirty="0" err="1">
                <a:solidFill>
                  <a:srgbClr val="222222"/>
                </a:solidFill>
                <a:effectLst/>
                <a:latin typeface="-apple-system"/>
              </a:rPr>
              <a:t>vSwitch</a:t>
            </a:r>
            <a:r>
              <a:rPr lang="en-US" sz="2400" b="0" i="0" dirty="0">
                <a:solidFill>
                  <a:srgbClr val="222222"/>
                </a:solidFill>
                <a:effectLst/>
                <a:latin typeface="-apple-system"/>
              </a:rPr>
              <a:t>.</a:t>
            </a:r>
          </a:p>
        </p:txBody>
      </p:sp>
    </p:spTree>
    <p:extLst>
      <p:ext uri="{BB962C8B-B14F-4D97-AF65-F5344CB8AC3E}">
        <p14:creationId xmlns:p14="http://schemas.microsoft.com/office/powerpoint/2010/main" val="30965251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5B5538-A2A1-AE3A-0C16-A8E6FC65864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F6EA73E-34CB-8AE6-75AF-1BFC221ACA96}"/>
              </a:ext>
            </a:extLst>
          </p:cNvPr>
          <p:cNvSpPr/>
          <p:nvPr/>
        </p:nvSpPr>
        <p:spPr>
          <a:xfrm>
            <a:off x="3203265" y="77899"/>
            <a:ext cx="6996650" cy="461665"/>
          </a:xfrm>
          <a:prstGeom prst="rect">
            <a:avLst/>
          </a:prstGeom>
        </p:spPr>
        <p:txBody>
          <a:bodyPr wrap="square">
            <a:spAutoFit/>
          </a:bodyPr>
          <a:lstStyle/>
          <a:p>
            <a:pPr algn="ctr"/>
            <a:r>
              <a:rPr lang="en-US" sz="2400" b="1" dirty="0"/>
              <a:t> </a:t>
            </a:r>
            <a:r>
              <a:rPr lang="en-US" sz="2400" b="1" dirty="0" err="1"/>
              <a:t>OpenNebula</a:t>
            </a:r>
            <a:endParaRPr lang="en-US" sz="2400" b="1" dirty="0"/>
          </a:p>
        </p:txBody>
      </p:sp>
      <p:sp>
        <p:nvSpPr>
          <p:cNvPr id="6" name="TextBox 5">
            <a:extLst>
              <a:ext uri="{FF2B5EF4-FFF2-40B4-BE49-F238E27FC236}">
                <a16:creationId xmlns:a16="http://schemas.microsoft.com/office/drawing/2014/main" id="{0658AC6C-DB72-A8E0-63C3-147A2C0DC563}"/>
              </a:ext>
            </a:extLst>
          </p:cNvPr>
          <p:cNvSpPr txBox="1"/>
          <p:nvPr/>
        </p:nvSpPr>
        <p:spPr>
          <a:xfrm>
            <a:off x="642257" y="1195472"/>
            <a:ext cx="11264813" cy="2248693"/>
          </a:xfrm>
          <a:prstGeom prst="rect">
            <a:avLst/>
          </a:prstGeom>
          <a:noFill/>
        </p:spPr>
        <p:txBody>
          <a:bodyPr wrap="square">
            <a:spAutoFit/>
          </a:bodyPr>
          <a:lstStyle/>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lang="en-US" sz="2400" b="0" i="0" dirty="0">
              <a:solidFill>
                <a:srgbClr val="474747"/>
              </a:solidFill>
              <a:effectLst/>
              <a:latin typeface="Arial" panose="020B0604020202020204" pitchFamily="34" charset="0"/>
            </a:endParaRP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lang="en-US" sz="2400" dirty="0">
              <a:solidFill>
                <a:srgbClr val="474747"/>
              </a:solidFill>
              <a:latin typeface="Arial" panose="020B0604020202020204" pitchFamily="34" charset="0"/>
            </a:endParaRP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2400" b="0" i="0" dirty="0">
                <a:solidFill>
                  <a:srgbClr val="474747"/>
                </a:solidFill>
                <a:effectLst/>
                <a:latin typeface="Arial" panose="020B0604020202020204" pitchFamily="34" charset="0"/>
              </a:rPr>
              <a:t>The </a:t>
            </a:r>
            <a:r>
              <a:rPr lang="en-US" sz="2400" b="1" i="0" dirty="0" err="1">
                <a:solidFill>
                  <a:srgbClr val="767676"/>
                </a:solidFill>
                <a:effectLst/>
                <a:latin typeface="Arial" panose="020B0604020202020204" pitchFamily="34" charset="0"/>
              </a:rPr>
              <a:t>OpenNebula</a:t>
            </a:r>
            <a:r>
              <a:rPr lang="en-US" sz="2400" b="1" i="0" dirty="0">
                <a:solidFill>
                  <a:srgbClr val="767676"/>
                </a:solidFill>
                <a:effectLst/>
                <a:latin typeface="Arial" panose="020B0604020202020204" pitchFamily="34" charset="0"/>
              </a:rPr>
              <a:t> Scheduler is responsible</a:t>
            </a:r>
            <a:r>
              <a:rPr lang="en-US" sz="2400" b="0" i="0" dirty="0">
                <a:solidFill>
                  <a:srgbClr val="474747"/>
                </a:solidFill>
                <a:effectLst/>
                <a:latin typeface="Arial" panose="020B0604020202020204" pitchFamily="34" charset="0"/>
              </a:rPr>
              <a:t> for planning of the pending Virtual Machines on available hypervisor Nodes.</a:t>
            </a:r>
            <a:endPar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116948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2839453" cy="400110"/>
          </a:xfrm>
          <a:prstGeom prst="rect">
            <a:avLst/>
          </a:prstGeom>
        </p:spPr>
        <p:txBody>
          <a:bodyPr wrap="square">
            <a:spAutoFit/>
          </a:bodyPr>
          <a:lstStyle/>
          <a:p>
            <a:pPr algn="ctr"/>
            <a:r>
              <a:rPr lang="en-US" sz="2000" b="1" dirty="0" err="1"/>
              <a:t>OpenNebula</a:t>
            </a:r>
            <a:endParaRPr lang="en-US" sz="2000" b="1" dirty="0"/>
          </a:p>
        </p:txBody>
      </p:sp>
      <p:sp>
        <p:nvSpPr>
          <p:cNvPr id="5" name="Rectangle 4"/>
          <p:cNvSpPr/>
          <p:nvPr/>
        </p:nvSpPr>
        <p:spPr>
          <a:xfrm>
            <a:off x="136358" y="1228091"/>
            <a:ext cx="11510210" cy="3913059"/>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sz="2400" dirty="0" err="1"/>
              <a:t>OpenNebula</a:t>
            </a:r>
            <a:r>
              <a:rPr lang="en-US" sz="2400" dirty="0"/>
              <a:t> is an open-source alternative to these commercial tools for the dynamic management of VMs on distributed resources.</a:t>
            </a:r>
          </a:p>
          <a:p>
            <a:pPr marL="285750" indent="-285750" algn="just">
              <a:lnSpc>
                <a:spcPct val="150000"/>
              </a:lnSpc>
              <a:buFont typeface="Arial" panose="020B0604020202020204" pitchFamily="34" charset="0"/>
              <a:buChar char="•"/>
            </a:pPr>
            <a:r>
              <a:rPr lang="en-US" sz="2400" dirty="0"/>
              <a:t> This tool is supporting several research lines in advance reservation of capacity, probabilistic admission control, placement optimization, resource models for the efficient management of groups of virtual machines, elasticity support, and so on.</a:t>
            </a:r>
          </a:p>
          <a:p>
            <a:pPr marL="285750" indent="-285750" algn="just">
              <a:lnSpc>
                <a:spcPct val="150000"/>
              </a:lnSpc>
              <a:buFont typeface="Arial" panose="020B0604020202020204" pitchFamily="34" charset="0"/>
              <a:buChar char="•"/>
            </a:pPr>
            <a:r>
              <a:rPr lang="en-US" sz="2400" dirty="0"/>
              <a:t> These research lines address the requirements from both types of clouds namely, private and public</a:t>
            </a:r>
            <a:endParaRPr lang="en-US" sz="2400" b="1" dirty="0"/>
          </a:p>
        </p:txBody>
      </p:sp>
    </p:spTree>
    <p:extLst>
      <p:ext uri="{BB962C8B-B14F-4D97-AF65-F5344CB8AC3E}">
        <p14:creationId xmlns:p14="http://schemas.microsoft.com/office/powerpoint/2010/main" val="35003358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5FEEB4E-6214-47CC-6406-F43D14DF2DA5}"/>
              </a:ext>
            </a:extLst>
          </p:cNvPr>
          <p:cNvSpPr txBox="1"/>
          <p:nvPr/>
        </p:nvSpPr>
        <p:spPr>
          <a:xfrm>
            <a:off x="261257" y="149833"/>
            <a:ext cx="11288486" cy="5935279"/>
          </a:xfrm>
          <a:prstGeom prst="rect">
            <a:avLst/>
          </a:prstGeom>
          <a:noFill/>
        </p:spPr>
        <p:txBody>
          <a:bodyPr wrap="square">
            <a:spAutoFit/>
          </a:bodyPr>
          <a:lstStyle/>
          <a:p>
            <a:pPr algn="l"/>
            <a:r>
              <a:rPr lang="en-US" sz="2400" b="0" i="0" dirty="0">
                <a:solidFill>
                  <a:srgbClr val="707070"/>
                </a:solidFill>
                <a:effectLst/>
                <a:latin typeface="Open Sans" panose="020B0606030504020204" pitchFamily="34" charset="0"/>
              </a:rPr>
              <a:t>Eucalyptus vs </a:t>
            </a:r>
            <a:r>
              <a:rPr lang="en-US" sz="2400" b="0" i="0" dirty="0" err="1">
                <a:solidFill>
                  <a:srgbClr val="707070"/>
                </a:solidFill>
                <a:effectLst/>
                <a:latin typeface="Open Sans" panose="020B0606030504020204" pitchFamily="34" charset="0"/>
              </a:rPr>
              <a:t>OpenNebula</a:t>
            </a:r>
            <a:r>
              <a:rPr lang="en-US" sz="2400" b="0" i="0" dirty="0">
                <a:solidFill>
                  <a:srgbClr val="707070"/>
                </a:solidFill>
                <a:effectLst/>
                <a:latin typeface="Open Sans" panose="020B0606030504020204" pitchFamily="34" charset="0"/>
              </a:rPr>
              <a:t>:</a:t>
            </a:r>
          </a:p>
          <a:p>
            <a:pPr algn="l"/>
            <a:r>
              <a:rPr lang="en-US" sz="2400" b="0" i="0" dirty="0">
                <a:solidFill>
                  <a:srgbClr val="707070"/>
                </a:solidFill>
                <a:effectLst/>
                <a:latin typeface="Open Sans" panose="020B0606030504020204" pitchFamily="34" charset="0"/>
              </a:rPr>
              <a:t> What are the differences?</a:t>
            </a:r>
          </a:p>
          <a:p>
            <a:pPr algn="l"/>
            <a:endParaRPr lang="en-US" sz="2400" b="0" i="0" dirty="0">
              <a:solidFill>
                <a:srgbClr val="707070"/>
              </a:solidFill>
              <a:effectLst/>
              <a:latin typeface="Open Sans" panose="020B0606030504020204" pitchFamily="34" charset="0"/>
            </a:endParaRPr>
          </a:p>
          <a:p>
            <a:pPr algn="just">
              <a:lnSpc>
                <a:spcPct val="150000"/>
              </a:lnSpc>
            </a:pPr>
            <a:r>
              <a:rPr lang="en-US" sz="2400" b="1" i="0" dirty="0">
                <a:solidFill>
                  <a:srgbClr val="333333"/>
                </a:solidFill>
                <a:effectLst/>
                <a:latin typeface="Times New Roman" panose="02020603050405020304" pitchFamily="18" charset="0"/>
                <a:cs typeface="Times New Roman" panose="02020603050405020304" pitchFamily="18" charset="0"/>
              </a:rPr>
              <a:t>Introduction:</a:t>
            </a:r>
            <a:r>
              <a:rPr lang="en-US" sz="2400" b="0" i="0" dirty="0">
                <a:solidFill>
                  <a:srgbClr val="707070"/>
                </a:solidFill>
                <a:effectLst/>
                <a:latin typeface="Times New Roman" panose="02020603050405020304" pitchFamily="18" charset="0"/>
                <a:cs typeface="Times New Roman" panose="02020603050405020304" pitchFamily="18" charset="0"/>
              </a:rPr>
              <a:t> Eucalyptus and </a:t>
            </a:r>
            <a:r>
              <a:rPr lang="en-US" sz="2400" b="0" i="0" dirty="0" err="1">
                <a:solidFill>
                  <a:srgbClr val="707070"/>
                </a:solidFill>
                <a:effectLst/>
                <a:latin typeface="Times New Roman" panose="02020603050405020304" pitchFamily="18" charset="0"/>
                <a:cs typeface="Times New Roman" panose="02020603050405020304" pitchFamily="18" charset="0"/>
              </a:rPr>
              <a:t>OpenNebula</a:t>
            </a:r>
            <a:r>
              <a:rPr lang="en-US" sz="2400" b="0" i="0" dirty="0">
                <a:solidFill>
                  <a:srgbClr val="707070"/>
                </a:solidFill>
                <a:effectLst/>
                <a:latin typeface="Times New Roman" panose="02020603050405020304" pitchFamily="18" charset="0"/>
                <a:cs typeface="Times New Roman" panose="02020603050405020304" pitchFamily="18" charset="0"/>
              </a:rPr>
              <a:t> are two popular cloud computing platforms that provide infrastructure as a service (IaaS) solutions. While they share similar goals, there are several key differences between the two.</a:t>
            </a:r>
          </a:p>
          <a:p>
            <a:pPr algn="l"/>
            <a:endParaRPr lang="en-US" sz="2400" b="0" i="0" dirty="0">
              <a:solidFill>
                <a:srgbClr val="707070"/>
              </a:solidFill>
              <a:effectLst/>
              <a:latin typeface="Times New Roman" panose="02020603050405020304" pitchFamily="18" charset="0"/>
              <a:cs typeface="Times New Roman" panose="02020603050405020304" pitchFamily="18" charset="0"/>
            </a:endParaRPr>
          </a:p>
          <a:p>
            <a:pPr algn="just">
              <a:lnSpc>
                <a:spcPct val="150000"/>
              </a:lnSpc>
              <a:buFont typeface="+mj-lt"/>
              <a:buAutoNum type="arabicPeriod"/>
            </a:pPr>
            <a:r>
              <a:rPr lang="en-US" sz="2400" b="1" i="0" dirty="0">
                <a:solidFill>
                  <a:srgbClr val="333333"/>
                </a:solidFill>
                <a:effectLst/>
                <a:latin typeface="Times New Roman" panose="02020603050405020304" pitchFamily="18" charset="0"/>
                <a:cs typeface="Times New Roman" panose="02020603050405020304" pitchFamily="18" charset="0"/>
              </a:rPr>
              <a:t>Architecture</a:t>
            </a:r>
            <a:r>
              <a:rPr lang="en-US" sz="2400" b="0" i="0" dirty="0">
                <a:solidFill>
                  <a:srgbClr val="707070"/>
                </a:solidFill>
                <a:effectLst/>
                <a:latin typeface="Times New Roman" panose="02020603050405020304" pitchFamily="18" charset="0"/>
                <a:cs typeface="Times New Roman" panose="02020603050405020304" pitchFamily="18" charset="0"/>
              </a:rPr>
              <a:t>: </a:t>
            </a:r>
            <a:r>
              <a:rPr lang="en-US" sz="2400" b="1" i="0" dirty="0">
                <a:solidFill>
                  <a:srgbClr val="707070"/>
                </a:solidFill>
                <a:effectLst/>
                <a:latin typeface="Times New Roman" panose="02020603050405020304" pitchFamily="18" charset="0"/>
                <a:cs typeface="Times New Roman" panose="02020603050405020304" pitchFamily="18" charset="0"/>
              </a:rPr>
              <a:t>Eucalyptus is designed to be an on-premise private cloud platform, </a:t>
            </a:r>
            <a:r>
              <a:rPr lang="en-US" sz="2400" b="0" i="0" dirty="0">
                <a:solidFill>
                  <a:srgbClr val="707070"/>
                </a:solidFill>
                <a:effectLst/>
                <a:latin typeface="Times New Roman" panose="02020603050405020304" pitchFamily="18" charset="0"/>
                <a:cs typeface="Times New Roman" panose="02020603050405020304" pitchFamily="18" charset="0"/>
              </a:rPr>
              <a:t>allowing organizations to build their own cloud infrastructure within their data centers. </a:t>
            </a:r>
            <a:r>
              <a:rPr lang="en-US" sz="2400" b="1" i="0" dirty="0" err="1">
                <a:solidFill>
                  <a:srgbClr val="707070"/>
                </a:solidFill>
                <a:effectLst/>
                <a:latin typeface="Times New Roman" panose="02020603050405020304" pitchFamily="18" charset="0"/>
                <a:cs typeface="Times New Roman" panose="02020603050405020304" pitchFamily="18" charset="0"/>
              </a:rPr>
              <a:t>OpenNebula</a:t>
            </a:r>
            <a:r>
              <a:rPr lang="en-US" sz="2400" b="1" i="0" dirty="0">
                <a:solidFill>
                  <a:srgbClr val="707070"/>
                </a:solidFill>
                <a:effectLst/>
                <a:latin typeface="Times New Roman" panose="02020603050405020304" pitchFamily="18" charset="0"/>
                <a:cs typeface="Times New Roman" panose="02020603050405020304" pitchFamily="18" charset="0"/>
              </a:rPr>
              <a:t>, on the other hand, is a hybrid cloud platform that supports both on-premise and public cloud deployments.</a:t>
            </a:r>
            <a:r>
              <a:rPr lang="en-US" sz="2400" b="0" i="0" dirty="0">
                <a:solidFill>
                  <a:srgbClr val="707070"/>
                </a:solidFill>
                <a:effectLst/>
                <a:latin typeface="Times New Roman" panose="02020603050405020304" pitchFamily="18" charset="0"/>
                <a:cs typeface="Times New Roman" panose="02020603050405020304" pitchFamily="18" charset="0"/>
              </a:rPr>
              <a:t> It provides a unified interface to manage resources across different cloud providers. services.</a:t>
            </a:r>
          </a:p>
        </p:txBody>
      </p:sp>
    </p:spTree>
    <p:extLst>
      <p:ext uri="{BB962C8B-B14F-4D97-AF65-F5344CB8AC3E}">
        <p14:creationId xmlns:p14="http://schemas.microsoft.com/office/powerpoint/2010/main" val="80901638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C6A17A-F8AD-610A-8DE6-3A62A0FC874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3DC02474-F2E0-EE26-CEED-AD87D49FE537}"/>
              </a:ext>
            </a:extLst>
          </p:cNvPr>
          <p:cNvSpPr txBox="1"/>
          <p:nvPr/>
        </p:nvSpPr>
        <p:spPr>
          <a:xfrm>
            <a:off x="261257" y="149833"/>
            <a:ext cx="11821886" cy="4618572"/>
          </a:xfrm>
          <a:prstGeom prst="rect">
            <a:avLst/>
          </a:prstGeom>
          <a:noFill/>
        </p:spPr>
        <p:txBody>
          <a:bodyPr wrap="square">
            <a:spAutoFit/>
          </a:bodyPr>
          <a:lstStyle/>
          <a:p>
            <a:pPr algn="just">
              <a:lnSpc>
                <a:spcPct val="150000"/>
              </a:lnSpc>
            </a:pPr>
            <a:r>
              <a:rPr lang="en-US" b="1" dirty="0">
                <a:solidFill>
                  <a:srgbClr val="333333"/>
                </a:solidFill>
                <a:latin typeface="Open Sans" panose="020B0606030504020204" pitchFamily="34" charset="0"/>
              </a:rPr>
              <a:t>2.</a:t>
            </a:r>
            <a:r>
              <a:rPr lang="en-US" b="1" i="0" dirty="0">
                <a:solidFill>
                  <a:srgbClr val="333333"/>
                </a:solidFill>
                <a:effectLst/>
                <a:latin typeface="Open Sans" panose="020B0606030504020204" pitchFamily="34" charset="0"/>
              </a:rPr>
              <a:t>Hypervisor Support</a:t>
            </a:r>
            <a:r>
              <a:rPr lang="en-US" b="0" i="0" dirty="0">
                <a:solidFill>
                  <a:srgbClr val="707070"/>
                </a:solidFill>
                <a:effectLst/>
                <a:latin typeface="Open Sans" panose="020B0606030504020204" pitchFamily="34" charset="0"/>
              </a:rPr>
              <a:t>: </a:t>
            </a:r>
          </a:p>
          <a:p>
            <a:pPr marL="285750" indent="-285750" algn="just">
              <a:lnSpc>
                <a:spcPct val="150000"/>
              </a:lnSpc>
              <a:buFont typeface="Arial" panose="020B0604020202020204" pitchFamily="34" charset="0"/>
              <a:buChar char="•"/>
            </a:pPr>
            <a:r>
              <a:rPr lang="en-US" b="1" i="0" dirty="0">
                <a:solidFill>
                  <a:srgbClr val="707070"/>
                </a:solidFill>
                <a:effectLst/>
                <a:latin typeface="Open Sans" panose="020B0606030504020204" pitchFamily="34" charset="0"/>
              </a:rPr>
              <a:t>Eucalyptus</a:t>
            </a:r>
            <a:r>
              <a:rPr lang="en-US" b="0" i="0" dirty="0">
                <a:solidFill>
                  <a:srgbClr val="707070"/>
                </a:solidFill>
                <a:effectLst/>
                <a:latin typeface="Open Sans" panose="020B0606030504020204" pitchFamily="34" charset="0"/>
              </a:rPr>
              <a:t> initially </a:t>
            </a:r>
            <a:r>
              <a:rPr lang="en-US" b="1" i="0" dirty="0">
                <a:solidFill>
                  <a:srgbClr val="707070"/>
                </a:solidFill>
                <a:effectLst/>
                <a:latin typeface="Open Sans" panose="020B0606030504020204" pitchFamily="34" charset="0"/>
              </a:rPr>
              <a:t>supported only the Xen hypervisor </a:t>
            </a:r>
            <a:r>
              <a:rPr lang="en-US" b="0" i="0" dirty="0">
                <a:solidFill>
                  <a:srgbClr val="707070"/>
                </a:solidFill>
                <a:effectLst/>
                <a:latin typeface="Open Sans" panose="020B0606030504020204" pitchFamily="34" charset="0"/>
              </a:rPr>
              <a:t>but has </a:t>
            </a:r>
            <a:r>
              <a:rPr lang="en-US" b="1" i="0" dirty="0">
                <a:solidFill>
                  <a:srgbClr val="707070"/>
                </a:solidFill>
                <a:effectLst/>
                <a:latin typeface="Open Sans" panose="020B0606030504020204" pitchFamily="34" charset="0"/>
              </a:rPr>
              <a:t>now added support for KVM and </a:t>
            </a:r>
            <a:r>
              <a:rPr lang="en-US" b="1" i="0" dirty="0" err="1">
                <a:solidFill>
                  <a:srgbClr val="707070"/>
                </a:solidFill>
                <a:effectLst/>
                <a:latin typeface="Open Sans" panose="020B0606030504020204" pitchFamily="34" charset="0"/>
              </a:rPr>
              <a:t>Vmware</a:t>
            </a:r>
            <a:endParaRPr lang="en-US" b="1" i="0" dirty="0">
              <a:solidFill>
                <a:srgbClr val="707070"/>
              </a:solidFill>
              <a:effectLst/>
              <a:latin typeface="Open Sans" panose="020B0606030504020204" pitchFamily="34" charset="0"/>
            </a:endParaRPr>
          </a:p>
          <a:p>
            <a:pPr marL="285750" indent="-285750" algn="just">
              <a:lnSpc>
                <a:spcPct val="150000"/>
              </a:lnSpc>
              <a:buFont typeface="Arial" panose="020B0604020202020204" pitchFamily="34" charset="0"/>
              <a:buChar char="•"/>
            </a:pPr>
            <a:r>
              <a:rPr lang="en-US" b="1" i="0" dirty="0" err="1">
                <a:solidFill>
                  <a:srgbClr val="707070"/>
                </a:solidFill>
                <a:effectLst/>
                <a:latin typeface="Open Sans" panose="020B0606030504020204" pitchFamily="34" charset="0"/>
              </a:rPr>
              <a:t>OpenNebula</a:t>
            </a:r>
            <a:r>
              <a:rPr lang="en-US" b="0" i="0" dirty="0">
                <a:solidFill>
                  <a:srgbClr val="707070"/>
                </a:solidFill>
                <a:effectLst/>
                <a:latin typeface="Open Sans" panose="020B0606030504020204" pitchFamily="34" charset="0"/>
              </a:rPr>
              <a:t>, on the other hand, </a:t>
            </a:r>
            <a:r>
              <a:rPr lang="en-US" b="1" i="0" dirty="0">
                <a:solidFill>
                  <a:srgbClr val="707070"/>
                </a:solidFill>
                <a:effectLst/>
                <a:latin typeface="Open Sans" panose="020B0606030504020204" pitchFamily="34" charset="0"/>
              </a:rPr>
              <a:t>is hypervisor-agnostic and supports multiple hypervisors </a:t>
            </a:r>
            <a:r>
              <a:rPr lang="en-US" b="0" i="0" dirty="0">
                <a:solidFill>
                  <a:srgbClr val="707070"/>
                </a:solidFill>
                <a:effectLst/>
                <a:latin typeface="Open Sans" panose="020B0606030504020204" pitchFamily="34" charset="0"/>
              </a:rPr>
              <a:t>including KVM, VMware, and Hyper-V. This flexibility allows users to choose the most suitable hypervisor for their needs.</a:t>
            </a:r>
          </a:p>
          <a:p>
            <a:pPr algn="just">
              <a:lnSpc>
                <a:spcPct val="150000"/>
              </a:lnSpc>
            </a:pPr>
            <a:r>
              <a:rPr lang="en-US" b="1" i="0" dirty="0">
                <a:solidFill>
                  <a:srgbClr val="333333"/>
                </a:solidFill>
                <a:effectLst/>
                <a:latin typeface="Open Sans" panose="020B0606030504020204" pitchFamily="34" charset="0"/>
              </a:rPr>
              <a:t>3. Community and Ecosystem</a:t>
            </a:r>
            <a:r>
              <a:rPr lang="en-US" b="0" i="0" dirty="0">
                <a:solidFill>
                  <a:srgbClr val="707070"/>
                </a:solidFill>
                <a:effectLst/>
                <a:latin typeface="Open Sans" panose="020B0606030504020204" pitchFamily="34" charset="0"/>
              </a:rPr>
              <a:t>: </a:t>
            </a:r>
          </a:p>
          <a:p>
            <a:pPr marL="285750" indent="-285750" algn="just">
              <a:lnSpc>
                <a:spcPct val="150000"/>
              </a:lnSpc>
              <a:buFont typeface="Arial" panose="020B0604020202020204" pitchFamily="34" charset="0"/>
              <a:buChar char="•"/>
            </a:pPr>
            <a:r>
              <a:rPr lang="en-US" b="0" i="0" dirty="0" err="1">
                <a:solidFill>
                  <a:srgbClr val="707070"/>
                </a:solidFill>
                <a:effectLst/>
                <a:latin typeface="Open Sans" panose="020B0606030504020204" pitchFamily="34" charset="0"/>
              </a:rPr>
              <a:t>OpenNebula</a:t>
            </a:r>
            <a:r>
              <a:rPr lang="en-US" b="0" i="0" dirty="0">
                <a:solidFill>
                  <a:srgbClr val="707070"/>
                </a:solidFill>
                <a:effectLst/>
                <a:latin typeface="Open Sans" panose="020B0606030504020204" pitchFamily="34" charset="0"/>
              </a:rPr>
              <a:t> has a </a:t>
            </a:r>
            <a:r>
              <a:rPr lang="en-US" b="1" i="0" dirty="0">
                <a:solidFill>
                  <a:srgbClr val="707070"/>
                </a:solidFill>
                <a:effectLst/>
                <a:latin typeface="Open Sans" panose="020B0606030504020204" pitchFamily="34" charset="0"/>
              </a:rPr>
              <a:t>larger and more active community with regular updates </a:t>
            </a:r>
            <a:r>
              <a:rPr lang="en-US" b="0" i="0" dirty="0">
                <a:solidFill>
                  <a:srgbClr val="707070"/>
                </a:solidFill>
                <a:effectLst/>
                <a:latin typeface="Open Sans" panose="020B0606030504020204" pitchFamily="34" charset="0"/>
              </a:rPr>
              <a:t>and a wide range of community-contributed plugins and integrations. </a:t>
            </a:r>
            <a:r>
              <a:rPr lang="en-US" b="1" i="0" dirty="0">
                <a:solidFill>
                  <a:srgbClr val="707070"/>
                </a:solidFill>
                <a:effectLst/>
                <a:latin typeface="Open Sans" panose="020B0606030504020204" pitchFamily="34" charset="0"/>
              </a:rPr>
              <a:t>Eucalyptus, although actively maintained by its community, has a smaller ecosystem.</a:t>
            </a:r>
            <a:r>
              <a:rPr lang="en-US" b="0" i="0" dirty="0">
                <a:solidFill>
                  <a:srgbClr val="707070"/>
                </a:solidFill>
                <a:effectLst/>
                <a:latin typeface="Open Sans" panose="020B0606030504020204" pitchFamily="34" charset="0"/>
              </a:rPr>
              <a:t> </a:t>
            </a:r>
          </a:p>
          <a:p>
            <a:pPr marL="285750" indent="-285750" algn="just">
              <a:lnSpc>
                <a:spcPct val="150000"/>
              </a:lnSpc>
              <a:buFont typeface="Arial" panose="020B0604020202020204" pitchFamily="34" charset="0"/>
              <a:buChar char="•"/>
            </a:pPr>
            <a:r>
              <a:rPr lang="en-US" b="0" i="0" dirty="0" err="1">
                <a:solidFill>
                  <a:srgbClr val="707070"/>
                </a:solidFill>
                <a:effectLst/>
                <a:latin typeface="Open Sans" panose="020B0606030504020204" pitchFamily="34" charset="0"/>
              </a:rPr>
              <a:t>OpenNebula's</a:t>
            </a:r>
            <a:r>
              <a:rPr lang="en-US" b="0" i="0" dirty="0">
                <a:solidFill>
                  <a:srgbClr val="707070"/>
                </a:solidFill>
                <a:effectLst/>
                <a:latin typeface="Open Sans" panose="020B0606030504020204" pitchFamily="34" charset="0"/>
              </a:rPr>
              <a:t> larger community translates to more resources, support, and possibilities for customization.</a:t>
            </a:r>
          </a:p>
        </p:txBody>
      </p:sp>
    </p:spTree>
    <p:extLst>
      <p:ext uri="{BB962C8B-B14F-4D97-AF65-F5344CB8AC3E}">
        <p14:creationId xmlns:p14="http://schemas.microsoft.com/office/powerpoint/2010/main" val="305698589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F70B7-1681-F24B-0F7C-032FD4BBA9C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84A7658-10F8-848E-2F42-9FA7C8049265}"/>
              </a:ext>
            </a:extLst>
          </p:cNvPr>
          <p:cNvSpPr txBox="1"/>
          <p:nvPr/>
        </p:nvSpPr>
        <p:spPr>
          <a:xfrm>
            <a:off x="261257" y="149833"/>
            <a:ext cx="11821886" cy="6696064"/>
          </a:xfrm>
          <a:prstGeom prst="rect">
            <a:avLst/>
          </a:prstGeom>
          <a:noFill/>
        </p:spPr>
        <p:txBody>
          <a:bodyPr wrap="square">
            <a:spAutoFit/>
          </a:bodyPr>
          <a:lstStyle/>
          <a:p>
            <a:pPr algn="just">
              <a:lnSpc>
                <a:spcPct val="150000"/>
              </a:lnSpc>
            </a:pPr>
            <a:r>
              <a:rPr lang="en-US" b="1" dirty="0">
                <a:solidFill>
                  <a:srgbClr val="333333"/>
                </a:solidFill>
                <a:latin typeface="Open Sans" panose="020B0606030504020204" pitchFamily="34" charset="0"/>
              </a:rPr>
              <a:t>4</a:t>
            </a:r>
            <a:r>
              <a:rPr lang="en-US" b="1" i="0" dirty="0">
                <a:solidFill>
                  <a:srgbClr val="333333"/>
                </a:solidFill>
                <a:effectLst/>
                <a:latin typeface="Open Sans" panose="020B0606030504020204" pitchFamily="34" charset="0"/>
              </a:rPr>
              <a:t>. Ease of Use</a:t>
            </a:r>
            <a:r>
              <a:rPr lang="en-US" b="0" i="0" dirty="0">
                <a:solidFill>
                  <a:srgbClr val="707070"/>
                </a:solidFill>
                <a:effectLst/>
                <a:latin typeface="Open Sans" panose="020B0606030504020204" pitchFamily="34" charset="0"/>
              </a:rPr>
              <a:t>: </a:t>
            </a:r>
          </a:p>
          <a:p>
            <a:pPr marL="285750" indent="-285750" algn="just">
              <a:lnSpc>
                <a:spcPct val="150000"/>
              </a:lnSpc>
              <a:buFont typeface="Arial" panose="020B0604020202020204" pitchFamily="34" charset="0"/>
              <a:buChar char="•"/>
            </a:pPr>
            <a:r>
              <a:rPr lang="en-US" b="0" i="0" dirty="0">
                <a:solidFill>
                  <a:srgbClr val="707070"/>
                </a:solidFill>
                <a:effectLst/>
                <a:latin typeface="Open Sans" panose="020B0606030504020204" pitchFamily="34" charset="0"/>
              </a:rPr>
              <a:t>Eucalyptus aims to provide </a:t>
            </a:r>
            <a:r>
              <a:rPr lang="en-US" b="1" i="0" dirty="0">
                <a:solidFill>
                  <a:srgbClr val="707070"/>
                </a:solidFill>
                <a:effectLst/>
                <a:latin typeface="Open Sans" panose="020B0606030504020204" pitchFamily="34" charset="0"/>
              </a:rPr>
              <a:t>a user-friendly interface with </a:t>
            </a:r>
            <a:r>
              <a:rPr lang="en-US" b="0" i="0" dirty="0">
                <a:solidFill>
                  <a:srgbClr val="707070"/>
                </a:solidFill>
                <a:effectLst/>
                <a:latin typeface="Open Sans" panose="020B0606030504020204" pitchFamily="34" charset="0"/>
              </a:rPr>
              <a:t>a web-based dashboard for managing cloud resources. </a:t>
            </a:r>
          </a:p>
          <a:p>
            <a:pPr marL="285750" indent="-285750" algn="just">
              <a:lnSpc>
                <a:spcPct val="150000"/>
              </a:lnSpc>
              <a:buFont typeface="Arial" panose="020B0604020202020204" pitchFamily="34" charset="0"/>
              <a:buChar char="•"/>
            </a:pPr>
            <a:r>
              <a:rPr lang="en-US" b="0" i="0" dirty="0" err="1">
                <a:solidFill>
                  <a:srgbClr val="707070"/>
                </a:solidFill>
                <a:effectLst/>
                <a:latin typeface="Open Sans" panose="020B0606030504020204" pitchFamily="34" charset="0"/>
              </a:rPr>
              <a:t>OpenNebula</a:t>
            </a:r>
            <a:r>
              <a:rPr lang="en-US" b="0" i="0" dirty="0">
                <a:solidFill>
                  <a:srgbClr val="707070"/>
                </a:solidFill>
                <a:effectLst/>
                <a:latin typeface="Open Sans" panose="020B0606030504020204" pitchFamily="34" charset="0"/>
              </a:rPr>
              <a:t>, although it also has a web-based interface, is </a:t>
            </a:r>
            <a:r>
              <a:rPr lang="en-US" b="1" i="0" dirty="0">
                <a:solidFill>
                  <a:srgbClr val="707070"/>
                </a:solidFill>
                <a:effectLst/>
                <a:latin typeface="Open Sans" panose="020B0606030504020204" pitchFamily="34" charset="0"/>
              </a:rPr>
              <a:t>more command-line-centric </a:t>
            </a:r>
            <a:r>
              <a:rPr lang="en-US" b="0" i="0" dirty="0">
                <a:solidFill>
                  <a:srgbClr val="707070"/>
                </a:solidFill>
                <a:effectLst/>
                <a:latin typeface="Open Sans" panose="020B0606030504020204" pitchFamily="34" charset="0"/>
              </a:rPr>
              <a:t>and provides a powerful command-line interface (CLI) for managing and automating cloud deployments. </a:t>
            </a:r>
          </a:p>
          <a:p>
            <a:pPr marL="285750" indent="-285750" algn="just">
              <a:lnSpc>
                <a:spcPct val="150000"/>
              </a:lnSpc>
              <a:buFont typeface="Arial" panose="020B0604020202020204" pitchFamily="34" charset="0"/>
              <a:buChar char="•"/>
            </a:pPr>
            <a:r>
              <a:rPr lang="en-US" b="0" i="0" dirty="0">
                <a:solidFill>
                  <a:srgbClr val="707070"/>
                </a:solidFill>
                <a:effectLst/>
                <a:latin typeface="Open Sans" panose="020B0606030504020204" pitchFamily="34" charset="0"/>
              </a:rPr>
              <a:t> this makes </a:t>
            </a:r>
            <a:r>
              <a:rPr lang="en-US" b="0" i="0" dirty="0" err="1">
                <a:solidFill>
                  <a:srgbClr val="707070"/>
                </a:solidFill>
                <a:effectLst/>
                <a:latin typeface="Open Sans" panose="020B0606030504020204" pitchFamily="34" charset="0"/>
              </a:rPr>
              <a:t>OpenNebula</a:t>
            </a:r>
            <a:r>
              <a:rPr lang="en-US" b="0" i="0" dirty="0">
                <a:solidFill>
                  <a:srgbClr val="707070"/>
                </a:solidFill>
                <a:effectLst/>
                <a:latin typeface="Open Sans" panose="020B0606030504020204" pitchFamily="34" charset="0"/>
              </a:rPr>
              <a:t> more suitable for users who prefer CLI-based administration.</a:t>
            </a:r>
          </a:p>
          <a:p>
            <a:pPr algn="just">
              <a:lnSpc>
                <a:spcPct val="150000"/>
              </a:lnSpc>
            </a:pPr>
            <a:r>
              <a:rPr lang="en-US" b="1" dirty="0">
                <a:solidFill>
                  <a:srgbClr val="333333"/>
                </a:solidFill>
                <a:latin typeface="Open Sans" panose="020B0606030504020204" pitchFamily="34" charset="0"/>
              </a:rPr>
              <a:t>5. M</a:t>
            </a:r>
            <a:r>
              <a:rPr lang="en-US" b="1" i="0" dirty="0">
                <a:solidFill>
                  <a:srgbClr val="333333"/>
                </a:solidFill>
                <a:effectLst/>
                <a:latin typeface="Open Sans" panose="020B0606030504020204" pitchFamily="34" charset="0"/>
              </a:rPr>
              <a:t>ulti-Tenancy</a:t>
            </a:r>
            <a:r>
              <a:rPr lang="en-US" b="0" i="0" dirty="0">
                <a:solidFill>
                  <a:srgbClr val="707070"/>
                </a:solidFill>
                <a:effectLst/>
                <a:latin typeface="Open Sans" panose="020B0606030504020204" pitchFamily="34" charset="0"/>
              </a:rPr>
              <a:t>: </a:t>
            </a:r>
          </a:p>
          <a:p>
            <a:pPr marL="285750" indent="-285750" algn="just">
              <a:lnSpc>
                <a:spcPct val="150000"/>
              </a:lnSpc>
              <a:buFont typeface="Arial" panose="020B0604020202020204" pitchFamily="34" charset="0"/>
              <a:buChar char="•"/>
            </a:pPr>
            <a:r>
              <a:rPr lang="en-US" b="0" i="0" dirty="0">
                <a:solidFill>
                  <a:srgbClr val="707070"/>
                </a:solidFill>
                <a:effectLst/>
                <a:latin typeface="Open Sans" panose="020B0606030504020204" pitchFamily="34" charset="0"/>
              </a:rPr>
              <a:t>Eucalyptus provides built-in support for multi-tenancy, allowing the segmentation of cloud resources for different users or groups. </a:t>
            </a:r>
          </a:p>
          <a:p>
            <a:pPr marL="285750" indent="-285750" algn="just">
              <a:lnSpc>
                <a:spcPct val="150000"/>
              </a:lnSpc>
              <a:buFont typeface="Arial" panose="020B0604020202020204" pitchFamily="34" charset="0"/>
              <a:buChar char="•"/>
            </a:pPr>
            <a:r>
              <a:rPr lang="en-US" b="0" i="0" dirty="0" err="1">
                <a:solidFill>
                  <a:srgbClr val="707070"/>
                </a:solidFill>
                <a:effectLst/>
                <a:latin typeface="Open Sans" panose="020B0606030504020204" pitchFamily="34" charset="0"/>
              </a:rPr>
              <a:t>OpenNebula</a:t>
            </a:r>
            <a:r>
              <a:rPr lang="en-US" b="0" i="0" dirty="0">
                <a:solidFill>
                  <a:srgbClr val="707070"/>
                </a:solidFill>
                <a:effectLst/>
                <a:latin typeface="Open Sans" panose="020B0606030504020204" pitchFamily="34" charset="0"/>
              </a:rPr>
              <a:t> also supports multi-tenancy but </a:t>
            </a:r>
            <a:r>
              <a:rPr lang="en-US" b="1" i="0" dirty="0">
                <a:solidFill>
                  <a:srgbClr val="707070"/>
                </a:solidFill>
                <a:effectLst/>
                <a:latin typeface="Open Sans" panose="020B0606030504020204" pitchFamily="34" charset="0"/>
              </a:rPr>
              <a:t>requires additional configuration and extensions to achieve </a:t>
            </a:r>
            <a:r>
              <a:rPr lang="en-US" b="0" i="0" dirty="0">
                <a:solidFill>
                  <a:srgbClr val="707070"/>
                </a:solidFill>
                <a:effectLst/>
                <a:latin typeface="Open Sans" panose="020B0606030504020204" pitchFamily="34" charset="0"/>
              </a:rPr>
              <a:t>the same level of segregation. </a:t>
            </a:r>
          </a:p>
          <a:p>
            <a:pPr marL="285750" indent="-285750" algn="just">
              <a:lnSpc>
                <a:spcPct val="150000"/>
              </a:lnSpc>
              <a:buFont typeface="Arial" panose="020B0604020202020204" pitchFamily="34" charset="0"/>
              <a:buChar char="•"/>
            </a:pPr>
            <a:r>
              <a:rPr lang="en-US" b="1" i="0" dirty="0">
                <a:solidFill>
                  <a:srgbClr val="707070"/>
                </a:solidFill>
                <a:effectLst/>
                <a:latin typeface="Open Sans" panose="020B0606030504020204" pitchFamily="34" charset="0"/>
              </a:rPr>
              <a:t>Eucalyptus offers a simpler and more straightforward approach </a:t>
            </a:r>
            <a:r>
              <a:rPr lang="en-US" b="0" i="0" dirty="0">
                <a:solidFill>
                  <a:srgbClr val="707070"/>
                </a:solidFill>
                <a:effectLst/>
                <a:latin typeface="Open Sans" panose="020B0606030504020204" pitchFamily="34" charset="0"/>
              </a:rPr>
              <a:t>to multi-tenancy</a:t>
            </a:r>
          </a:p>
          <a:p>
            <a:pPr algn="just">
              <a:lnSpc>
                <a:spcPct val="150000"/>
              </a:lnSpc>
            </a:pPr>
            <a:r>
              <a:rPr lang="en-US" b="0" i="0" dirty="0">
                <a:solidFill>
                  <a:srgbClr val="707070"/>
                </a:solidFill>
                <a:effectLst/>
                <a:latin typeface="Open Sans" panose="020B0606030504020204" pitchFamily="34" charset="0"/>
              </a:rPr>
              <a:t>6. </a:t>
            </a:r>
            <a:r>
              <a:rPr lang="en-US" b="1" i="0" dirty="0">
                <a:solidFill>
                  <a:srgbClr val="333333"/>
                </a:solidFill>
                <a:effectLst/>
                <a:latin typeface="Open Sans" panose="020B0606030504020204" pitchFamily="34" charset="0"/>
              </a:rPr>
              <a:t>Integration with Other Cloud Services</a:t>
            </a:r>
            <a:r>
              <a:rPr lang="en-US" b="0" i="0" dirty="0">
                <a:solidFill>
                  <a:srgbClr val="707070"/>
                </a:solidFill>
                <a:effectLst/>
                <a:latin typeface="Open Sans" panose="020B0606030504020204" pitchFamily="34" charset="0"/>
              </a:rPr>
              <a:t>: Eucalyptus integrates well with Amazon Web Services (AWS) and provides an API compatibility layer for existing AWS tools and applications. </a:t>
            </a:r>
            <a:r>
              <a:rPr lang="en-US" b="1" i="0" dirty="0" err="1">
                <a:solidFill>
                  <a:srgbClr val="707070"/>
                </a:solidFill>
                <a:effectLst/>
                <a:latin typeface="Open Sans" panose="020B0606030504020204" pitchFamily="34" charset="0"/>
              </a:rPr>
              <a:t>OpenNebula</a:t>
            </a:r>
            <a:r>
              <a:rPr lang="en-US" b="1" i="0" dirty="0">
                <a:solidFill>
                  <a:srgbClr val="707070"/>
                </a:solidFill>
                <a:effectLst/>
                <a:latin typeface="Open Sans" panose="020B0606030504020204" pitchFamily="34" charset="0"/>
              </a:rPr>
              <a:t>, on the other hand, focuses on providing a cloud-agnostic platform and does not have specific integration with AWS. </a:t>
            </a:r>
            <a:r>
              <a:rPr lang="en-US" b="0" i="0" dirty="0">
                <a:solidFill>
                  <a:srgbClr val="707070"/>
                </a:solidFill>
                <a:effectLst/>
                <a:latin typeface="Open Sans" panose="020B0606030504020204" pitchFamily="34" charset="0"/>
              </a:rPr>
              <a:t>This makes Eucalyptus a suitable choice for users who require compatibility with AWS services.</a:t>
            </a:r>
          </a:p>
        </p:txBody>
      </p:sp>
    </p:spTree>
    <p:extLst>
      <p:ext uri="{BB962C8B-B14F-4D97-AF65-F5344CB8AC3E}">
        <p14:creationId xmlns:p14="http://schemas.microsoft.com/office/powerpoint/2010/main" val="238906520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2839453" cy="400110"/>
          </a:xfrm>
          <a:prstGeom prst="rect">
            <a:avLst/>
          </a:prstGeom>
        </p:spPr>
        <p:txBody>
          <a:bodyPr wrap="square">
            <a:spAutoFit/>
          </a:bodyPr>
          <a:lstStyle/>
          <a:p>
            <a:pPr algn="ctr"/>
            <a:r>
              <a:rPr lang="en-US" sz="2000" b="1" dirty="0"/>
              <a:t>Aneka</a:t>
            </a:r>
          </a:p>
        </p:txBody>
      </p:sp>
      <p:sp>
        <p:nvSpPr>
          <p:cNvPr id="5" name="Rectangle 4"/>
          <p:cNvSpPr/>
          <p:nvPr/>
        </p:nvSpPr>
        <p:spPr>
          <a:xfrm>
            <a:off x="136358" y="1228091"/>
            <a:ext cx="11510210" cy="4619854"/>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err="1"/>
              <a:t>Manjrasoft</a:t>
            </a:r>
            <a:r>
              <a:rPr lang="en-US" dirty="0"/>
              <a:t> Aneka [10] is </a:t>
            </a:r>
            <a:r>
              <a:rPr lang="en-US" b="1" dirty="0"/>
              <a:t>a .NET-based platform and framework designed for building and deploying distributed applications on clouds</a:t>
            </a:r>
            <a:r>
              <a:rPr lang="en-US" dirty="0"/>
              <a:t>. </a:t>
            </a:r>
          </a:p>
          <a:p>
            <a:pPr marL="285750" indent="-285750" algn="just">
              <a:lnSpc>
                <a:spcPct val="150000"/>
              </a:lnSpc>
              <a:buFont typeface="Arial" panose="020B0604020202020204" pitchFamily="34" charset="0"/>
              <a:buChar char="•"/>
            </a:pPr>
            <a:r>
              <a:rPr lang="en-US" dirty="0"/>
              <a:t>It provides a set of APIs for transparently exploiting distributed resources and expressing the business logic of applications by using the preferred programming abstractions. </a:t>
            </a:r>
          </a:p>
          <a:p>
            <a:pPr marL="285750" indent="-285750" algn="just">
              <a:lnSpc>
                <a:spcPct val="150000"/>
              </a:lnSpc>
              <a:buFont typeface="Arial" panose="020B0604020202020204" pitchFamily="34" charset="0"/>
              <a:buChar char="•"/>
            </a:pPr>
            <a:r>
              <a:rPr lang="en-US" dirty="0"/>
              <a:t>Aneka is also a </a:t>
            </a:r>
            <a:r>
              <a:rPr lang="en-US" b="1" dirty="0"/>
              <a:t>market-oriented cloud platform since it allows users to build and schedule applications</a:t>
            </a:r>
            <a:r>
              <a:rPr lang="en-US" dirty="0"/>
              <a:t>, provision resources, and monitor results using pricing, accounting, and </a:t>
            </a:r>
            <a:r>
              <a:rPr lang="en-US" b="1" dirty="0" err="1"/>
              <a:t>QoS</a:t>
            </a:r>
            <a:r>
              <a:rPr lang="en-US" b="1" dirty="0"/>
              <a:t>/SLA services in private and/or public cloud environments</a:t>
            </a:r>
          </a:p>
          <a:p>
            <a:pPr marL="285750" indent="-285750" algn="just">
              <a:lnSpc>
                <a:spcPct val="150000"/>
              </a:lnSpc>
              <a:buFont typeface="Arial" panose="020B0604020202020204" pitchFamily="34" charset="0"/>
              <a:buChar char="•"/>
            </a:pPr>
            <a:r>
              <a:rPr lang="en-US" dirty="0"/>
              <a:t>It allows end users to build an enterprise/private cloud setup by exploiting the power of computing resources in the enterprise data centers</a:t>
            </a:r>
            <a:r>
              <a:rPr lang="en-US" b="1" dirty="0"/>
              <a:t>, public clouds such as Amazon EC2 [4], and hybrid clouds by combining enterprise private clouds managed by Aneka with resources from Amazon EC2 or other enterprise clouds built and managed using technologies such as </a:t>
            </a:r>
            <a:r>
              <a:rPr lang="en-US" b="1" dirty="0" err="1"/>
              <a:t>XenServer</a:t>
            </a:r>
            <a:r>
              <a:rPr lang="en-US" b="1" dirty="0"/>
              <a:t>.</a:t>
            </a:r>
          </a:p>
        </p:txBody>
      </p:sp>
    </p:spTree>
    <p:extLst>
      <p:ext uri="{BB962C8B-B14F-4D97-AF65-F5344CB8AC3E}">
        <p14:creationId xmlns:p14="http://schemas.microsoft.com/office/powerpoint/2010/main" val="364306355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6196264" cy="400110"/>
          </a:xfrm>
          <a:prstGeom prst="rect">
            <a:avLst/>
          </a:prstGeom>
        </p:spPr>
        <p:txBody>
          <a:bodyPr wrap="square">
            <a:spAutoFit/>
          </a:bodyPr>
          <a:lstStyle/>
          <a:p>
            <a:pPr algn="ctr"/>
            <a:r>
              <a:rPr lang="en-US" sz="2000" b="1" dirty="0" err="1"/>
              <a:t>Manjrasoft</a:t>
            </a:r>
            <a:r>
              <a:rPr lang="en-US" sz="2000" b="1" dirty="0"/>
              <a:t> Aneka layered architecture </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60581" y="1314352"/>
            <a:ext cx="5716619" cy="5585212"/>
          </a:xfrm>
          <a:prstGeom prst="rect">
            <a:avLst/>
          </a:prstGeom>
        </p:spPr>
      </p:pic>
    </p:spTree>
    <p:extLst>
      <p:ext uri="{BB962C8B-B14F-4D97-AF65-F5344CB8AC3E}">
        <p14:creationId xmlns:p14="http://schemas.microsoft.com/office/powerpoint/2010/main" val="241684486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A851D-864B-0870-76DE-A95C54D1FDF8}"/>
              </a:ext>
            </a:extLst>
          </p:cNvPr>
          <p:cNvSpPr>
            <a:spLocks noGrp="1"/>
          </p:cNvSpPr>
          <p:nvPr>
            <p:ph type="title"/>
          </p:nvPr>
        </p:nvSpPr>
        <p:spPr>
          <a:xfrm>
            <a:off x="838199" y="27668"/>
            <a:ext cx="10515600" cy="549275"/>
          </a:xfrm>
        </p:spPr>
        <p:txBody>
          <a:bodyPr>
            <a:normAutofit/>
          </a:bodyPr>
          <a:lstStyle/>
          <a:p>
            <a:pPr algn="ctr"/>
            <a:r>
              <a:rPr lang="en-US" sz="2000" b="1" dirty="0"/>
              <a:t>Aneka</a:t>
            </a:r>
          </a:p>
        </p:txBody>
      </p:sp>
      <p:sp>
        <p:nvSpPr>
          <p:cNvPr id="3" name="Content Placeholder 2">
            <a:extLst>
              <a:ext uri="{FF2B5EF4-FFF2-40B4-BE49-F238E27FC236}">
                <a16:creationId xmlns:a16="http://schemas.microsoft.com/office/drawing/2014/main" id="{F072BA31-B7C4-9B7E-C802-897A2392315D}"/>
              </a:ext>
            </a:extLst>
          </p:cNvPr>
          <p:cNvSpPr>
            <a:spLocks noGrp="1"/>
          </p:cNvSpPr>
          <p:nvPr>
            <p:ph idx="1"/>
          </p:nvPr>
        </p:nvSpPr>
        <p:spPr>
          <a:xfrm>
            <a:off x="97972" y="576943"/>
            <a:ext cx="12094028" cy="6253389"/>
          </a:xfrm>
        </p:spPr>
        <p:txBody>
          <a:bodyPr>
            <a:normAutofit fontScale="47500" lnSpcReduction="20000"/>
          </a:bodyPr>
          <a:lstStyle/>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4200" b="1" i="0" dirty="0">
                <a:solidFill>
                  <a:srgbClr val="273239"/>
                </a:solidFill>
                <a:effectLst/>
                <a:latin typeface="Nunito" pitchFamily="2" charset="0"/>
              </a:rPr>
              <a:t>Fabric services</a:t>
            </a:r>
            <a:r>
              <a:rPr lang="en-US" sz="4200" b="0" i="0" dirty="0">
                <a:solidFill>
                  <a:srgbClr val="273239"/>
                </a:solidFill>
                <a:effectLst/>
                <a:latin typeface="Nunito" pitchFamily="2" charset="0"/>
              </a:rPr>
              <a:t>: represent the </a:t>
            </a:r>
            <a:r>
              <a:rPr lang="en-US" sz="4200" b="1" i="0" dirty="0">
                <a:solidFill>
                  <a:srgbClr val="273239"/>
                </a:solidFill>
                <a:effectLst/>
                <a:latin typeface="Nunito" pitchFamily="2" charset="0"/>
              </a:rPr>
              <a:t>basic part of the infrastructural framework </a:t>
            </a:r>
            <a:r>
              <a:rPr lang="en-US" sz="4200" b="0" i="0" dirty="0">
                <a:solidFill>
                  <a:srgbClr val="273239"/>
                </a:solidFill>
                <a:effectLst/>
                <a:latin typeface="Nunito" pitchFamily="2" charset="0"/>
              </a:rPr>
              <a:t>through which the </a:t>
            </a:r>
            <a:r>
              <a:rPr lang="en-US" sz="4200" b="1" i="0" dirty="0">
                <a:solidFill>
                  <a:srgbClr val="273239"/>
                </a:solidFill>
                <a:effectLst/>
                <a:latin typeface="Nunito" pitchFamily="2" charset="0"/>
              </a:rPr>
              <a:t>resources of the cloud environment can be managed and automated</a:t>
            </a:r>
            <a:r>
              <a:rPr lang="en-US" sz="4200" b="0" i="0" dirty="0">
                <a:solidFill>
                  <a:srgbClr val="273239"/>
                </a:solidFill>
                <a:effectLst/>
                <a:latin typeface="Nunito" pitchFamily="2" charset="0"/>
              </a:rPr>
              <a:t>.  </a:t>
            </a:r>
            <a:r>
              <a:rPr lang="en-US" sz="4200" dirty="0">
                <a:solidFill>
                  <a:srgbClr val="273239"/>
                </a:solidFill>
                <a:latin typeface="Nunito" pitchFamily="2" charset="0"/>
              </a:rPr>
              <a:t>T</a:t>
            </a:r>
            <a:r>
              <a:rPr lang="en-US" sz="4200" b="0" i="0" dirty="0">
                <a:solidFill>
                  <a:srgbClr val="273239"/>
                </a:solidFill>
                <a:effectLst/>
                <a:latin typeface="Nunito" pitchFamily="2" charset="0"/>
              </a:rPr>
              <a:t>hey involve the physical or low level of resource provision and allocation and also virtualization. </a:t>
            </a:r>
          </a:p>
          <a:p>
            <a:pPr marL="0" marR="0" lvl="0" indent="0" algn="just" defTabSz="914400" rtl="0" eaLnBrk="1" fontAlgn="auto" latinLnBrk="0" hangingPunct="1">
              <a:lnSpc>
                <a:spcPct val="150000"/>
              </a:lnSpc>
              <a:spcBef>
                <a:spcPts val="0"/>
              </a:spcBef>
              <a:spcAft>
                <a:spcPts val="0"/>
              </a:spcAft>
              <a:buClrTx/>
              <a:buSzTx/>
              <a:buNone/>
              <a:tabLst/>
              <a:defRPr/>
            </a:pPr>
            <a:r>
              <a:rPr lang="en-US" sz="4200" b="0" i="0" dirty="0">
                <a:solidFill>
                  <a:srgbClr val="273239"/>
                </a:solidFill>
                <a:effectLst/>
                <a:latin typeface="Nunito" pitchFamily="2" charset="0"/>
              </a:rPr>
              <a:t>Fabric services are to provide </a:t>
            </a:r>
            <a:r>
              <a:rPr lang="en-US" sz="4200" b="1" i="0" dirty="0">
                <a:solidFill>
                  <a:srgbClr val="273239"/>
                </a:solidFill>
                <a:effectLst/>
                <a:latin typeface="Nunito" pitchFamily="2" charset="0"/>
              </a:rPr>
              <a:t>computational assets such as virtual machines, networking, storage management </a:t>
            </a:r>
            <a:r>
              <a:rPr lang="en-US" sz="4200" b="1" i="0" dirty="0" err="1">
                <a:solidFill>
                  <a:srgbClr val="273239"/>
                </a:solidFill>
                <a:effectLst/>
                <a:latin typeface="Nunito" pitchFamily="2" charset="0"/>
              </a:rPr>
              <a:t>etc</a:t>
            </a:r>
            <a:endParaRPr lang="en-US" sz="4200" b="1" i="0" dirty="0">
              <a:solidFill>
                <a:srgbClr val="273239"/>
              </a:solidFill>
              <a:effectLst/>
              <a:latin typeface="Nunito" pitchFamily="2" charset="0"/>
            </a:endParaRPr>
          </a:p>
          <a:p>
            <a:pPr marL="0" marR="0" lvl="0" indent="0" algn="just" defTabSz="914400" rtl="0" eaLnBrk="1" fontAlgn="auto" latinLnBrk="0" hangingPunct="1">
              <a:lnSpc>
                <a:spcPct val="150000"/>
              </a:lnSpc>
              <a:spcBef>
                <a:spcPts val="0"/>
              </a:spcBef>
              <a:spcAft>
                <a:spcPts val="0"/>
              </a:spcAft>
              <a:buClrTx/>
              <a:buSzTx/>
              <a:buNone/>
              <a:tabLst/>
              <a:defRPr/>
            </a:pPr>
            <a:endParaRPr lang="en-US" sz="4200" b="1" i="0" dirty="0">
              <a:solidFill>
                <a:srgbClr val="273239"/>
              </a:solidFill>
              <a:effectLst/>
              <a:latin typeface="Nunito" pitchFamily="2" charset="0"/>
            </a:endParaRPr>
          </a:p>
          <a:p>
            <a:pPr marL="285750" indent="-285750" algn="just">
              <a:lnSpc>
                <a:spcPct val="150000"/>
              </a:lnSpc>
              <a:spcBef>
                <a:spcPts val="0"/>
              </a:spcBef>
              <a:defRPr/>
            </a:pPr>
            <a:r>
              <a:rPr lang="en-US" sz="4200" b="1" i="0" dirty="0">
                <a:solidFill>
                  <a:srgbClr val="273239"/>
                </a:solidFill>
                <a:effectLst/>
                <a:latin typeface="Nunito" pitchFamily="2" charset="0"/>
              </a:rPr>
              <a:t>Foundation Services: As you move up in the stack, </a:t>
            </a:r>
            <a:r>
              <a:rPr lang="en-US" sz="4200" b="0" i="0" dirty="0">
                <a:solidFill>
                  <a:srgbClr val="273239"/>
                </a:solidFill>
                <a:effectLst/>
                <a:latin typeface="Nunito" pitchFamily="2" charset="0"/>
              </a:rPr>
              <a:t>foundation services rely on the fabric layer and </a:t>
            </a:r>
            <a:r>
              <a:rPr lang="en-US" sz="4200" b="1" i="0" dirty="0">
                <a:solidFill>
                  <a:srgbClr val="273239"/>
                </a:solidFill>
                <a:effectLst/>
                <a:latin typeface="Nunito" pitchFamily="2" charset="0"/>
              </a:rPr>
              <a:t>provide further enhancement for the development of applications </a:t>
            </a:r>
            <a:r>
              <a:rPr lang="en-US" sz="4200" b="0" i="0" dirty="0">
                <a:solidFill>
                  <a:srgbClr val="273239"/>
                </a:solidFill>
                <a:effectLst/>
                <a:latin typeface="Nunito" pitchFamily="2" charset="0"/>
              </a:rPr>
              <a:t>in the distributed environment such as </a:t>
            </a:r>
            <a:r>
              <a:rPr lang="en-US" sz="4200" b="1" i="0" dirty="0">
                <a:solidFill>
                  <a:srgbClr val="273239"/>
                </a:solidFill>
                <a:effectLst/>
                <a:latin typeface="Nunito" pitchFamily="2" charset="0"/>
              </a:rPr>
              <a:t>data management, security and authentication</a:t>
            </a:r>
          </a:p>
          <a:p>
            <a:pPr marL="285750" indent="-285750" algn="just">
              <a:lnSpc>
                <a:spcPct val="150000"/>
              </a:lnSpc>
              <a:spcBef>
                <a:spcPts val="0"/>
              </a:spcBef>
              <a:defRPr/>
            </a:pPr>
            <a:endParaRPr lang="en-US" sz="4200" b="1" i="0" dirty="0">
              <a:solidFill>
                <a:srgbClr val="273239"/>
              </a:solidFill>
              <a:effectLst/>
              <a:latin typeface="Nunito" pitchFamily="2" charset="0"/>
            </a:endParaRPr>
          </a:p>
          <a:p>
            <a:pPr marL="285750" indent="-285750" algn="just">
              <a:lnSpc>
                <a:spcPct val="150000"/>
              </a:lnSpc>
              <a:spcBef>
                <a:spcPts val="0"/>
              </a:spcBef>
              <a:defRPr/>
            </a:pPr>
            <a:r>
              <a:rPr lang="en-US" sz="4200" b="1" kern="1200" dirty="0">
                <a:solidFill>
                  <a:schemeClr val="tx1"/>
                </a:solidFill>
                <a:effectLst/>
                <a:latin typeface="+mn-lt"/>
                <a:ea typeface="+mn-ea"/>
                <a:cs typeface="+mn-cs"/>
              </a:rPr>
              <a:t>Programming service: </a:t>
            </a:r>
            <a:r>
              <a:rPr lang="en-US" sz="4200" kern="1200" dirty="0">
                <a:solidFill>
                  <a:schemeClr val="tx1"/>
                </a:solidFill>
                <a:effectLst/>
                <a:latin typeface="+mn-lt"/>
                <a:ea typeface="+mn-ea"/>
                <a:cs typeface="+mn-cs"/>
              </a:rPr>
              <a:t>directly deals with the scheduling and execution of applications in the Cloud which includes Task-mode, Thread model, Map Reduce model </a:t>
            </a:r>
            <a:r>
              <a:rPr lang="en-US" sz="4200" kern="1200" dirty="0" err="1">
                <a:solidFill>
                  <a:schemeClr val="tx1"/>
                </a:solidFill>
                <a:effectLst/>
                <a:latin typeface="+mn-lt"/>
                <a:ea typeface="+mn-ea"/>
                <a:cs typeface="+mn-cs"/>
              </a:rPr>
              <a:t>etc</a:t>
            </a:r>
            <a:endParaRPr lang="en-US" sz="4200" kern="1200" dirty="0">
              <a:solidFill>
                <a:schemeClr val="tx1"/>
              </a:solidFill>
              <a:effectLst/>
              <a:latin typeface="+mn-lt"/>
              <a:ea typeface="+mn-ea"/>
              <a:cs typeface="+mn-cs"/>
            </a:endParaRPr>
          </a:p>
          <a:p>
            <a:pPr marL="285750" indent="-285750" algn="just">
              <a:lnSpc>
                <a:spcPct val="150000"/>
              </a:lnSpc>
              <a:spcBef>
                <a:spcPts val="0"/>
              </a:spcBef>
              <a:defRPr/>
            </a:pPr>
            <a:endParaRPr lang="en-US" sz="4200" b="1" i="0" dirty="0">
              <a:solidFill>
                <a:srgbClr val="273239"/>
              </a:solidFill>
              <a:effectLst/>
              <a:latin typeface="Nunito" pitchFamily="2" charset="0"/>
            </a:endParaRPr>
          </a:p>
          <a:p>
            <a:pPr algn="just" fontAlgn="base">
              <a:lnSpc>
                <a:spcPct val="160000"/>
              </a:lnSpc>
              <a:spcBef>
                <a:spcPts val="0"/>
              </a:spcBef>
            </a:pPr>
            <a:r>
              <a:rPr lang="en-US" sz="4200" b="1" i="0" dirty="0">
                <a:solidFill>
                  <a:srgbClr val="273239"/>
                </a:solidFill>
                <a:effectLst/>
                <a:latin typeface="Nunito" pitchFamily="2" charset="0"/>
              </a:rPr>
              <a:t>Application Services: </a:t>
            </a:r>
            <a:r>
              <a:rPr lang="en-US" sz="4200" i="0" dirty="0">
                <a:solidFill>
                  <a:srgbClr val="273239"/>
                </a:solidFill>
                <a:effectLst/>
                <a:latin typeface="Nunito" pitchFamily="2" charset="0"/>
              </a:rPr>
              <a:t>they represent typical application templates or scenarios that can help to promote application assembly</a:t>
            </a:r>
            <a:r>
              <a:rPr lang="en-US" sz="4200" b="1" kern="1200" dirty="0">
                <a:solidFill>
                  <a:schemeClr val="tx1"/>
                </a:solidFill>
                <a:effectLst/>
                <a:latin typeface="+mn-lt"/>
                <a:ea typeface="+mn-ea"/>
                <a:cs typeface="+mn-cs"/>
              </a:rPr>
              <a:t>. This includes data analytics and ML, IoT integration etc.</a:t>
            </a:r>
            <a:endParaRPr lang="en-US" sz="4200" kern="1200" dirty="0">
              <a:solidFill>
                <a:schemeClr val="tx1"/>
              </a:solidFill>
              <a:effectLst/>
              <a:latin typeface="+mn-lt"/>
              <a:ea typeface="+mn-ea"/>
              <a:cs typeface="+mn-cs"/>
            </a:endParaRPr>
          </a:p>
          <a:p>
            <a:pPr algn="just" fontAlgn="base">
              <a:lnSpc>
                <a:spcPct val="160000"/>
              </a:lnSpc>
              <a:spcBef>
                <a:spcPts val="0"/>
              </a:spcBef>
            </a:pPr>
            <a:endParaRPr lang="en-US" sz="3600" i="0" dirty="0">
              <a:solidFill>
                <a:srgbClr val="273239"/>
              </a:solidFill>
              <a:effectLst/>
              <a:latin typeface="Nunito" pitchFamily="2" charset="0"/>
            </a:endParaRPr>
          </a:p>
          <a:p>
            <a:pPr algn="just" fontAlgn="base">
              <a:lnSpc>
                <a:spcPct val="160000"/>
              </a:lnSpc>
              <a:spcBef>
                <a:spcPts val="0"/>
              </a:spcBef>
            </a:pPr>
            <a:endParaRPr lang="en-US" sz="3600" i="0" dirty="0">
              <a:solidFill>
                <a:srgbClr val="273239"/>
              </a:solidFill>
              <a:effectLst/>
              <a:latin typeface="Nunito" pitchFamily="2" charset="0"/>
            </a:endParaRPr>
          </a:p>
          <a:p>
            <a:pPr marL="285750" marR="0" lvl="0" indent="-285750" algn="just"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endParaRPr lang="en-US" sz="2000" dirty="0"/>
          </a:p>
        </p:txBody>
      </p:sp>
    </p:spTree>
    <p:extLst>
      <p:ext uri="{BB962C8B-B14F-4D97-AF65-F5344CB8AC3E}">
        <p14:creationId xmlns:p14="http://schemas.microsoft.com/office/powerpoint/2010/main" val="274332982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400" dirty="0"/>
              <a:t>About Docker Container</a:t>
            </a:r>
          </a:p>
        </p:txBody>
      </p:sp>
      <p:sp>
        <p:nvSpPr>
          <p:cNvPr id="3" name="Subtitle 2"/>
          <p:cNvSpPr>
            <a:spLocks noGrp="1"/>
          </p:cNvSpPr>
          <p:nvPr>
            <p:ph type="subTitle" idx="1"/>
          </p:nvPr>
        </p:nvSpPr>
        <p:spPr>
          <a:xfrm>
            <a:off x="1533099" y="3509963"/>
            <a:ext cx="9144000" cy="1655762"/>
          </a:xfrm>
        </p:spPr>
        <p:txBody>
          <a:bodyPr/>
          <a:lstStyle/>
          <a:p>
            <a:r>
              <a:rPr lang="en-US" dirty="0"/>
              <a:t>Module 2 (continued)</a:t>
            </a:r>
          </a:p>
        </p:txBody>
      </p:sp>
      <p:sp>
        <p:nvSpPr>
          <p:cNvPr id="4" name="Rectangle 3"/>
          <p:cNvSpPr/>
          <p:nvPr/>
        </p:nvSpPr>
        <p:spPr>
          <a:xfrm>
            <a:off x="3239069" y="4429919"/>
            <a:ext cx="6096000" cy="369332"/>
          </a:xfrm>
          <a:prstGeom prst="rect">
            <a:avLst/>
          </a:prstGeom>
        </p:spPr>
        <p:txBody>
          <a:bodyPr>
            <a:spAutoFit/>
          </a:bodyPr>
          <a:lstStyle/>
          <a:p>
            <a:pPr lvl="0"/>
            <a:r>
              <a:rPr lang="en-US" b="1" dirty="0">
                <a:solidFill>
                  <a:srgbClr val="002060"/>
                </a:solidFill>
              </a:rPr>
              <a:t>Material from relevant papers</a:t>
            </a:r>
            <a:endParaRPr lang="en-US" b="1" dirty="0"/>
          </a:p>
        </p:txBody>
      </p:sp>
    </p:spTree>
    <p:extLst>
      <p:ext uri="{BB962C8B-B14F-4D97-AF65-F5344CB8AC3E}">
        <p14:creationId xmlns:p14="http://schemas.microsoft.com/office/powerpoint/2010/main" val="411824733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Need of Docker container</a:t>
            </a:r>
          </a:p>
        </p:txBody>
      </p:sp>
      <p:sp>
        <p:nvSpPr>
          <p:cNvPr id="5" name="Rectangle 4"/>
          <p:cNvSpPr/>
          <p:nvPr/>
        </p:nvSpPr>
        <p:spPr>
          <a:xfrm>
            <a:off x="136358" y="1228091"/>
            <a:ext cx="11510210" cy="464871"/>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b="1" dirty="0"/>
          </a:p>
        </p:txBody>
      </p:sp>
      <p:sp>
        <p:nvSpPr>
          <p:cNvPr id="2" name="Rectangle 1"/>
          <p:cNvSpPr/>
          <p:nvPr/>
        </p:nvSpPr>
        <p:spPr>
          <a:xfrm>
            <a:off x="341258" y="869341"/>
            <a:ext cx="11305310" cy="6004849"/>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sz="2400" dirty="0"/>
              <a:t>Docker is an </a:t>
            </a:r>
            <a:r>
              <a:rPr lang="en-US" sz="2400" b="1" dirty="0"/>
              <a:t>open platform for developing, shipping, and running applications </a:t>
            </a:r>
            <a:r>
              <a:rPr lang="en-US" sz="2400" dirty="0"/>
              <a:t> within </a:t>
            </a:r>
            <a:r>
              <a:rPr lang="en-US" sz="2400" i="1" dirty="0"/>
              <a:t>“containers”</a:t>
            </a:r>
            <a:endParaRPr lang="en-US" sz="2400" b="1" dirty="0"/>
          </a:p>
          <a:p>
            <a:pPr marL="285750" indent="-285750" algn="just">
              <a:lnSpc>
                <a:spcPct val="150000"/>
              </a:lnSpc>
              <a:buFont typeface="Arial" panose="020B0604020202020204" pitchFamily="34" charset="0"/>
              <a:buChar char="•"/>
            </a:pPr>
            <a:r>
              <a:rPr lang="en-US" sz="2400" dirty="0"/>
              <a:t>Docker enables you </a:t>
            </a:r>
            <a:r>
              <a:rPr lang="en-US" sz="2400" b="1" dirty="0"/>
              <a:t>to separate your applications from your infrastructure</a:t>
            </a:r>
            <a:r>
              <a:rPr lang="en-US" sz="2400" dirty="0"/>
              <a:t> so you can </a:t>
            </a:r>
            <a:r>
              <a:rPr lang="en-US" sz="2400" b="1" dirty="0"/>
              <a:t>deliver software quickly.</a:t>
            </a:r>
          </a:p>
          <a:p>
            <a:pPr marL="285750" indent="-285750" algn="just" fontAlgn="base">
              <a:lnSpc>
                <a:spcPct val="150000"/>
              </a:lnSpc>
              <a:buFont typeface="Arial" panose="020B0604020202020204" pitchFamily="34" charset="0"/>
              <a:buChar char="•"/>
            </a:pPr>
            <a:r>
              <a:rPr lang="en-US" sz="2400" b="1" dirty="0"/>
              <a:t>Containers and VMs are similar in their goals</a:t>
            </a:r>
            <a:r>
              <a:rPr lang="en-US" sz="2400" dirty="0"/>
              <a:t>: to isolate an application and its dependencies into a </a:t>
            </a:r>
            <a:r>
              <a:rPr lang="en-US" sz="2400" b="1" dirty="0"/>
              <a:t>self-contained unit that can run anywhere.</a:t>
            </a:r>
          </a:p>
          <a:p>
            <a:pPr marL="285750" indent="-285750" algn="just" fontAlgn="base">
              <a:lnSpc>
                <a:spcPct val="150000"/>
              </a:lnSpc>
              <a:buFont typeface="Arial" panose="020B0604020202020204" pitchFamily="34" charset="0"/>
              <a:buChar char="•"/>
            </a:pPr>
            <a:r>
              <a:rPr lang="en-US" sz="2400" dirty="0"/>
              <a:t>Moreover, </a:t>
            </a:r>
            <a:r>
              <a:rPr lang="en-US" sz="2400" b="1" dirty="0"/>
              <a:t>containers and VMs remove the need for physical hardware</a:t>
            </a:r>
            <a:r>
              <a:rPr lang="en-US" sz="2400" dirty="0"/>
              <a:t>, allowing for </a:t>
            </a:r>
            <a:r>
              <a:rPr lang="en-US" sz="2400" b="1" dirty="0"/>
              <a:t>more efficient use of computing resources</a:t>
            </a:r>
            <a:r>
              <a:rPr lang="en-US" sz="2400" dirty="0"/>
              <a:t>, both in terms of energy consumption and cost effectiveness.</a:t>
            </a:r>
          </a:p>
          <a:p>
            <a:pPr marL="285750" indent="-285750" algn="just">
              <a:lnSpc>
                <a:spcPct val="150000"/>
              </a:lnSpc>
              <a:buFont typeface="Arial" panose="020B0604020202020204" pitchFamily="34" charset="0"/>
              <a:buChar char="•"/>
            </a:pPr>
            <a:r>
              <a:rPr lang="en-US" sz="2400" dirty="0"/>
              <a:t>The main </a:t>
            </a:r>
            <a:r>
              <a:rPr lang="en-US" sz="2400" b="1" dirty="0"/>
              <a:t>difference </a:t>
            </a:r>
            <a:r>
              <a:rPr lang="en-US" sz="2400" dirty="0"/>
              <a:t>between containers and VMs is in </a:t>
            </a:r>
            <a:r>
              <a:rPr lang="en-US" sz="2400" b="1" dirty="0"/>
              <a:t>their architectural approach</a:t>
            </a:r>
            <a:r>
              <a:rPr lang="en-US" sz="2400" dirty="0"/>
              <a:t>.</a:t>
            </a:r>
            <a:endParaRPr lang="en-US" sz="2400" b="1" dirty="0"/>
          </a:p>
          <a:p>
            <a:pPr marL="285750" indent="-285750" algn="just">
              <a:lnSpc>
                <a:spcPct val="150000"/>
              </a:lnSpc>
              <a:buFont typeface="Arial" panose="020B0604020202020204" pitchFamily="34" charset="0"/>
              <a:buChar char="•"/>
            </a:pPr>
            <a:endParaRPr lang="en-US" b="1" dirty="0"/>
          </a:p>
        </p:txBody>
      </p:sp>
    </p:spTree>
    <p:extLst>
      <p:ext uri="{BB962C8B-B14F-4D97-AF65-F5344CB8AC3E}">
        <p14:creationId xmlns:p14="http://schemas.microsoft.com/office/powerpoint/2010/main" val="34419479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Need of Docker container</a:t>
            </a:r>
          </a:p>
        </p:txBody>
      </p:sp>
      <p:sp>
        <p:nvSpPr>
          <p:cNvPr id="5" name="Rectangle 4"/>
          <p:cNvSpPr/>
          <p:nvPr/>
        </p:nvSpPr>
        <p:spPr>
          <a:xfrm>
            <a:off x="136358" y="1228091"/>
            <a:ext cx="11510210" cy="464871"/>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b="1" dirty="0"/>
          </a:p>
        </p:txBody>
      </p:sp>
      <p:sp>
        <p:nvSpPr>
          <p:cNvPr id="2" name="Rectangle 1"/>
          <p:cNvSpPr/>
          <p:nvPr/>
        </p:nvSpPr>
        <p:spPr>
          <a:xfrm>
            <a:off x="341258" y="869341"/>
            <a:ext cx="7251033" cy="4666021"/>
          </a:xfrm>
          <a:prstGeom prst="rect">
            <a:avLst/>
          </a:prstGeom>
        </p:spPr>
        <p:txBody>
          <a:bodyPr wrap="square">
            <a:spAutoFit/>
          </a:bodyPr>
          <a:lstStyle/>
          <a:p>
            <a:pPr algn="just">
              <a:lnSpc>
                <a:spcPct val="150000"/>
              </a:lnSpc>
            </a:pPr>
            <a:r>
              <a:rPr lang="en-US" sz="2000" b="1" dirty="0"/>
              <a:t>What is the difference between containers and VMs?</a:t>
            </a:r>
          </a:p>
          <a:p>
            <a:pPr marL="285750" indent="-285750" algn="just">
              <a:lnSpc>
                <a:spcPct val="150000"/>
              </a:lnSpc>
              <a:buFont typeface="Arial" panose="020B0604020202020204" pitchFamily="34" charset="0"/>
              <a:buChar char="•"/>
            </a:pPr>
            <a:endParaRPr lang="en-US" dirty="0"/>
          </a:p>
          <a:p>
            <a:pPr marL="285750" indent="-285750" algn="just">
              <a:lnSpc>
                <a:spcPct val="150000"/>
              </a:lnSpc>
              <a:buFont typeface="Arial" panose="020B0604020202020204" pitchFamily="34" charset="0"/>
              <a:buChar char="•"/>
            </a:pPr>
            <a:r>
              <a:rPr lang="en-US" sz="2400" b="1" dirty="0"/>
              <a:t>VM has </a:t>
            </a:r>
            <a:r>
              <a:rPr lang="en-US" sz="2400" dirty="0"/>
              <a:t>a virtual </a:t>
            </a:r>
            <a:r>
              <a:rPr lang="en-US" sz="2400" b="1" dirty="0"/>
              <a:t>operating system of its own</a:t>
            </a:r>
            <a:r>
              <a:rPr lang="en-US" sz="2400" dirty="0"/>
              <a:t>, the </a:t>
            </a:r>
            <a:r>
              <a:rPr lang="en-US" sz="2400" b="1" dirty="0"/>
              <a:t>hypervisor plays an </a:t>
            </a:r>
            <a:r>
              <a:rPr lang="en-US" sz="2400" dirty="0"/>
              <a:t>essential role in providing the </a:t>
            </a:r>
            <a:r>
              <a:rPr lang="en-US" sz="2400" b="1" dirty="0"/>
              <a:t>VMs</a:t>
            </a:r>
            <a:r>
              <a:rPr lang="en-US" sz="2400" dirty="0"/>
              <a:t> with a platform to manage and </a:t>
            </a:r>
            <a:r>
              <a:rPr lang="en-US" sz="2400" b="1" dirty="0"/>
              <a:t>execute this guest operating system</a:t>
            </a:r>
            <a:r>
              <a:rPr lang="en-US" sz="2400" dirty="0"/>
              <a:t>. It allows for host computers to share their resources amongst the virtual machines that are running as guests on top of them.</a:t>
            </a:r>
          </a:p>
          <a:p>
            <a:pPr marL="285750" indent="-285750" algn="just">
              <a:lnSpc>
                <a:spcPct val="150000"/>
              </a:lnSpc>
              <a:buFont typeface="Arial" panose="020B0604020202020204" pitchFamily="34" charset="0"/>
              <a:buChar char="•"/>
            </a:pPr>
            <a:endParaRPr lang="en-US" b="1" dirty="0"/>
          </a:p>
        </p:txBody>
      </p:sp>
      <p:pic>
        <p:nvPicPr>
          <p:cNvPr id="6" name="Picture 5" descr="1*RKPXdVaqHRzmQ5RPBH_d-g"/>
          <p:cNvPicPr/>
          <p:nvPr/>
        </p:nvPicPr>
        <p:blipFill>
          <a:blip r:embed="rId3">
            <a:extLst>
              <a:ext uri="{28A0092B-C50C-407E-A947-70E740481C1C}">
                <a14:useLocalDpi xmlns:a14="http://schemas.microsoft.com/office/drawing/2010/main" val="0"/>
              </a:ext>
            </a:extLst>
          </a:blip>
          <a:srcRect/>
          <a:stretch>
            <a:fillRect/>
          </a:stretch>
        </p:blipFill>
        <p:spPr bwMode="auto">
          <a:xfrm>
            <a:off x="8492836" y="781250"/>
            <a:ext cx="3574473" cy="5223164"/>
          </a:xfrm>
          <a:prstGeom prst="rect">
            <a:avLst/>
          </a:prstGeom>
          <a:noFill/>
          <a:ln>
            <a:noFill/>
          </a:ln>
        </p:spPr>
      </p:pic>
    </p:spTree>
    <p:extLst>
      <p:ext uri="{BB962C8B-B14F-4D97-AF65-F5344CB8AC3E}">
        <p14:creationId xmlns:p14="http://schemas.microsoft.com/office/powerpoint/2010/main" val="201675719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Need of Docker container</a:t>
            </a:r>
          </a:p>
        </p:txBody>
      </p:sp>
      <p:sp>
        <p:nvSpPr>
          <p:cNvPr id="5" name="Rectangle 4"/>
          <p:cNvSpPr/>
          <p:nvPr/>
        </p:nvSpPr>
        <p:spPr>
          <a:xfrm>
            <a:off x="136358" y="1228091"/>
            <a:ext cx="11510210" cy="464871"/>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b="1" dirty="0"/>
          </a:p>
        </p:txBody>
      </p:sp>
      <p:sp>
        <p:nvSpPr>
          <p:cNvPr id="2" name="Rectangle 1"/>
          <p:cNvSpPr/>
          <p:nvPr/>
        </p:nvSpPr>
        <p:spPr>
          <a:xfrm>
            <a:off x="341258" y="869341"/>
            <a:ext cx="7251033" cy="5575052"/>
          </a:xfrm>
          <a:prstGeom prst="rect">
            <a:avLst/>
          </a:prstGeom>
        </p:spPr>
        <p:txBody>
          <a:bodyPr wrap="square">
            <a:spAutoFit/>
          </a:bodyPr>
          <a:lstStyle/>
          <a:p>
            <a:pPr algn="just">
              <a:lnSpc>
                <a:spcPct val="150000"/>
              </a:lnSpc>
            </a:pPr>
            <a:r>
              <a:rPr lang="en-US" sz="2400" dirty="0"/>
              <a:t>What is the difference between containers and VMs?</a:t>
            </a:r>
          </a:p>
          <a:p>
            <a:pPr marL="285750" indent="-285750" algn="just">
              <a:lnSpc>
                <a:spcPct val="150000"/>
              </a:lnSpc>
              <a:buFont typeface="Arial" panose="020B0604020202020204" pitchFamily="34" charset="0"/>
              <a:buChar char="•"/>
            </a:pPr>
            <a:endParaRPr lang="en-US" sz="2400" dirty="0"/>
          </a:p>
          <a:p>
            <a:pPr marL="285750" indent="-285750" algn="just">
              <a:lnSpc>
                <a:spcPct val="150000"/>
              </a:lnSpc>
              <a:buFont typeface="Arial" panose="020B0604020202020204" pitchFamily="34" charset="0"/>
              <a:buChar char="•"/>
            </a:pPr>
            <a:r>
              <a:rPr lang="en-US" sz="2400" dirty="0"/>
              <a:t>Unlike a VM which provides hardware virtualization, a </a:t>
            </a:r>
            <a:r>
              <a:rPr lang="en-US" sz="2400" b="1" dirty="0"/>
              <a:t>container provides operating-system-level virtualization by abstracting </a:t>
            </a:r>
            <a:r>
              <a:rPr lang="en-US" sz="2400" dirty="0"/>
              <a:t>the “user space”. </a:t>
            </a:r>
          </a:p>
          <a:p>
            <a:pPr marL="285750" indent="-285750" algn="just">
              <a:lnSpc>
                <a:spcPct val="150000"/>
              </a:lnSpc>
              <a:buFont typeface="Arial" panose="020B0604020202020204" pitchFamily="34" charset="0"/>
              <a:buChar char="•"/>
            </a:pPr>
            <a:r>
              <a:rPr lang="en-US" sz="2400" dirty="0"/>
              <a:t>The one big difference between containers and VMs is that </a:t>
            </a:r>
            <a:r>
              <a:rPr lang="en-US" sz="2400" b="1" dirty="0"/>
              <a:t>containers *share* the host system’s kernel </a:t>
            </a:r>
            <a:r>
              <a:rPr lang="en-US" sz="2400" dirty="0"/>
              <a:t>with other containers</a:t>
            </a:r>
          </a:p>
          <a:p>
            <a:pPr marL="285750" indent="-285750" algn="just">
              <a:lnSpc>
                <a:spcPct val="150000"/>
              </a:lnSpc>
              <a:buFont typeface="Arial" panose="020B0604020202020204" pitchFamily="34" charset="0"/>
              <a:buChar char="•"/>
            </a:pPr>
            <a:r>
              <a:rPr lang="en-US" sz="2400" b="1" dirty="0"/>
              <a:t>Unlike VM, application is managed by Host OS , </a:t>
            </a:r>
            <a:r>
              <a:rPr lang="en-US" sz="2400" dirty="0"/>
              <a:t>not by separate Guest OS</a:t>
            </a:r>
          </a:p>
        </p:txBody>
      </p:sp>
      <p:pic>
        <p:nvPicPr>
          <p:cNvPr id="7" name="Picture 6" descr="1*V5N9gJdnToIrgAgVJTtl_w"/>
          <p:cNvPicPr/>
          <p:nvPr/>
        </p:nvPicPr>
        <p:blipFill>
          <a:blip r:embed="rId3">
            <a:extLst>
              <a:ext uri="{28A0092B-C50C-407E-A947-70E740481C1C}">
                <a14:useLocalDpi xmlns:a14="http://schemas.microsoft.com/office/drawing/2010/main" val="0"/>
              </a:ext>
            </a:extLst>
          </a:blip>
          <a:srcRect/>
          <a:stretch>
            <a:fillRect/>
          </a:stretch>
        </p:blipFill>
        <p:spPr bwMode="auto">
          <a:xfrm>
            <a:off x="7934186" y="469231"/>
            <a:ext cx="3712382" cy="4088914"/>
          </a:xfrm>
          <a:prstGeom prst="rect">
            <a:avLst/>
          </a:prstGeom>
          <a:noFill/>
          <a:ln>
            <a:noFill/>
          </a:ln>
        </p:spPr>
      </p:pic>
    </p:spTree>
    <p:extLst>
      <p:ext uri="{BB962C8B-B14F-4D97-AF65-F5344CB8AC3E}">
        <p14:creationId xmlns:p14="http://schemas.microsoft.com/office/powerpoint/2010/main" val="232299193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00110"/>
          </a:xfrm>
          <a:prstGeom prst="rect">
            <a:avLst/>
          </a:prstGeom>
        </p:spPr>
        <p:txBody>
          <a:bodyPr wrap="square">
            <a:spAutoFit/>
          </a:bodyPr>
          <a:lstStyle/>
          <a:p>
            <a:pPr algn="ctr"/>
            <a:r>
              <a:rPr lang="en-US" sz="2000" b="1" dirty="0"/>
              <a:t>Need of Docker container</a:t>
            </a:r>
          </a:p>
        </p:txBody>
      </p:sp>
      <p:sp>
        <p:nvSpPr>
          <p:cNvPr id="5" name="Rectangle 4"/>
          <p:cNvSpPr/>
          <p:nvPr/>
        </p:nvSpPr>
        <p:spPr>
          <a:xfrm>
            <a:off x="136358" y="1228091"/>
            <a:ext cx="11510210" cy="464871"/>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b="1" dirty="0"/>
          </a:p>
        </p:txBody>
      </p:sp>
      <p:graphicFrame>
        <p:nvGraphicFramePr>
          <p:cNvPr id="3" name="Table 2"/>
          <p:cNvGraphicFramePr>
            <a:graphicFrameLocks noGrp="1"/>
          </p:cNvGraphicFramePr>
          <p:nvPr>
            <p:extLst>
              <p:ext uri="{D42A27DB-BD31-4B8C-83A1-F6EECF244321}">
                <p14:modId xmlns:p14="http://schemas.microsoft.com/office/powerpoint/2010/main" val="806634700"/>
              </p:ext>
            </p:extLst>
          </p:nvPr>
        </p:nvGraphicFramePr>
        <p:xfrm>
          <a:off x="221673" y="128970"/>
          <a:ext cx="9967356" cy="7346218"/>
        </p:xfrm>
        <a:graphic>
          <a:graphicData uri="http://schemas.openxmlformats.org/drawingml/2006/table">
            <a:tbl>
              <a:tblPr firstRow="1" firstCol="1" bandRow="1">
                <a:tableStyleId>{5C22544A-7EE6-4342-B048-85BDC9FD1C3A}</a:tableStyleId>
              </a:tblPr>
              <a:tblGrid>
                <a:gridCol w="1873749">
                  <a:extLst>
                    <a:ext uri="{9D8B030D-6E8A-4147-A177-3AD203B41FA5}">
                      <a16:colId xmlns:a16="http://schemas.microsoft.com/office/drawing/2014/main" val="2138329758"/>
                    </a:ext>
                  </a:extLst>
                </a:gridCol>
                <a:gridCol w="3385457">
                  <a:extLst>
                    <a:ext uri="{9D8B030D-6E8A-4147-A177-3AD203B41FA5}">
                      <a16:colId xmlns:a16="http://schemas.microsoft.com/office/drawing/2014/main" val="2094376986"/>
                    </a:ext>
                  </a:extLst>
                </a:gridCol>
                <a:gridCol w="4708150">
                  <a:extLst>
                    <a:ext uri="{9D8B030D-6E8A-4147-A177-3AD203B41FA5}">
                      <a16:colId xmlns:a16="http://schemas.microsoft.com/office/drawing/2014/main" val="394051470"/>
                    </a:ext>
                  </a:extLst>
                </a:gridCol>
              </a:tblGrid>
              <a:tr h="545472">
                <a:tc>
                  <a:txBody>
                    <a:bodyPr/>
                    <a:lstStyle/>
                    <a:p>
                      <a:pPr>
                        <a:lnSpc>
                          <a:spcPct val="107000"/>
                        </a:lnSpc>
                      </a:pPr>
                      <a:endParaRPr lang="en-US" sz="600" dirty="0">
                        <a:effectLst/>
                        <a:latin typeface="Calibri" panose="020F0502020204030204" pitchFamily="34" charset="0"/>
                        <a:cs typeface="Times New Roman" panose="02020603050405020304" pitchFamily="18" charset="0"/>
                      </a:endParaRPr>
                    </a:p>
                  </a:txBody>
                  <a:tcPr marL="83041" marR="55361" marT="83041" marB="83041" anchor="ctr"/>
                </a:tc>
                <a:tc>
                  <a:txBody>
                    <a:bodyPr/>
                    <a:lstStyle/>
                    <a:p>
                      <a:pPr marL="0" marR="0" algn="ctr">
                        <a:lnSpc>
                          <a:spcPct val="200000"/>
                        </a:lnSpc>
                        <a:spcBef>
                          <a:spcPts val="0"/>
                        </a:spcBef>
                        <a:spcAft>
                          <a:spcPts val="0"/>
                        </a:spcAft>
                      </a:pPr>
                      <a:r>
                        <a:rPr lang="en-US" sz="1800" dirty="0">
                          <a:effectLst/>
                        </a:rPr>
                        <a:t>Container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83041" marR="83041" marT="83041" marB="83041" anchor="ctr"/>
                </a:tc>
                <a:tc>
                  <a:txBody>
                    <a:bodyPr/>
                    <a:lstStyle/>
                    <a:p>
                      <a:pPr marL="0" marR="0" algn="ctr">
                        <a:lnSpc>
                          <a:spcPct val="200000"/>
                        </a:lnSpc>
                        <a:spcBef>
                          <a:spcPts val="0"/>
                        </a:spcBef>
                        <a:spcAft>
                          <a:spcPts val="0"/>
                        </a:spcAft>
                      </a:pPr>
                      <a:r>
                        <a:rPr lang="en-US" sz="1800" dirty="0">
                          <a:effectLst/>
                        </a:rPr>
                        <a:t>Virtual Machines (VMs)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83041" marR="83041" marT="83041" marB="83041" anchor="ctr"/>
                </a:tc>
                <a:extLst>
                  <a:ext uri="{0D108BD9-81ED-4DB2-BD59-A6C34878D82A}">
                    <a16:rowId xmlns:a16="http://schemas.microsoft.com/office/drawing/2014/main" val="2587652525"/>
                  </a:ext>
                </a:extLst>
              </a:tr>
              <a:tr h="775696">
                <a:tc>
                  <a:txBody>
                    <a:bodyPr/>
                    <a:lstStyle/>
                    <a:p>
                      <a:pPr marL="0" marR="0">
                        <a:lnSpc>
                          <a:spcPct val="200000"/>
                        </a:lnSpc>
                        <a:spcBef>
                          <a:spcPts val="0"/>
                        </a:spcBef>
                        <a:spcAft>
                          <a:spcPts val="0"/>
                        </a:spcAft>
                      </a:pPr>
                      <a:r>
                        <a:rPr lang="en-US" sz="1800" dirty="0">
                          <a:effectLst/>
                        </a:rPr>
                        <a:t>Boot-Time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83041" marR="55361" marT="83041" marB="83041" anchor="ctr"/>
                </a:tc>
                <a:tc>
                  <a:txBody>
                    <a:bodyPr/>
                    <a:lstStyle/>
                    <a:p>
                      <a:pPr marL="0" marR="0">
                        <a:lnSpc>
                          <a:spcPct val="200000"/>
                        </a:lnSpc>
                        <a:spcBef>
                          <a:spcPts val="0"/>
                        </a:spcBef>
                        <a:spcAft>
                          <a:spcPts val="0"/>
                        </a:spcAft>
                      </a:pPr>
                      <a:r>
                        <a:rPr lang="en-US" sz="1800" dirty="0">
                          <a:effectLst/>
                        </a:rPr>
                        <a:t>Boots in a few seconds.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83041" marR="83041" marT="83041" marB="83041" anchor="ctr"/>
                </a:tc>
                <a:tc>
                  <a:txBody>
                    <a:bodyPr/>
                    <a:lstStyle/>
                    <a:p>
                      <a:pPr marL="0" marR="0">
                        <a:lnSpc>
                          <a:spcPct val="200000"/>
                        </a:lnSpc>
                        <a:spcBef>
                          <a:spcPts val="0"/>
                        </a:spcBef>
                        <a:spcAft>
                          <a:spcPts val="0"/>
                        </a:spcAft>
                      </a:pPr>
                      <a:r>
                        <a:rPr lang="en-US" sz="1800" dirty="0">
                          <a:effectLst/>
                        </a:rPr>
                        <a:t>It takes a few minutes for VMs to boot.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83041" marR="55361" marT="83041" marB="83041" anchor="ctr"/>
                </a:tc>
                <a:extLst>
                  <a:ext uri="{0D108BD9-81ED-4DB2-BD59-A6C34878D82A}">
                    <a16:rowId xmlns:a16="http://schemas.microsoft.com/office/drawing/2014/main" val="1708982860"/>
                  </a:ext>
                </a:extLst>
              </a:tr>
              <a:tr h="523003">
                <a:tc>
                  <a:txBody>
                    <a:bodyPr/>
                    <a:lstStyle/>
                    <a:p>
                      <a:pPr marL="0" marR="0">
                        <a:lnSpc>
                          <a:spcPct val="200000"/>
                        </a:lnSpc>
                        <a:spcBef>
                          <a:spcPts val="0"/>
                        </a:spcBef>
                        <a:spcAft>
                          <a:spcPts val="0"/>
                        </a:spcAft>
                      </a:pPr>
                      <a:r>
                        <a:rPr lang="en-US" sz="1800" dirty="0">
                          <a:effectLst/>
                        </a:rPr>
                        <a:t>Runs 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83041" marR="55361" marT="83041" marB="83041" anchor="ctr"/>
                </a:tc>
                <a:tc>
                  <a:txBody>
                    <a:bodyPr/>
                    <a:lstStyle/>
                    <a:p>
                      <a:pPr marL="0" marR="0">
                        <a:lnSpc>
                          <a:spcPct val="200000"/>
                        </a:lnSpc>
                        <a:spcBef>
                          <a:spcPts val="0"/>
                        </a:spcBef>
                        <a:spcAft>
                          <a:spcPts val="0"/>
                        </a:spcAft>
                      </a:pPr>
                      <a:r>
                        <a:rPr lang="en-US" sz="1800" dirty="0">
                          <a:effectLst/>
                        </a:rPr>
                        <a:t>Dockers make use of the execution engine.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83041" marR="55361" marT="83041" marB="83041" anchor="ctr"/>
                </a:tc>
                <a:tc>
                  <a:txBody>
                    <a:bodyPr/>
                    <a:lstStyle/>
                    <a:p>
                      <a:pPr marL="0" marR="0">
                        <a:lnSpc>
                          <a:spcPct val="200000"/>
                        </a:lnSpc>
                        <a:spcBef>
                          <a:spcPts val="0"/>
                        </a:spcBef>
                        <a:spcAft>
                          <a:spcPts val="0"/>
                        </a:spcAft>
                      </a:pPr>
                      <a:r>
                        <a:rPr lang="en-US" sz="1800" dirty="0">
                          <a:effectLst/>
                        </a:rPr>
                        <a:t>VMs make use of the hypervisor.</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83041" marR="55361" marT="83041" marB="83041" anchor="ctr"/>
                </a:tc>
                <a:extLst>
                  <a:ext uri="{0D108BD9-81ED-4DB2-BD59-A6C34878D82A}">
                    <a16:rowId xmlns:a16="http://schemas.microsoft.com/office/drawing/2014/main" val="2498136513"/>
                  </a:ext>
                </a:extLst>
              </a:tr>
              <a:tr h="0">
                <a:tc>
                  <a:txBody>
                    <a:bodyPr/>
                    <a:lstStyle/>
                    <a:p>
                      <a:pPr marL="0" marR="0">
                        <a:lnSpc>
                          <a:spcPct val="200000"/>
                        </a:lnSpc>
                        <a:spcBef>
                          <a:spcPts val="0"/>
                        </a:spcBef>
                        <a:spcAft>
                          <a:spcPts val="0"/>
                        </a:spcAft>
                      </a:pPr>
                      <a:r>
                        <a:rPr lang="en-US" sz="1800">
                          <a:effectLst/>
                        </a:rPr>
                        <a:t>Memory Efficiency</a:t>
                      </a:r>
                      <a:endParaRPr lang="en-US" sz="1800">
                        <a:effectLst/>
                        <a:latin typeface="Calibri" panose="020F0502020204030204" pitchFamily="34" charset="0"/>
                        <a:ea typeface="Calibri" panose="020F0502020204030204" pitchFamily="34" charset="0"/>
                        <a:cs typeface="Times New Roman" panose="02020603050405020304" pitchFamily="18" charset="0"/>
                      </a:endParaRPr>
                    </a:p>
                  </a:txBody>
                  <a:tcPr marL="83041" marR="55361" marT="83041" marB="83041" anchor="ctr"/>
                </a:tc>
                <a:tc>
                  <a:txBody>
                    <a:bodyPr/>
                    <a:lstStyle/>
                    <a:p>
                      <a:pPr marL="0" marR="0">
                        <a:lnSpc>
                          <a:spcPct val="200000"/>
                        </a:lnSpc>
                        <a:spcBef>
                          <a:spcPts val="0"/>
                        </a:spcBef>
                        <a:spcAft>
                          <a:spcPts val="0"/>
                        </a:spcAft>
                      </a:pPr>
                      <a:r>
                        <a:rPr lang="en-US" sz="1800" dirty="0">
                          <a:effectLst/>
                        </a:rPr>
                        <a:t>No space is needed to virtualize, hence less memory.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83041" marR="55361" marT="83041" marB="83041" anchor="ctr"/>
                </a:tc>
                <a:tc>
                  <a:txBody>
                    <a:bodyPr/>
                    <a:lstStyle/>
                    <a:p>
                      <a:pPr marL="0" marR="0">
                        <a:lnSpc>
                          <a:spcPct val="200000"/>
                        </a:lnSpc>
                        <a:spcBef>
                          <a:spcPts val="0"/>
                        </a:spcBef>
                        <a:spcAft>
                          <a:spcPts val="0"/>
                        </a:spcAft>
                      </a:pPr>
                      <a:r>
                        <a:rPr lang="en-US" sz="1800" dirty="0">
                          <a:effectLst/>
                        </a:rPr>
                        <a:t>Requires entire OS to be loaded before starting the surface, so less efficient.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83041" marR="55361" marT="83041" marB="83041" anchor="ctr"/>
                </a:tc>
                <a:extLst>
                  <a:ext uri="{0D108BD9-81ED-4DB2-BD59-A6C34878D82A}">
                    <a16:rowId xmlns:a16="http://schemas.microsoft.com/office/drawing/2014/main" val="3175562763"/>
                  </a:ext>
                </a:extLst>
              </a:tr>
              <a:tr h="521203">
                <a:tc>
                  <a:txBody>
                    <a:bodyPr/>
                    <a:lstStyle/>
                    <a:p>
                      <a:pPr marL="0" marR="0">
                        <a:lnSpc>
                          <a:spcPct val="200000"/>
                        </a:lnSpc>
                        <a:spcBef>
                          <a:spcPts val="0"/>
                        </a:spcBef>
                        <a:spcAft>
                          <a:spcPts val="0"/>
                        </a:spcAft>
                      </a:pPr>
                      <a:r>
                        <a:rPr lang="en-US" sz="1800" dirty="0">
                          <a:effectLst/>
                        </a:rPr>
                        <a:t>Isolation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83041" marR="55361" marT="83041" marB="83041" anchor="ctr"/>
                </a:tc>
                <a:tc>
                  <a:txBody>
                    <a:bodyPr/>
                    <a:lstStyle/>
                    <a:p>
                      <a:pPr marL="0" marR="0">
                        <a:lnSpc>
                          <a:spcPct val="200000"/>
                        </a:lnSpc>
                        <a:spcBef>
                          <a:spcPts val="0"/>
                        </a:spcBef>
                        <a:spcAft>
                          <a:spcPts val="0"/>
                        </a:spcAft>
                      </a:pPr>
                      <a:r>
                        <a:rPr lang="en-US" sz="1800" dirty="0">
                          <a:effectLst/>
                        </a:rPr>
                        <a:t>Prone to adversities as no provisions for isolation systems.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83041" marR="55361" marT="83041" marB="83041" anchor="ctr"/>
                </a:tc>
                <a:tc>
                  <a:txBody>
                    <a:bodyPr/>
                    <a:lstStyle/>
                    <a:p>
                      <a:pPr marL="0" marR="0">
                        <a:lnSpc>
                          <a:spcPct val="200000"/>
                        </a:lnSpc>
                        <a:spcBef>
                          <a:spcPts val="0"/>
                        </a:spcBef>
                        <a:spcAft>
                          <a:spcPts val="0"/>
                        </a:spcAft>
                      </a:pPr>
                      <a:r>
                        <a:rPr lang="en-US" sz="1800" dirty="0">
                          <a:effectLst/>
                        </a:rPr>
                        <a:t>Interference possibility is minimum because of the efficient isolation mechanism.</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83041" marR="55361" marT="83041" marB="83041" anchor="ctr"/>
                </a:tc>
                <a:extLst>
                  <a:ext uri="{0D108BD9-81ED-4DB2-BD59-A6C34878D82A}">
                    <a16:rowId xmlns:a16="http://schemas.microsoft.com/office/drawing/2014/main" val="3914642755"/>
                  </a:ext>
                </a:extLst>
              </a:tr>
              <a:tr h="557377">
                <a:tc>
                  <a:txBody>
                    <a:bodyPr/>
                    <a:lstStyle/>
                    <a:p>
                      <a:pPr marL="0" marR="0">
                        <a:lnSpc>
                          <a:spcPct val="200000"/>
                        </a:lnSpc>
                        <a:spcBef>
                          <a:spcPts val="0"/>
                        </a:spcBef>
                        <a:spcAft>
                          <a:spcPts val="0"/>
                        </a:spcAft>
                      </a:pPr>
                      <a:r>
                        <a:rPr lang="en-US" sz="1800" dirty="0">
                          <a:effectLst/>
                        </a:rPr>
                        <a:t>Deployment</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83041" marR="55361" marT="83041" marB="83041" anchor="ctr"/>
                </a:tc>
                <a:tc>
                  <a:txBody>
                    <a:bodyPr/>
                    <a:lstStyle/>
                    <a:p>
                      <a:pPr marL="0" marR="0">
                        <a:lnSpc>
                          <a:spcPct val="200000"/>
                        </a:lnSpc>
                        <a:spcBef>
                          <a:spcPts val="0"/>
                        </a:spcBef>
                        <a:spcAft>
                          <a:spcPts val="0"/>
                        </a:spcAft>
                      </a:pPr>
                      <a:r>
                        <a:rPr lang="en-US" sz="1800" dirty="0">
                          <a:effectLst/>
                        </a:rPr>
                        <a:t>Deploying is easy as only a single image, containerized can be used across all platforms.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83041" marR="55361" marT="83041" marB="83041" anchor="ctr"/>
                </a:tc>
                <a:tc>
                  <a:txBody>
                    <a:bodyPr/>
                    <a:lstStyle/>
                    <a:p>
                      <a:pPr marL="0" marR="0">
                        <a:lnSpc>
                          <a:spcPct val="200000"/>
                        </a:lnSpc>
                        <a:spcBef>
                          <a:spcPts val="0"/>
                        </a:spcBef>
                        <a:spcAft>
                          <a:spcPts val="0"/>
                        </a:spcAft>
                      </a:pPr>
                      <a:r>
                        <a:rPr lang="en-US" sz="1800" dirty="0">
                          <a:effectLst/>
                        </a:rPr>
                        <a:t>Deployment is comparatively lengthy as separate instances are responsible for execution.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83041" marR="55361" marT="83041" marB="83041" anchor="ctr"/>
                </a:tc>
                <a:extLst>
                  <a:ext uri="{0D108BD9-81ED-4DB2-BD59-A6C34878D82A}">
                    <a16:rowId xmlns:a16="http://schemas.microsoft.com/office/drawing/2014/main" val="3489373343"/>
                  </a:ext>
                </a:extLst>
              </a:tr>
              <a:tr h="545472">
                <a:tc>
                  <a:txBody>
                    <a:bodyPr/>
                    <a:lstStyle/>
                    <a:p>
                      <a:pPr marL="0" marR="0">
                        <a:lnSpc>
                          <a:spcPct val="200000"/>
                        </a:lnSpc>
                        <a:spcBef>
                          <a:spcPts val="0"/>
                        </a:spcBef>
                        <a:spcAft>
                          <a:spcPts val="0"/>
                        </a:spcAft>
                      </a:pPr>
                      <a:r>
                        <a:rPr lang="en-US" sz="1800" dirty="0">
                          <a:effectLst/>
                        </a:rPr>
                        <a:t>Performance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83041" marR="55361" marT="83041" marB="83041" anchor="ctr"/>
                </a:tc>
                <a:tc>
                  <a:txBody>
                    <a:bodyPr/>
                    <a:lstStyle/>
                    <a:p>
                      <a:pPr marL="0" marR="0">
                        <a:lnSpc>
                          <a:spcPct val="200000"/>
                        </a:lnSpc>
                        <a:spcBef>
                          <a:spcPts val="0"/>
                        </a:spcBef>
                        <a:spcAft>
                          <a:spcPts val="0"/>
                        </a:spcAft>
                      </a:pPr>
                      <a:r>
                        <a:rPr lang="en-US" sz="1800" dirty="0">
                          <a:effectLst/>
                        </a:rPr>
                        <a:t>Better performance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83041" marR="55361" marT="83041" marB="83041" anchor="ctr"/>
                </a:tc>
                <a:tc>
                  <a:txBody>
                    <a:bodyPr/>
                    <a:lstStyle/>
                    <a:p>
                      <a:pPr marL="0" marR="0">
                        <a:lnSpc>
                          <a:spcPct val="200000"/>
                        </a:lnSpc>
                        <a:spcBef>
                          <a:spcPts val="0"/>
                        </a:spcBef>
                        <a:spcAft>
                          <a:spcPts val="0"/>
                        </a:spcAft>
                      </a:pPr>
                      <a:r>
                        <a:rPr lang="en-US" sz="1800" dirty="0">
                          <a:effectLst/>
                        </a:rPr>
                        <a:t>Native performance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83041" marR="55361" marT="83041" marB="83041" anchor="ctr"/>
                </a:tc>
                <a:extLst>
                  <a:ext uri="{0D108BD9-81ED-4DB2-BD59-A6C34878D82A}">
                    <a16:rowId xmlns:a16="http://schemas.microsoft.com/office/drawing/2014/main" val="2550179439"/>
                  </a:ext>
                </a:extLst>
              </a:tr>
            </a:tbl>
          </a:graphicData>
        </a:graphic>
      </p:graphicFrame>
    </p:spTree>
    <p:extLst>
      <p:ext uri="{BB962C8B-B14F-4D97-AF65-F5344CB8AC3E}">
        <p14:creationId xmlns:p14="http://schemas.microsoft.com/office/powerpoint/2010/main" val="318214685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Need of Docker container</a:t>
            </a:r>
          </a:p>
        </p:txBody>
      </p:sp>
      <p:sp>
        <p:nvSpPr>
          <p:cNvPr id="5" name="Rectangle 4"/>
          <p:cNvSpPr/>
          <p:nvPr/>
        </p:nvSpPr>
        <p:spPr>
          <a:xfrm>
            <a:off x="136358" y="1228091"/>
            <a:ext cx="11510210" cy="464871"/>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b="1" dirty="0"/>
          </a:p>
        </p:txBody>
      </p:sp>
      <p:sp>
        <p:nvSpPr>
          <p:cNvPr id="2" name="Rectangle 1"/>
          <p:cNvSpPr/>
          <p:nvPr/>
        </p:nvSpPr>
        <p:spPr>
          <a:xfrm>
            <a:off x="341258" y="869341"/>
            <a:ext cx="11305310" cy="4712187"/>
          </a:xfrm>
          <a:prstGeom prst="rect">
            <a:avLst/>
          </a:prstGeom>
        </p:spPr>
        <p:txBody>
          <a:bodyPr wrap="square">
            <a:spAutoFit/>
          </a:bodyPr>
          <a:lstStyle/>
          <a:p>
            <a:pPr fontAlgn="base"/>
            <a:r>
              <a:rPr lang="en-US" sz="2400" b="1" dirty="0"/>
              <a:t>Where does Docker come in?</a:t>
            </a:r>
            <a:endParaRPr lang="en-US" sz="2400" dirty="0"/>
          </a:p>
          <a:p>
            <a:pPr marL="285750" indent="-285750" algn="just">
              <a:lnSpc>
                <a:spcPct val="150000"/>
              </a:lnSpc>
              <a:buFont typeface="Arial" panose="020B0604020202020204" pitchFamily="34" charset="0"/>
              <a:buChar char="•"/>
            </a:pPr>
            <a:r>
              <a:rPr lang="en-US" sz="2400" dirty="0"/>
              <a:t>Docker is an open-source project based on Linux containers.</a:t>
            </a:r>
          </a:p>
          <a:p>
            <a:pPr marL="285750" indent="-285750" algn="just">
              <a:lnSpc>
                <a:spcPct val="150000"/>
              </a:lnSpc>
              <a:buFont typeface="Arial" panose="020B0604020202020204" pitchFamily="34" charset="0"/>
              <a:buChar char="•"/>
            </a:pPr>
            <a:r>
              <a:rPr lang="en-US" sz="2400" dirty="0"/>
              <a:t> It uses Linux Kernel features like namespaces and control groups to create containers on top of an operating system.</a:t>
            </a:r>
          </a:p>
          <a:p>
            <a:pPr marL="285750" indent="-285750" algn="just">
              <a:lnSpc>
                <a:spcPct val="150000"/>
              </a:lnSpc>
              <a:buFont typeface="Arial" panose="020B0604020202020204" pitchFamily="34" charset="0"/>
              <a:buChar char="•"/>
            </a:pPr>
            <a:r>
              <a:rPr lang="en-US" sz="2400" dirty="0"/>
              <a:t>Containers are far from new; Google has been using their own container technology for years. </a:t>
            </a:r>
          </a:p>
          <a:p>
            <a:pPr marL="285750" indent="-285750" algn="just">
              <a:lnSpc>
                <a:spcPct val="150000"/>
              </a:lnSpc>
              <a:buFont typeface="Arial" panose="020B0604020202020204" pitchFamily="34" charset="0"/>
              <a:buChar char="•"/>
            </a:pPr>
            <a:r>
              <a:rPr lang="en-US" sz="2400" dirty="0"/>
              <a:t>Others Linux container technologies include Solaris Zones, BSD jails, and LXC, which have been around for many years.</a:t>
            </a:r>
          </a:p>
          <a:p>
            <a:pPr algn="just">
              <a:lnSpc>
                <a:spcPct val="150000"/>
              </a:lnSpc>
            </a:pPr>
            <a:endParaRPr lang="en-US" b="1" dirty="0"/>
          </a:p>
        </p:txBody>
      </p:sp>
    </p:spTree>
    <p:extLst>
      <p:ext uri="{BB962C8B-B14F-4D97-AF65-F5344CB8AC3E}">
        <p14:creationId xmlns:p14="http://schemas.microsoft.com/office/powerpoint/2010/main" val="152224440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36358" y="1228091"/>
            <a:ext cx="11510210" cy="464871"/>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b="1" dirty="0"/>
          </a:p>
        </p:txBody>
      </p:sp>
      <p:sp>
        <p:nvSpPr>
          <p:cNvPr id="2" name="Rectangle 1"/>
          <p:cNvSpPr/>
          <p:nvPr/>
        </p:nvSpPr>
        <p:spPr>
          <a:xfrm>
            <a:off x="136358" y="0"/>
            <a:ext cx="12055642" cy="7386638"/>
          </a:xfrm>
          <a:prstGeom prst="rect">
            <a:avLst/>
          </a:prstGeom>
        </p:spPr>
        <p:txBody>
          <a:bodyPr wrap="square">
            <a:spAutoFit/>
          </a:bodyPr>
          <a:lstStyle/>
          <a:p>
            <a:pPr fontAlgn="base"/>
            <a:r>
              <a:rPr lang="en-US" sz="2400" b="1" dirty="0"/>
              <a:t>Benefits of Docker</a:t>
            </a:r>
            <a:endParaRPr lang="en-US" sz="2400" dirty="0"/>
          </a:p>
          <a:p>
            <a:pPr marL="342900" indent="-342900" algn="just" fontAlgn="base">
              <a:lnSpc>
                <a:spcPct val="150000"/>
              </a:lnSpc>
              <a:buFont typeface="+mj-lt"/>
              <a:buAutoNum type="arabicPeriod"/>
            </a:pPr>
            <a:r>
              <a:rPr lang="en-US" sz="2400" b="1" dirty="0"/>
              <a:t>Ease of use:</a:t>
            </a:r>
            <a:r>
              <a:rPr lang="en-US" sz="2400" dirty="0"/>
              <a:t> </a:t>
            </a:r>
          </a:p>
          <a:p>
            <a:pPr marL="342900" indent="-342900" algn="just" fontAlgn="base">
              <a:lnSpc>
                <a:spcPct val="150000"/>
              </a:lnSpc>
              <a:buFont typeface="Arial" panose="020B0604020202020204" pitchFamily="34" charset="0"/>
              <a:buChar char="•"/>
            </a:pPr>
            <a:r>
              <a:rPr lang="en-US" sz="2400" dirty="0"/>
              <a:t>Docker has made it much easier for anyone — developers, systems admins, architects and others — to take advantage of containers in order to quickly build and test portable applications. </a:t>
            </a:r>
          </a:p>
          <a:p>
            <a:pPr marL="342900" indent="-342900" algn="just" fontAlgn="base">
              <a:lnSpc>
                <a:spcPct val="150000"/>
              </a:lnSpc>
              <a:buFont typeface="Arial" panose="020B0604020202020204" pitchFamily="34" charset="0"/>
              <a:buChar char="•"/>
            </a:pPr>
            <a:r>
              <a:rPr lang="en-US" sz="2400" dirty="0"/>
              <a:t>It allows anyone to package an application on their laptop, which in turn can run unmodified on any public cloud, private cloud, or even bare metal. The mantra is: “build once, run anywhere.”</a:t>
            </a:r>
          </a:p>
          <a:p>
            <a:pPr algn="just" fontAlgn="base">
              <a:lnSpc>
                <a:spcPct val="150000"/>
              </a:lnSpc>
            </a:pPr>
            <a:r>
              <a:rPr lang="en-US" sz="2400" dirty="0"/>
              <a:t>2. </a:t>
            </a:r>
            <a:r>
              <a:rPr lang="en-US" sz="2400" b="1" dirty="0"/>
              <a:t>Speed:</a:t>
            </a:r>
            <a:r>
              <a:rPr lang="en-US" sz="2400" dirty="0"/>
              <a:t> </a:t>
            </a:r>
          </a:p>
          <a:p>
            <a:pPr marL="342900" indent="-342900" algn="just" fontAlgn="base">
              <a:lnSpc>
                <a:spcPct val="150000"/>
              </a:lnSpc>
              <a:buFont typeface="Arial" panose="020B0604020202020204" pitchFamily="34" charset="0"/>
              <a:buChar char="•"/>
            </a:pPr>
            <a:r>
              <a:rPr lang="en-US" sz="2400" dirty="0"/>
              <a:t>Docker containers are very lightweight and fast. Since containers are just sandboxed environments running on the kernel, they take up </a:t>
            </a:r>
            <a:r>
              <a:rPr lang="en-US" sz="2400" b="1" dirty="0"/>
              <a:t>fewer resources</a:t>
            </a:r>
            <a:r>
              <a:rPr lang="en-US" sz="2400" dirty="0"/>
              <a:t>. </a:t>
            </a:r>
          </a:p>
          <a:p>
            <a:pPr marL="342900" indent="-342900" algn="just" fontAlgn="base">
              <a:lnSpc>
                <a:spcPct val="150000"/>
              </a:lnSpc>
              <a:buFont typeface="Arial" panose="020B0604020202020204" pitchFamily="34" charset="0"/>
              <a:buChar char="•"/>
            </a:pPr>
            <a:r>
              <a:rPr lang="en-US" sz="2400" dirty="0"/>
              <a:t>You can </a:t>
            </a:r>
            <a:r>
              <a:rPr lang="en-US" sz="2400" b="1" dirty="0"/>
              <a:t>create and run a Docker container in seconds</a:t>
            </a:r>
            <a:r>
              <a:rPr lang="en-US" sz="2400" dirty="0"/>
              <a:t>, compared to </a:t>
            </a:r>
            <a:r>
              <a:rPr lang="en-US" sz="2400" b="1" dirty="0"/>
              <a:t>VMs which might take longer b</a:t>
            </a:r>
            <a:r>
              <a:rPr lang="en-US" sz="2400" dirty="0"/>
              <a:t>ecause </a:t>
            </a:r>
            <a:r>
              <a:rPr lang="en-US" sz="2400" b="1" dirty="0"/>
              <a:t>they have to boot up a full virtual operating system every time.</a:t>
            </a:r>
          </a:p>
          <a:p>
            <a:pPr algn="just" fontAlgn="base"/>
            <a:endParaRPr lang="en-US" b="1" dirty="0"/>
          </a:p>
        </p:txBody>
      </p:sp>
    </p:spTree>
    <p:extLst>
      <p:ext uri="{BB962C8B-B14F-4D97-AF65-F5344CB8AC3E}">
        <p14:creationId xmlns:p14="http://schemas.microsoft.com/office/powerpoint/2010/main" val="149069878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C57B1-1EE9-F298-A58F-9FD2BF1EB9D0}"/>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EB66D7B-3B47-95EE-6052-7418E4B1D8E9}"/>
              </a:ext>
            </a:extLst>
          </p:cNvPr>
          <p:cNvSpPr/>
          <p:nvPr/>
        </p:nvSpPr>
        <p:spPr>
          <a:xfrm>
            <a:off x="136358" y="1228091"/>
            <a:ext cx="11510210" cy="464871"/>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b="1" dirty="0"/>
          </a:p>
        </p:txBody>
      </p:sp>
      <p:sp>
        <p:nvSpPr>
          <p:cNvPr id="2" name="Rectangle 1">
            <a:extLst>
              <a:ext uri="{FF2B5EF4-FFF2-40B4-BE49-F238E27FC236}">
                <a16:creationId xmlns:a16="http://schemas.microsoft.com/office/drawing/2014/main" id="{1E24B38C-4A00-7B28-3907-9BEBC480B51F}"/>
              </a:ext>
            </a:extLst>
          </p:cNvPr>
          <p:cNvSpPr/>
          <p:nvPr/>
        </p:nvSpPr>
        <p:spPr>
          <a:xfrm>
            <a:off x="238808" y="-262774"/>
            <a:ext cx="11714384" cy="6230937"/>
          </a:xfrm>
          <a:prstGeom prst="rect">
            <a:avLst/>
          </a:prstGeom>
        </p:spPr>
        <p:txBody>
          <a:bodyPr wrap="square">
            <a:spAutoFit/>
          </a:bodyPr>
          <a:lstStyle/>
          <a:p>
            <a:pPr fontAlgn="base">
              <a:lnSpc>
                <a:spcPct val="150000"/>
              </a:lnSpc>
            </a:pPr>
            <a:r>
              <a:rPr lang="en-US" sz="2400" b="1" dirty="0"/>
              <a:t>Benefits of Docker</a:t>
            </a:r>
            <a:endParaRPr lang="en-US" sz="2400" dirty="0"/>
          </a:p>
          <a:p>
            <a:pPr algn="just" fontAlgn="base">
              <a:lnSpc>
                <a:spcPct val="150000"/>
              </a:lnSpc>
            </a:pPr>
            <a:r>
              <a:rPr lang="en-US" sz="2400" dirty="0"/>
              <a:t>3. </a:t>
            </a:r>
            <a:r>
              <a:rPr lang="en-US" sz="2000" b="1" dirty="0"/>
              <a:t>Docker Hub:</a:t>
            </a:r>
            <a:r>
              <a:rPr lang="en-US" sz="2000" dirty="0"/>
              <a:t> </a:t>
            </a:r>
          </a:p>
          <a:p>
            <a:pPr marL="342900" indent="-342900" algn="just" fontAlgn="base">
              <a:lnSpc>
                <a:spcPct val="150000"/>
              </a:lnSpc>
              <a:buFont typeface="Arial" panose="020B0604020202020204" pitchFamily="34" charset="0"/>
              <a:buChar char="•"/>
            </a:pPr>
            <a:r>
              <a:rPr lang="en-US" sz="2000" dirty="0"/>
              <a:t>Docker users also </a:t>
            </a:r>
            <a:r>
              <a:rPr lang="en-US" sz="2000" b="1" dirty="0"/>
              <a:t>benefit from the increasingly rich ecosystem of Docker Hub, </a:t>
            </a:r>
            <a:r>
              <a:rPr lang="en-US" sz="2000" dirty="0"/>
              <a:t>which you can think of as an </a:t>
            </a:r>
            <a:r>
              <a:rPr lang="en-US" sz="2000" b="1" dirty="0"/>
              <a:t>“app store for Docker images.” </a:t>
            </a:r>
          </a:p>
          <a:p>
            <a:pPr marL="342900" indent="-342900" algn="just" fontAlgn="base">
              <a:lnSpc>
                <a:spcPct val="150000"/>
              </a:lnSpc>
              <a:buFont typeface="Arial" panose="020B0604020202020204" pitchFamily="34" charset="0"/>
              <a:buChar char="•"/>
            </a:pPr>
            <a:r>
              <a:rPr lang="en-US" sz="2000" dirty="0"/>
              <a:t>Docker Hub has </a:t>
            </a:r>
            <a:r>
              <a:rPr lang="en-US" sz="2000" b="1" dirty="0"/>
              <a:t>tens of thousands of public images created by the community that are readily available for use</a:t>
            </a:r>
            <a:r>
              <a:rPr lang="en-US" sz="2000" dirty="0"/>
              <a:t>. It’s incredibly easy to search for images that meet your needs, ready to pull down and use with little-to-no modification.</a:t>
            </a:r>
          </a:p>
          <a:p>
            <a:pPr algn="just" fontAlgn="base">
              <a:lnSpc>
                <a:spcPct val="150000"/>
              </a:lnSpc>
            </a:pPr>
            <a:r>
              <a:rPr lang="en-US" sz="2000" dirty="0"/>
              <a:t>4. </a:t>
            </a:r>
            <a:r>
              <a:rPr lang="en-US" sz="2000" b="1" dirty="0"/>
              <a:t>Modularity and Scalability:</a:t>
            </a:r>
            <a:r>
              <a:rPr lang="en-US" sz="2000" dirty="0"/>
              <a:t> </a:t>
            </a:r>
          </a:p>
          <a:p>
            <a:pPr marL="342900" indent="-342900" algn="just" fontAlgn="base">
              <a:lnSpc>
                <a:spcPct val="150000"/>
              </a:lnSpc>
              <a:buFont typeface="Arial" panose="020B0604020202020204" pitchFamily="34" charset="0"/>
              <a:buChar char="•"/>
            </a:pPr>
            <a:r>
              <a:rPr lang="en-US" sz="2000" dirty="0"/>
              <a:t>Docker makes it easy to </a:t>
            </a:r>
            <a:r>
              <a:rPr lang="en-US" sz="2000" b="1" dirty="0"/>
              <a:t>break out your application’s functionality into individual containers. </a:t>
            </a:r>
          </a:p>
          <a:p>
            <a:pPr marL="342900" indent="-342900" algn="just" fontAlgn="base">
              <a:lnSpc>
                <a:spcPct val="150000"/>
              </a:lnSpc>
              <a:buFont typeface="Arial" panose="020B0604020202020204" pitchFamily="34" charset="0"/>
              <a:buChar char="•"/>
            </a:pPr>
            <a:r>
              <a:rPr lang="en-US" sz="2000" dirty="0"/>
              <a:t>For example, </a:t>
            </a:r>
            <a:r>
              <a:rPr lang="en-US" sz="2000" b="1" dirty="0"/>
              <a:t>you might have your Postgres database running in one container </a:t>
            </a:r>
            <a:r>
              <a:rPr lang="en-US" sz="2000" dirty="0"/>
              <a:t>and your Redis server in another while your </a:t>
            </a:r>
            <a:r>
              <a:rPr lang="en-US" sz="2000" b="1" dirty="0"/>
              <a:t>Node.js app is in another</a:t>
            </a:r>
            <a:r>
              <a:rPr lang="en-US" sz="2000" dirty="0"/>
              <a:t>. With Docker, it’s become easier to </a:t>
            </a:r>
            <a:r>
              <a:rPr lang="en-US" sz="2000" b="1" dirty="0"/>
              <a:t>link these containers together to create your application, making it easy to scale </a:t>
            </a:r>
            <a:r>
              <a:rPr lang="en-US" sz="2000" dirty="0"/>
              <a:t>or update components independently in the future.</a:t>
            </a:r>
            <a:endParaRPr lang="en-US" sz="2000" b="1" dirty="0"/>
          </a:p>
        </p:txBody>
      </p:sp>
    </p:spTree>
    <p:extLst>
      <p:ext uri="{BB962C8B-B14F-4D97-AF65-F5344CB8AC3E}">
        <p14:creationId xmlns:p14="http://schemas.microsoft.com/office/powerpoint/2010/main" val="369848763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3"/>
          <p:cNvSpPr/>
          <p:nvPr/>
        </p:nvSpPr>
        <p:spPr>
          <a:xfrm>
            <a:off x="3344779" y="469231"/>
            <a:ext cx="4025840" cy="707886"/>
          </a:xfrm>
          <a:prstGeom prst="rect">
            <a:avLst/>
          </a:prstGeom>
        </p:spPr>
        <p:txBody>
          <a:bodyPr wrap="square">
            <a:spAutoFit/>
          </a:bodyPr>
          <a:lstStyle/>
          <a:p>
            <a:pPr algn="ctr"/>
            <a:r>
              <a:rPr lang="en-US" sz="2000" b="1" dirty="0"/>
              <a:t>Lab materials</a:t>
            </a:r>
          </a:p>
          <a:p>
            <a:pPr algn="ctr"/>
            <a:endParaRPr lang="en-US" sz="2000" b="1" dirty="0"/>
          </a:p>
        </p:txBody>
      </p:sp>
      <p:sp>
        <p:nvSpPr>
          <p:cNvPr id="5" name="Rectangle 4"/>
          <p:cNvSpPr/>
          <p:nvPr/>
        </p:nvSpPr>
        <p:spPr>
          <a:xfrm>
            <a:off x="136358" y="1228091"/>
            <a:ext cx="11510210" cy="464871"/>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b="1" dirty="0"/>
          </a:p>
        </p:txBody>
      </p:sp>
      <p:sp>
        <p:nvSpPr>
          <p:cNvPr id="6" name="Rectangle 2"/>
          <p:cNvSpPr>
            <a:spLocks noChangeArrowheads="1"/>
          </p:cNvSpPr>
          <p:nvPr/>
        </p:nvSpPr>
        <p:spPr bwMode="auto">
          <a:xfrm>
            <a:off x="277092" y="1104980"/>
            <a:ext cx="10321635"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242424"/>
                </a:solidFill>
                <a:effectLst/>
                <a:latin typeface="inherit"/>
                <a:cs typeface="Segoe UI" panose="020B0502040204020203" pitchFamily="34" charset="0"/>
                <a:hlinkClick r:id="rId3" tooltip="https://learn.microsoft.com/en-us/training/paths/student-intro-azure/"/>
              </a:rPr>
              <a:t>Introduction to Azure - Training | Microsoft Learn</a:t>
            </a:r>
            <a:r>
              <a:rPr kumimoji="0" lang="en-US" altLang="en-US" sz="1600" b="0" i="0" u="none" strike="noStrike" cap="none" normalizeH="0" baseline="0" dirty="0">
                <a:ln>
                  <a:noFill/>
                </a:ln>
                <a:solidFill>
                  <a:srgbClr val="242424"/>
                </a:solidFill>
                <a:effectLst/>
                <a:latin typeface="inherit"/>
                <a:cs typeface="Segoe UI" panose="020B0502040204020203" pitchFamily="34" charset="0"/>
              </a:rPr>
              <a:t> (A content which I have co created with few </a:t>
            </a:r>
            <a:r>
              <a:rPr kumimoji="0" lang="en-US" altLang="en-US" sz="1600" b="0" i="0" u="none" strike="noStrike" cap="none" normalizeH="0" baseline="0" dirty="0" err="1">
                <a:ln>
                  <a:noFill/>
                </a:ln>
                <a:solidFill>
                  <a:srgbClr val="242424"/>
                </a:solidFill>
                <a:effectLst/>
                <a:latin typeface="inherit"/>
                <a:cs typeface="Segoe UI" panose="020B0502040204020203" pitchFamily="34" charset="0"/>
              </a:rPr>
              <a:t>teammates.Provides</a:t>
            </a:r>
            <a:r>
              <a:rPr kumimoji="0" lang="en-US" altLang="en-US" sz="1600" b="0" i="0" u="none" strike="noStrike" cap="none" normalizeH="0" baseline="0" dirty="0">
                <a:ln>
                  <a:noFill/>
                </a:ln>
                <a:solidFill>
                  <a:srgbClr val="242424"/>
                </a:solidFill>
                <a:effectLst/>
                <a:latin typeface="inherit"/>
                <a:cs typeface="Segoe UI" panose="020B0502040204020203" pitchFamily="34" charset="0"/>
              </a:rPr>
              <a:t> a gist of development tools and Azure)</a:t>
            </a:r>
            <a:endParaRPr kumimoji="0" lang="en-US" altLang="en-US" sz="1600" b="0" i="0" u="none" strike="noStrike" cap="none" normalizeH="0" baseline="0" dirty="0">
              <a:ln>
                <a:noFill/>
              </a:ln>
              <a:solidFill>
                <a:srgbClr val="242424"/>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242424"/>
                </a:solidFill>
                <a:effectLst/>
                <a:latin typeface="inherit"/>
                <a:cs typeface="Segoe UI" panose="020B0502040204020203" pitchFamily="34" charset="0"/>
                <a:hlinkClick r:id="rId4"/>
              </a:rPr>
              <a:t>Collections | Microsoft Learn</a:t>
            </a:r>
            <a:r>
              <a:rPr kumimoji="0" lang="en-US" altLang="en-US" sz="1600" b="0" i="0" u="none" strike="noStrike" cap="none" normalizeH="0" baseline="0" dirty="0">
                <a:ln>
                  <a:noFill/>
                </a:ln>
                <a:solidFill>
                  <a:srgbClr val="242424"/>
                </a:solidFill>
                <a:effectLst/>
                <a:latin typeface="inherit"/>
                <a:cs typeface="Segoe UI" panose="020B0502040204020203" pitchFamily="34" charset="0"/>
              </a:rPr>
              <a:t> (For working on projects)</a:t>
            </a:r>
            <a:endParaRPr kumimoji="0" lang="en-US" altLang="en-US" sz="1600" b="0" i="0" u="none" strike="noStrike" cap="none" normalizeH="0" baseline="0" dirty="0">
              <a:ln>
                <a:noFill/>
              </a:ln>
              <a:solidFill>
                <a:srgbClr val="242424"/>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242424"/>
                </a:solidFill>
                <a:effectLst/>
                <a:latin typeface="inherit"/>
                <a:cs typeface="Segoe UI" panose="020B0502040204020203" pitchFamily="34" charset="0"/>
                <a:hlinkClick r:id="rId5"/>
              </a:rPr>
              <a:t>Azure for Students – Free Account Credit | Microsoft Azure</a:t>
            </a:r>
            <a:r>
              <a:rPr kumimoji="0" lang="en-US" altLang="en-US" sz="1600" b="0" i="0" u="none" strike="noStrike" cap="none" normalizeH="0" baseline="0" dirty="0">
                <a:ln>
                  <a:noFill/>
                </a:ln>
                <a:solidFill>
                  <a:srgbClr val="242424"/>
                </a:solidFill>
                <a:effectLst/>
                <a:latin typeface="inherit"/>
                <a:cs typeface="Segoe UI" panose="020B0502040204020203" pitchFamily="34" charset="0"/>
              </a:rPr>
              <a:t> (Link which </a:t>
            </a:r>
            <a:r>
              <a:rPr kumimoji="0" lang="en-US" altLang="en-US" sz="1600" b="0" i="0" u="none" strike="noStrike" cap="none" normalizeH="0" baseline="0" dirty="0" err="1">
                <a:ln>
                  <a:noFill/>
                </a:ln>
                <a:solidFill>
                  <a:srgbClr val="242424"/>
                </a:solidFill>
                <a:effectLst/>
                <a:latin typeface="inherit"/>
                <a:cs typeface="Segoe UI" panose="020B0502040204020203" pitchFamily="34" charset="0"/>
              </a:rPr>
              <a:t>i</a:t>
            </a:r>
            <a:r>
              <a:rPr kumimoji="0" lang="en-US" altLang="en-US" sz="1600" b="0" i="0" u="none" strike="noStrike" cap="none" normalizeH="0" baseline="0" dirty="0">
                <a:ln>
                  <a:noFill/>
                </a:ln>
                <a:solidFill>
                  <a:srgbClr val="242424"/>
                </a:solidFill>
                <a:effectLst/>
                <a:latin typeface="inherit"/>
                <a:cs typeface="Segoe UI" panose="020B0502040204020203" pitchFamily="34" charset="0"/>
              </a:rPr>
              <a:t> used to signup for credits)</a:t>
            </a:r>
            <a:endParaRPr kumimoji="0" lang="en-US" altLang="en-US" sz="1600" b="0" i="0" u="none" strike="noStrike" cap="none" normalizeH="0" baseline="0" dirty="0">
              <a:ln>
                <a:noFill/>
              </a:ln>
              <a:solidFill>
                <a:srgbClr val="242424"/>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242424"/>
                </a:solidFill>
                <a:effectLst/>
                <a:latin typeface="inherit"/>
                <a:cs typeface="Segoe UI" panose="020B0502040204020203" pitchFamily="34" charset="0"/>
                <a:hlinkClick r:id="rId6"/>
              </a:rPr>
              <a:t>Student Hub - Student Certifications | Microsoft Learn</a:t>
            </a:r>
            <a:r>
              <a:rPr kumimoji="0" lang="en-US" altLang="en-US" sz="1600" b="0" i="0" u="none" strike="noStrike" cap="none" normalizeH="0" baseline="0" dirty="0">
                <a:ln>
                  <a:noFill/>
                </a:ln>
                <a:solidFill>
                  <a:srgbClr val="242424"/>
                </a:solidFill>
                <a:effectLst/>
                <a:latin typeface="inherit"/>
                <a:cs typeface="Segoe UI" panose="020B0502040204020203" pitchFamily="34" charset="0"/>
              </a:rPr>
              <a:t> (Browsing Certifications)</a:t>
            </a:r>
            <a:br>
              <a:rPr kumimoji="0" lang="en-US" altLang="en-US" sz="1600" b="0" i="0" u="none" strike="noStrike" cap="none" normalizeH="0" baseline="0" dirty="0">
                <a:ln>
                  <a:noFill/>
                </a:ln>
                <a:solidFill>
                  <a:srgbClr val="242424"/>
                </a:solidFill>
                <a:effectLst/>
                <a:latin typeface="inherit"/>
                <a:cs typeface="Segoe UI" panose="020B0502040204020203" pitchFamily="34" charset="0"/>
              </a:rPr>
            </a:br>
            <a:endParaRPr kumimoji="0" lang="en-US" altLang="en-US" sz="1600" b="0" i="0" u="none" strike="noStrike" cap="none" normalizeH="0" baseline="0" dirty="0">
              <a:ln>
                <a:noFill/>
              </a:ln>
              <a:solidFill>
                <a:srgbClr val="242424"/>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242424"/>
                </a:solidFill>
                <a:effectLst/>
                <a:latin typeface="inherit"/>
                <a:cs typeface="Segoe UI" panose="020B0502040204020203" pitchFamily="34" charset="0"/>
                <a:hlinkClick r:id="rId7"/>
              </a:rPr>
              <a:t>Microsoft Azure Fundamentals: Describe cloud concepts - Training | Microsoft Learn</a:t>
            </a:r>
            <a:r>
              <a:rPr kumimoji="0" lang="en-US" altLang="en-US" sz="1600" b="0" i="0" u="none" strike="noStrike" cap="none" normalizeH="0" baseline="0" dirty="0">
                <a:ln>
                  <a:noFill/>
                </a:ln>
                <a:solidFill>
                  <a:srgbClr val="242424"/>
                </a:solidFill>
                <a:effectLst/>
                <a:latin typeface="inherit"/>
                <a:cs typeface="Segoe UI" panose="020B0502040204020203" pitchFamily="34" charset="0"/>
              </a:rPr>
              <a:t> </a:t>
            </a:r>
            <a:br>
              <a:rPr kumimoji="0" lang="en-US" altLang="en-US" sz="1600" b="0" i="0" u="none" strike="noStrike" cap="none" normalizeH="0" baseline="0" dirty="0">
                <a:ln>
                  <a:noFill/>
                </a:ln>
                <a:solidFill>
                  <a:srgbClr val="242424"/>
                </a:solidFill>
                <a:effectLst/>
                <a:latin typeface="inherit"/>
                <a:cs typeface="Segoe UI" panose="020B0502040204020203" pitchFamily="34" charset="0"/>
              </a:rPr>
            </a:br>
            <a:endParaRPr kumimoji="0" lang="en-US" altLang="en-US" sz="1600" b="0" i="0" u="none" strike="noStrike" cap="none" normalizeH="0" baseline="0" dirty="0">
              <a:ln>
                <a:noFill/>
              </a:ln>
              <a:solidFill>
                <a:srgbClr val="242424"/>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242424"/>
                </a:solidFill>
                <a:effectLst/>
                <a:latin typeface="inherit"/>
                <a:cs typeface="Segoe UI" panose="020B0502040204020203" pitchFamily="34" charset="0"/>
                <a:hlinkClick r:id="rId8"/>
              </a:rPr>
              <a:t>Microsoft Azure Fundamentals: Describe Azure architecture and services - Training | Microsoft Learn</a:t>
            </a:r>
            <a:br>
              <a:rPr kumimoji="0" lang="en-US" altLang="en-US" sz="1600" b="0" i="0" u="none" strike="noStrike" cap="none" normalizeH="0" baseline="0" dirty="0">
                <a:ln>
                  <a:noFill/>
                </a:ln>
                <a:solidFill>
                  <a:srgbClr val="242424"/>
                </a:solidFill>
                <a:effectLst/>
                <a:latin typeface="inherit"/>
                <a:cs typeface="Segoe UI" panose="020B0502040204020203" pitchFamily="34" charset="0"/>
              </a:rPr>
            </a:br>
            <a:endParaRPr kumimoji="0" lang="en-US" altLang="en-US" sz="1600" b="0" i="0" u="none" strike="noStrike" cap="none" normalizeH="0" baseline="0" dirty="0">
              <a:ln>
                <a:noFill/>
              </a:ln>
              <a:solidFill>
                <a:srgbClr val="242424"/>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242424"/>
                </a:solidFill>
                <a:effectLst/>
                <a:latin typeface="inherit"/>
                <a:cs typeface="Segoe UI" panose="020B0502040204020203" pitchFamily="34" charset="0"/>
                <a:hlinkClick r:id="rId9"/>
              </a:rPr>
              <a:t>Microsoft Azure Fundamentals: Describe Azure management and governance - Training | Microsoft Learn</a:t>
            </a:r>
            <a:r>
              <a:rPr kumimoji="0" lang="en-US" altLang="en-US" sz="1600" b="0" i="0" u="none" strike="noStrike" cap="none" normalizeH="0" baseline="0" dirty="0">
                <a:ln>
                  <a:noFill/>
                </a:ln>
                <a:solidFill>
                  <a:srgbClr val="242424"/>
                </a:solidFill>
                <a:effectLst/>
                <a:latin typeface="inherit"/>
                <a:cs typeface="Segoe UI" panose="020B0502040204020203" pitchFamily="34" charset="0"/>
              </a:rPr>
              <a:t> </a:t>
            </a:r>
          </a:p>
          <a:p>
            <a:pPr marL="0" marR="0" lvl="0" indent="0" algn="l" defTabSz="914400" rtl="0" eaLnBrk="0" fontAlgn="base" latinLnBrk="0" hangingPunct="0">
              <a:lnSpc>
                <a:spcPct val="100000"/>
              </a:lnSpc>
              <a:spcBef>
                <a:spcPct val="0"/>
              </a:spcBef>
              <a:spcAft>
                <a:spcPct val="0"/>
              </a:spcAft>
              <a:buClrTx/>
              <a:buSzTx/>
              <a:tabLst/>
            </a:pPr>
            <a:r>
              <a:rPr kumimoji="0" lang="en-US" altLang="en-US" sz="1600" b="0" i="0" u="none" strike="noStrike" cap="none" normalizeH="0" baseline="0" dirty="0">
                <a:ln>
                  <a:noFill/>
                </a:ln>
                <a:solidFill>
                  <a:srgbClr val="242424"/>
                </a:solidFill>
                <a:effectLst/>
                <a:latin typeface="inherit"/>
                <a:cs typeface="Segoe UI" panose="020B0502040204020203" pitchFamily="34" charset="0"/>
              </a:rPr>
              <a:t>( The links in 5,6,7 are all the materials </a:t>
            </a:r>
            <a:r>
              <a:rPr kumimoji="0" lang="en-US" altLang="en-US" sz="1600" b="0" i="0" u="none" strike="noStrike" cap="none" normalizeH="0" baseline="0" dirty="0" err="1">
                <a:ln>
                  <a:noFill/>
                </a:ln>
                <a:solidFill>
                  <a:srgbClr val="242424"/>
                </a:solidFill>
                <a:effectLst/>
                <a:latin typeface="inherit"/>
                <a:cs typeface="Segoe UI" panose="020B0502040204020203" pitchFamily="34" charset="0"/>
              </a:rPr>
              <a:t>i</a:t>
            </a:r>
            <a:r>
              <a:rPr kumimoji="0" lang="en-US" altLang="en-US" sz="1600" b="0" i="0" u="none" strike="noStrike" cap="none" normalizeH="0" baseline="0" dirty="0">
                <a:ln>
                  <a:noFill/>
                </a:ln>
                <a:solidFill>
                  <a:srgbClr val="242424"/>
                </a:solidFill>
                <a:effectLst/>
                <a:latin typeface="inherit"/>
                <a:cs typeface="Segoe UI" panose="020B0502040204020203" pitchFamily="34" charset="0"/>
              </a:rPr>
              <a:t> had used in the </a:t>
            </a:r>
            <a:r>
              <a:rPr kumimoji="0" lang="en-US" altLang="en-US" sz="1600" b="0" i="0" u="none" strike="noStrike" cap="none" normalizeH="0" baseline="0" dirty="0" err="1">
                <a:ln>
                  <a:noFill/>
                </a:ln>
                <a:solidFill>
                  <a:srgbClr val="242424"/>
                </a:solidFill>
                <a:effectLst/>
                <a:latin typeface="inherit"/>
                <a:cs typeface="Segoe UI" panose="020B0502040204020203" pitchFamily="34" charset="0"/>
              </a:rPr>
              <a:t>workshop.Can</a:t>
            </a:r>
            <a:r>
              <a:rPr kumimoji="0" lang="en-US" altLang="en-US" sz="1600" b="0" i="0" u="none" strike="noStrike" cap="none" normalizeH="0" baseline="0" dirty="0">
                <a:ln>
                  <a:noFill/>
                </a:ln>
                <a:solidFill>
                  <a:srgbClr val="242424"/>
                </a:solidFill>
                <a:effectLst/>
                <a:latin typeface="inherit"/>
                <a:cs typeface="Segoe UI" panose="020B0502040204020203" pitchFamily="34" charset="0"/>
              </a:rPr>
              <a:t> be used for AZ-900 Exam preparation)</a:t>
            </a:r>
            <a:br>
              <a:rPr kumimoji="0" lang="en-US" altLang="en-US" sz="1600" b="0" i="0" u="none" strike="noStrike" cap="none" normalizeH="0" baseline="0" dirty="0">
                <a:ln>
                  <a:noFill/>
                </a:ln>
                <a:solidFill>
                  <a:srgbClr val="242424"/>
                </a:solidFill>
                <a:effectLst/>
                <a:latin typeface="inherit"/>
                <a:cs typeface="Segoe UI" panose="020B0502040204020203" pitchFamily="34" charset="0"/>
              </a:rPr>
            </a:br>
            <a:endParaRPr kumimoji="0" lang="en-US" altLang="en-US" sz="1600" b="0" i="0" u="none" strike="noStrike" cap="none" normalizeH="0" baseline="0" dirty="0">
              <a:ln>
                <a:noFill/>
              </a:ln>
              <a:solidFill>
                <a:srgbClr val="242424"/>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242424"/>
                </a:solidFill>
                <a:effectLst/>
                <a:latin typeface="inherit"/>
                <a:cs typeface="Segoe UI" panose="020B0502040204020203" pitchFamily="34" charset="0"/>
                <a:hlinkClick r:id="rId10"/>
              </a:rPr>
              <a:t>Create a Windows virtual machine in Azure - Training | Microsoft Learn</a:t>
            </a:r>
            <a:r>
              <a:rPr kumimoji="0" lang="en-US" altLang="en-US" sz="1600" b="0" i="0" u="none" strike="noStrike" cap="none" normalizeH="0" baseline="0" dirty="0">
                <a:ln>
                  <a:noFill/>
                </a:ln>
                <a:solidFill>
                  <a:srgbClr val="242424"/>
                </a:solidFill>
                <a:effectLst/>
                <a:latin typeface="inherit"/>
                <a:cs typeface="Segoe UI" panose="020B0502040204020203" pitchFamily="34" charset="0"/>
              </a:rPr>
              <a:t> </a:t>
            </a:r>
            <a:br>
              <a:rPr kumimoji="0" lang="en-US" altLang="en-US" sz="1600" b="0" i="0" u="none" strike="noStrike" cap="none" normalizeH="0" baseline="0" dirty="0">
                <a:ln>
                  <a:noFill/>
                </a:ln>
                <a:solidFill>
                  <a:srgbClr val="242424"/>
                </a:solidFill>
                <a:effectLst/>
                <a:latin typeface="inherit"/>
                <a:cs typeface="Segoe UI" panose="020B0502040204020203" pitchFamily="34" charset="0"/>
              </a:rPr>
            </a:br>
            <a:endParaRPr kumimoji="0" lang="en-US" altLang="en-US" sz="1600" b="0" i="0" u="none" strike="noStrike" cap="none" normalizeH="0" baseline="0" dirty="0">
              <a:ln>
                <a:noFill/>
              </a:ln>
              <a:solidFill>
                <a:srgbClr val="242424"/>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242424"/>
                </a:solidFill>
                <a:effectLst/>
                <a:latin typeface="inherit"/>
                <a:cs typeface="Segoe UI" panose="020B0502040204020203" pitchFamily="34" charset="0"/>
                <a:hlinkClick r:id="rId11"/>
              </a:rPr>
              <a:t>Host a web application with Azure App Service - Training | Microsoft Learn</a:t>
            </a:r>
            <a:br>
              <a:rPr kumimoji="0" lang="en-US" altLang="en-US" sz="1600" b="0" i="0" u="none" strike="noStrike" cap="none" normalizeH="0" baseline="0" dirty="0">
                <a:ln>
                  <a:noFill/>
                </a:ln>
                <a:solidFill>
                  <a:srgbClr val="242424"/>
                </a:solidFill>
                <a:effectLst/>
                <a:latin typeface="inherit"/>
                <a:cs typeface="Segoe UI" panose="020B0502040204020203" pitchFamily="34" charset="0"/>
              </a:rPr>
            </a:br>
            <a:endParaRPr kumimoji="0" lang="en-US" altLang="en-US" sz="1600" b="0" i="0" u="none" strike="noStrike" cap="none" normalizeH="0" baseline="0" dirty="0">
              <a:ln>
                <a:noFill/>
              </a:ln>
              <a:solidFill>
                <a:srgbClr val="242424"/>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242424"/>
                </a:solidFill>
                <a:effectLst/>
                <a:latin typeface="inherit"/>
                <a:cs typeface="Segoe UI" panose="020B0502040204020203" pitchFamily="34" charset="0"/>
                <a:hlinkClick r:id="rId12"/>
              </a:rPr>
              <a:t>Create intelligent health bots with Azure Health Bot - Training | Microsoft Learn</a:t>
            </a:r>
            <a:r>
              <a:rPr kumimoji="0" lang="en-US" altLang="en-US" sz="1600" b="0" i="0" u="none" strike="noStrike" cap="none" normalizeH="0" baseline="0" dirty="0">
                <a:ln>
                  <a:noFill/>
                </a:ln>
                <a:solidFill>
                  <a:srgbClr val="242424"/>
                </a:solidFill>
                <a:effectLst/>
                <a:latin typeface="inherit"/>
                <a:cs typeface="Segoe UI" panose="020B0502040204020203" pitchFamily="34" charset="0"/>
              </a:rPr>
              <a:t> (Health bot </a:t>
            </a:r>
            <a:r>
              <a:rPr kumimoji="0" lang="en-US" altLang="en-US" sz="1600" b="0" i="0" u="none" strike="noStrike" cap="none" normalizeH="0" baseline="0" dirty="0" err="1">
                <a:ln>
                  <a:noFill/>
                </a:ln>
                <a:solidFill>
                  <a:srgbClr val="242424"/>
                </a:solidFill>
                <a:effectLst/>
                <a:latin typeface="inherit"/>
                <a:cs typeface="Segoe UI" panose="020B0502040204020203" pitchFamily="34" charset="0"/>
              </a:rPr>
              <a:t>SAAS,Includes</a:t>
            </a:r>
            <a:r>
              <a:rPr kumimoji="0" lang="en-US" altLang="en-US" sz="1600" b="0" i="0" u="none" strike="noStrike" cap="none" normalizeH="0" baseline="0" dirty="0">
                <a:ln>
                  <a:noFill/>
                </a:ln>
                <a:solidFill>
                  <a:srgbClr val="242424"/>
                </a:solidFill>
                <a:effectLst/>
                <a:latin typeface="inherit"/>
                <a:cs typeface="Segoe UI" panose="020B0502040204020203" pitchFamily="34" charset="0"/>
              </a:rPr>
              <a:t>)</a:t>
            </a:r>
            <a:r>
              <a:rPr kumimoji="0" lang="en-US" altLang="en-US" sz="1600" b="0" i="0" u="none" strike="noStrike" cap="none" normalizeH="0" baseline="0" dirty="0">
                <a:ln>
                  <a:noFill/>
                </a:ln>
                <a:solidFill>
                  <a:schemeClr val="tx1"/>
                </a:solidFill>
                <a:effectLst/>
              </a:rPr>
              <a:t> </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6217957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1258" y="869341"/>
            <a:ext cx="8123869" cy="3359061"/>
          </a:xfrm>
          <a:prstGeom prst="rect">
            <a:avLst/>
          </a:prstGeom>
        </p:spPr>
        <p:txBody>
          <a:bodyPr wrap="square">
            <a:spAutoFit/>
          </a:bodyPr>
          <a:lstStyle/>
          <a:p>
            <a:pPr algn="just">
              <a:lnSpc>
                <a:spcPct val="150000"/>
              </a:lnSpc>
            </a:pPr>
            <a:r>
              <a:rPr lang="en-US" sz="2400" b="1" dirty="0"/>
              <a:t>Fundamental Docker Concepts</a:t>
            </a:r>
          </a:p>
          <a:p>
            <a:pPr marL="285750" indent="-285750" algn="just">
              <a:lnSpc>
                <a:spcPct val="150000"/>
              </a:lnSpc>
              <a:buFont typeface="Arial" panose="020B0604020202020204" pitchFamily="34" charset="0"/>
              <a:buChar char="•"/>
            </a:pPr>
            <a:endParaRPr lang="en-US" sz="2400" dirty="0"/>
          </a:p>
          <a:p>
            <a:pPr fontAlgn="base">
              <a:lnSpc>
                <a:spcPct val="150000"/>
              </a:lnSpc>
            </a:pPr>
            <a:r>
              <a:rPr lang="en-US" sz="2400" b="1" dirty="0"/>
              <a:t>Docker Engine</a:t>
            </a:r>
            <a:endParaRPr lang="en-US" sz="2400" dirty="0"/>
          </a:p>
          <a:p>
            <a:pPr marL="342900" indent="-342900">
              <a:lnSpc>
                <a:spcPct val="150000"/>
              </a:lnSpc>
              <a:buFont typeface="Arial" panose="020B0604020202020204" pitchFamily="34" charset="0"/>
              <a:buChar char="•"/>
            </a:pPr>
            <a:r>
              <a:rPr lang="en-US" sz="2400" dirty="0"/>
              <a:t>Docker engine is the </a:t>
            </a:r>
            <a:r>
              <a:rPr lang="en-US" sz="2400" b="1" dirty="0"/>
              <a:t>layer on which Docker runs</a:t>
            </a:r>
            <a:r>
              <a:rPr lang="en-US" sz="2400" dirty="0"/>
              <a:t>.</a:t>
            </a:r>
          </a:p>
          <a:p>
            <a:pPr marL="342900" indent="-342900">
              <a:lnSpc>
                <a:spcPct val="150000"/>
              </a:lnSpc>
              <a:buFont typeface="Arial" panose="020B0604020202020204" pitchFamily="34" charset="0"/>
              <a:buChar char="•"/>
            </a:pPr>
            <a:r>
              <a:rPr lang="en-US" sz="2400" dirty="0"/>
              <a:t> It’s a lightweight runtime and tooling that manages containers, images, builds, and more. </a:t>
            </a:r>
            <a:endParaRPr lang="en-US" sz="2400" b="1" dirty="0"/>
          </a:p>
        </p:txBody>
      </p:sp>
      <p:pic>
        <p:nvPicPr>
          <p:cNvPr id="6" name="Picture 5" descr="1*K7p9dzD9zHuKEMgAcbSLPQ"/>
          <p:cNvPicPr/>
          <p:nvPr/>
        </p:nvPicPr>
        <p:blipFill>
          <a:blip r:embed="rId3">
            <a:extLst>
              <a:ext uri="{28A0092B-C50C-407E-A947-70E740481C1C}">
                <a14:useLocalDpi xmlns:a14="http://schemas.microsoft.com/office/drawing/2010/main" val="0"/>
              </a:ext>
            </a:extLst>
          </a:blip>
          <a:srcRect/>
          <a:stretch>
            <a:fillRect/>
          </a:stretch>
        </p:blipFill>
        <p:spPr bwMode="auto">
          <a:xfrm>
            <a:off x="8354927" y="1097216"/>
            <a:ext cx="3496541" cy="4193291"/>
          </a:xfrm>
          <a:prstGeom prst="rect">
            <a:avLst/>
          </a:prstGeom>
          <a:noFill/>
          <a:ln>
            <a:noFill/>
          </a:ln>
        </p:spPr>
      </p:pic>
    </p:spTree>
    <p:extLst>
      <p:ext uri="{BB962C8B-B14F-4D97-AF65-F5344CB8AC3E}">
        <p14:creationId xmlns:p14="http://schemas.microsoft.com/office/powerpoint/2010/main" val="103300011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1258" y="869341"/>
            <a:ext cx="8123869" cy="1200329"/>
          </a:xfrm>
          <a:prstGeom prst="rect">
            <a:avLst/>
          </a:prstGeom>
        </p:spPr>
        <p:txBody>
          <a:bodyPr wrap="square">
            <a:spAutoFit/>
          </a:bodyPr>
          <a:lstStyle/>
          <a:p>
            <a:pPr algn="just">
              <a:lnSpc>
                <a:spcPct val="150000"/>
              </a:lnSpc>
            </a:pPr>
            <a:r>
              <a:rPr lang="en-US" sz="2400" b="1" dirty="0"/>
              <a:t>Fundamental Docker Concepts</a:t>
            </a:r>
          </a:p>
          <a:p>
            <a:pPr algn="just">
              <a:lnSpc>
                <a:spcPct val="150000"/>
              </a:lnSpc>
            </a:pPr>
            <a:endParaRPr lang="en-US" sz="2400" dirty="0"/>
          </a:p>
        </p:txBody>
      </p:sp>
      <p:pic>
        <p:nvPicPr>
          <p:cNvPr id="6" name="Picture 5" descr="1*K7p9dzD9zHuKEMgAcbSLPQ"/>
          <p:cNvPicPr/>
          <p:nvPr/>
        </p:nvPicPr>
        <p:blipFill>
          <a:blip r:embed="rId3">
            <a:extLst>
              <a:ext uri="{28A0092B-C50C-407E-A947-70E740481C1C}">
                <a14:useLocalDpi xmlns:a14="http://schemas.microsoft.com/office/drawing/2010/main" val="0"/>
              </a:ext>
            </a:extLst>
          </a:blip>
          <a:srcRect/>
          <a:stretch>
            <a:fillRect/>
          </a:stretch>
        </p:blipFill>
        <p:spPr bwMode="auto">
          <a:xfrm>
            <a:off x="8354927" y="1097216"/>
            <a:ext cx="3496541" cy="4193291"/>
          </a:xfrm>
          <a:prstGeom prst="rect">
            <a:avLst/>
          </a:prstGeom>
          <a:noFill/>
          <a:ln>
            <a:noFill/>
          </a:ln>
        </p:spPr>
      </p:pic>
      <p:sp>
        <p:nvSpPr>
          <p:cNvPr id="3" name="Rectangle 2"/>
          <p:cNvSpPr/>
          <p:nvPr/>
        </p:nvSpPr>
        <p:spPr>
          <a:xfrm>
            <a:off x="1300093" y="1957757"/>
            <a:ext cx="6096000" cy="2352952"/>
          </a:xfrm>
          <a:prstGeom prst="rect">
            <a:avLst/>
          </a:prstGeom>
        </p:spPr>
        <p:txBody>
          <a:bodyPr>
            <a:spAutoFit/>
          </a:bodyPr>
          <a:lstStyle/>
          <a:p>
            <a:pPr fontAlgn="base">
              <a:lnSpc>
                <a:spcPct val="150000"/>
              </a:lnSpc>
            </a:pPr>
            <a:r>
              <a:rPr lang="en-US" sz="2000" dirty="0">
                <a:latin typeface="inherit"/>
                <a:ea typeface="Times New Roman" panose="02020603050405020304" pitchFamily="18" charset="0"/>
                <a:cs typeface="Times New Roman" panose="02020603050405020304" pitchFamily="18" charset="0"/>
              </a:rPr>
              <a:t>1. A Docker Daemon that </a:t>
            </a:r>
            <a:r>
              <a:rPr lang="en-US" sz="2000" b="1" dirty="0">
                <a:latin typeface="inherit"/>
                <a:ea typeface="Times New Roman" panose="02020603050405020304" pitchFamily="18" charset="0"/>
                <a:cs typeface="Times New Roman" panose="02020603050405020304" pitchFamily="18" charset="0"/>
              </a:rPr>
              <a:t>runs in the host computer</a:t>
            </a:r>
            <a:r>
              <a:rPr lang="en-US" sz="2000" dirty="0">
                <a:latin typeface="inherit"/>
                <a:ea typeface="Times New Roman" panose="02020603050405020304" pitchFamily="18" charset="0"/>
                <a:cs typeface="Times New Roman" panose="02020603050405020304" pitchFamily="18" charset="0"/>
              </a:rPr>
              <a:t>.</a:t>
            </a:r>
            <a:br>
              <a:rPr lang="en-US" sz="2000" dirty="0">
                <a:latin typeface="inherit"/>
                <a:ea typeface="Times New Roman" panose="02020603050405020304" pitchFamily="18" charset="0"/>
                <a:cs typeface="Times New Roman" panose="02020603050405020304" pitchFamily="18" charset="0"/>
              </a:rPr>
            </a:br>
            <a:r>
              <a:rPr lang="en-US" sz="2000" dirty="0">
                <a:latin typeface="inherit"/>
                <a:ea typeface="Times New Roman" panose="02020603050405020304" pitchFamily="18" charset="0"/>
                <a:cs typeface="Times New Roman" panose="02020603050405020304" pitchFamily="18" charset="0"/>
              </a:rPr>
              <a:t>2. A Docker Client that then </a:t>
            </a:r>
            <a:r>
              <a:rPr lang="en-US" sz="2000" b="1" dirty="0">
                <a:latin typeface="inherit"/>
                <a:ea typeface="Times New Roman" panose="02020603050405020304" pitchFamily="18" charset="0"/>
                <a:cs typeface="Times New Roman" panose="02020603050405020304" pitchFamily="18" charset="0"/>
              </a:rPr>
              <a:t>communicates with the Docker Daemon to execute commands</a:t>
            </a:r>
            <a:r>
              <a:rPr lang="en-US" sz="2000" dirty="0">
                <a:latin typeface="inherit"/>
                <a:ea typeface="Times New Roman" panose="02020603050405020304" pitchFamily="18" charset="0"/>
                <a:cs typeface="Times New Roman" panose="02020603050405020304" pitchFamily="18" charset="0"/>
              </a:rPr>
              <a:t>.</a:t>
            </a:r>
            <a:br>
              <a:rPr lang="en-US" sz="2000" dirty="0">
                <a:latin typeface="inherit"/>
                <a:ea typeface="Times New Roman" panose="02020603050405020304" pitchFamily="18" charset="0"/>
                <a:cs typeface="Times New Roman" panose="02020603050405020304" pitchFamily="18" charset="0"/>
              </a:rPr>
            </a:br>
            <a:r>
              <a:rPr lang="en-US" sz="2000" dirty="0">
                <a:latin typeface="inherit"/>
                <a:ea typeface="Times New Roman" panose="02020603050405020304" pitchFamily="18" charset="0"/>
                <a:cs typeface="Times New Roman" panose="02020603050405020304" pitchFamily="18" charset="0"/>
              </a:rPr>
              <a:t>3. A </a:t>
            </a:r>
            <a:r>
              <a:rPr lang="en-US" sz="2000" b="1" dirty="0">
                <a:latin typeface="inherit"/>
                <a:ea typeface="Times New Roman" panose="02020603050405020304" pitchFamily="18" charset="0"/>
                <a:cs typeface="Times New Roman" panose="02020603050405020304" pitchFamily="18" charset="0"/>
              </a:rPr>
              <a:t>REST API for interacting with the Docker Daemon remotely.</a:t>
            </a:r>
            <a:endParaRPr lang="en-US" sz="2000" b="1"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5665116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Need of Docker container</a:t>
            </a:r>
          </a:p>
        </p:txBody>
      </p:sp>
      <p:sp>
        <p:nvSpPr>
          <p:cNvPr id="2" name="Rectangle 1"/>
          <p:cNvSpPr/>
          <p:nvPr/>
        </p:nvSpPr>
        <p:spPr>
          <a:xfrm>
            <a:off x="341258" y="869341"/>
            <a:ext cx="8123869" cy="1200329"/>
          </a:xfrm>
          <a:prstGeom prst="rect">
            <a:avLst/>
          </a:prstGeom>
        </p:spPr>
        <p:txBody>
          <a:bodyPr wrap="square">
            <a:spAutoFit/>
          </a:bodyPr>
          <a:lstStyle/>
          <a:p>
            <a:pPr algn="just">
              <a:lnSpc>
                <a:spcPct val="150000"/>
              </a:lnSpc>
            </a:pPr>
            <a:r>
              <a:rPr lang="en-US" sz="2400" b="1" dirty="0"/>
              <a:t>Fundamental Docker Concepts</a:t>
            </a:r>
          </a:p>
          <a:p>
            <a:pPr algn="just">
              <a:lnSpc>
                <a:spcPct val="150000"/>
              </a:lnSpc>
            </a:pPr>
            <a:endParaRPr lang="en-US" sz="2400" dirty="0"/>
          </a:p>
        </p:txBody>
      </p:sp>
      <p:pic>
        <p:nvPicPr>
          <p:cNvPr id="6" name="Picture 5" descr="1*K7p9dzD9zHuKEMgAcbSLPQ"/>
          <p:cNvPicPr/>
          <p:nvPr/>
        </p:nvPicPr>
        <p:blipFill>
          <a:blip r:embed="rId3">
            <a:extLst>
              <a:ext uri="{28A0092B-C50C-407E-A947-70E740481C1C}">
                <a14:useLocalDpi xmlns:a14="http://schemas.microsoft.com/office/drawing/2010/main" val="0"/>
              </a:ext>
            </a:extLst>
          </a:blip>
          <a:srcRect/>
          <a:stretch>
            <a:fillRect/>
          </a:stretch>
        </p:blipFill>
        <p:spPr bwMode="auto">
          <a:xfrm>
            <a:off x="8354927" y="1097216"/>
            <a:ext cx="3496541" cy="4193291"/>
          </a:xfrm>
          <a:prstGeom prst="rect">
            <a:avLst/>
          </a:prstGeom>
          <a:noFill/>
          <a:ln>
            <a:noFill/>
          </a:ln>
        </p:spPr>
      </p:pic>
      <p:sp>
        <p:nvSpPr>
          <p:cNvPr id="3" name="Rectangle 2"/>
          <p:cNvSpPr/>
          <p:nvPr/>
        </p:nvSpPr>
        <p:spPr>
          <a:xfrm>
            <a:off x="1300093" y="1957757"/>
            <a:ext cx="6096000" cy="3236848"/>
          </a:xfrm>
          <a:prstGeom prst="rect">
            <a:avLst/>
          </a:prstGeom>
        </p:spPr>
        <p:txBody>
          <a:bodyPr>
            <a:spAutoFit/>
          </a:bodyPr>
          <a:lstStyle/>
          <a:p>
            <a:pPr fontAlgn="base">
              <a:lnSpc>
                <a:spcPct val="107000"/>
              </a:lnSpc>
              <a:spcAft>
                <a:spcPts val="1800"/>
              </a:spcAft>
            </a:pPr>
            <a:r>
              <a:rPr lang="en-US" sz="2000" b="1" dirty="0">
                <a:latin typeface="inherit"/>
                <a:ea typeface="Times New Roman" panose="02020603050405020304" pitchFamily="18" charset="0"/>
                <a:cs typeface="Times New Roman" panose="02020603050405020304" pitchFamily="18" charset="0"/>
              </a:rPr>
              <a:t>Docker Client</a:t>
            </a:r>
          </a:p>
          <a:p>
            <a:pPr marL="342900" indent="-342900" fontAlgn="base">
              <a:lnSpc>
                <a:spcPct val="107000"/>
              </a:lnSpc>
              <a:spcAft>
                <a:spcPts val="1800"/>
              </a:spcAft>
              <a:buFont typeface="Arial" panose="020B0604020202020204" pitchFamily="34" charset="0"/>
              <a:buChar char="•"/>
            </a:pPr>
            <a:r>
              <a:rPr lang="en-US" sz="2400" dirty="0">
                <a:latin typeface="inherit"/>
                <a:ea typeface="Times New Roman" panose="02020603050405020304" pitchFamily="18" charset="0"/>
                <a:cs typeface="Times New Roman" panose="02020603050405020304" pitchFamily="18" charset="0"/>
              </a:rPr>
              <a:t>The Docker Client is what you, as the end-user of Docker, communicate with. </a:t>
            </a:r>
          </a:p>
          <a:p>
            <a:pPr marL="342900" indent="-342900" fontAlgn="base">
              <a:lnSpc>
                <a:spcPct val="107000"/>
              </a:lnSpc>
              <a:spcAft>
                <a:spcPts val="1800"/>
              </a:spcAft>
              <a:buFont typeface="Arial" panose="020B0604020202020204" pitchFamily="34" charset="0"/>
              <a:buChar char="•"/>
            </a:pPr>
            <a:r>
              <a:rPr lang="en-US" sz="2400" dirty="0">
                <a:latin typeface="inherit"/>
                <a:ea typeface="Times New Roman" panose="02020603050405020304" pitchFamily="18" charset="0"/>
                <a:cs typeface="Times New Roman" panose="02020603050405020304" pitchFamily="18" charset="0"/>
              </a:rPr>
              <a:t>Think of it as the </a:t>
            </a:r>
            <a:r>
              <a:rPr lang="en-US" sz="2400" b="1" dirty="0">
                <a:latin typeface="inherit"/>
                <a:ea typeface="Times New Roman" panose="02020603050405020304" pitchFamily="18" charset="0"/>
                <a:cs typeface="Times New Roman" panose="02020603050405020304" pitchFamily="18" charset="0"/>
              </a:rPr>
              <a:t>UI for Docker</a:t>
            </a:r>
            <a:r>
              <a:rPr lang="en-US" sz="2400" dirty="0">
                <a:latin typeface="inherit"/>
                <a:ea typeface="Times New Roman" panose="02020603050405020304" pitchFamily="18" charset="0"/>
                <a:cs typeface="Times New Roman" panose="02020603050405020304" pitchFamily="18" charset="0"/>
              </a:rPr>
              <a:t>. For example, when you do… you are communicating to the Docker Client, which then communicates your instructions to the Docker Daemon</a:t>
            </a:r>
          </a:p>
        </p:txBody>
      </p:sp>
    </p:spTree>
    <p:extLst>
      <p:ext uri="{BB962C8B-B14F-4D97-AF65-F5344CB8AC3E}">
        <p14:creationId xmlns:p14="http://schemas.microsoft.com/office/powerpoint/2010/main" val="406324111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Need of Docker container</a:t>
            </a:r>
          </a:p>
        </p:txBody>
      </p:sp>
      <p:sp>
        <p:nvSpPr>
          <p:cNvPr id="2" name="Rectangle 1"/>
          <p:cNvSpPr/>
          <p:nvPr/>
        </p:nvSpPr>
        <p:spPr>
          <a:xfrm>
            <a:off x="341258" y="869341"/>
            <a:ext cx="8123869" cy="1200329"/>
          </a:xfrm>
          <a:prstGeom prst="rect">
            <a:avLst/>
          </a:prstGeom>
        </p:spPr>
        <p:txBody>
          <a:bodyPr wrap="square">
            <a:spAutoFit/>
          </a:bodyPr>
          <a:lstStyle/>
          <a:p>
            <a:pPr algn="just">
              <a:lnSpc>
                <a:spcPct val="150000"/>
              </a:lnSpc>
            </a:pPr>
            <a:r>
              <a:rPr lang="en-US" sz="2400" b="1" dirty="0"/>
              <a:t>Fundamental Docker Concepts</a:t>
            </a:r>
          </a:p>
          <a:p>
            <a:pPr algn="just">
              <a:lnSpc>
                <a:spcPct val="150000"/>
              </a:lnSpc>
            </a:pPr>
            <a:endParaRPr lang="en-US" sz="2400" dirty="0"/>
          </a:p>
        </p:txBody>
      </p:sp>
      <p:pic>
        <p:nvPicPr>
          <p:cNvPr id="6" name="Picture 5" descr="1*K7p9dzD9zHuKEMgAcbSLPQ"/>
          <p:cNvPicPr/>
          <p:nvPr/>
        </p:nvPicPr>
        <p:blipFill>
          <a:blip r:embed="rId3">
            <a:extLst>
              <a:ext uri="{28A0092B-C50C-407E-A947-70E740481C1C}">
                <a14:useLocalDpi xmlns:a14="http://schemas.microsoft.com/office/drawing/2010/main" val="0"/>
              </a:ext>
            </a:extLst>
          </a:blip>
          <a:srcRect/>
          <a:stretch>
            <a:fillRect/>
          </a:stretch>
        </p:blipFill>
        <p:spPr bwMode="auto">
          <a:xfrm>
            <a:off x="8354927" y="1097216"/>
            <a:ext cx="3496541" cy="4193291"/>
          </a:xfrm>
          <a:prstGeom prst="rect">
            <a:avLst/>
          </a:prstGeom>
          <a:noFill/>
          <a:ln>
            <a:noFill/>
          </a:ln>
        </p:spPr>
      </p:pic>
      <p:sp>
        <p:nvSpPr>
          <p:cNvPr id="3" name="Rectangle 2"/>
          <p:cNvSpPr/>
          <p:nvPr/>
        </p:nvSpPr>
        <p:spPr>
          <a:xfrm>
            <a:off x="1300093" y="1957757"/>
            <a:ext cx="6096000" cy="4392741"/>
          </a:xfrm>
          <a:prstGeom prst="rect">
            <a:avLst/>
          </a:prstGeom>
        </p:spPr>
        <p:txBody>
          <a:bodyPr>
            <a:spAutoFit/>
          </a:bodyPr>
          <a:lstStyle/>
          <a:p>
            <a:pPr algn="just" fontAlgn="base">
              <a:lnSpc>
                <a:spcPct val="107000"/>
              </a:lnSpc>
              <a:spcAft>
                <a:spcPts val="1800"/>
              </a:spcAft>
            </a:pPr>
            <a:r>
              <a:rPr lang="en-US" sz="2000" b="1" dirty="0">
                <a:latin typeface="inherit"/>
                <a:ea typeface="Times New Roman" panose="02020603050405020304" pitchFamily="18" charset="0"/>
                <a:cs typeface="Times New Roman" panose="02020603050405020304" pitchFamily="18" charset="0"/>
              </a:rPr>
              <a:t>Docker Daemon</a:t>
            </a:r>
          </a:p>
          <a:p>
            <a:pPr marL="342900" indent="-342900" algn="just" fontAlgn="base">
              <a:lnSpc>
                <a:spcPct val="107000"/>
              </a:lnSpc>
              <a:spcAft>
                <a:spcPts val="1800"/>
              </a:spcAft>
              <a:buFont typeface="Arial" panose="020B0604020202020204" pitchFamily="34" charset="0"/>
              <a:buChar char="•"/>
            </a:pPr>
            <a:r>
              <a:rPr lang="en-US" sz="2000" dirty="0">
                <a:latin typeface="inherit"/>
                <a:ea typeface="Times New Roman" panose="02020603050405020304" pitchFamily="18" charset="0"/>
                <a:cs typeface="Times New Roman" panose="02020603050405020304" pitchFamily="18" charset="0"/>
              </a:rPr>
              <a:t>The Docker daemon is what actually executes commands sent by the Docker Client — like building, running, and distributing your containers. </a:t>
            </a:r>
          </a:p>
          <a:p>
            <a:pPr marL="342900" indent="-342900" algn="just" fontAlgn="base">
              <a:lnSpc>
                <a:spcPct val="107000"/>
              </a:lnSpc>
              <a:spcAft>
                <a:spcPts val="1800"/>
              </a:spcAft>
              <a:buFont typeface="Arial" panose="020B0604020202020204" pitchFamily="34" charset="0"/>
              <a:buChar char="•"/>
            </a:pPr>
            <a:r>
              <a:rPr lang="en-US" sz="2000" dirty="0">
                <a:latin typeface="inherit"/>
                <a:ea typeface="Times New Roman" panose="02020603050405020304" pitchFamily="18" charset="0"/>
                <a:cs typeface="Times New Roman" panose="02020603050405020304" pitchFamily="18" charset="0"/>
              </a:rPr>
              <a:t>The </a:t>
            </a:r>
            <a:r>
              <a:rPr lang="en-US" sz="2000" b="1" dirty="0">
                <a:latin typeface="inherit"/>
                <a:ea typeface="Times New Roman" panose="02020603050405020304" pitchFamily="18" charset="0"/>
                <a:cs typeface="Times New Roman" panose="02020603050405020304" pitchFamily="18" charset="0"/>
              </a:rPr>
              <a:t>Docker Daemon runs on the host machine, but </a:t>
            </a:r>
            <a:r>
              <a:rPr lang="en-US" sz="2000" dirty="0">
                <a:latin typeface="inherit"/>
                <a:ea typeface="Times New Roman" panose="02020603050405020304" pitchFamily="18" charset="0"/>
                <a:cs typeface="Times New Roman" panose="02020603050405020304" pitchFamily="18" charset="0"/>
              </a:rPr>
              <a:t>as a user, you never communicate directly with the Daemon. </a:t>
            </a:r>
          </a:p>
          <a:p>
            <a:pPr marL="342900" indent="-342900" algn="just" fontAlgn="base">
              <a:lnSpc>
                <a:spcPct val="107000"/>
              </a:lnSpc>
              <a:spcAft>
                <a:spcPts val="1800"/>
              </a:spcAft>
              <a:buFont typeface="Arial" panose="020B0604020202020204" pitchFamily="34" charset="0"/>
              <a:buChar char="•"/>
            </a:pPr>
            <a:r>
              <a:rPr lang="en-US" sz="2000" dirty="0">
                <a:latin typeface="inherit"/>
                <a:ea typeface="Times New Roman" panose="02020603050405020304" pitchFamily="18" charset="0"/>
                <a:cs typeface="Times New Roman" panose="02020603050405020304" pitchFamily="18" charset="0"/>
              </a:rPr>
              <a:t>The Docker Client can run on the host machine as well, but it’s not required to. </a:t>
            </a:r>
            <a:r>
              <a:rPr lang="en-US" sz="2000" b="1" dirty="0">
                <a:latin typeface="inherit"/>
                <a:ea typeface="Times New Roman" panose="02020603050405020304" pitchFamily="18" charset="0"/>
                <a:cs typeface="Times New Roman" panose="02020603050405020304" pitchFamily="18" charset="0"/>
              </a:rPr>
              <a:t>It can run on a different machine and communicate with the Docker Daemon </a:t>
            </a:r>
            <a:r>
              <a:rPr lang="en-US" sz="2000" dirty="0">
                <a:latin typeface="inherit"/>
                <a:ea typeface="Times New Roman" panose="02020603050405020304" pitchFamily="18" charset="0"/>
                <a:cs typeface="Times New Roman" panose="02020603050405020304" pitchFamily="18" charset="0"/>
              </a:rPr>
              <a:t>that’s running on the host machine.</a:t>
            </a:r>
          </a:p>
        </p:txBody>
      </p:sp>
    </p:spTree>
    <p:extLst>
      <p:ext uri="{BB962C8B-B14F-4D97-AF65-F5344CB8AC3E}">
        <p14:creationId xmlns:p14="http://schemas.microsoft.com/office/powerpoint/2010/main" val="363181566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39039-EE92-F58A-7926-DB604671289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79BD4B5-8F90-00A7-38C4-38D7320F9F60}"/>
              </a:ext>
            </a:extLst>
          </p:cNvPr>
          <p:cNvSpPr/>
          <p:nvPr/>
        </p:nvSpPr>
        <p:spPr>
          <a:xfrm>
            <a:off x="3344778" y="469231"/>
            <a:ext cx="4247513" cy="461665"/>
          </a:xfrm>
          <a:prstGeom prst="rect">
            <a:avLst/>
          </a:prstGeom>
        </p:spPr>
        <p:txBody>
          <a:bodyPr wrap="square">
            <a:spAutoFit/>
          </a:bodyPr>
          <a:lstStyle/>
          <a:p>
            <a:pPr algn="ctr"/>
            <a:r>
              <a:rPr lang="en-US" sz="2400" b="1" dirty="0"/>
              <a:t>Need of Docker container</a:t>
            </a:r>
          </a:p>
        </p:txBody>
      </p:sp>
      <p:sp>
        <p:nvSpPr>
          <p:cNvPr id="2" name="Rectangle 1">
            <a:extLst>
              <a:ext uri="{FF2B5EF4-FFF2-40B4-BE49-F238E27FC236}">
                <a16:creationId xmlns:a16="http://schemas.microsoft.com/office/drawing/2014/main" id="{C0E8343A-2664-0496-BD60-4511A7E0B73C}"/>
              </a:ext>
            </a:extLst>
          </p:cNvPr>
          <p:cNvSpPr/>
          <p:nvPr/>
        </p:nvSpPr>
        <p:spPr>
          <a:xfrm>
            <a:off x="341258" y="869341"/>
            <a:ext cx="8123869" cy="1200329"/>
          </a:xfrm>
          <a:prstGeom prst="rect">
            <a:avLst/>
          </a:prstGeom>
        </p:spPr>
        <p:txBody>
          <a:bodyPr wrap="square">
            <a:spAutoFit/>
          </a:bodyPr>
          <a:lstStyle/>
          <a:p>
            <a:pPr algn="just">
              <a:lnSpc>
                <a:spcPct val="150000"/>
              </a:lnSpc>
            </a:pPr>
            <a:r>
              <a:rPr lang="en-US" sz="2400" b="1" dirty="0"/>
              <a:t>Fundamental Docker Concepts</a:t>
            </a:r>
          </a:p>
          <a:p>
            <a:pPr algn="just">
              <a:lnSpc>
                <a:spcPct val="150000"/>
              </a:lnSpc>
            </a:pPr>
            <a:endParaRPr lang="en-US" sz="2400" dirty="0"/>
          </a:p>
        </p:txBody>
      </p:sp>
      <p:sp>
        <p:nvSpPr>
          <p:cNvPr id="3" name="Rectangle 2">
            <a:extLst>
              <a:ext uri="{FF2B5EF4-FFF2-40B4-BE49-F238E27FC236}">
                <a16:creationId xmlns:a16="http://schemas.microsoft.com/office/drawing/2014/main" id="{3B1A3DC2-EFEE-A6EE-91A0-49A45AA1970B}"/>
              </a:ext>
            </a:extLst>
          </p:cNvPr>
          <p:cNvSpPr/>
          <p:nvPr/>
        </p:nvSpPr>
        <p:spPr>
          <a:xfrm>
            <a:off x="341258" y="1957757"/>
            <a:ext cx="11753759" cy="5262979"/>
          </a:xfrm>
          <a:prstGeom prst="rect">
            <a:avLst/>
          </a:prstGeom>
        </p:spPr>
        <p:txBody>
          <a:bodyPr wrap="square">
            <a:spAutoFit/>
          </a:bodyPr>
          <a:lstStyle/>
          <a:p>
            <a:pPr fontAlgn="base"/>
            <a:r>
              <a:rPr lang="en-US" sz="2400" b="1" dirty="0" err="1"/>
              <a:t>Dockerfile</a:t>
            </a:r>
            <a:endParaRPr lang="en-US" sz="2400" dirty="0"/>
          </a:p>
          <a:p>
            <a:pPr fontAlgn="base">
              <a:lnSpc>
                <a:spcPct val="150000"/>
              </a:lnSpc>
            </a:pPr>
            <a:r>
              <a:rPr lang="en-US" sz="2400" dirty="0"/>
              <a:t>A </a:t>
            </a:r>
            <a:r>
              <a:rPr lang="en-US" sz="2400" dirty="0" err="1"/>
              <a:t>Dockerfile</a:t>
            </a:r>
            <a:r>
              <a:rPr lang="en-US" sz="2400" dirty="0"/>
              <a:t> is where you write the instructions to build a Docker image.</a:t>
            </a:r>
          </a:p>
          <a:p>
            <a:pPr fontAlgn="base">
              <a:lnSpc>
                <a:spcPct val="150000"/>
              </a:lnSpc>
            </a:pPr>
            <a:r>
              <a:rPr lang="en-US" sz="2400" dirty="0"/>
              <a:t> These instructions can be:</a:t>
            </a:r>
          </a:p>
          <a:p>
            <a:pPr marL="342900" indent="-342900" fontAlgn="base">
              <a:lnSpc>
                <a:spcPct val="150000"/>
              </a:lnSpc>
              <a:buFont typeface="Arial" panose="020B0604020202020204" pitchFamily="34" charset="0"/>
              <a:buChar char="•"/>
            </a:pPr>
            <a:r>
              <a:rPr lang="en-US" sz="2400" dirty="0"/>
              <a:t>•	RUN apt-get y install some-package: to install a software package</a:t>
            </a:r>
          </a:p>
          <a:p>
            <a:pPr marL="342900" indent="-342900" fontAlgn="base">
              <a:lnSpc>
                <a:spcPct val="150000"/>
              </a:lnSpc>
              <a:buFont typeface="Arial" panose="020B0604020202020204" pitchFamily="34" charset="0"/>
              <a:buChar char="•"/>
            </a:pPr>
            <a:r>
              <a:rPr lang="en-US" sz="2400" dirty="0"/>
              <a:t>•	EXPOSE 8000: to expose a port</a:t>
            </a:r>
          </a:p>
          <a:p>
            <a:pPr marL="342900" indent="-342900" fontAlgn="base">
              <a:lnSpc>
                <a:spcPct val="150000"/>
              </a:lnSpc>
              <a:buFont typeface="Arial" panose="020B0604020202020204" pitchFamily="34" charset="0"/>
              <a:buChar char="•"/>
            </a:pPr>
            <a:r>
              <a:rPr lang="en-US" sz="2400" dirty="0"/>
              <a:t>•	ENV ANT_HOME /</a:t>
            </a:r>
            <a:r>
              <a:rPr lang="en-US" sz="2400" dirty="0" err="1"/>
              <a:t>usr</a:t>
            </a:r>
            <a:r>
              <a:rPr lang="en-US" sz="2400" dirty="0"/>
              <a:t>/local/apache-ant to pass an environment variable</a:t>
            </a:r>
          </a:p>
          <a:p>
            <a:pPr marL="342900" indent="-342900" fontAlgn="base">
              <a:lnSpc>
                <a:spcPct val="150000"/>
              </a:lnSpc>
              <a:buFont typeface="Arial" panose="020B0604020202020204" pitchFamily="34" charset="0"/>
              <a:buChar char="•"/>
            </a:pPr>
            <a:r>
              <a:rPr lang="en-US" sz="2400" dirty="0"/>
              <a:t>and so forth. Once you’ve got your </a:t>
            </a:r>
            <a:r>
              <a:rPr lang="en-US" sz="2400" dirty="0" err="1"/>
              <a:t>Dockerfile</a:t>
            </a:r>
            <a:r>
              <a:rPr lang="en-US" sz="2400" dirty="0"/>
              <a:t> set up, you can use the </a:t>
            </a:r>
            <a:r>
              <a:rPr lang="en-US" sz="2400" dirty="0" err="1"/>
              <a:t>docker</a:t>
            </a:r>
            <a:r>
              <a:rPr lang="en-US" sz="2400" dirty="0"/>
              <a:t> build command to build an image from it. </a:t>
            </a:r>
          </a:p>
          <a:p>
            <a:pPr marL="342900" indent="-342900" fontAlgn="base">
              <a:lnSpc>
                <a:spcPct val="150000"/>
              </a:lnSpc>
              <a:buFont typeface="Arial" panose="020B0604020202020204" pitchFamily="34" charset="0"/>
              <a:buChar char="•"/>
            </a:pPr>
            <a:r>
              <a:rPr lang="en-US" sz="2400" dirty="0"/>
              <a:t>Here’s an example of a </a:t>
            </a:r>
            <a:r>
              <a:rPr lang="en-US" sz="2400" dirty="0" err="1"/>
              <a:t>Dockerfile</a:t>
            </a:r>
            <a:r>
              <a:rPr lang="en-US" sz="2400" dirty="0"/>
              <a:t>:</a:t>
            </a:r>
          </a:p>
          <a:p>
            <a:pPr marL="342900" indent="-342900" fontAlgn="base">
              <a:buFont typeface="Arial" panose="020B0604020202020204" pitchFamily="34" charset="0"/>
              <a:buChar char="•"/>
            </a:pPr>
            <a:endParaRPr lang="en-US" sz="2400" dirty="0"/>
          </a:p>
        </p:txBody>
      </p:sp>
    </p:spTree>
    <p:extLst>
      <p:ext uri="{BB962C8B-B14F-4D97-AF65-F5344CB8AC3E}">
        <p14:creationId xmlns:p14="http://schemas.microsoft.com/office/powerpoint/2010/main" val="267475251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41258" y="-77872"/>
            <a:ext cx="11753759" cy="6740307"/>
          </a:xfrm>
          <a:prstGeom prst="rect">
            <a:avLst/>
          </a:prstGeom>
        </p:spPr>
        <p:txBody>
          <a:bodyPr wrap="square">
            <a:spAutoFit/>
          </a:bodyPr>
          <a:lstStyle/>
          <a:p>
            <a:pPr fontAlgn="base"/>
            <a:r>
              <a:rPr lang="en-US" sz="2400" b="1" dirty="0"/>
              <a:t>Sample </a:t>
            </a:r>
            <a:r>
              <a:rPr lang="en-US" sz="2400" b="1" dirty="0" err="1"/>
              <a:t>Dockerfile</a:t>
            </a:r>
            <a:endParaRPr lang="en-US" sz="2400" b="1" dirty="0"/>
          </a:p>
          <a:p>
            <a:pPr fontAlgn="base"/>
            <a:r>
              <a:rPr lang="en-US" sz="2400" b="1" dirty="0"/>
              <a:t> </a:t>
            </a:r>
            <a:r>
              <a:rPr lang="en-US" sz="2400" dirty="0"/>
              <a:t># Use the official Python image as a base</a:t>
            </a:r>
          </a:p>
          <a:p>
            <a:pPr marL="342900" indent="-342900" fontAlgn="base">
              <a:buFont typeface="Arial" panose="020B0604020202020204" pitchFamily="34" charset="0"/>
              <a:buChar char="•"/>
            </a:pPr>
            <a:r>
              <a:rPr lang="en-US" sz="2400" dirty="0"/>
              <a:t>FROM python:3.9-slim-buster</a:t>
            </a:r>
          </a:p>
          <a:p>
            <a:pPr marL="342900" indent="-342900" fontAlgn="base">
              <a:buFont typeface="Arial" panose="020B0604020202020204" pitchFamily="34" charset="0"/>
              <a:buChar char="•"/>
            </a:pPr>
            <a:r>
              <a:rPr lang="en-US" sz="2400" dirty="0"/>
              <a:t># Set environment variables</a:t>
            </a:r>
          </a:p>
          <a:p>
            <a:pPr marL="342900" indent="-342900" fontAlgn="base">
              <a:buFont typeface="Arial" panose="020B0604020202020204" pitchFamily="34" charset="0"/>
              <a:buChar char="•"/>
            </a:pPr>
            <a:r>
              <a:rPr lang="en-US" sz="2400" dirty="0"/>
              <a:t>ENV PYTHONUNBUFFERED 1</a:t>
            </a:r>
          </a:p>
          <a:p>
            <a:pPr marL="342900" indent="-342900" fontAlgn="base">
              <a:buFont typeface="Arial" panose="020B0604020202020204" pitchFamily="34" charset="0"/>
              <a:buChar char="•"/>
            </a:pPr>
            <a:r>
              <a:rPr lang="en-US" sz="2400" dirty="0"/>
              <a:t>ENV FLASK_APP=app.py</a:t>
            </a:r>
          </a:p>
          <a:p>
            <a:pPr marL="342900" indent="-342900" fontAlgn="base">
              <a:buFont typeface="Arial" panose="020B0604020202020204" pitchFamily="34" charset="0"/>
              <a:buChar char="•"/>
            </a:pPr>
            <a:r>
              <a:rPr lang="en-US" sz="2400" dirty="0"/>
              <a:t>ENV FLASK_RUN_HOST=0.0.0.0</a:t>
            </a:r>
          </a:p>
          <a:p>
            <a:pPr marL="342900" indent="-342900" fontAlgn="base">
              <a:buFont typeface="Arial" panose="020B0604020202020204" pitchFamily="34" charset="0"/>
              <a:buChar char="•"/>
            </a:pPr>
            <a:r>
              <a:rPr lang="en-US" sz="2400" dirty="0"/>
              <a:t># Set the working directory in the container</a:t>
            </a:r>
          </a:p>
          <a:p>
            <a:pPr marL="342900" indent="-342900" fontAlgn="base">
              <a:buFont typeface="Arial" panose="020B0604020202020204" pitchFamily="34" charset="0"/>
              <a:buChar char="•"/>
            </a:pPr>
            <a:r>
              <a:rPr lang="en-US" sz="2400" dirty="0"/>
              <a:t>WORKDIR /app</a:t>
            </a:r>
          </a:p>
          <a:p>
            <a:pPr marL="342900" indent="-342900" fontAlgn="base">
              <a:buFont typeface="Arial" panose="020B0604020202020204" pitchFamily="34" charset="0"/>
              <a:buChar char="•"/>
            </a:pPr>
            <a:r>
              <a:rPr lang="en-US" sz="2400" dirty="0"/>
              <a:t># Copy the requirements file and install dependencies</a:t>
            </a:r>
          </a:p>
          <a:p>
            <a:pPr marL="342900" indent="-342900" fontAlgn="base">
              <a:buFont typeface="Arial" panose="020B0604020202020204" pitchFamily="34" charset="0"/>
              <a:buChar char="•"/>
            </a:pPr>
            <a:r>
              <a:rPr lang="en-US" sz="2400" dirty="0"/>
              <a:t>COPY requirements.txt requirements.txt</a:t>
            </a:r>
          </a:p>
          <a:p>
            <a:pPr marL="342900" indent="-342900" fontAlgn="base">
              <a:buFont typeface="Arial" panose="020B0604020202020204" pitchFamily="34" charset="0"/>
              <a:buChar char="•"/>
            </a:pPr>
            <a:r>
              <a:rPr lang="en-US" sz="2400" dirty="0"/>
              <a:t>RUN pip install -r requirements.txt</a:t>
            </a:r>
          </a:p>
          <a:p>
            <a:pPr marL="342900" indent="-342900" fontAlgn="base">
              <a:buFont typeface="Arial" panose="020B0604020202020204" pitchFamily="34" charset="0"/>
              <a:buChar char="•"/>
            </a:pPr>
            <a:r>
              <a:rPr lang="en-US" sz="2400" dirty="0"/>
              <a:t># Copy the application code into the container</a:t>
            </a:r>
          </a:p>
          <a:p>
            <a:pPr marL="342900" indent="-342900" fontAlgn="base">
              <a:buFont typeface="Arial" panose="020B0604020202020204" pitchFamily="34" charset="0"/>
              <a:buChar char="•"/>
            </a:pPr>
            <a:r>
              <a:rPr lang="en-US" sz="2400" dirty="0"/>
              <a:t>COPY . /app</a:t>
            </a:r>
          </a:p>
          <a:p>
            <a:pPr marL="342900" indent="-342900" fontAlgn="base">
              <a:buFont typeface="Arial" panose="020B0604020202020204" pitchFamily="34" charset="0"/>
              <a:buChar char="•"/>
            </a:pPr>
            <a:r>
              <a:rPr lang="en-US" sz="2400" dirty="0"/>
              <a:t># Expose port 5000 to the outside world</a:t>
            </a:r>
          </a:p>
          <a:p>
            <a:pPr marL="342900" indent="-342900" fontAlgn="base">
              <a:buFont typeface="Arial" panose="020B0604020202020204" pitchFamily="34" charset="0"/>
              <a:buChar char="•"/>
            </a:pPr>
            <a:r>
              <a:rPr lang="en-US" sz="2400" dirty="0"/>
              <a:t>EXPOSE 5000</a:t>
            </a:r>
          </a:p>
          <a:p>
            <a:pPr marL="342900" indent="-342900" fontAlgn="base">
              <a:buFont typeface="Arial" panose="020B0604020202020204" pitchFamily="34" charset="0"/>
              <a:buChar char="•"/>
            </a:pPr>
            <a:r>
              <a:rPr lang="en-US" sz="2400" dirty="0"/>
              <a:t># Run the Flask app when the container launches</a:t>
            </a:r>
          </a:p>
          <a:p>
            <a:pPr marL="342900" indent="-342900" fontAlgn="base">
              <a:buFont typeface="Arial" panose="020B0604020202020204" pitchFamily="34" charset="0"/>
              <a:buChar char="•"/>
            </a:pPr>
            <a:r>
              <a:rPr lang="en-US" sz="2400" dirty="0"/>
              <a:t>CMD ["flask", "run"]</a:t>
            </a:r>
          </a:p>
        </p:txBody>
      </p:sp>
    </p:spTree>
    <p:extLst>
      <p:ext uri="{BB962C8B-B14F-4D97-AF65-F5344CB8AC3E}">
        <p14:creationId xmlns:p14="http://schemas.microsoft.com/office/powerpoint/2010/main" val="36632225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1258" y="869341"/>
            <a:ext cx="11047178" cy="4524315"/>
          </a:xfrm>
          <a:prstGeom prst="rect">
            <a:avLst/>
          </a:prstGeom>
        </p:spPr>
        <p:txBody>
          <a:bodyPr wrap="square">
            <a:spAutoFit/>
          </a:bodyPr>
          <a:lstStyle/>
          <a:p>
            <a:pPr algn="just">
              <a:lnSpc>
                <a:spcPct val="150000"/>
              </a:lnSpc>
            </a:pPr>
            <a:r>
              <a:rPr lang="en-US" sz="2400" b="1" dirty="0"/>
              <a:t>Docker Image</a:t>
            </a:r>
          </a:p>
          <a:p>
            <a:pPr marL="342900" indent="-342900" algn="just">
              <a:lnSpc>
                <a:spcPct val="150000"/>
              </a:lnSpc>
              <a:buFont typeface="Arial" panose="020B0604020202020204" pitchFamily="34" charset="0"/>
              <a:buChar char="•"/>
            </a:pPr>
            <a:r>
              <a:rPr lang="en-US" sz="2400" dirty="0"/>
              <a:t>Images are read-only templates that you build from a set of instructions written in your </a:t>
            </a:r>
            <a:r>
              <a:rPr lang="en-US" sz="2400" dirty="0" err="1"/>
              <a:t>Dockerfile</a:t>
            </a:r>
            <a:r>
              <a:rPr lang="en-US" sz="2400" dirty="0"/>
              <a:t>. </a:t>
            </a:r>
          </a:p>
          <a:p>
            <a:pPr marL="342900" indent="-342900" algn="just">
              <a:lnSpc>
                <a:spcPct val="150000"/>
              </a:lnSpc>
              <a:buFont typeface="Arial" panose="020B0604020202020204" pitchFamily="34" charset="0"/>
              <a:buChar char="•"/>
            </a:pPr>
            <a:r>
              <a:rPr lang="en-US" sz="2400" dirty="0"/>
              <a:t>Images define both what you want your packaged application and its dependencies to look like *and* what processes to run when it’s launched.</a:t>
            </a:r>
          </a:p>
          <a:p>
            <a:pPr marL="342900" indent="-342900" algn="just">
              <a:lnSpc>
                <a:spcPct val="150000"/>
              </a:lnSpc>
              <a:buFont typeface="Arial" panose="020B0604020202020204" pitchFamily="34" charset="0"/>
              <a:buChar char="•"/>
            </a:pPr>
            <a:r>
              <a:rPr lang="en-US" sz="2400" dirty="0"/>
              <a:t>The Docker image is built using a </a:t>
            </a:r>
            <a:r>
              <a:rPr lang="en-US" sz="2400" dirty="0" err="1"/>
              <a:t>Dockerfile</a:t>
            </a:r>
            <a:r>
              <a:rPr lang="en-US" sz="2400" dirty="0"/>
              <a:t>. Each instruction in the </a:t>
            </a:r>
            <a:r>
              <a:rPr lang="en-US" sz="2400" dirty="0" err="1"/>
              <a:t>Dockerfile</a:t>
            </a:r>
            <a:r>
              <a:rPr lang="en-US" sz="2400" dirty="0"/>
              <a:t> adds a new “layer” to the image, with layers representing a portion of the images file system that either adds to or replaces the layer below it. </a:t>
            </a:r>
          </a:p>
        </p:txBody>
      </p:sp>
      <p:sp>
        <p:nvSpPr>
          <p:cNvPr id="3" name="Rectangle 2"/>
          <p:cNvSpPr/>
          <p:nvPr/>
        </p:nvSpPr>
        <p:spPr>
          <a:xfrm>
            <a:off x="341258" y="1957757"/>
            <a:ext cx="11753759" cy="461665"/>
          </a:xfrm>
          <a:prstGeom prst="rect">
            <a:avLst/>
          </a:prstGeom>
        </p:spPr>
        <p:txBody>
          <a:bodyPr wrap="square">
            <a:spAutoFit/>
          </a:bodyPr>
          <a:lstStyle/>
          <a:p>
            <a:pPr marL="342900" indent="-342900" fontAlgn="base">
              <a:buFont typeface="Arial" panose="020B0604020202020204" pitchFamily="34" charset="0"/>
              <a:buChar char="•"/>
            </a:pPr>
            <a:endParaRPr lang="en-US" sz="2400" dirty="0"/>
          </a:p>
        </p:txBody>
      </p:sp>
    </p:spTree>
    <p:extLst>
      <p:ext uri="{BB962C8B-B14F-4D97-AF65-F5344CB8AC3E}">
        <p14:creationId xmlns:p14="http://schemas.microsoft.com/office/powerpoint/2010/main" val="407596911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1258" y="869341"/>
            <a:ext cx="11047178" cy="3174395"/>
          </a:xfrm>
          <a:prstGeom prst="rect">
            <a:avLst/>
          </a:prstGeom>
        </p:spPr>
        <p:txBody>
          <a:bodyPr wrap="square">
            <a:spAutoFit/>
          </a:bodyPr>
          <a:lstStyle/>
          <a:p>
            <a:pPr fontAlgn="base"/>
            <a:r>
              <a:rPr lang="en-US" sz="2400" b="1" dirty="0"/>
              <a:t>Docker Containers</a:t>
            </a:r>
            <a:endParaRPr lang="en-US" sz="2400" dirty="0"/>
          </a:p>
          <a:p>
            <a:pPr marL="342900" indent="-342900" algn="just">
              <a:lnSpc>
                <a:spcPct val="150000"/>
              </a:lnSpc>
              <a:buFont typeface="Arial" panose="020B0604020202020204" pitchFamily="34" charset="0"/>
              <a:buChar char="•"/>
            </a:pPr>
            <a:r>
              <a:rPr lang="en-US" sz="2400" dirty="0"/>
              <a:t>A Docker container, as discussed above, wraps an application’s software into an invisible box with everything the application needs to run. </a:t>
            </a:r>
          </a:p>
          <a:p>
            <a:pPr marL="342900" indent="-342900" algn="just">
              <a:lnSpc>
                <a:spcPct val="150000"/>
              </a:lnSpc>
              <a:buFont typeface="Arial" panose="020B0604020202020204" pitchFamily="34" charset="0"/>
              <a:buChar char="•"/>
            </a:pPr>
            <a:r>
              <a:rPr lang="en-US" sz="2400" dirty="0"/>
              <a:t>That includes the operating system, application code, runtime, system tools, system libraries, and etc. </a:t>
            </a:r>
          </a:p>
          <a:p>
            <a:pPr marL="342900" indent="-342900" algn="just">
              <a:lnSpc>
                <a:spcPct val="150000"/>
              </a:lnSpc>
              <a:buFont typeface="Arial" panose="020B0604020202020204" pitchFamily="34" charset="0"/>
              <a:buChar char="•"/>
            </a:pPr>
            <a:r>
              <a:rPr lang="en-US" sz="2400" b="1" dirty="0"/>
              <a:t>Docker containers are built on Docker images</a:t>
            </a:r>
            <a:r>
              <a:rPr lang="en-US" sz="2400" dirty="0"/>
              <a:t>. </a:t>
            </a:r>
          </a:p>
        </p:txBody>
      </p:sp>
      <p:sp>
        <p:nvSpPr>
          <p:cNvPr id="3" name="Rectangle 2"/>
          <p:cNvSpPr/>
          <p:nvPr/>
        </p:nvSpPr>
        <p:spPr>
          <a:xfrm>
            <a:off x="341258" y="1957757"/>
            <a:ext cx="11753759" cy="461665"/>
          </a:xfrm>
          <a:prstGeom prst="rect">
            <a:avLst/>
          </a:prstGeom>
        </p:spPr>
        <p:txBody>
          <a:bodyPr wrap="square">
            <a:spAutoFit/>
          </a:bodyPr>
          <a:lstStyle/>
          <a:p>
            <a:pPr marL="342900" indent="-342900" fontAlgn="base">
              <a:buFont typeface="Arial" panose="020B0604020202020204" pitchFamily="34" charset="0"/>
              <a:buChar char="•"/>
            </a:pPr>
            <a:endParaRPr lang="en-US" sz="2400" dirty="0"/>
          </a:p>
        </p:txBody>
      </p:sp>
    </p:spTree>
    <p:extLst>
      <p:ext uri="{BB962C8B-B14F-4D97-AF65-F5344CB8AC3E}">
        <p14:creationId xmlns:p14="http://schemas.microsoft.com/office/powerpoint/2010/main" val="17682378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F9FCD-B362-B8B5-A63D-5DC10EFBBA2A}"/>
              </a:ext>
            </a:extLst>
          </p:cNvPr>
          <p:cNvSpPr>
            <a:spLocks noGrp="1"/>
          </p:cNvSpPr>
          <p:nvPr>
            <p:ph type="title"/>
          </p:nvPr>
        </p:nvSpPr>
        <p:spPr>
          <a:xfrm>
            <a:off x="76200" y="304801"/>
            <a:ext cx="12115800" cy="1385888"/>
          </a:xfrm>
        </p:spPr>
        <p:txBody>
          <a:bodyPr>
            <a:noAutofit/>
          </a:bodyPr>
          <a:lstStyle/>
          <a:p>
            <a:pPr marL="342900" indent="-342900">
              <a:lnSpc>
                <a:spcPct val="150000"/>
              </a:lnSpc>
              <a:buFont typeface="Arial" panose="020B0604020202020204" pitchFamily="34" charset="0"/>
              <a:buChar char="•"/>
            </a:pPr>
            <a:r>
              <a:rPr lang="en-US" sz="2400" b="0" i="0" dirty="0">
                <a:solidFill>
                  <a:srgbClr val="001D35"/>
                </a:solidFill>
                <a:effectLst/>
                <a:latin typeface="Google Sans"/>
              </a:rPr>
              <a:t>Using a REST API with Docker allows you to containerize your API application, meaning you can package it with all its dependencies and easily deploy it across different environments by running the Docker container, making it highly portable and scalable; essentially, you can treat your REST API as a self-contained unit managed by Docker</a:t>
            </a:r>
            <a:endParaRPr lang="en-US" sz="2400" dirty="0"/>
          </a:p>
        </p:txBody>
      </p:sp>
      <p:sp>
        <p:nvSpPr>
          <p:cNvPr id="3" name="Content Placeholder 2">
            <a:extLst>
              <a:ext uri="{FF2B5EF4-FFF2-40B4-BE49-F238E27FC236}">
                <a16:creationId xmlns:a16="http://schemas.microsoft.com/office/drawing/2014/main" id="{22C2AEF7-CBE9-EFF3-5168-A513140FDB40}"/>
              </a:ext>
            </a:extLst>
          </p:cNvPr>
          <p:cNvSpPr>
            <a:spLocks noGrp="1"/>
          </p:cNvSpPr>
          <p:nvPr>
            <p:ph idx="1"/>
          </p:nvPr>
        </p:nvSpPr>
        <p:spPr>
          <a:xfrm>
            <a:off x="566057" y="2696483"/>
            <a:ext cx="11625943" cy="4351338"/>
          </a:xfrm>
        </p:spPr>
        <p:txBody>
          <a:bodyPr>
            <a:normAutofit fontScale="77500" lnSpcReduction="20000"/>
          </a:bodyPr>
          <a:lstStyle/>
          <a:p>
            <a:pPr marL="0" indent="0" algn="l">
              <a:spcAft>
                <a:spcPts val="300"/>
              </a:spcAft>
              <a:buNone/>
            </a:pPr>
            <a:r>
              <a:rPr lang="en-US" b="1" i="0" dirty="0">
                <a:solidFill>
                  <a:srgbClr val="1F1F1F"/>
                </a:solidFill>
                <a:effectLst/>
                <a:latin typeface="Google Sans"/>
              </a:rPr>
              <a:t>How to set up a REST API with Docker:</a:t>
            </a:r>
          </a:p>
          <a:p>
            <a:pPr marL="0" indent="0" algn="l">
              <a:spcAft>
                <a:spcPts val="300"/>
              </a:spcAft>
              <a:buNone/>
            </a:pPr>
            <a:r>
              <a:rPr lang="en-US" dirty="0">
                <a:solidFill>
                  <a:srgbClr val="1F1F1F"/>
                </a:solidFill>
                <a:latin typeface="Google Sans"/>
              </a:rPr>
              <a:t>1</a:t>
            </a:r>
            <a:r>
              <a:rPr lang="en-US" b="0" i="0" dirty="0">
                <a:solidFill>
                  <a:srgbClr val="1F1F1F"/>
                </a:solidFill>
                <a:effectLst/>
                <a:latin typeface="Google Sans"/>
              </a:rPr>
              <a:t>. Create your API code:</a:t>
            </a:r>
          </a:p>
          <a:p>
            <a:pPr algn="l">
              <a:spcAft>
                <a:spcPts val="300"/>
              </a:spcAft>
              <a:buFont typeface="Wingdings" panose="05000000000000000000" pitchFamily="2" charset="2"/>
              <a:buChar char="Ø"/>
            </a:pPr>
            <a:r>
              <a:rPr lang="en-US" b="0" i="0" dirty="0">
                <a:solidFill>
                  <a:srgbClr val="1F1F1F"/>
                </a:solidFill>
                <a:effectLst/>
                <a:latin typeface="Google Sans"/>
              </a:rPr>
              <a:t>	Develop your REST API using your preferred framework (like Express.js, Flask, Spring Boot). </a:t>
            </a:r>
          </a:p>
          <a:p>
            <a:pPr marL="0" indent="0" algn="l">
              <a:spcAft>
                <a:spcPts val="300"/>
              </a:spcAft>
              <a:buNone/>
            </a:pPr>
            <a:r>
              <a:rPr lang="en-US" b="0" i="0" dirty="0">
                <a:solidFill>
                  <a:srgbClr val="1F1F1F"/>
                </a:solidFill>
                <a:effectLst/>
                <a:latin typeface="Google Sans"/>
              </a:rPr>
              <a:t>2. Write a </a:t>
            </a:r>
            <a:r>
              <a:rPr lang="en-US" b="0" i="0" dirty="0" err="1">
                <a:solidFill>
                  <a:srgbClr val="1F1F1F"/>
                </a:solidFill>
                <a:effectLst/>
                <a:latin typeface="Google Sans"/>
              </a:rPr>
              <a:t>Dockerfile</a:t>
            </a:r>
            <a:r>
              <a:rPr lang="en-US" b="0" i="0" dirty="0">
                <a:solidFill>
                  <a:srgbClr val="1F1F1F"/>
                </a:solidFill>
                <a:effectLst/>
                <a:latin typeface="Google Sans"/>
              </a:rPr>
              <a:t>:</a:t>
            </a:r>
          </a:p>
          <a:p>
            <a:pPr algn="l">
              <a:spcAft>
                <a:spcPts val="300"/>
              </a:spcAft>
              <a:buFont typeface="Wingdings" panose="05000000000000000000" pitchFamily="2" charset="2"/>
              <a:buChar char="Ø"/>
            </a:pPr>
            <a:r>
              <a:rPr lang="en-US" b="0" i="0" dirty="0">
                <a:solidFill>
                  <a:srgbClr val="1F1F1F"/>
                </a:solidFill>
                <a:effectLst/>
                <a:latin typeface="Google Sans"/>
              </a:rPr>
              <a:t>	Define the steps to build your API environment in a </a:t>
            </a:r>
            <a:r>
              <a:rPr lang="en-US" b="0" i="0" dirty="0" err="1">
                <a:solidFill>
                  <a:srgbClr val="1F1F1F"/>
                </a:solidFill>
                <a:effectLst/>
                <a:latin typeface="Google Sans"/>
              </a:rPr>
              <a:t>Dockerfile</a:t>
            </a:r>
            <a:r>
              <a:rPr lang="en-US" b="0" i="0" dirty="0">
                <a:solidFill>
                  <a:srgbClr val="1F1F1F"/>
                </a:solidFill>
                <a:effectLst/>
                <a:latin typeface="Google Sans"/>
              </a:rPr>
              <a:t>, including installing 	dependencies, copying your code, and specifying the command to start your API server. </a:t>
            </a:r>
          </a:p>
          <a:p>
            <a:pPr marL="0" indent="0" algn="l">
              <a:spcAft>
                <a:spcPts val="300"/>
              </a:spcAft>
              <a:buNone/>
            </a:pPr>
            <a:r>
              <a:rPr lang="en-US" dirty="0">
                <a:solidFill>
                  <a:srgbClr val="1F1F1F"/>
                </a:solidFill>
                <a:latin typeface="Google Sans"/>
              </a:rPr>
              <a:t>3.</a:t>
            </a:r>
            <a:r>
              <a:rPr lang="en-US" b="0" i="0" dirty="0">
                <a:solidFill>
                  <a:srgbClr val="1F1F1F"/>
                </a:solidFill>
                <a:effectLst/>
                <a:latin typeface="Google Sans"/>
              </a:rPr>
              <a:t>Build the image:</a:t>
            </a:r>
          </a:p>
          <a:p>
            <a:pPr algn="l">
              <a:spcAft>
                <a:spcPts val="300"/>
              </a:spcAft>
              <a:buFont typeface="Wingdings" panose="05000000000000000000" pitchFamily="2" charset="2"/>
              <a:buChar char="Ø"/>
            </a:pPr>
            <a:r>
              <a:rPr lang="en-US" b="0" i="0" dirty="0">
                <a:solidFill>
                  <a:srgbClr val="1F1F1F"/>
                </a:solidFill>
                <a:effectLst/>
                <a:latin typeface="Google Sans"/>
              </a:rPr>
              <a:t>Run docker build to create a Docker image based on your </a:t>
            </a:r>
            <a:r>
              <a:rPr lang="en-US" b="0" i="0" dirty="0" err="1">
                <a:solidFill>
                  <a:srgbClr val="1F1F1F"/>
                </a:solidFill>
                <a:effectLst/>
                <a:latin typeface="Google Sans"/>
              </a:rPr>
              <a:t>Dockerfile</a:t>
            </a:r>
            <a:r>
              <a:rPr lang="en-US" b="0" i="0" dirty="0">
                <a:solidFill>
                  <a:srgbClr val="1F1F1F"/>
                </a:solidFill>
                <a:effectLst/>
                <a:latin typeface="Google Sans"/>
              </a:rPr>
              <a:t>. </a:t>
            </a:r>
          </a:p>
          <a:p>
            <a:pPr marL="0" indent="0" algn="l">
              <a:spcAft>
                <a:spcPts val="300"/>
              </a:spcAft>
              <a:buNone/>
            </a:pPr>
            <a:r>
              <a:rPr lang="en-US" b="0" i="0" dirty="0">
                <a:solidFill>
                  <a:srgbClr val="1F1F1F"/>
                </a:solidFill>
                <a:effectLst/>
                <a:latin typeface="Google Sans"/>
              </a:rPr>
              <a:t>4. Run the container:</a:t>
            </a:r>
          </a:p>
          <a:p>
            <a:pPr>
              <a:spcAft>
                <a:spcPts val="300"/>
              </a:spcAft>
              <a:buFont typeface="Wingdings" panose="05000000000000000000" pitchFamily="2" charset="2"/>
              <a:buChar char="Ø"/>
            </a:pPr>
            <a:r>
              <a:rPr lang="en-US" b="0" i="0" dirty="0">
                <a:solidFill>
                  <a:srgbClr val="1F1F1F"/>
                </a:solidFill>
                <a:effectLst/>
                <a:latin typeface="Google Sans"/>
              </a:rPr>
              <a:t>Use docker run to start your API container, specifying the port to expose and any necessary environment variables. </a:t>
            </a:r>
            <a:endParaRPr lang="en-US" dirty="0"/>
          </a:p>
        </p:txBody>
      </p:sp>
    </p:spTree>
    <p:extLst>
      <p:ext uri="{BB962C8B-B14F-4D97-AF65-F5344CB8AC3E}">
        <p14:creationId xmlns:p14="http://schemas.microsoft.com/office/powerpoint/2010/main" val="397853662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D92FC-8586-1647-2481-C385BC343CB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E842B2-5C2A-3D3B-95F0-45CC5FBBB5CC}"/>
              </a:ext>
            </a:extLst>
          </p:cNvPr>
          <p:cNvSpPr>
            <a:spLocks noGrp="1"/>
          </p:cNvSpPr>
          <p:nvPr>
            <p:ph idx="1"/>
          </p:nvPr>
        </p:nvSpPr>
        <p:spPr/>
        <p:txBody>
          <a:bodyPr>
            <a:normAutofit fontScale="92500" lnSpcReduction="10000"/>
          </a:bodyPr>
          <a:lstStyle/>
          <a:p>
            <a:pPr algn="l">
              <a:spcAft>
                <a:spcPts val="300"/>
              </a:spcAft>
              <a:buFont typeface="+mj-lt"/>
              <a:buAutoNum type="arabicPeriod"/>
            </a:pPr>
            <a:r>
              <a:rPr lang="en-US" b="0" i="0" dirty="0">
                <a:solidFill>
                  <a:srgbClr val="1F1F1F"/>
                </a:solidFill>
                <a:effectLst/>
                <a:latin typeface="Google Sans"/>
              </a:rPr>
              <a:t>Step 1: Install docker. Download the docker installer from https://docs.docker.com/desktop. ...</a:t>
            </a:r>
          </a:p>
          <a:p>
            <a:pPr algn="l">
              <a:spcAft>
                <a:spcPts val="300"/>
              </a:spcAft>
              <a:buFont typeface="+mj-lt"/>
              <a:buAutoNum type="arabicPeriod"/>
            </a:pPr>
            <a:r>
              <a:rPr lang="en-US" b="0" i="0" dirty="0">
                <a:solidFill>
                  <a:srgbClr val="1F1F1F"/>
                </a:solidFill>
                <a:effectLst/>
                <a:latin typeface="Google Sans"/>
              </a:rPr>
              <a:t>Step 2: Install python and flask.</a:t>
            </a:r>
          </a:p>
          <a:p>
            <a:pPr algn="l">
              <a:spcAft>
                <a:spcPts val="300"/>
              </a:spcAft>
              <a:buFont typeface="+mj-lt"/>
              <a:buAutoNum type="arabicPeriod"/>
            </a:pPr>
            <a:r>
              <a:rPr lang="en-US" b="0" i="0" dirty="0">
                <a:solidFill>
                  <a:srgbClr val="1F1F1F"/>
                </a:solidFill>
                <a:effectLst/>
                <a:latin typeface="Google Sans"/>
              </a:rPr>
              <a:t>Step 3: Create flask API. ...</a:t>
            </a:r>
          </a:p>
          <a:p>
            <a:pPr algn="l">
              <a:spcAft>
                <a:spcPts val="300"/>
              </a:spcAft>
              <a:buFont typeface="+mj-lt"/>
              <a:buAutoNum type="arabicPeriod"/>
            </a:pPr>
            <a:r>
              <a:rPr lang="en-US" b="0" i="0" dirty="0">
                <a:solidFill>
                  <a:srgbClr val="1F1F1F"/>
                </a:solidFill>
                <a:effectLst/>
                <a:latin typeface="Google Sans"/>
              </a:rPr>
              <a:t>Step 4: Run and Test. ...</a:t>
            </a:r>
          </a:p>
          <a:p>
            <a:pPr algn="l">
              <a:spcAft>
                <a:spcPts val="300"/>
              </a:spcAft>
              <a:buFont typeface="+mj-lt"/>
              <a:buAutoNum type="arabicPeriod"/>
            </a:pPr>
            <a:r>
              <a:rPr lang="en-US" b="0" i="0" dirty="0">
                <a:solidFill>
                  <a:srgbClr val="1F1F1F"/>
                </a:solidFill>
                <a:effectLst/>
                <a:latin typeface="Google Sans"/>
              </a:rPr>
              <a:t>Step 5: Generate requirements file. ...</a:t>
            </a:r>
          </a:p>
          <a:p>
            <a:pPr algn="l">
              <a:spcAft>
                <a:spcPts val="300"/>
              </a:spcAft>
              <a:buFont typeface="+mj-lt"/>
              <a:buAutoNum type="arabicPeriod"/>
            </a:pPr>
            <a:r>
              <a:rPr lang="en-US" b="0" i="0" dirty="0">
                <a:solidFill>
                  <a:srgbClr val="1F1F1F"/>
                </a:solidFill>
                <a:effectLst/>
                <a:latin typeface="Google Sans"/>
              </a:rPr>
              <a:t>Step 6: Create </a:t>
            </a:r>
            <a:r>
              <a:rPr lang="en-US" b="0" i="0" dirty="0" err="1">
                <a:solidFill>
                  <a:srgbClr val="1F1F1F"/>
                </a:solidFill>
                <a:effectLst/>
                <a:latin typeface="Google Sans"/>
              </a:rPr>
              <a:t>dockerfile</a:t>
            </a:r>
            <a:r>
              <a:rPr lang="en-US" b="0" i="0" dirty="0">
                <a:solidFill>
                  <a:srgbClr val="1F1F1F"/>
                </a:solidFill>
                <a:effectLst/>
                <a:latin typeface="Google Sans"/>
              </a:rPr>
              <a:t>. ...</a:t>
            </a:r>
          </a:p>
          <a:p>
            <a:pPr algn="l">
              <a:spcAft>
                <a:spcPts val="300"/>
              </a:spcAft>
              <a:buFont typeface="+mj-lt"/>
              <a:buAutoNum type="arabicPeriod"/>
            </a:pPr>
            <a:r>
              <a:rPr lang="en-US" b="0" i="0" dirty="0">
                <a:solidFill>
                  <a:srgbClr val="1F1F1F"/>
                </a:solidFill>
                <a:effectLst/>
                <a:latin typeface="Google Sans"/>
              </a:rPr>
              <a:t>Step 7: Build and run the docker image. ...</a:t>
            </a:r>
          </a:p>
          <a:p>
            <a:pPr algn="l">
              <a:spcAft>
                <a:spcPts val="300"/>
              </a:spcAft>
              <a:buFont typeface="+mj-lt"/>
              <a:buAutoNum type="arabicPeriod"/>
            </a:pPr>
            <a:r>
              <a:rPr lang="en-US" b="0" i="0" dirty="0">
                <a:solidFill>
                  <a:srgbClr val="1F1F1F"/>
                </a:solidFill>
                <a:effectLst/>
                <a:latin typeface="Google Sans"/>
              </a:rPr>
              <a:t>Step 8: Push and pull Docker images (optional)</a:t>
            </a:r>
          </a:p>
          <a:p>
            <a:endParaRPr lang="en-US" dirty="0"/>
          </a:p>
        </p:txBody>
      </p:sp>
      <p:sp>
        <p:nvSpPr>
          <p:cNvPr id="5" name="Title 4">
            <a:extLst>
              <a:ext uri="{FF2B5EF4-FFF2-40B4-BE49-F238E27FC236}">
                <a16:creationId xmlns:a16="http://schemas.microsoft.com/office/drawing/2014/main" id="{8932E963-91D7-F224-1557-EBF6F0D42C5E}"/>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408503905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Docker Eco-System</a:t>
            </a:r>
          </a:p>
        </p:txBody>
      </p:sp>
      <p:sp>
        <p:nvSpPr>
          <p:cNvPr id="2" name="Rectangle 1"/>
          <p:cNvSpPr/>
          <p:nvPr/>
        </p:nvSpPr>
        <p:spPr>
          <a:xfrm>
            <a:off x="341258" y="869341"/>
            <a:ext cx="11047178" cy="4339650"/>
          </a:xfrm>
          <a:prstGeom prst="rect">
            <a:avLst/>
          </a:prstGeom>
        </p:spPr>
        <p:txBody>
          <a:bodyPr wrap="square">
            <a:spAutoFit/>
          </a:bodyPr>
          <a:lstStyle/>
          <a:p>
            <a:pPr fontAlgn="base"/>
            <a:endParaRPr lang="en-US" sz="2400" dirty="0"/>
          </a:p>
          <a:p>
            <a:pPr marL="342900" indent="-342900" algn="just">
              <a:lnSpc>
                <a:spcPct val="150000"/>
              </a:lnSpc>
              <a:buFont typeface="Arial" panose="020B0604020202020204" pitchFamily="34" charset="0"/>
              <a:buChar char="•"/>
            </a:pPr>
            <a:r>
              <a:rPr lang="en-US" sz="2400" dirty="0"/>
              <a:t>Docker eco system is a set of software or packages required to build container. It includes</a:t>
            </a:r>
          </a:p>
          <a:p>
            <a:pPr marL="342900" indent="-342900" algn="just">
              <a:lnSpc>
                <a:spcPct val="150000"/>
              </a:lnSpc>
              <a:buFont typeface="Arial" panose="020B0604020202020204" pitchFamily="34" charset="0"/>
              <a:buChar char="•"/>
            </a:pPr>
            <a:r>
              <a:rPr lang="en-US" sz="2400" dirty="0"/>
              <a:t>1.      Docker daemon</a:t>
            </a:r>
          </a:p>
          <a:p>
            <a:pPr marL="342900" indent="-342900" algn="just">
              <a:lnSpc>
                <a:spcPct val="150000"/>
              </a:lnSpc>
              <a:buFont typeface="Arial" panose="020B0604020202020204" pitchFamily="34" charset="0"/>
              <a:buChar char="•"/>
            </a:pPr>
            <a:r>
              <a:rPr lang="en-US" sz="2400" dirty="0"/>
              <a:t>2.      Docker client</a:t>
            </a:r>
          </a:p>
          <a:p>
            <a:pPr marL="342900" indent="-342900" algn="just">
              <a:lnSpc>
                <a:spcPct val="150000"/>
              </a:lnSpc>
              <a:buFont typeface="Arial" panose="020B0604020202020204" pitchFamily="34" charset="0"/>
              <a:buChar char="•"/>
            </a:pPr>
            <a:r>
              <a:rPr lang="en-US" sz="2400" dirty="0"/>
              <a:t>3.      Docker hub</a:t>
            </a:r>
          </a:p>
          <a:p>
            <a:pPr marL="342900" indent="-342900" algn="just">
              <a:lnSpc>
                <a:spcPct val="150000"/>
              </a:lnSpc>
              <a:buFont typeface="Arial" panose="020B0604020202020204" pitchFamily="34" charset="0"/>
              <a:buChar char="•"/>
            </a:pPr>
            <a:r>
              <a:rPr lang="en-US" sz="2400" dirty="0"/>
              <a:t>4.      Docker images</a:t>
            </a:r>
          </a:p>
          <a:p>
            <a:pPr marL="342900" indent="-342900" algn="just">
              <a:lnSpc>
                <a:spcPct val="150000"/>
              </a:lnSpc>
              <a:buFont typeface="Arial" panose="020B0604020202020204" pitchFamily="34" charset="0"/>
              <a:buChar char="•"/>
            </a:pPr>
            <a:r>
              <a:rPr lang="en-US" sz="2400" dirty="0"/>
              <a:t>5. 	 Docker host </a:t>
            </a:r>
          </a:p>
        </p:txBody>
      </p:sp>
      <p:sp>
        <p:nvSpPr>
          <p:cNvPr id="3" name="Rectangle 2"/>
          <p:cNvSpPr/>
          <p:nvPr/>
        </p:nvSpPr>
        <p:spPr>
          <a:xfrm>
            <a:off x="341258" y="1957757"/>
            <a:ext cx="11753759" cy="461665"/>
          </a:xfrm>
          <a:prstGeom prst="rect">
            <a:avLst/>
          </a:prstGeom>
        </p:spPr>
        <p:txBody>
          <a:bodyPr wrap="square">
            <a:spAutoFit/>
          </a:bodyPr>
          <a:lstStyle/>
          <a:p>
            <a:pPr marL="342900" indent="-342900" fontAlgn="base">
              <a:buFont typeface="Arial" panose="020B0604020202020204" pitchFamily="34" charset="0"/>
              <a:buChar char="•"/>
            </a:pPr>
            <a:endParaRPr lang="en-US" sz="2400" dirty="0"/>
          </a:p>
        </p:txBody>
      </p:sp>
    </p:spTree>
    <p:extLst>
      <p:ext uri="{BB962C8B-B14F-4D97-AF65-F5344CB8AC3E}">
        <p14:creationId xmlns:p14="http://schemas.microsoft.com/office/powerpoint/2010/main" val="107961269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Docker Eco-System</a:t>
            </a:r>
          </a:p>
        </p:txBody>
      </p:sp>
      <p:sp>
        <p:nvSpPr>
          <p:cNvPr id="3" name="Rectangle 2"/>
          <p:cNvSpPr/>
          <p:nvPr/>
        </p:nvSpPr>
        <p:spPr>
          <a:xfrm>
            <a:off x="341258" y="1957757"/>
            <a:ext cx="11753759" cy="461665"/>
          </a:xfrm>
          <a:prstGeom prst="rect">
            <a:avLst/>
          </a:prstGeom>
        </p:spPr>
        <p:txBody>
          <a:bodyPr wrap="square">
            <a:spAutoFit/>
          </a:bodyPr>
          <a:lstStyle/>
          <a:p>
            <a:pPr marL="342900" indent="-342900" fontAlgn="base">
              <a:buFont typeface="Arial" panose="020B0604020202020204" pitchFamily="34" charset="0"/>
              <a:buChar char="•"/>
            </a:pPr>
            <a:endParaRPr lang="en-US" sz="2400" dirty="0"/>
          </a:p>
        </p:txBody>
      </p:sp>
      <p:pic>
        <p:nvPicPr>
          <p:cNvPr id="5" name="Picture 4"/>
          <p:cNvPicPr>
            <a:picLocks noChangeAspect="1"/>
          </p:cNvPicPr>
          <p:nvPr/>
        </p:nvPicPr>
        <p:blipFill>
          <a:blip r:embed="rId3"/>
          <a:stretch>
            <a:fillRect/>
          </a:stretch>
        </p:blipFill>
        <p:spPr>
          <a:xfrm>
            <a:off x="-482154" y="246612"/>
            <a:ext cx="13156308" cy="6364776"/>
          </a:xfrm>
          <a:prstGeom prst="rect">
            <a:avLst/>
          </a:prstGeom>
        </p:spPr>
      </p:pic>
    </p:spTree>
    <p:extLst>
      <p:ext uri="{BB962C8B-B14F-4D97-AF65-F5344CB8AC3E}">
        <p14:creationId xmlns:p14="http://schemas.microsoft.com/office/powerpoint/2010/main" val="220237479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Docker Eco-System</a:t>
            </a:r>
          </a:p>
        </p:txBody>
      </p:sp>
      <p:sp>
        <p:nvSpPr>
          <p:cNvPr id="3" name="Rectangle 2"/>
          <p:cNvSpPr/>
          <p:nvPr/>
        </p:nvSpPr>
        <p:spPr>
          <a:xfrm>
            <a:off x="341258" y="1957757"/>
            <a:ext cx="11753759" cy="1938992"/>
          </a:xfrm>
          <a:prstGeom prst="rect">
            <a:avLst/>
          </a:prstGeom>
        </p:spPr>
        <p:txBody>
          <a:bodyPr wrap="square">
            <a:spAutoFit/>
          </a:bodyPr>
          <a:lstStyle/>
          <a:p>
            <a:pPr algn="just" fontAlgn="base"/>
            <a:r>
              <a:rPr lang="en-US" sz="2400" b="1" dirty="0"/>
              <a:t>Docker daemon/server/engine :</a:t>
            </a:r>
          </a:p>
          <a:p>
            <a:pPr marL="342900" indent="-342900" algn="just" fontAlgn="base">
              <a:buFont typeface="Arial" panose="020B0604020202020204" pitchFamily="34" charset="0"/>
              <a:buChar char="•"/>
            </a:pPr>
            <a:r>
              <a:rPr lang="en-US" sz="2400" b="1" dirty="0"/>
              <a:t>Docker </a:t>
            </a:r>
            <a:r>
              <a:rPr lang="en-US" sz="2400" b="1" dirty="0" err="1"/>
              <a:t>deamon</a:t>
            </a:r>
            <a:r>
              <a:rPr lang="en-US" sz="2400" b="1" dirty="0"/>
              <a:t> </a:t>
            </a:r>
            <a:r>
              <a:rPr lang="en-US" sz="2400" dirty="0"/>
              <a:t>runs on the host OS. </a:t>
            </a:r>
          </a:p>
          <a:p>
            <a:pPr marL="342900" indent="-342900" algn="just" fontAlgn="base">
              <a:buFont typeface="Arial" panose="020B0604020202020204" pitchFamily="34" charset="0"/>
              <a:buChar char="•"/>
            </a:pPr>
            <a:r>
              <a:rPr lang="en-US" sz="2400" dirty="0"/>
              <a:t>It is responsible for running containers and manages </a:t>
            </a:r>
            <a:r>
              <a:rPr lang="en-US" sz="2400" dirty="0" err="1"/>
              <a:t>docker</a:t>
            </a:r>
            <a:r>
              <a:rPr lang="en-US" sz="2400" dirty="0"/>
              <a:t> services. </a:t>
            </a:r>
          </a:p>
          <a:p>
            <a:pPr marL="342900" indent="-342900" algn="just" fontAlgn="base">
              <a:buFont typeface="Arial" panose="020B0604020202020204" pitchFamily="34" charset="0"/>
              <a:buChar char="•"/>
            </a:pPr>
            <a:r>
              <a:rPr lang="en-US" sz="2400" dirty="0"/>
              <a:t>Docker daemon can communicate with other daemons. It converts your image into container.</a:t>
            </a:r>
          </a:p>
        </p:txBody>
      </p:sp>
      <p:sp>
        <p:nvSpPr>
          <p:cNvPr id="6" name="Rectangle 5"/>
          <p:cNvSpPr/>
          <p:nvPr/>
        </p:nvSpPr>
        <p:spPr>
          <a:xfrm>
            <a:off x="471054" y="4266081"/>
            <a:ext cx="11623963" cy="1569660"/>
          </a:xfrm>
          <a:prstGeom prst="rect">
            <a:avLst/>
          </a:prstGeom>
        </p:spPr>
        <p:txBody>
          <a:bodyPr wrap="square">
            <a:spAutoFit/>
          </a:bodyPr>
          <a:lstStyle/>
          <a:p>
            <a:pPr algn="just" fontAlgn="base"/>
            <a:r>
              <a:rPr lang="en-US" sz="2400" b="1" dirty="0"/>
              <a:t>Docker Client :</a:t>
            </a:r>
          </a:p>
          <a:p>
            <a:pPr marL="342900" indent="-342900" algn="just" fontAlgn="base">
              <a:buFont typeface="Arial" panose="020B0604020202020204" pitchFamily="34" charset="0"/>
              <a:buChar char="•"/>
            </a:pPr>
            <a:r>
              <a:rPr lang="en-US" sz="2400" dirty="0">
                <a:latin typeface="Segoe UI" panose="020B0502040204020203" pitchFamily="34" charset="0"/>
                <a:ea typeface="Times New Roman" panose="02020603050405020304" pitchFamily="18" charset="0"/>
              </a:rPr>
              <a:t>Docker user can interact with Docker daemon/server through a client.</a:t>
            </a:r>
          </a:p>
          <a:p>
            <a:pPr marL="342900" indent="-342900" algn="just" fontAlgn="base">
              <a:buFont typeface="Arial" panose="020B0604020202020204" pitchFamily="34" charset="0"/>
              <a:buChar char="•"/>
            </a:pPr>
            <a:r>
              <a:rPr lang="en-US" sz="2400" dirty="0">
                <a:latin typeface="Segoe UI" panose="020B0502040204020203" pitchFamily="34" charset="0"/>
                <a:ea typeface="Times New Roman" panose="02020603050405020304" pitchFamily="18" charset="0"/>
              </a:rPr>
              <a:t>Docker client uses commands and REST API to communicate with the Docker daemon.</a:t>
            </a:r>
            <a:endParaRPr lang="en-US" sz="2400" dirty="0"/>
          </a:p>
        </p:txBody>
      </p:sp>
    </p:spTree>
    <p:extLst>
      <p:ext uri="{BB962C8B-B14F-4D97-AF65-F5344CB8AC3E}">
        <p14:creationId xmlns:p14="http://schemas.microsoft.com/office/powerpoint/2010/main" val="736397067"/>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Docker Eco-System</a:t>
            </a:r>
          </a:p>
        </p:txBody>
      </p:sp>
      <p:sp>
        <p:nvSpPr>
          <p:cNvPr id="3" name="Rectangle 2"/>
          <p:cNvSpPr/>
          <p:nvPr/>
        </p:nvSpPr>
        <p:spPr>
          <a:xfrm>
            <a:off x="341258" y="1957757"/>
            <a:ext cx="11753759" cy="461665"/>
          </a:xfrm>
          <a:prstGeom prst="rect">
            <a:avLst/>
          </a:prstGeom>
        </p:spPr>
        <p:txBody>
          <a:bodyPr wrap="square">
            <a:spAutoFit/>
          </a:bodyPr>
          <a:lstStyle/>
          <a:p>
            <a:pPr marL="342900" indent="-342900" fontAlgn="base">
              <a:buFont typeface="Arial" panose="020B0604020202020204" pitchFamily="34" charset="0"/>
              <a:buChar char="•"/>
            </a:pPr>
            <a:endParaRPr lang="en-US" sz="2400" dirty="0"/>
          </a:p>
        </p:txBody>
      </p:sp>
      <p:sp>
        <p:nvSpPr>
          <p:cNvPr id="2" name="Rectangle 1"/>
          <p:cNvSpPr/>
          <p:nvPr/>
        </p:nvSpPr>
        <p:spPr>
          <a:xfrm>
            <a:off x="443345" y="1080594"/>
            <a:ext cx="11471564" cy="4524315"/>
          </a:xfrm>
          <a:prstGeom prst="rect">
            <a:avLst/>
          </a:prstGeom>
        </p:spPr>
        <p:txBody>
          <a:bodyPr wrap="square">
            <a:spAutoFit/>
          </a:bodyPr>
          <a:lstStyle/>
          <a:p>
            <a:pPr lvl="0" algn="just" fontAlgn="base"/>
            <a:r>
              <a:rPr lang="en-US" sz="2400" b="1" dirty="0">
                <a:solidFill>
                  <a:prstClr val="black"/>
                </a:solidFill>
              </a:rPr>
              <a:t>Docker daemon/server/engine :</a:t>
            </a:r>
          </a:p>
          <a:p>
            <a:pPr algn="just" fontAlgn="base"/>
            <a:r>
              <a:rPr lang="en-US" sz="2400" b="1" dirty="0"/>
              <a:t>Docker Host :</a:t>
            </a:r>
          </a:p>
          <a:p>
            <a:pPr marL="342900" indent="-342900" algn="just" fontAlgn="base">
              <a:buFont typeface="Arial" panose="020B0604020202020204" pitchFamily="34" charset="0"/>
              <a:buChar char="•"/>
            </a:pPr>
            <a:r>
              <a:rPr lang="en-US" sz="2400" dirty="0">
                <a:latin typeface="Segoe UI" panose="020B0502040204020203" pitchFamily="34" charset="0"/>
                <a:ea typeface="Times New Roman" panose="02020603050405020304" pitchFamily="18" charset="0"/>
              </a:rPr>
              <a:t>Docker Host provides an environment to execute and run applications. </a:t>
            </a:r>
          </a:p>
          <a:p>
            <a:pPr marL="342900" indent="-342900" algn="just" fontAlgn="base">
              <a:buFont typeface="Arial" panose="020B0604020202020204" pitchFamily="34" charset="0"/>
              <a:buChar char="•"/>
            </a:pPr>
            <a:r>
              <a:rPr lang="en-US" sz="2400" dirty="0">
                <a:latin typeface="Segoe UI" panose="020B0502040204020203" pitchFamily="34" charset="0"/>
                <a:ea typeface="Times New Roman" panose="02020603050405020304" pitchFamily="18" charset="0"/>
              </a:rPr>
              <a:t>It contains </a:t>
            </a:r>
            <a:r>
              <a:rPr lang="en-US" sz="2400" dirty="0" err="1">
                <a:latin typeface="Segoe UI" panose="020B0502040204020203" pitchFamily="34" charset="0"/>
                <a:ea typeface="Times New Roman" panose="02020603050405020304" pitchFamily="18" charset="0"/>
              </a:rPr>
              <a:t>docker</a:t>
            </a:r>
            <a:r>
              <a:rPr lang="en-US" sz="2400" dirty="0">
                <a:latin typeface="Segoe UI" panose="020B0502040204020203" pitchFamily="34" charset="0"/>
                <a:ea typeface="Times New Roman" panose="02020603050405020304" pitchFamily="18" charset="0"/>
              </a:rPr>
              <a:t> daemon, images, containers, networks and storages.</a:t>
            </a:r>
          </a:p>
          <a:p>
            <a:pPr algn="just" fontAlgn="base"/>
            <a:r>
              <a:rPr lang="en-US" sz="2400" b="1" dirty="0"/>
              <a:t>Docker Hub/Registry</a:t>
            </a:r>
            <a:r>
              <a:rPr lang="en-US" sz="2400" dirty="0"/>
              <a:t> </a:t>
            </a:r>
          </a:p>
          <a:p>
            <a:pPr marL="342900" indent="-342900" algn="just" fontAlgn="base">
              <a:buFont typeface="Arial" panose="020B0604020202020204" pitchFamily="34" charset="0"/>
              <a:buChar char="•"/>
            </a:pPr>
            <a:r>
              <a:rPr lang="en-US" sz="2400" dirty="0"/>
              <a:t>Docker registry/hub manages (keeps images category wise) and stores Docker images. There are two types of registries in the Docker.</a:t>
            </a:r>
          </a:p>
          <a:p>
            <a:pPr algn="just" fontAlgn="base"/>
            <a:r>
              <a:rPr lang="en-US" sz="2400" dirty="0"/>
              <a:t>1.      Public Registry – is also called as Docker hub. It is accessible for everyone.</a:t>
            </a:r>
          </a:p>
          <a:p>
            <a:pPr algn="just" fontAlgn="base"/>
            <a:r>
              <a:rPr lang="en-US" sz="2400" dirty="0"/>
              <a:t>2.      Private Registry – is used to share images within the enterprise</a:t>
            </a:r>
          </a:p>
          <a:p>
            <a:pPr algn="just" fontAlgn="base"/>
            <a:r>
              <a:rPr lang="en-US" sz="2400" b="1" dirty="0"/>
              <a:t>Docker Images </a:t>
            </a:r>
            <a:endParaRPr lang="en-US" sz="2400" dirty="0"/>
          </a:p>
          <a:p>
            <a:pPr marL="342900" indent="-342900" algn="just" fontAlgn="base">
              <a:buFont typeface="Arial" panose="020B0604020202020204" pitchFamily="34" charset="0"/>
              <a:buChar char="•"/>
            </a:pPr>
            <a:r>
              <a:rPr lang="en-US" sz="2400" dirty="0"/>
              <a:t> are the read only </a:t>
            </a:r>
            <a:r>
              <a:rPr lang="en-US" sz="2400" b="1" dirty="0"/>
              <a:t>binary templates </a:t>
            </a:r>
            <a:r>
              <a:rPr lang="en-US" sz="2400" dirty="0"/>
              <a:t>used to create Docker containers </a:t>
            </a:r>
          </a:p>
          <a:p>
            <a:pPr algn="just" fontAlgn="base"/>
            <a:endParaRPr lang="en-US" sz="2400" dirty="0"/>
          </a:p>
        </p:txBody>
      </p:sp>
    </p:spTree>
    <p:extLst>
      <p:ext uri="{BB962C8B-B14F-4D97-AF65-F5344CB8AC3E}">
        <p14:creationId xmlns:p14="http://schemas.microsoft.com/office/powerpoint/2010/main" val="122058386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Docker Eco-System</a:t>
            </a:r>
          </a:p>
        </p:txBody>
      </p:sp>
      <p:sp>
        <p:nvSpPr>
          <p:cNvPr id="3" name="Rectangle 2"/>
          <p:cNvSpPr/>
          <p:nvPr/>
        </p:nvSpPr>
        <p:spPr>
          <a:xfrm>
            <a:off x="341258" y="1957757"/>
            <a:ext cx="11753759" cy="1938992"/>
          </a:xfrm>
          <a:prstGeom prst="rect">
            <a:avLst/>
          </a:prstGeom>
        </p:spPr>
        <p:txBody>
          <a:bodyPr wrap="square">
            <a:spAutoFit/>
          </a:bodyPr>
          <a:lstStyle/>
          <a:p>
            <a:pPr marL="342900" indent="-342900" fontAlgn="base">
              <a:buFont typeface="Arial" panose="020B0604020202020204" pitchFamily="34" charset="0"/>
              <a:buChar char="•"/>
            </a:pPr>
            <a:r>
              <a:rPr lang="en-US" sz="2400" b="1" dirty="0"/>
              <a:t>Docker Container </a:t>
            </a:r>
            <a:r>
              <a:rPr lang="en-US" sz="2400" dirty="0"/>
              <a:t>– Holds entire packages needed to run application or in other words, </a:t>
            </a:r>
          </a:p>
          <a:p>
            <a:pPr marL="342900" indent="-342900" fontAlgn="base">
              <a:buFont typeface="Arial" panose="020B0604020202020204" pitchFamily="34" charset="0"/>
              <a:buChar char="•"/>
            </a:pPr>
            <a:r>
              <a:rPr lang="en-US" sz="2400" dirty="0"/>
              <a:t>we can say that, the image is a template and the </a:t>
            </a:r>
            <a:r>
              <a:rPr lang="en-US" sz="2400" b="1" dirty="0"/>
              <a:t>container is a running form of that template</a:t>
            </a:r>
            <a:r>
              <a:rPr lang="en-US" sz="2400" dirty="0"/>
              <a:t>. </a:t>
            </a:r>
          </a:p>
          <a:p>
            <a:pPr marL="342900" indent="-342900" fontAlgn="base">
              <a:buFont typeface="Arial" panose="020B0604020202020204" pitchFamily="34" charset="0"/>
              <a:buChar char="•"/>
            </a:pPr>
            <a:r>
              <a:rPr lang="en-US" sz="2400" dirty="0"/>
              <a:t>Container is like a virtual machine.</a:t>
            </a:r>
          </a:p>
          <a:p>
            <a:pPr marL="342900" indent="-342900" fontAlgn="base">
              <a:buFont typeface="Arial" panose="020B0604020202020204" pitchFamily="34" charset="0"/>
              <a:buChar char="•"/>
            </a:pPr>
            <a:r>
              <a:rPr lang="en-US" sz="2400" dirty="0"/>
              <a:t> Images become container when they are run on Docker engine.</a:t>
            </a:r>
          </a:p>
        </p:txBody>
      </p:sp>
    </p:spTree>
    <p:extLst>
      <p:ext uri="{BB962C8B-B14F-4D97-AF65-F5344CB8AC3E}">
        <p14:creationId xmlns:p14="http://schemas.microsoft.com/office/powerpoint/2010/main" val="92042000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Docker Eco-System</a:t>
            </a:r>
          </a:p>
        </p:txBody>
      </p:sp>
      <p:sp>
        <p:nvSpPr>
          <p:cNvPr id="3" name="Rectangle 2"/>
          <p:cNvSpPr/>
          <p:nvPr/>
        </p:nvSpPr>
        <p:spPr>
          <a:xfrm>
            <a:off x="341258" y="1957757"/>
            <a:ext cx="11753759" cy="1754326"/>
          </a:xfrm>
          <a:prstGeom prst="rect">
            <a:avLst/>
          </a:prstGeom>
        </p:spPr>
        <p:txBody>
          <a:bodyPr wrap="square">
            <a:spAutoFit/>
          </a:bodyPr>
          <a:lstStyle/>
          <a:p>
            <a:r>
              <a:rPr lang="en-US" dirty="0"/>
              <a:t>Creating container from a </a:t>
            </a:r>
            <a:r>
              <a:rPr lang="en-US" dirty="0" err="1"/>
              <a:t>Dockerfile</a:t>
            </a:r>
            <a:endParaRPr lang="en-US" dirty="0"/>
          </a:p>
          <a:p>
            <a:r>
              <a:rPr lang="en-US" dirty="0"/>
              <a:t>Follow these steps to create a container from </a:t>
            </a:r>
            <a:r>
              <a:rPr lang="en-US" dirty="0" err="1"/>
              <a:t>Dockerfile</a:t>
            </a:r>
            <a:r>
              <a:rPr lang="en-US" dirty="0"/>
              <a:t> </a:t>
            </a:r>
          </a:p>
          <a:p>
            <a:r>
              <a:rPr lang="en-US" dirty="0"/>
              <a:t>1.      Create a file named </a:t>
            </a:r>
            <a:r>
              <a:rPr lang="en-US" dirty="0" err="1"/>
              <a:t>Dockerfile</a:t>
            </a:r>
            <a:endParaRPr lang="en-US" dirty="0"/>
          </a:p>
          <a:p>
            <a:r>
              <a:rPr lang="en-US" dirty="0"/>
              <a:t>2.      Add instructions in file</a:t>
            </a:r>
          </a:p>
          <a:p>
            <a:r>
              <a:rPr lang="en-US" dirty="0"/>
              <a:t>3.      Build </a:t>
            </a:r>
            <a:r>
              <a:rPr lang="en-US" dirty="0" err="1"/>
              <a:t>Dockerfile</a:t>
            </a:r>
            <a:r>
              <a:rPr lang="en-US" dirty="0"/>
              <a:t> to create image </a:t>
            </a:r>
          </a:p>
          <a:p>
            <a:r>
              <a:rPr lang="en-US" dirty="0"/>
              <a:t>4.      Run image to create a container</a:t>
            </a:r>
          </a:p>
        </p:txBody>
      </p:sp>
    </p:spTree>
    <p:extLst>
      <p:ext uri="{BB962C8B-B14F-4D97-AF65-F5344CB8AC3E}">
        <p14:creationId xmlns:p14="http://schemas.microsoft.com/office/powerpoint/2010/main" val="48072214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400" dirty="0"/>
              <a:t>Hadoop </a:t>
            </a:r>
            <a:r>
              <a:rPr lang="en-US" sz="4400" dirty="0" err="1"/>
              <a:t>MapReduce</a:t>
            </a:r>
            <a:endParaRPr lang="en-US" sz="4400" dirty="0"/>
          </a:p>
        </p:txBody>
      </p:sp>
      <p:sp>
        <p:nvSpPr>
          <p:cNvPr id="3" name="Subtitle 2"/>
          <p:cNvSpPr>
            <a:spLocks noGrp="1"/>
          </p:cNvSpPr>
          <p:nvPr>
            <p:ph type="subTitle" idx="1"/>
          </p:nvPr>
        </p:nvSpPr>
        <p:spPr>
          <a:xfrm>
            <a:off x="1533099" y="3509963"/>
            <a:ext cx="9144000" cy="1655762"/>
          </a:xfrm>
        </p:spPr>
        <p:txBody>
          <a:bodyPr/>
          <a:lstStyle/>
          <a:p>
            <a:r>
              <a:rPr lang="en-US" dirty="0"/>
              <a:t>Module 2 (continued)</a:t>
            </a:r>
          </a:p>
        </p:txBody>
      </p:sp>
      <p:sp>
        <p:nvSpPr>
          <p:cNvPr id="4" name="Rectangle 3"/>
          <p:cNvSpPr/>
          <p:nvPr/>
        </p:nvSpPr>
        <p:spPr>
          <a:xfrm>
            <a:off x="3239069" y="4429919"/>
            <a:ext cx="6096000" cy="369332"/>
          </a:xfrm>
          <a:prstGeom prst="rect">
            <a:avLst/>
          </a:prstGeom>
        </p:spPr>
        <p:txBody>
          <a:bodyPr>
            <a:spAutoFit/>
          </a:bodyPr>
          <a:lstStyle/>
          <a:p>
            <a:pPr lvl="0"/>
            <a:r>
              <a:rPr lang="en-US" b="1" dirty="0">
                <a:solidFill>
                  <a:srgbClr val="002060"/>
                </a:solidFill>
              </a:rPr>
              <a:t>From relevant sources</a:t>
            </a:r>
            <a:endParaRPr lang="en-US" b="1" dirty="0"/>
          </a:p>
        </p:txBody>
      </p:sp>
    </p:spTree>
    <p:extLst>
      <p:ext uri="{BB962C8B-B14F-4D97-AF65-F5344CB8AC3E}">
        <p14:creationId xmlns:p14="http://schemas.microsoft.com/office/powerpoint/2010/main" val="276759234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0630" y="440870"/>
            <a:ext cx="12132129" cy="6123215"/>
          </a:xfrm>
        </p:spPr>
        <p:txBody>
          <a:bodyPr>
            <a:normAutofit fontScale="85000" lnSpcReduction="10000"/>
          </a:bodyPr>
          <a:lstStyle/>
          <a:p>
            <a:pPr algn="just">
              <a:lnSpc>
                <a:spcPct val="150000"/>
              </a:lnSpc>
            </a:pPr>
            <a:r>
              <a:rPr lang="en-US" sz="2400" dirty="0"/>
              <a:t>Hadoop is an </a:t>
            </a:r>
            <a:r>
              <a:rPr lang="en-US" sz="2400" b="1" dirty="0"/>
              <a:t>open-source software framework </a:t>
            </a:r>
            <a:r>
              <a:rPr lang="en-US" sz="2400" dirty="0"/>
              <a:t>that supports </a:t>
            </a:r>
            <a:r>
              <a:rPr lang="en-US" sz="2400" u="sng" dirty="0"/>
              <a:t>scalable distributed applications </a:t>
            </a:r>
            <a:r>
              <a:rPr lang="en-US" sz="2400" dirty="0"/>
              <a:t>.</a:t>
            </a:r>
            <a:r>
              <a:rPr lang="en-US" sz="1600" b="0" i="0" dirty="0">
                <a:solidFill>
                  <a:srgbClr val="001D35"/>
                </a:solidFill>
                <a:effectLst/>
                <a:latin typeface="Google Sans"/>
              </a:rPr>
              <a:t> </a:t>
            </a:r>
            <a:r>
              <a:rPr lang="en-US" sz="2400" b="0" i="0" dirty="0">
                <a:solidFill>
                  <a:srgbClr val="001D35"/>
                </a:solidFill>
                <a:effectLst/>
                <a:latin typeface="Google Sans"/>
              </a:rPr>
              <a:t>It uses </a:t>
            </a:r>
            <a:r>
              <a:rPr lang="en-US" sz="2400" b="1" i="0" dirty="0">
                <a:solidFill>
                  <a:srgbClr val="001D35"/>
                </a:solidFill>
                <a:effectLst/>
                <a:latin typeface="Google Sans"/>
              </a:rPr>
              <a:t>distributed storage and parallel processing </a:t>
            </a:r>
            <a:r>
              <a:rPr lang="en-US" sz="2400" b="0" i="0" dirty="0">
                <a:solidFill>
                  <a:srgbClr val="001D35"/>
                </a:solidFill>
                <a:effectLst/>
                <a:latin typeface="Google Sans"/>
              </a:rPr>
              <a:t>to handle big data and analytics jobs. </a:t>
            </a:r>
            <a:endParaRPr lang="en-US" sz="2400" dirty="0"/>
          </a:p>
          <a:p>
            <a:pPr algn="just">
              <a:lnSpc>
                <a:spcPct val="150000"/>
              </a:lnSpc>
            </a:pPr>
            <a:r>
              <a:rPr lang="en-US" sz="2400" dirty="0"/>
              <a:t>Hadoop supports running applications </a:t>
            </a:r>
            <a:r>
              <a:rPr lang="en-US" sz="2400" u="sng" dirty="0"/>
              <a:t>on large clusters of commodity hardware</a:t>
            </a:r>
            <a:r>
              <a:rPr lang="en-US" sz="2400" dirty="0"/>
              <a:t> and provide fast and reliable analysis of </a:t>
            </a:r>
            <a:r>
              <a:rPr lang="en-US" sz="2400" u="sng" dirty="0"/>
              <a:t>both structured and unstructured data</a:t>
            </a:r>
            <a:r>
              <a:rPr lang="en-US" sz="2400" dirty="0"/>
              <a:t>.</a:t>
            </a:r>
          </a:p>
          <a:p>
            <a:pPr algn="just">
              <a:lnSpc>
                <a:spcPct val="150000"/>
              </a:lnSpc>
            </a:pPr>
            <a:r>
              <a:rPr lang="en-US" sz="2400" dirty="0"/>
              <a:t>HDFS uses the </a:t>
            </a:r>
            <a:r>
              <a:rPr lang="en-US" sz="2400" b="1" u="sng" dirty="0"/>
              <a:t>MapReduce</a:t>
            </a:r>
            <a:r>
              <a:rPr lang="en-US" sz="2400" dirty="0"/>
              <a:t> method, an application programming model developed by Google, which provides two fundamental operations for data processing: map and reduce. </a:t>
            </a:r>
          </a:p>
          <a:p>
            <a:pPr algn="just">
              <a:lnSpc>
                <a:spcPct val="150000"/>
              </a:lnSpc>
            </a:pPr>
            <a:r>
              <a:rPr lang="en-US" sz="2400" b="1" dirty="0"/>
              <a:t>Map</a:t>
            </a:r>
            <a:r>
              <a:rPr lang="en-US" sz="2400" dirty="0"/>
              <a:t> - transforms and synthesizes the input data provided by the user; </a:t>
            </a:r>
          </a:p>
          <a:p>
            <a:pPr algn="just">
              <a:lnSpc>
                <a:spcPct val="150000"/>
              </a:lnSpc>
            </a:pPr>
            <a:r>
              <a:rPr lang="en-US" sz="2400" b="1" dirty="0"/>
              <a:t>Reduce</a:t>
            </a:r>
            <a:r>
              <a:rPr lang="en-US" sz="2400" dirty="0"/>
              <a:t> - aggregates the output obtained by the map operations</a:t>
            </a:r>
          </a:p>
          <a:p>
            <a:pPr algn="just">
              <a:lnSpc>
                <a:spcPct val="150000"/>
              </a:lnSpc>
            </a:pPr>
            <a:r>
              <a:rPr lang="en-US" sz="2400" dirty="0"/>
              <a:t>Hadoop uses simple programming model.</a:t>
            </a:r>
          </a:p>
          <a:p>
            <a:pPr algn="just">
              <a:lnSpc>
                <a:spcPct val="150000"/>
              </a:lnSpc>
            </a:pPr>
            <a:r>
              <a:rPr lang="en-US" sz="2400" dirty="0"/>
              <a:t>Hadoop can scale from single servers to thousands of machines, each offering local computation and storage.</a:t>
            </a:r>
          </a:p>
          <a:p>
            <a:pPr algn="just">
              <a:lnSpc>
                <a:spcPct val="150000"/>
              </a:lnSpc>
            </a:pPr>
            <a:r>
              <a:rPr lang="en-US" sz="2400" dirty="0" err="1"/>
              <a:t>Hadoop</a:t>
            </a:r>
            <a:r>
              <a:rPr lang="en-US" sz="2400" dirty="0"/>
              <a:t> Distributed File System design is based on the design of </a:t>
            </a:r>
            <a:r>
              <a:rPr lang="en-US" sz="2400" u="sng" dirty="0"/>
              <a:t>Google File System</a:t>
            </a:r>
            <a:r>
              <a:rPr lang="en-US" sz="2400" dirty="0"/>
              <a:t>. It’s notion is “</a:t>
            </a:r>
            <a:r>
              <a:rPr lang="en-US" sz="2400" u="sng" dirty="0"/>
              <a:t>Write Once Read Multiple times</a:t>
            </a:r>
            <a:r>
              <a:rPr lang="en-US" sz="2400" dirty="0"/>
              <a:t>”.</a:t>
            </a:r>
          </a:p>
          <a:p>
            <a:pPr algn="just">
              <a:lnSpc>
                <a:spcPct val="150000"/>
              </a:lnSpc>
            </a:pPr>
            <a:endParaRPr lang="en-US" sz="2400" dirty="0"/>
          </a:p>
        </p:txBody>
      </p:sp>
      <p:sp>
        <p:nvSpPr>
          <p:cNvPr id="5" name="Rectangle 4"/>
          <p:cNvSpPr/>
          <p:nvPr/>
        </p:nvSpPr>
        <p:spPr>
          <a:xfrm>
            <a:off x="3135086" y="0"/>
            <a:ext cx="6934200" cy="461665"/>
          </a:xfrm>
          <a:prstGeom prst="rect">
            <a:avLst/>
          </a:prstGeom>
        </p:spPr>
        <p:txBody>
          <a:bodyPr wrap="square">
            <a:spAutoFit/>
          </a:bodyPr>
          <a:lstStyle/>
          <a:p>
            <a:r>
              <a:rPr lang="en-US" sz="2400" b="1" dirty="0"/>
              <a:t>Platform For Managing Big Data   - </a:t>
            </a:r>
            <a:r>
              <a:rPr lang="en-US" sz="2400" b="1" dirty="0" err="1"/>
              <a:t>Hadoop</a:t>
            </a:r>
            <a:endParaRPr lang="en-US" dirty="0"/>
          </a:p>
        </p:txBody>
      </p:sp>
    </p:spTree>
    <p:extLst>
      <p:ext uri="{BB962C8B-B14F-4D97-AF65-F5344CB8AC3E}">
        <p14:creationId xmlns:p14="http://schemas.microsoft.com/office/powerpoint/2010/main" val="281893027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Hadoop </a:t>
            </a:r>
            <a:r>
              <a:rPr lang="en-US" sz="2400" b="1" dirty="0" err="1"/>
              <a:t>MapReduce</a:t>
            </a:r>
            <a:endParaRPr lang="en-US" sz="2400" b="1" dirty="0"/>
          </a:p>
        </p:txBody>
      </p:sp>
      <p:sp>
        <p:nvSpPr>
          <p:cNvPr id="3" name="Rectangle 2"/>
          <p:cNvSpPr/>
          <p:nvPr/>
        </p:nvSpPr>
        <p:spPr>
          <a:xfrm>
            <a:off x="341258" y="1957757"/>
            <a:ext cx="11753759" cy="2308324"/>
          </a:xfrm>
          <a:prstGeom prst="rect">
            <a:avLst/>
          </a:prstGeom>
        </p:spPr>
        <p:txBody>
          <a:bodyPr wrap="square">
            <a:spAutoFit/>
          </a:bodyPr>
          <a:lstStyle/>
          <a:p>
            <a:pPr marL="342900" indent="-342900" algn="just" fontAlgn="base">
              <a:buFont typeface="Arial" panose="020B0604020202020204" pitchFamily="34" charset="0"/>
              <a:buChar char="•"/>
            </a:pPr>
            <a:r>
              <a:rPr lang="en-US" sz="2400" b="1" dirty="0" err="1">
                <a:solidFill>
                  <a:srgbClr val="202124"/>
                </a:solidFill>
                <a:latin typeface="Google Sans"/>
              </a:rPr>
              <a:t>MapReduce</a:t>
            </a:r>
            <a:r>
              <a:rPr lang="en-US" sz="2400" b="1" dirty="0">
                <a:solidFill>
                  <a:srgbClr val="202124"/>
                </a:solidFill>
                <a:latin typeface="Google Sans"/>
              </a:rPr>
              <a:t> is </a:t>
            </a:r>
            <a:r>
              <a:rPr lang="en-US" sz="2400" b="1" dirty="0">
                <a:solidFill>
                  <a:srgbClr val="040C28"/>
                </a:solidFill>
                <a:latin typeface="Google Sans"/>
              </a:rPr>
              <a:t>a big data analysis model</a:t>
            </a:r>
            <a:r>
              <a:rPr lang="en-US" sz="2400" dirty="0">
                <a:solidFill>
                  <a:srgbClr val="040C28"/>
                </a:solidFill>
                <a:latin typeface="Google Sans"/>
              </a:rPr>
              <a:t> that </a:t>
            </a:r>
            <a:r>
              <a:rPr lang="en-US" sz="2400" b="1" dirty="0">
                <a:solidFill>
                  <a:srgbClr val="040C28"/>
                </a:solidFill>
                <a:latin typeface="Google Sans"/>
              </a:rPr>
              <a:t>processes data sets using a parallel algorithm on computer clusters</a:t>
            </a:r>
            <a:r>
              <a:rPr lang="en-US" sz="2400" b="1" dirty="0">
                <a:solidFill>
                  <a:srgbClr val="202124"/>
                </a:solidFill>
                <a:latin typeface="Google Sans"/>
              </a:rPr>
              <a:t>,</a:t>
            </a:r>
            <a:r>
              <a:rPr lang="en-US" sz="2400" dirty="0">
                <a:solidFill>
                  <a:srgbClr val="202124"/>
                </a:solidFill>
                <a:latin typeface="Google Sans"/>
              </a:rPr>
              <a:t> typically Apache Hadoop clusters </a:t>
            </a:r>
            <a:r>
              <a:rPr lang="en-US" sz="2400" b="1" dirty="0">
                <a:solidFill>
                  <a:srgbClr val="202124"/>
                </a:solidFill>
                <a:latin typeface="Google Sans"/>
              </a:rPr>
              <a:t>or cloud systems like Amazon Elastic </a:t>
            </a:r>
            <a:r>
              <a:rPr lang="en-US" sz="2400" b="1" dirty="0" err="1">
                <a:solidFill>
                  <a:srgbClr val="202124"/>
                </a:solidFill>
                <a:latin typeface="Google Sans"/>
              </a:rPr>
              <a:t>MapReduce</a:t>
            </a:r>
            <a:r>
              <a:rPr lang="en-US" sz="2400" b="1" dirty="0">
                <a:solidFill>
                  <a:srgbClr val="202124"/>
                </a:solidFill>
                <a:latin typeface="Google Sans"/>
              </a:rPr>
              <a:t> (EMR) clusters. </a:t>
            </a:r>
          </a:p>
          <a:p>
            <a:pPr marL="342900" indent="-342900" algn="just" fontAlgn="base">
              <a:buFont typeface="Arial" panose="020B0604020202020204" pitchFamily="34" charset="0"/>
              <a:buChar char="•"/>
            </a:pPr>
            <a:r>
              <a:rPr lang="en-US" sz="2400" dirty="0">
                <a:solidFill>
                  <a:srgbClr val="202124"/>
                </a:solidFill>
                <a:latin typeface="Google Sans"/>
              </a:rPr>
              <a:t>A </a:t>
            </a:r>
            <a:r>
              <a:rPr lang="en-US" sz="2400" b="1" dirty="0">
                <a:solidFill>
                  <a:srgbClr val="202124"/>
                </a:solidFill>
                <a:latin typeface="Google Sans"/>
              </a:rPr>
              <a:t>software framework and programming model called </a:t>
            </a:r>
            <a:r>
              <a:rPr lang="en-US" sz="2400" b="1" dirty="0" err="1">
                <a:solidFill>
                  <a:srgbClr val="202124"/>
                </a:solidFill>
                <a:latin typeface="Google Sans"/>
              </a:rPr>
              <a:t>MapReduce</a:t>
            </a:r>
            <a:r>
              <a:rPr lang="en-US" sz="2400" b="1" dirty="0">
                <a:solidFill>
                  <a:srgbClr val="202124"/>
                </a:solidFill>
                <a:latin typeface="Google Sans"/>
              </a:rPr>
              <a:t> </a:t>
            </a:r>
            <a:r>
              <a:rPr lang="en-US" sz="2400" dirty="0">
                <a:solidFill>
                  <a:srgbClr val="202124"/>
                </a:solidFill>
                <a:latin typeface="Google Sans"/>
              </a:rPr>
              <a:t>is used to process enormous volumes of data( Big Data).</a:t>
            </a:r>
          </a:p>
          <a:p>
            <a:pPr algn="just" fontAlgn="base"/>
            <a:endParaRPr lang="en-US" sz="2400" dirty="0"/>
          </a:p>
        </p:txBody>
      </p:sp>
    </p:spTree>
    <p:extLst>
      <p:ext uri="{BB962C8B-B14F-4D97-AF65-F5344CB8AC3E}">
        <p14:creationId xmlns:p14="http://schemas.microsoft.com/office/powerpoint/2010/main" val="161135806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4129"/>
            <a:ext cx="10515600" cy="6082834"/>
          </a:xfrm>
        </p:spPr>
        <p:txBody>
          <a:bodyPr/>
          <a:lstStyle/>
          <a:p>
            <a:pPr marL="0" indent="0">
              <a:buNone/>
            </a:pPr>
            <a:r>
              <a:rPr lang="en-US" u="sng" dirty="0"/>
              <a:t>Why HDFS works very well with Big Data?</a:t>
            </a:r>
          </a:p>
          <a:p>
            <a:pPr marL="0" indent="0">
              <a:buNone/>
            </a:pPr>
            <a:endParaRPr lang="en-US" u="sng" dirty="0"/>
          </a:p>
          <a:p>
            <a:pPr lvl="0" algn="just">
              <a:lnSpc>
                <a:spcPct val="150000"/>
              </a:lnSpc>
            </a:pPr>
            <a:r>
              <a:rPr lang="en-US" sz="2000" dirty="0"/>
              <a:t>HDFS uses the </a:t>
            </a:r>
            <a:r>
              <a:rPr lang="en-US" sz="2000" b="1" u="sng" dirty="0" err="1"/>
              <a:t>MapReduce</a:t>
            </a:r>
            <a:r>
              <a:rPr lang="en-US" sz="2000" dirty="0"/>
              <a:t> method for access to data which is very fast.</a:t>
            </a:r>
          </a:p>
          <a:p>
            <a:pPr lvl="0" algn="just">
              <a:lnSpc>
                <a:spcPct val="150000"/>
              </a:lnSpc>
            </a:pPr>
            <a:r>
              <a:rPr lang="en-US" sz="2000" dirty="0"/>
              <a:t>It follows a </a:t>
            </a:r>
            <a:r>
              <a:rPr lang="en-US" sz="2000" u="sng" dirty="0"/>
              <a:t>data coherency model (</a:t>
            </a:r>
            <a:r>
              <a:rPr lang="en-US" sz="2000" b="1" u="sng" dirty="0"/>
              <a:t>data</a:t>
            </a:r>
            <a:r>
              <a:rPr lang="en-US" sz="2000" u="sng" dirty="0"/>
              <a:t> is coherent means, </a:t>
            </a:r>
            <a:r>
              <a:rPr lang="en-US" sz="2000" b="1" u="sng" dirty="0"/>
              <a:t>data</a:t>
            </a:r>
            <a:r>
              <a:rPr lang="en-US" sz="2000" u="sng" dirty="0"/>
              <a:t> on the server and all the clients is synchronized)</a:t>
            </a:r>
            <a:r>
              <a:rPr lang="en-US" sz="2000" dirty="0"/>
              <a:t>that is simple to implement highly robust and scalable models…</a:t>
            </a:r>
          </a:p>
          <a:p>
            <a:pPr lvl="0" algn="just">
              <a:lnSpc>
                <a:spcPct val="150000"/>
              </a:lnSpc>
            </a:pPr>
            <a:r>
              <a:rPr lang="en-US" sz="2000" dirty="0"/>
              <a:t>Compatible with any kind </a:t>
            </a:r>
            <a:r>
              <a:rPr lang="en-US" sz="2000" u="sng" dirty="0"/>
              <a:t>commodity hardware </a:t>
            </a:r>
            <a:r>
              <a:rPr lang="en-US" sz="2000" dirty="0"/>
              <a:t>and operating system processor.</a:t>
            </a:r>
          </a:p>
          <a:p>
            <a:pPr lvl="0" algn="just">
              <a:lnSpc>
                <a:spcPct val="150000"/>
              </a:lnSpc>
            </a:pPr>
            <a:r>
              <a:rPr lang="en-US" sz="2000" dirty="0"/>
              <a:t>Economy is been achieved by </a:t>
            </a:r>
            <a:r>
              <a:rPr lang="en-US" sz="2000" u="sng" dirty="0"/>
              <a:t>distributing data and processing on clusters </a:t>
            </a:r>
            <a:r>
              <a:rPr lang="en-US" sz="2000" dirty="0"/>
              <a:t>with parallel nodes</a:t>
            </a:r>
          </a:p>
          <a:p>
            <a:pPr lvl="0" algn="just">
              <a:lnSpc>
                <a:spcPct val="150000"/>
              </a:lnSpc>
            </a:pPr>
            <a:r>
              <a:rPr lang="en-US" sz="2000" dirty="0"/>
              <a:t>Data is always safe as it is </a:t>
            </a:r>
            <a:r>
              <a:rPr lang="en-US" sz="2000" u="sng" dirty="0"/>
              <a:t>automatically saved in multiple locations </a:t>
            </a:r>
            <a:r>
              <a:rPr lang="en-US" sz="2000" dirty="0"/>
              <a:t>for safe secure.</a:t>
            </a:r>
          </a:p>
          <a:p>
            <a:pPr lvl="0" algn="just">
              <a:lnSpc>
                <a:spcPct val="150000"/>
              </a:lnSpc>
            </a:pPr>
            <a:r>
              <a:rPr lang="en-US" sz="2000" dirty="0"/>
              <a:t>It provides a JAVA API’s and C language is on the top priority.</a:t>
            </a:r>
          </a:p>
          <a:p>
            <a:pPr lvl="0" algn="just">
              <a:lnSpc>
                <a:spcPct val="150000"/>
              </a:lnSpc>
            </a:pPr>
            <a:r>
              <a:rPr lang="en-US" sz="2000" dirty="0"/>
              <a:t>It is easily </a:t>
            </a:r>
            <a:r>
              <a:rPr lang="en-US" sz="2000" u="sng" dirty="0"/>
              <a:t>accessible using a web browser</a:t>
            </a:r>
            <a:r>
              <a:rPr lang="en-US" sz="2000" dirty="0"/>
              <a:t> making it highly effective.</a:t>
            </a:r>
          </a:p>
          <a:p>
            <a:endParaRPr lang="en-US" dirty="0"/>
          </a:p>
        </p:txBody>
      </p:sp>
    </p:spTree>
    <p:extLst>
      <p:ext uri="{BB962C8B-B14F-4D97-AF65-F5344CB8AC3E}">
        <p14:creationId xmlns:p14="http://schemas.microsoft.com/office/powerpoint/2010/main" val="45636641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Hadoop </a:t>
            </a:r>
            <a:r>
              <a:rPr lang="en-US" sz="2400" b="1" dirty="0" err="1"/>
              <a:t>MapReduce</a:t>
            </a:r>
            <a:endParaRPr lang="en-US" sz="2400" b="1" dirty="0"/>
          </a:p>
        </p:txBody>
      </p:sp>
      <p:sp>
        <p:nvSpPr>
          <p:cNvPr id="3" name="Rectangle 2"/>
          <p:cNvSpPr/>
          <p:nvPr/>
        </p:nvSpPr>
        <p:spPr>
          <a:xfrm>
            <a:off x="341258" y="1957757"/>
            <a:ext cx="11753759" cy="2308324"/>
          </a:xfrm>
          <a:prstGeom prst="rect">
            <a:avLst/>
          </a:prstGeom>
        </p:spPr>
        <p:txBody>
          <a:bodyPr wrap="square">
            <a:spAutoFit/>
          </a:bodyPr>
          <a:lstStyle/>
          <a:p>
            <a:pPr marL="342900" indent="-342900" algn="just" fontAlgn="base">
              <a:buFont typeface="Arial" panose="020B0604020202020204" pitchFamily="34" charset="0"/>
              <a:buChar char="•"/>
            </a:pPr>
            <a:r>
              <a:rPr lang="en-US" sz="2400" dirty="0">
                <a:solidFill>
                  <a:srgbClr val="202124"/>
                </a:solidFill>
                <a:latin typeface="Google Sans"/>
              </a:rPr>
              <a:t>Big Data is a collection of large datasets that </a:t>
            </a:r>
            <a:r>
              <a:rPr lang="en-US" sz="2400" b="1" dirty="0">
                <a:solidFill>
                  <a:srgbClr val="202124"/>
                </a:solidFill>
                <a:latin typeface="Google Sans"/>
              </a:rPr>
              <a:t>cannot be processed using traditional computing techniques.</a:t>
            </a:r>
          </a:p>
          <a:p>
            <a:pPr marL="342900" indent="-342900" algn="just" fontAlgn="base">
              <a:buFont typeface="Arial" panose="020B0604020202020204" pitchFamily="34" charset="0"/>
              <a:buChar char="•"/>
            </a:pPr>
            <a:r>
              <a:rPr lang="en-US" sz="2400" dirty="0">
                <a:solidFill>
                  <a:srgbClr val="202124"/>
                </a:solidFill>
                <a:latin typeface="Google Sans"/>
              </a:rPr>
              <a:t>For example, the volume of data Facebook or </a:t>
            </a:r>
            <a:r>
              <a:rPr lang="en-US" sz="2400" dirty="0" err="1">
                <a:solidFill>
                  <a:srgbClr val="202124"/>
                </a:solidFill>
                <a:latin typeface="Google Sans"/>
              </a:rPr>
              <a:t>Youtube</a:t>
            </a:r>
            <a:r>
              <a:rPr lang="en-US" sz="2400" dirty="0">
                <a:solidFill>
                  <a:srgbClr val="202124"/>
                </a:solidFill>
                <a:latin typeface="Google Sans"/>
              </a:rPr>
              <a:t> need require it to collect and manage on a daily basis, can fall under the category of Big Data.</a:t>
            </a:r>
          </a:p>
          <a:p>
            <a:pPr marL="342900" indent="-342900" algn="just" fontAlgn="base">
              <a:buFont typeface="Arial" panose="020B0604020202020204" pitchFamily="34" charset="0"/>
              <a:buChar char="•"/>
            </a:pPr>
            <a:r>
              <a:rPr lang="en-US" sz="2400" dirty="0"/>
              <a:t>However, Big Data is not only about scale and volume, it also involves one or more of the </a:t>
            </a:r>
            <a:r>
              <a:rPr lang="en-US" sz="2400" b="1" dirty="0"/>
              <a:t>following aspects −4 V’s</a:t>
            </a:r>
            <a:r>
              <a:rPr lang="en-US" sz="2400" dirty="0"/>
              <a:t>: Velocity, Variety, Volume, and Veracity</a:t>
            </a:r>
          </a:p>
        </p:txBody>
      </p:sp>
      <p:sp>
        <p:nvSpPr>
          <p:cNvPr id="2" name="Rectangle 1"/>
          <p:cNvSpPr/>
          <p:nvPr/>
        </p:nvSpPr>
        <p:spPr>
          <a:xfrm>
            <a:off x="910436" y="930896"/>
            <a:ext cx="2369623" cy="461665"/>
          </a:xfrm>
          <a:prstGeom prst="rect">
            <a:avLst/>
          </a:prstGeom>
        </p:spPr>
        <p:txBody>
          <a:bodyPr wrap="none">
            <a:spAutoFit/>
          </a:bodyPr>
          <a:lstStyle/>
          <a:p>
            <a:r>
              <a:rPr lang="en-US" sz="2400" dirty="0"/>
              <a:t>What is Big Data?</a:t>
            </a:r>
          </a:p>
        </p:txBody>
      </p:sp>
    </p:spTree>
    <p:extLst>
      <p:ext uri="{BB962C8B-B14F-4D97-AF65-F5344CB8AC3E}">
        <p14:creationId xmlns:p14="http://schemas.microsoft.com/office/powerpoint/2010/main" val="132024775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Hadoop </a:t>
            </a:r>
            <a:r>
              <a:rPr lang="en-US" sz="2400" b="1" dirty="0" err="1"/>
              <a:t>MapReduce</a:t>
            </a:r>
            <a:endParaRPr lang="en-US" sz="2400" b="1" dirty="0"/>
          </a:p>
        </p:txBody>
      </p:sp>
      <p:sp>
        <p:nvSpPr>
          <p:cNvPr id="3" name="Rectangle 2"/>
          <p:cNvSpPr/>
          <p:nvPr/>
        </p:nvSpPr>
        <p:spPr>
          <a:xfrm>
            <a:off x="341258" y="1957757"/>
            <a:ext cx="11753759" cy="2677656"/>
          </a:xfrm>
          <a:prstGeom prst="rect">
            <a:avLst/>
          </a:prstGeom>
        </p:spPr>
        <p:txBody>
          <a:bodyPr wrap="square">
            <a:spAutoFit/>
          </a:bodyPr>
          <a:lstStyle/>
          <a:p>
            <a:pPr marL="342900" indent="-342900" algn="just" fontAlgn="base">
              <a:buFont typeface="Arial" panose="020B0604020202020204" pitchFamily="34" charset="0"/>
              <a:buChar char="•"/>
            </a:pPr>
            <a:r>
              <a:rPr lang="en-US" sz="2400" dirty="0">
                <a:solidFill>
                  <a:srgbClr val="202124"/>
                </a:solidFill>
                <a:latin typeface="Google Sans"/>
              </a:rPr>
              <a:t>Traditional Enterprise Systems normally have a centralized server to store and process data. </a:t>
            </a:r>
          </a:p>
          <a:p>
            <a:pPr marL="342900" indent="-342900" algn="just" fontAlgn="base">
              <a:buFont typeface="Arial" panose="020B0604020202020204" pitchFamily="34" charset="0"/>
              <a:buChar char="•"/>
            </a:pPr>
            <a:r>
              <a:rPr lang="en-US" sz="2400" dirty="0">
                <a:solidFill>
                  <a:srgbClr val="202124"/>
                </a:solidFill>
                <a:latin typeface="Google Sans"/>
              </a:rPr>
              <a:t>The following illustration depicts a schematic view of a traditional enterprise system. </a:t>
            </a:r>
          </a:p>
          <a:p>
            <a:pPr marL="342900" indent="-342900" algn="just" fontAlgn="base">
              <a:buFont typeface="Arial" panose="020B0604020202020204" pitchFamily="34" charset="0"/>
              <a:buChar char="•"/>
            </a:pPr>
            <a:r>
              <a:rPr lang="en-US" sz="2400" b="1" dirty="0">
                <a:solidFill>
                  <a:srgbClr val="202124"/>
                </a:solidFill>
                <a:latin typeface="Google Sans"/>
              </a:rPr>
              <a:t>Traditional model is certainly not suitable to process huge volumes of scalable data and cannot be accommodated by standard database servers</a:t>
            </a:r>
            <a:r>
              <a:rPr lang="en-US" sz="2400" dirty="0">
                <a:solidFill>
                  <a:srgbClr val="202124"/>
                </a:solidFill>
                <a:latin typeface="Google Sans"/>
              </a:rPr>
              <a:t>. </a:t>
            </a:r>
          </a:p>
          <a:p>
            <a:pPr marL="342900" indent="-342900" algn="just" fontAlgn="base">
              <a:buFont typeface="Arial" panose="020B0604020202020204" pitchFamily="34" charset="0"/>
              <a:buChar char="•"/>
            </a:pPr>
            <a:r>
              <a:rPr lang="en-US" sz="2400" dirty="0">
                <a:solidFill>
                  <a:srgbClr val="202124"/>
                </a:solidFill>
                <a:latin typeface="Google Sans"/>
              </a:rPr>
              <a:t>Moreover, the centralized system creates too much of a bottleneck while processing multiple files simultaneously.</a:t>
            </a:r>
            <a:endParaRPr lang="en-US" sz="2400" dirty="0"/>
          </a:p>
        </p:txBody>
      </p:sp>
      <p:sp>
        <p:nvSpPr>
          <p:cNvPr id="2" name="Rectangle 1"/>
          <p:cNvSpPr/>
          <p:nvPr/>
        </p:nvSpPr>
        <p:spPr>
          <a:xfrm>
            <a:off x="910436" y="930896"/>
            <a:ext cx="2627194" cy="738664"/>
          </a:xfrm>
          <a:prstGeom prst="rect">
            <a:avLst/>
          </a:prstGeom>
        </p:spPr>
        <p:txBody>
          <a:bodyPr wrap="none">
            <a:spAutoFit/>
          </a:bodyPr>
          <a:lstStyle/>
          <a:p>
            <a:endParaRPr lang="en-US" dirty="0"/>
          </a:p>
          <a:p>
            <a:r>
              <a:rPr lang="en-US" dirty="0"/>
              <a:t> </a:t>
            </a:r>
            <a:r>
              <a:rPr lang="en-US" sz="2400" b="1" dirty="0"/>
              <a:t>Why </a:t>
            </a:r>
            <a:r>
              <a:rPr lang="en-US" sz="2400" b="1" dirty="0" err="1"/>
              <a:t>MapReduce</a:t>
            </a:r>
            <a:r>
              <a:rPr lang="en-US" sz="2400" b="1" dirty="0"/>
              <a:t>? </a:t>
            </a:r>
            <a:endParaRPr lang="en-US" sz="2400" dirty="0"/>
          </a:p>
        </p:txBody>
      </p:sp>
      <p:pic>
        <p:nvPicPr>
          <p:cNvPr id="5" name="Picture 4"/>
          <p:cNvPicPr>
            <a:picLocks noChangeAspect="1"/>
          </p:cNvPicPr>
          <p:nvPr/>
        </p:nvPicPr>
        <p:blipFill>
          <a:blip r:embed="rId3"/>
          <a:stretch>
            <a:fillRect/>
          </a:stretch>
        </p:blipFill>
        <p:spPr>
          <a:xfrm>
            <a:off x="6192022" y="5004745"/>
            <a:ext cx="5902995" cy="1612623"/>
          </a:xfrm>
          <a:prstGeom prst="rect">
            <a:avLst/>
          </a:prstGeom>
        </p:spPr>
      </p:pic>
    </p:spTree>
    <p:extLst>
      <p:ext uri="{BB962C8B-B14F-4D97-AF65-F5344CB8AC3E}">
        <p14:creationId xmlns:p14="http://schemas.microsoft.com/office/powerpoint/2010/main" val="277711124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Hadoop </a:t>
            </a:r>
            <a:r>
              <a:rPr lang="en-US" sz="2400" b="1" dirty="0" err="1"/>
              <a:t>MapReduce</a:t>
            </a:r>
            <a:endParaRPr lang="en-US" sz="2400" b="1" dirty="0"/>
          </a:p>
        </p:txBody>
      </p:sp>
      <p:sp>
        <p:nvSpPr>
          <p:cNvPr id="3" name="Rectangle 2"/>
          <p:cNvSpPr/>
          <p:nvPr/>
        </p:nvSpPr>
        <p:spPr>
          <a:xfrm>
            <a:off x="341258" y="1957757"/>
            <a:ext cx="11753759" cy="3046988"/>
          </a:xfrm>
          <a:prstGeom prst="rect">
            <a:avLst/>
          </a:prstGeom>
        </p:spPr>
        <p:txBody>
          <a:bodyPr wrap="square">
            <a:spAutoFit/>
          </a:bodyPr>
          <a:lstStyle/>
          <a:p>
            <a:pPr marL="342900" indent="-342900" fontAlgn="base">
              <a:buFont typeface="Arial" panose="020B0604020202020204" pitchFamily="34" charset="0"/>
              <a:buChar char="•"/>
            </a:pPr>
            <a:r>
              <a:rPr lang="en-US" sz="2400" dirty="0">
                <a:solidFill>
                  <a:srgbClr val="202124"/>
                </a:solidFill>
                <a:latin typeface="Google Sans"/>
              </a:rPr>
              <a:t>The </a:t>
            </a:r>
            <a:r>
              <a:rPr lang="en-US" sz="2400" dirty="0" err="1">
                <a:solidFill>
                  <a:srgbClr val="202124"/>
                </a:solidFill>
                <a:latin typeface="Google Sans"/>
              </a:rPr>
              <a:t>MapReduce</a:t>
            </a:r>
            <a:r>
              <a:rPr lang="en-US" sz="2400" dirty="0">
                <a:solidFill>
                  <a:srgbClr val="202124"/>
                </a:solidFill>
                <a:latin typeface="Google Sans"/>
              </a:rPr>
              <a:t> algorithm contains two important tasks, namely Map and Reduce.</a:t>
            </a:r>
          </a:p>
          <a:p>
            <a:pPr marL="342900" indent="-342900" fontAlgn="base">
              <a:buFont typeface="Arial" panose="020B0604020202020204" pitchFamily="34" charset="0"/>
              <a:buChar char="•"/>
            </a:pPr>
            <a:r>
              <a:rPr lang="en-US" sz="2400" dirty="0">
                <a:solidFill>
                  <a:srgbClr val="202124"/>
                </a:solidFill>
                <a:latin typeface="Google Sans"/>
              </a:rPr>
              <a:t>• The Map task takes a set of data and converts it into another set of data, where individual elements are </a:t>
            </a:r>
            <a:r>
              <a:rPr lang="en-US" sz="2400" b="1" dirty="0">
                <a:solidFill>
                  <a:srgbClr val="202124"/>
                </a:solidFill>
                <a:latin typeface="Google Sans"/>
              </a:rPr>
              <a:t>broken down into tuples (key-value </a:t>
            </a:r>
            <a:r>
              <a:rPr lang="en-US" sz="2400" dirty="0">
                <a:solidFill>
                  <a:srgbClr val="202124"/>
                </a:solidFill>
                <a:latin typeface="Google Sans"/>
              </a:rPr>
              <a:t>pairs).</a:t>
            </a:r>
          </a:p>
          <a:p>
            <a:pPr marL="342900" indent="-342900" fontAlgn="base">
              <a:buFont typeface="Arial" panose="020B0604020202020204" pitchFamily="34" charset="0"/>
              <a:buChar char="•"/>
            </a:pPr>
            <a:r>
              <a:rPr lang="en-US" sz="2400" dirty="0">
                <a:solidFill>
                  <a:srgbClr val="202124"/>
                </a:solidFill>
                <a:latin typeface="Google Sans"/>
              </a:rPr>
              <a:t>• The Reduce task takes the output from the Map as an input and combines those data tuples (key-value pairs) </a:t>
            </a:r>
            <a:r>
              <a:rPr lang="en-US" sz="2400" b="1" dirty="0">
                <a:solidFill>
                  <a:srgbClr val="202124"/>
                </a:solidFill>
                <a:latin typeface="Google Sans"/>
              </a:rPr>
              <a:t>into a smaller set of tuples.</a:t>
            </a:r>
          </a:p>
          <a:p>
            <a:pPr marL="342900" indent="-342900" fontAlgn="base">
              <a:buFont typeface="Arial" panose="020B0604020202020204" pitchFamily="34" charset="0"/>
              <a:buChar char="•"/>
            </a:pPr>
            <a:r>
              <a:rPr lang="en-US" sz="2400" dirty="0">
                <a:solidFill>
                  <a:srgbClr val="202124"/>
                </a:solidFill>
                <a:latin typeface="Google Sans"/>
              </a:rPr>
              <a:t>The reduce task is always performed after the map job.</a:t>
            </a:r>
          </a:p>
          <a:p>
            <a:pPr marL="342900" indent="-342900" fontAlgn="base">
              <a:buFont typeface="Arial" panose="020B0604020202020204" pitchFamily="34" charset="0"/>
              <a:buChar char="•"/>
            </a:pPr>
            <a:r>
              <a:rPr lang="en-US" sz="2400" dirty="0">
                <a:solidFill>
                  <a:srgbClr val="202124"/>
                </a:solidFill>
                <a:latin typeface="Google Sans"/>
              </a:rPr>
              <a:t>Let us now take a close look at each of the phases and try to understand their significance.</a:t>
            </a:r>
            <a:endParaRPr lang="en-US" sz="2400" dirty="0"/>
          </a:p>
        </p:txBody>
      </p:sp>
      <p:sp>
        <p:nvSpPr>
          <p:cNvPr id="2" name="Rectangle 1"/>
          <p:cNvSpPr/>
          <p:nvPr/>
        </p:nvSpPr>
        <p:spPr>
          <a:xfrm>
            <a:off x="910436" y="930896"/>
            <a:ext cx="3320140" cy="461665"/>
          </a:xfrm>
          <a:prstGeom prst="rect">
            <a:avLst/>
          </a:prstGeom>
        </p:spPr>
        <p:txBody>
          <a:bodyPr wrap="none">
            <a:spAutoFit/>
          </a:bodyPr>
          <a:lstStyle/>
          <a:p>
            <a:r>
              <a:rPr lang="en-US" sz="2400" dirty="0"/>
              <a:t>How </a:t>
            </a:r>
            <a:r>
              <a:rPr lang="en-US" sz="2400" dirty="0" err="1"/>
              <a:t>MapReduce</a:t>
            </a:r>
            <a:r>
              <a:rPr lang="en-US" sz="2400" dirty="0"/>
              <a:t> Works?</a:t>
            </a:r>
          </a:p>
        </p:txBody>
      </p:sp>
    </p:spTree>
    <p:extLst>
      <p:ext uri="{BB962C8B-B14F-4D97-AF65-F5344CB8AC3E}">
        <p14:creationId xmlns:p14="http://schemas.microsoft.com/office/powerpoint/2010/main" val="218992389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Hadoop </a:t>
            </a:r>
            <a:r>
              <a:rPr lang="en-US" sz="2400" b="1" dirty="0" err="1"/>
              <a:t>MapReduce</a:t>
            </a:r>
            <a:endParaRPr lang="en-US" sz="2400" b="1" dirty="0"/>
          </a:p>
        </p:txBody>
      </p:sp>
      <p:sp>
        <p:nvSpPr>
          <p:cNvPr id="2" name="Rectangle 1"/>
          <p:cNvSpPr/>
          <p:nvPr/>
        </p:nvSpPr>
        <p:spPr>
          <a:xfrm>
            <a:off x="910436" y="930896"/>
            <a:ext cx="3320140" cy="461665"/>
          </a:xfrm>
          <a:prstGeom prst="rect">
            <a:avLst/>
          </a:prstGeom>
        </p:spPr>
        <p:txBody>
          <a:bodyPr wrap="none">
            <a:spAutoFit/>
          </a:bodyPr>
          <a:lstStyle/>
          <a:p>
            <a:r>
              <a:rPr lang="en-US" sz="2400" dirty="0"/>
              <a:t>How </a:t>
            </a:r>
            <a:r>
              <a:rPr lang="en-US" sz="2400" dirty="0" err="1"/>
              <a:t>MapReduce</a:t>
            </a:r>
            <a:r>
              <a:rPr lang="en-US" sz="2400" dirty="0"/>
              <a:t> Works?</a:t>
            </a:r>
          </a:p>
        </p:txBody>
      </p:sp>
      <p:pic>
        <p:nvPicPr>
          <p:cNvPr id="5" name="Picture 4"/>
          <p:cNvPicPr>
            <a:picLocks noChangeAspect="1"/>
          </p:cNvPicPr>
          <p:nvPr/>
        </p:nvPicPr>
        <p:blipFill>
          <a:blip r:embed="rId3"/>
          <a:stretch>
            <a:fillRect/>
          </a:stretch>
        </p:blipFill>
        <p:spPr>
          <a:xfrm>
            <a:off x="1741714" y="1392561"/>
            <a:ext cx="9873126" cy="5210837"/>
          </a:xfrm>
          <a:prstGeom prst="rect">
            <a:avLst/>
          </a:prstGeom>
        </p:spPr>
      </p:pic>
    </p:spTree>
    <p:extLst>
      <p:ext uri="{BB962C8B-B14F-4D97-AF65-F5344CB8AC3E}">
        <p14:creationId xmlns:p14="http://schemas.microsoft.com/office/powerpoint/2010/main" val="24581173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88321" y="110002"/>
            <a:ext cx="4247513" cy="461665"/>
          </a:xfrm>
          <a:prstGeom prst="rect">
            <a:avLst/>
          </a:prstGeom>
        </p:spPr>
        <p:txBody>
          <a:bodyPr wrap="square">
            <a:spAutoFit/>
          </a:bodyPr>
          <a:lstStyle/>
          <a:p>
            <a:r>
              <a:rPr lang="en-US" sz="2400" dirty="0"/>
              <a:t>How MapReduce Works?</a:t>
            </a:r>
          </a:p>
        </p:txBody>
      </p:sp>
      <p:sp>
        <p:nvSpPr>
          <p:cNvPr id="3" name="Rectangle 2"/>
          <p:cNvSpPr/>
          <p:nvPr/>
        </p:nvSpPr>
        <p:spPr>
          <a:xfrm>
            <a:off x="293914" y="815618"/>
            <a:ext cx="11898086" cy="6647974"/>
          </a:xfrm>
          <a:prstGeom prst="rect">
            <a:avLst/>
          </a:prstGeom>
        </p:spPr>
        <p:txBody>
          <a:bodyPr wrap="square">
            <a:spAutoFit/>
          </a:bodyPr>
          <a:lstStyle/>
          <a:p>
            <a:pPr algn="just">
              <a:lnSpc>
                <a:spcPct val="150000"/>
              </a:lnSpc>
            </a:pPr>
            <a:r>
              <a:rPr lang="en-US" sz="2000" b="1" dirty="0"/>
              <a:t>Input Phase </a:t>
            </a:r>
            <a:r>
              <a:rPr lang="en-US" sz="2000" dirty="0"/>
              <a:t>− Here we have a Record </a:t>
            </a:r>
            <a:r>
              <a:rPr lang="en-US" sz="2000" b="1" dirty="0"/>
              <a:t>Reader that translates each record in an input file and sends the parsed data t</a:t>
            </a:r>
            <a:r>
              <a:rPr lang="en-US" sz="2000" dirty="0"/>
              <a:t>o the mapper </a:t>
            </a:r>
            <a:r>
              <a:rPr lang="en-US" sz="2000" b="1" dirty="0"/>
              <a:t>in the form of key-value pairs</a:t>
            </a:r>
          </a:p>
          <a:p>
            <a:pPr algn="just">
              <a:lnSpc>
                <a:spcPct val="150000"/>
              </a:lnSpc>
            </a:pPr>
            <a:r>
              <a:rPr lang="en-US" sz="2000" dirty="0"/>
              <a:t>• </a:t>
            </a:r>
            <a:r>
              <a:rPr lang="en-US" sz="2000" b="1" dirty="0"/>
              <a:t>Map</a:t>
            </a:r>
            <a:r>
              <a:rPr lang="en-US" sz="2000" dirty="0"/>
              <a:t> − Map is a user-defined function, </a:t>
            </a:r>
            <a:r>
              <a:rPr lang="en-US" sz="2000" b="1" dirty="0"/>
              <a:t>which takes a series of key-value pairs and processes each one of them</a:t>
            </a:r>
            <a:r>
              <a:rPr lang="en-US" sz="2000" dirty="0"/>
              <a:t> to </a:t>
            </a:r>
            <a:r>
              <a:rPr lang="en-US" sz="2000" b="1" dirty="0"/>
              <a:t>generate zero or more key-value pairs</a:t>
            </a:r>
            <a:r>
              <a:rPr lang="en-US" sz="2000" dirty="0"/>
              <a:t>.</a:t>
            </a:r>
          </a:p>
          <a:p>
            <a:pPr algn="just">
              <a:lnSpc>
                <a:spcPct val="150000"/>
              </a:lnSpc>
            </a:pPr>
            <a:r>
              <a:rPr lang="en-US" sz="2000" b="1" dirty="0"/>
              <a:t>• Intermediate Keys </a:t>
            </a:r>
            <a:r>
              <a:rPr lang="en-US" sz="2000" dirty="0"/>
              <a:t>− They key-value pairs generated by the mapper are known as intermediate keys.</a:t>
            </a:r>
          </a:p>
          <a:p>
            <a:pPr algn="just">
              <a:lnSpc>
                <a:spcPct val="150000"/>
              </a:lnSpc>
            </a:pPr>
            <a:r>
              <a:rPr lang="en-US" sz="2000" dirty="0"/>
              <a:t>• </a:t>
            </a:r>
            <a:r>
              <a:rPr lang="en-US" sz="2000" b="1" dirty="0"/>
              <a:t>Combiner </a:t>
            </a:r>
            <a:r>
              <a:rPr lang="en-US" sz="2000" dirty="0"/>
              <a:t>− A combiner is a type of </a:t>
            </a:r>
            <a:r>
              <a:rPr lang="en-US" sz="2000" b="1" dirty="0"/>
              <a:t>local Reducer that groups similar data from the map phase into identifiable sets. It takes the intermediate keys </a:t>
            </a:r>
            <a:r>
              <a:rPr lang="en-US" sz="2000" dirty="0"/>
              <a:t>from the mapper as input and applies a user-defined code to </a:t>
            </a:r>
            <a:r>
              <a:rPr lang="en-US" sz="2000" b="1" dirty="0"/>
              <a:t>aggregate the values in a small scope of one mapper</a:t>
            </a:r>
            <a:r>
              <a:rPr lang="en-US" sz="2000" dirty="0"/>
              <a:t>. It is not a part of the main </a:t>
            </a:r>
            <a:r>
              <a:rPr lang="en-US" sz="2000" dirty="0" err="1"/>
              <a:t>MapReduce</a:t>
            </a:r>
            <a:r>
              <a:rPr lang="en-US" sz="2000" dirty="0"/>
              <a:t> algorithm; it is optional.</a:t>
            </a:r>
          </a:p>
          <a:p>
            <a:pPr algn="just">
              <a:lnSpc>
                <a:spcPct val="150000"/>
              </a:lnSpc>
            </a:pPr>
            <a:r>
              <a:rPr lang="en-US" sz="2000" b="1" dirty="0"/>
              <a:t>• Shuffle and Sort </a:t>
            </a:r>
            <a:r>
              <a:rPr lang="en-US" sz="2000" dirty="0"/>
              <a:t>− The Reducer task starts with the Shuffle and Sort step. </a:t>
            </a:r>
            <a:r>
              <a:rPr lang="en-US" sz="2000" b="1" dirty="0"/>
              <a:t>It downloads the grouped key-value pairs onto the local machine, where the Reducer is running</a:t>
            </a:r>
            <a:r>
              <a:rPr lang="en-US" sz="2000" dirty="0"/>
              <a:t>.</a:t>
            </a:r>
          </a:p>
          <a:p>
            <a:pPr algn="just">
              <a:lnSpc>
                <a:spcPct val="150000"/>
              </a:lnSpc>
            </a:pPr>
            <a:r>
              <a:rPr lang="en-US" sz="2000" dirty="0"/>
              <a:t> The individual </a:t>
            </a:r>
            <a:r>
              <a:rPr lang="en-US" sz="2000" b="1" dirty="0"/>
              <a:t>key-value pairs are sorted by key into a larger data list.</a:t>
            </a:r>
            <a:r>
              <a:rPr lang="en-US" sz="2000" dirty="0"/>
              <a:t> The data list groups the equivalent keys together so that their values can be iterated easily in the Reducer task.</a:t>
            </a:r>
          </a:p>
          <a:p>
            <a:endParaRPr lang="en-US" dirty="0"/>
          </a:p>
          <a:p>
            <a:pPr algn="just"/>
            <a:endParaRPr lang="en-US" dirty="0"/>
          </a:p>
        </p:txBody>
      </p:sp>
    </p:spTree>
    <p:extLst>
      <p:ext uri="{BB962C8B-B14F-4D97-AF65-F5344CB8AC3E}">
        <p14:creationId xmlns:p14="http://schemas.microsoft.com/office/powerpoint/2010/main" val="35333532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227BA-9177-73DD-0490-14BD6D4441A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4C853668-F4C4-9FD1-CA4C-B9162BAAECC8}"/>
              </a:ext>
            </a:extLst>
          </p:cNvPr>
          <p:cNvSpPr/>
          <p:nvPr/>
        </p:nvSpPr>
        <p:spPr>
          <a:xfrm>
            <a:off x="3344778" y="469231"/>
            <a:ext cx="4247513" cy="461665"/>
          </a:xfrm>
          <a:prstGeom prst="rect">
            <a:avLst/>
          </a:prstGeom>
        </p:spPr>
        <p:txBody>
          <a:bodyPr wrap="square">
            <a:spAutoFit/>
          </a:bodyPr>
          <a:lstStyle/>
          <a:p>
            <a:pPr algn="ctr"/>
            <a:r>
              <a:rPr lang="en-US" sz="2400" b="1" dirty="0"/>
              <a:t>Hadoop </a:t>
            </a:r>
            <a:r>
              <a:rPr lang="en-US" sz="2400" b="1" dirty="0" err="1"/>
              <a:t>MapReduce</a:t>
            </a:r>
            <a:endParaRPr lang="en-US" sz="2400" b="1" dirty="0"/>
          </a:p>
        </p:txBody>
      </p:sp>
      <p:sp>
        <p:nvSpPr>
          <p:cNvPr id="2" name="Rectangle 1">
            <a:extLst>
              <a:ext uri="{FF2B5EF4-FFF2-40B4-BE49-F238E27FC236}">
                <a16:creationId xmlns:a16="http://schemas.microsoft.com/office/drawing/2014/main" id="{9A42A9FE-6AD9-8489-442B-6D9F414339D3}"/>
              </a:ext>
            </a:extLst>
          </p:cNvPr>
          <p:cNvSpPr/>
          <p:nvPr/>
        </p:nvSpPr>
        <p:spPr>
          <a:xfrm>
            <a:off x="910436" y="930896"/>
            <a:ext cx="3320140" cy="461665"/>
          </a:xfrm>
          <a:prstGeom prst="rect">
            <a:avLst/>
          </a:prstGeom>
        </p:spPr>
        <p:txBody>
          <a:bodyPr wrap="none">
            <a:spAutoFit/>
          </a:bodyPr>
          <a:lstStyle/>
          <a:p>
            <a:r>
              <a:rPr lang="en-US" sz="2400" dirty="0"/>
              <a:t>How </a:t>
            </a:r>
            <a:r>
              <a:rPr lang="en-US" sz="2400" dirty="0" err="1"/>
              <a:t>MapReduce</a:t>
            </a:r>
            <a:r>
              <a:rPr lang="en-US" sz="2400" dirty="0"/>
              <a:t> Works?</a:t>
            </a:r>
          </a:p>
        </p:txBody>
      </p:sp>
      <p:sp>
        <p:nvSpPr>
          <p:cNvPr id="3" name="Rectangle 2">
            <a:extLst>
              <a:ext uri="{FF2B5EF4-FFF2-40B4-BE49-F238E27FC236}">
                <a16:creationId xmlns:a16="http://schemas.microsoft.com/office/drawing/2014/main" id="{34A26F8B-949A-6D44-3EC8-CC3243AA3907}"/>
              </a:ext>
            </a:extLst>
          </p:cNvPr>
          <p:cNvSpPr/>
          <p:nvPr/>
        </p:nvSpPr>
        <p:spPr>
          <a:xfrm>
            <a:off x="413084" y="1392561"/>
            <a:ext cx="11441459" cy="5078313"/>
          </a:xfrm>
          <a:prstGeom prst="rect">
            <a:avLst/>
          </a:prstGeom>
        </p:spPr>
        <p:txBody>
          <a:bodyPr wrap="square">
            <a:spAutoFit/>
          </a:bodyPr>
          <a:lstStyle/>
          <a:p>
            <a:endParaRPr lang="en-US" dirty="0"/>
          </a:p>
          <a:p>
            <a:pPr algn="just">
              <a:lnSpc>
                <a:spcPct val="150000"/>
              </a:lnSpc>
            </a:pPr>
            <a:r>
              <a:rPr lang="en-US" sz="2400" b="1" dirty="0"/>
              <a:t>Reducer </a:t>
            </a:r>
            <a:r>
              <a:rPr lang="en-US" sz="2400" dirty="0"/>
              <a:t>− The </a:t>
            </a:r>
            <a:r>
              <a:rPr lang="en-US" sz="2400" b="1" dirty="0"/>
              <a:t>Reducer takes the grouped key-value paired data as input and runs a Reducer function on each one of them.</a:t>
            </a:r>
            <a:r>
              <a:rPr lang="en-US" sz="2400" dirty="0"/>
              <a:t> </a:t>
            </a:r>
          </a:p>
          <a:p>
            <a:pPr algn="just">
              <a:lnSpc>
                <a:spcPct val="150000"/>
              </a:lnSpc>
            </a:pPr>
            <a:r>
              <a:rPr lang="en-US" sz="2400" dirty="0"/>
              <a:t>Here, </a:t>
            </a:r>
            <a:r>
              <a:rPr lang="en-US" sz="2400" b="1" dirty="0"/>
              <a:t>the data can be aggregated, filtered, and combined in a number of way</a:t>
            </a:r>
            <a:r>
              <a:rPr lang="en-US" sz="2400" dirty="0"/>
              <a:t>s, and it requires a wide range of processing. Once the execution is over, it gives zero or more key-value pairs to the final step. </a:t>
            </a:r>
          </a:p>
          <a:p>
            <a:pPr algn="just">
              <a:lnSpc>
                <a:spcPct val="150000"/>
              </a:lnSpc>
            </a:pPr>
            <a:r>
              <a:rPr lang="en-US" sz="2400" dirty="0"/>
              <a:t>• </a:t>
            </a:r>
            <a:r>
              <a:rPr lang="en-US" sz="2400" b="1" dirty="0"/>
              <a:t>Output Phase </a:t>
            </a:r>
            <a:r>
              <a:rPr lang="en-US" sz="2400" dirty="0"/>
              <a:t>− In the output phase, we have an output formatter that translates the </a:t>
            </a:r>
            <a:r>
              <a:rPr lang="en-US" sz="2400" b="1" dirty="0"/>
              <a:t>final key-value pairs from the Reducer function and writes them onto a file using a record writer. </a:t>
            </a:r>
          </a:p>
          <a:p>
            <a:pPr algn="just"/>
            <a:endParaRPr lang="en-US" dirty="0"/>
          </a:p>
        </p:txBody>
      </p:sp>
    </p:spTree>
    <p:extLst>
      <p:ext uri="{BB962C8B-B14F-4D97-AF65-F5344CB8AC3E}">
        <p14:creationId xmlns:p14="http://schemas.microsoft.com/office/powerpoint/2010/main" val="163516634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89284" y="502151"/>
            <a:ext cx="10515600" cy="4351338"/>
          </a:xfrm>
        </p:spPr>
        <p:txBody>
          <a:bodyPr>
            <a:normAutofit/>
          </a:bodyPr>
          <a:lstStyle/>
          <a:p>
            <a:r>
              <a:rPr lang="en-US" sz="2400" dirty="0"/>
              <a:t>Let us try to understand the two tasks Map &amp; Reduce with the help of a small diagram </a:t>
            </a:r>
          </a:p>
        </p:txBody>
      </p:sp>
      <p:pic>
        <p:nvPicPr>
          <p:cNvPr id="4" name="Picture 3"/>
          <p:cNvPicPr>
            <a:picLocks noChangeAspect="1"/>
          </p:cNvPicPr>
          <p:nvPr/>
        </p:nvPicPr>
        <p:blipFill>
          <a:blip r:embed="rId3"/>
          <a:stretch>
            <a:fillRect/>
          </a:stretch>
        </p:blipFill>
        <p:spPr>
          <a:xfrm>
            <a:off x="3766963" y="1912547"/>
            <a:ext cx="4658074" cy="3032906"/>
          </a:xfrm>
          <a:prstGeom prst="rect">
            <a:avLst/>
          </a:prstGeom>
        </p:spPr>
      </p:pic>
    </p:spTree>
    <p:extLst>
      <p:ext uri="{BB962C8B-B14F-4D97-AF65-F5344CB8AC3E}">
        <p14:creationId xmlns:p14="http://schemas.microsoft.com/office/powerpoint/2010/main" val="30418808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Hadoop </a:t>
            </a:r>
            <a:r>
              <a:rPr lang="en-US" sz="2400" b="1" dirty="0" err="1"/>
              <a:t>MapReduce</a:t>
            </a:r>
            <a:endParaRPr lang="en-US" sz="2400" b="1" dirty="0"/>
          </a:p>
        </p:txBody>
      </p:sp>
      <p:sp>
        <p:nvSpPr>
          <p:cNvPr id="2" name="Rectangle 1"/>
          <p:cNvSpPr/>
          <p:nvPr/>
        </p:nvSpPr>
        <p:spPr>
          <a:xfrm>
            <a:off x="910436" y="930896"/>
            <a:ext cx="10846135" cy="1200329"/>
          </a:xfrm>
          <a:prstGeom prst="rect">
            <a:avLst/>
          </a:prstGeom>
        </p:spPr>
        <p:txBody>
          <a:bodyPr wrap="square">
            <a:spAutoFit/>
          </a:bodyPr>
          <a:lstStyle/>
          <a:p>
            <a:r>
              <a:rPr lang="en-US" sz="2400" b="1" dirty="0"/>
              <a:t>The </a:t>
            </a:r>
            <a:r>
              <a:rPr lang="en-US" sz="2400" b="1" dirty="0" err="1"/>
              <a:t>Wordcount</a:t>
            </a:r>
            <a:r>
              <a:rPr lang="en-US" sz="2400" b="1" dirty="0"/>
              <a:t> Example </a:t>
            </a:r>
            <a:endParaRPr lang="en-US" sz="2400" dirty="0"/>
          </a:p>
          <a:p>
            <a:pPr algn="just"/>
            <a:r>
              <a:rPr lang="en-US" sz="2400" dirty="0"/>
              <a:t>The </a:t>
            </a:r>
            <a:r>
              <a:rPr lang="en-US" sz="2400" dirty="0" err="1"/>
              <a:t>Wordcount</a:t>
            </a:r>
            <a:r>
              <a:rPr lang="en-US" sz="2400" dirty="0"/>
              <a:t> application counts the number of occurrences of each word in a large collection of documents.</a:t>
            </a:r>
            <a:r>
              <a:rPr lang="en-US" dirty="0"/>
              <a:t> </a:t>
            </a:r>
            <a:endParaRPr lang="en-US" sz="2400" dirty="0"/>
          </a:p>
        </p:txBody>
      </p:sp>
      <p:sp>
        <p:nvSpPr>
          <p:cNvPr id="5" name="Rectangle 4"/>
          <p:cNvSpPr/>
          <p:nvPr/>
        </p:nvSpPr>
        <p:spPr>
          <a:xfrm>
            <a:off x="910436" y="2223558"/>
            <a:ext cx="10242838" cy="3785652"/>
          </a:xfrm>
          <a:prstGeom prst="rect">
            <a:avLst/>
          </a:prstGeom>
        </p:spPr>
        <p:txBody>
          <a:bodyPr wrap="square">
            <a:spAutoFit/>
          </a:bodyPr>
          <a:lstStyle/>
          <a:p>
            <a:pPr algn="just"/>
            <a:r>
              <a:rPr lang="en-US" sz="2400" b="1" dirty="0">
                <a:solidFill>
                  <a:srgbClr val="000000"/>
                </a:solidFill>
                <a:latin typeface="Times New Roman" panose="02020603050405020304" pitchFamily="18" charset="0"/>
              </a:rPr>
              <a:t>The steps of the process are briefly described as follows: </a:t>
            </a:r>
            <a:endParaRPr lang="en-US" sz="2400" dirty="0">
              <a:solidFill>
                <a:srgbClr val="000000"/>
              </a:solidFill>
              <a:latin typeface="Times New Roman" panose="02020603050405020304" pitchFamily="18" charset="0"/>
            </a:endParaRPr>
          </a:p>
          <a:p>
            <a:pPr algn="just"/>
            <a:r>
              <a:rPr lang="en-US" sz="2400" dirty="0">
                <a:solidFill>
                  <a:srgbClr val="000000"/>
                </a:solidFill>
                <a:latin typeface="Wingdings" panose="05000000000000000000" pitchFamily="2" charset="2"/>
              </a:rPr>
              <a:t> </a:t>
            </a:r>
            <a:r>
              <a:rPr lang="en-US" sz="2400" dirty="0">
                <a:solidFill>
                  <a:srgbClr val="000000"/>
                </a:solidFill>
                <a:latin typeface="Times New Roman" panose="02020603050405020304" pitchFamily="18" charset="0"/>
              </a:rPr>
              <a:t>The input is read and broken up into key/value pairs (e.g., the Map function emits a word and its associated count of occurrence, which is just “1”). </a:t>
            </a:r>
          </a:p>
          <a:p>
            <a:pPr algn="just"/>
            <a:endParaRPr lang="en-US" sz="2400" dirty="0">
              <a:solidFill>
                <a:srgbClr val="000000"/>
              </a:solidFill>
              <a:latin typeface="Times New Roman" panose="02020603050405020304" pitchFamily="18" charset="0"/>
            </a:endParaRPr>
          </a:p>
          <a:p>
            <a:pPr algn="just"/>
            <a:endParaRPr lang="en-US" sz="2400" dirty="0">
              <a:solidFill>
                <a:srgbClr val="000000"/>
              </a:solidFill>
              <a:latin typeface="Times New Roman" panose="02020603050405020304" pitchFamily="18" charset="0"/>
            </a:endParaRPr>
          </a:p>
          <a:p>
            <a:pPr algn="just"/>
            <a:r>
              <a:rPr lang="en-US" sz="2400" dirty="0">
                <a:solidFill>
                  <a:srgbClr val="000000"/>
                </a:solidFill>
                <a:latin typeface="Wingdings" panose="05000000000000000000" pitchFamily="2" charset="2"/>
              </a:rPr>
              <a:t> </a:t>
            </a:r>
            <a:r>
              <a:rPr lang="en-US" sz="2400" dirty="0">
                <a:solidFill>
                  <a:srgbClr val="000000"/>
                </a:solidFill>
                <a:latin typeface="Times New Roman" panose="02020603050405020304" pitchFamily="18" charset="0"/>
              </a:rPr>
              <a:t>The pairs are partitioned into groups for processing, and they are sorted according to their key as they arrive for reduction. </a:t>
            </a:r>
          </a:p>
          <a:p>
            <a:pPr algn="just"/>
            <a:r>
              <a:rPr lang="en-US" sz="2400" dirty="0">
                <a:solidFill>
                  <a:srgbClr val="000000"/>
                </a:solidFill>
                <a:latin typeface="Wingdings" panose="05000000000000000000" pitchFamily="2" charset="2"/>
              </a:rPr>
              <a:t> </a:t>
            </a:r>
            <a:r>
              <a:rPr lang="en-US" sz="2400" dirty="0">
                <a:solidFill>
                  <a:srgbClr val="000000"/>
                </a:solidFill>
                <a:latin typeface="Times New Roman" panose="02020603050405020304" pitchFamily="18" charset="0"/>
              </a:rPr>
              <a:t>Finally, the key/value pairs are reduced, once for each unique key in the sorted list, to produce a combined result (e.g., the Reduce function sums all the counts emitted for a particular word). </a:t>
            </a:r>
          </a:p>
        </p:txBody>
      </p:sp>
    </p:spTree>
    <p:extLst>
      <p:ext uri="{BB962C8B-B14F-4D97-AF65-F5344CB8AC3E}">
        <p14:creationId xmlns:p14="http://schemas.microsoft.com/office/powerpoint/2010/main" val="271915240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Hadoop </a:t>
            </a:r>
            <a:r>
              <a:rPr lang="en-US" sz="2400" b="1" dirty="0" err="1"/>
              <a:t>MapReduce</a:t>
            </a:r>
            <a:endParaRPr lang="en-US" sz="2400" b="1" dirty="0"/>
          </a:p>
        </p:txBody>
      </p:sp>
      <p:sp>
        <p:nvSpPr>
          <p:cNvPr id="2" name="Rectangle 1"/>
          <p:cNvSpPr/>
          <p:nvPr/>
        </p:nvSpPr>
        <p:spPr>
          <a:xfrm>
            <a:off x="910436" y="930896"/>
            <a:ext cx="2576859" cy="646331"/>
          </a:xfrm>
          <a:prstGeom prst="rect">
            <a:avLst/>
          </a:prstGeom>
        </p:spPr>
        <p:txBody>
          <a:bodyPr wrap="none">
            <a:spAutoFit/>
          </a:bodyPr>
          <a:lstStyle/>
          <a:p>
            <a:r>
              <a:rPr lang="en-US" b="1" dirty="0"/>
              <a:t>The </a:t>
            </a:r>
            <a:r>
              <a:rPr lang="en-US" b="1" dirty="0" err="1"/>
              <a:t>Wordcount</a:t>
            </a:r>
            <a:r>
              <a:rPr lang="en-US" b="1" dirty="0"/>
              <a:t> Example </a:t>
            </a:r>
            <a:endParaRPr lang="en-US" dirty="0"/>
          </a:p>
          <a:p>
            <a:r>
              <a:rPr lang="en-US" dirty="0"/>
              <a:t>. </a:t>
            </a:r>
            <a:endParaRPr lang="en-US" sz="2400" dirty="0"/>
          </a:p>
        </p:txBody>
      </p:sp>
      <p:sp>
        <p:nvSpPr>
          <p:cNvPr id="5" name="Rectangle 4"/>
          <p:cNvSpPr/>
          <p:nvPr/>
        </p:nvSpPr>
        <p:spPr>
          <a:xfrm>
            <a:off x="910436" y="1582341"/>
            <a:ext cx="10242838" cy="369332"/>
          </a:xfrm>
          <a:prstGeom prst="rect">
            <a:avLst/>
          </a:prstGeom>
        </p:spPr>
        <p:txBody>
          <a:bodyPr wrap="square">
            <a:spAutoFit/>
          </a:bodyPr>
          <a:lstStyle/>
          <a:p>
            <a:endParaRPr lang="en-US" dirty="0">
              <a:solidFill>
                <a:srgbClr val="000000"/>
              </a:solidFill>
              <a:latin typeface="Times New Roman" panose="02020603050405020304" pitchFamily="18" charset="0"/>
            </a:endParaRPr>
          </a:p>
        </p:txBody>
      </p:sp>
      <p:pic>
        <p:nvPicPr>
          <p:cNvPr id="3" name="Picture 2"/>
          <p:cNvPicPr>
            <a:picLocks noChangeAspect="1"/>
          </p:cNvPicPr>
          <p:nvPr/>
        </p:nvPicPr>
        <p:blipFill>
          <a:blip r:embed="rId3"/>
          <a:stretch>
            <a:fillRect/>
          </a:stretch>
        </p:blipFill>
        <p:spPr>
          <a:xfrm>
            <a:off x="319015" y="1392561"/>
            <a:ext cx="11425680" cy="4651870"/>
          </a:xfrm>
          <a:prstGeom prst="rect">
            <a:avLst/>
          </a:prstGeom>
        </p:spPr>
      </p:pic>
    </p:spTree>
    <p:extLst>
      <p:ext uri="{BB962C8B-B14F-4D97-AF65-F5344CB8AC3E}">
        <p14:creationId xmlns:p14="http://schemas.microsoft.com/office/powerpoint/2010/main" val="273037400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Hadoop </a:t>
            </a:r>
            <a:r>
              <a:rPr lang="en-US" sz="2400" b="1" dirty="0" err="1"/>
              <a:t>MapReduce</a:t>
            </a:r>
            <a:endParaRPr lang="en-US" sz="2400" b="1" dirty="0"/>
          </a:p>
        </p:txBody>
      </p:sp>
      <p:sp>
        <p:nvSpPr>
          <p:cNvPr id="2" name="Rectangle 1"/>
          <p:cNvSpPr/>
          <p:nvPr/>
        </p:nvSpPr>
        <p:spPr>
          <a:xfrm>
            <a:off x="910436" y="930896"/>
            <a:ext cx="2576859" cy="646331"/>
          </a:xfrm>
          <a:prstGeom prst="rect">
            <a:avLst/>
          </a:prstGeom>
        </p:spPr>
        <p:txBody>
          <a:bodyPr wrap="none">
            <a:spAutoFit/>
          </a:bodyPr>
          <a:lstStyle/>
          <a:p>
            <a:r>
              <a:rPr lang="en-US" b="1" dirty="0"/>
              <a:t>The </a:t>
            </a:r>
            <a:r>
              <a:rPr lang="en-US" b="1" dirty="0" err="1"/>
              <a:t>Wordcount</a:t>
            </a:r>
            <a:r>
              <a:rPr lang="en-US" b="1" dirty="0"/>
              <a:t> Example </a:t>
            </a:r>
            <a:endParaRPr lang="en-US" dirty="0"/>
          </a:p>
          <a:p>
            <a:r>
              <a:rPr lang="en-US" dirty="0"/>
              <a:t>. </a:t>
            </a:r>
            <a:endParaRPr lang="en-US" sz="2400" dirty="0"/>
          </a:p>
        </p:txBody>
      </p:sp>
      <p:sp>
        <p:nvSpPr>
          <p:cNvPr id="5" name="Rectangle 4"/>
          <p:cNvSpPr/>
          <p:nvPr/>
        </p:nvSpPr>
        <p:spPr>
          <a:xfrm>
            <a:off x="910436" y="1582341"/>
            <a:ext cx="10242838" cy="369332"/>
          </a:xfrm>
          <a:prstGeom prst="rect">
            <a:avLst/>
          </a:prstGeom>
        </p:spPr>
        <p:txBody>
          <a:bodyPr wrap="square">
            <a:spAutoFit/>
          </a:bodyPr>
          <a:lstStyle/>
          <a:p>
            <a:endParaRPr lang="en-US" dirty="0">
              <a:solidFill>
                <a:srgbClr val="000000"/>
              </a:solidFill>
              <a:latin typeface="Times New Roman" panose="02020603050405020304" pitchFamily="18" charset="0"/>
            </a:endParaRPr>
          </a:p>
        </p:txBody>
      </p:sp>
      <p:pic>
        <p:nvPicPr>
          <p:cNvPr id="6" name="Picture 5"/>
          <p:cNvPicPr>
            <a:picLocks noChangeAspect="1"/>
          </p:cNvPicPr>
          <p:nvPr/>
        </p:nvPicPr>
        <p:blipFill>
          <a:blip r:embed="rId3"/>
          <a:stretch>
            <a:fillRect/>
          </a:stretch>
        </p:blipFill>
        <p:spPr>
          <a:xfrm>
            <a:off x="0" y="2038892"/>
            <a:ext cx="12059708" cy="2845929"/>
          </a:xfrm>
          <a:prstGeom prst="rect">
            <a:avLst/>
          </a:prstGeom>
        </p:spPr>
      </p:pic>
    </p:spTree>
    <p:extLst>
      <p:ext uri="{BB962C8B-B14F-4D97-AF65-F5344CB8AC3E}">
        <p14:creationId xmlns:p14="http://schemas.microsoft.com/office/powerpoint/2010/main" val="219199062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Hadoop </a:t>
            </a:r>
            <a:r>
              <a:rPr lang="en-US" sz="2400" b="1" dirty="0" err="1"/>
              <a:t>MapReduce</a:t>
            </a:r>
            <a:endParaRPr lang="en-US" sz="2400" b="1" dirty="0"/>
          </a:p>
        </p:txBody>
      </p:sp>
      <p:sp>
        <p:nvSpPr>
          <p:cNvPr id="2" name="Rectangle 1"/>
          <p:cNvSpPr/>
          <p:nvPr/>
        </p:nvSpPr>
        <p:spPr>
          <a:xfrm>
            <a:off x="910436" y="930896"/>
            <a:ext cx="2576859" cy="646331"/>
          </a:xfrm>
          <a:prstGeom prst="rect">
            <a:avLst/>
          </a:prstGeom>
        </p:spPr>
        <p:txBody>
          <a:bodyPr wrap="none">
            <a:spAutoFit/>
          </a:bodyPr>
          <a:lstStyle/>
          <a:p>
            <a:r>
              <a:rPr lang="en-US" b="1" dirty="0"/>
              <a:t>The </a:t>
            </a:r>
            <a:r>
              <a:rPr lang="en-US" b="1" dirty="0" err="1"/>
              <a:t>Wordcount</a:t>
            </a:r>
            <a:r>
              <a:rPr lang="en-US" b="1" dirty="0"/>
              <a:t> Example </a:t>
            </a:r>
            <a:endParaRPr lang="en-US" dirty="0"/>
          </a:p>
          <a:p>
            <a:r>
              <a:rPr lang="en-US" dirty="0"/>
              <a:t>. </a:t>
            </a:r>
            <a:endParaRPr lang="en-US" sz="2400" dirty="0"/>
          </a:p>
        </p:txBody>
      </p:sp>
      <p:sp>
        <p:nvSpPr>
          <p:cNvPr id="5" name="Rectangle 4"/>
          <p:cNvSpPr/>
          <p:nvPr/>
        </p:nvSpPr>
        <p:spPr>
          <a:xfrm>
            <a:off x="910436" y="1582341"/>
            <a:ext cx="10242838" cy="369332"/>
          </a:xfrm>
          <a:prstGeom prst="rect">
            <a:avLst/>
          </a:prstGeom>
        </p:spPr>
        <p:txBody>
          <a:bodyPr wrap="square">
            <a:spAutoFit/>
          </a:bodyPr>
          <a:lstStyle/>
          <a:p>
            <a:endParaRPr lang="en-US" dirty="0">
              <a:solidFill>
                <a:srgbClr val="000000"/>
              </a:solidFill>
              <a:latin typeface="Times New Roman" panose="02020603050405020304" pitchFamily="18" charset="0"/>
            </a:endParaRPr>
          </a:p>
        </p:txBody>
      </p:sp>
      <p:sp>
        <p:nvSpPr>
          <p:cNvPr id="3" name="Rectangle 2"/>
          <p:cNvSpPr/>
          <p:nvPr/>
        </p:nvSpPr>
        <p:spPr>
          <a:xfrm>
            <a:off x="910436" y="1767007"/>
            <a:ext cx="6096000" cy="4247317"/>
          </a:xfrm>
          <a:prstGeom prst="rect">
            <a:avLst/>
          </a:prstGeom>
        </p:spPr>
        <p:txBody>
          <a:bodyPr>
            <a:spAutoFit/>
          </a:bodyPr>
          <a:lstStyle/>
          <a:p>
            <a:r>
              <a:rPr lang="en-US" b="1" dirty="0">
                <a:solidFill>
                  <a:srgbClr val="000000"/>
                </a:solidFill>
                <a:latin typeface="Times New Roman" panose="02020603050405020304" pitchFamily="18" charset="0"/>
              </a:rPr>
              <a:t># mapper.py </a:t>
            </a:r>
            <a:endParaRPr lang="en-US" dirty="0">
              <a:solidFill>
                <a:srgbClr val="000000"/>
              </a:solidFill>
              <a:latin typeface="Times New Roman" panose="02020603050405020304" pitchFamily="18" charset="0"/>
            </a:endParaRPr>
          </a:p>
          <a:p>
            <a:r>
              <a:rPr lang="en-US" dirty="0">
                <a:solidFill>
                  <a:srgbClr val="000000"/>
                </a:solidFill>
                <a:latin typeface="Times New Roman" panose="02020603050405020304" pitchFamily="18" charset="0"/>
              </a:rPr>
              <a:t>import sys </a:t>
            </a:r>
          </a:p>
          <a:p>
            <a:r>
              <a:rPr lang="en-US" dirty="0">
                <a:solidFill>
                  <a:srgbClr val="000000"/>
                </a:solidFill>
                <a:latin typeface="Times New Roman" panose="02020603050405020304" pitchFamily="18" charset="0"/>
              </a:rPr>
              <a:t># input comes from STDIN (standard input) </a:t>
            </a:r>
          </a:p>
          <a:p>
            <a:r>
              <a:rPr lang="en-US" dirty="0">
                <a:solidFill>
                  <a:srgbClr val="000000"/>
                </a:solidFill>
                <a:latin typeface="Times New Roman" panose="02020603050405020304" pitchFamily="18" charset="0"/>
              </a:rPr>
              <a:t>for line in </a:t>
            </a:r>
            <a:r>
              <a:rPr lang="en-US" dirty="0" err="1">
                <a:solidFill>
                  <a:srgbClr val="000000"/>
                </a:solidFill>
                <a:latin typeface="Times New Roman" panose="02020603050405020304" pitchFamily="18" charset="0"/>
              </a:rPr>
              <a:t>sys.stdin</a:t>
            </a:r>
            <a:r>
              <a:rPr lang="en-US" dirty="0">
                <a:solidFill>
                  <a:srgbClr val="000000"/>
                </a:solidFill>
                <a:latin typeface="Times New Roman" panose="02020603050405020304" pitchFamily="18" charset="0"/>
              </a:rPr>
              <a:t>: </a:t>
            </a:r>
          </a:p>
          <a:p>
            <a:r>
              <a:rPr lang="en-US" dirty="0">
                <a:solidFill>
                  <a:srgbClr val="000000"/>
                </a:solidFill>
                <a:latin typeface="Times New Roman" panose="02020603050405020304" pitchFamily="18" charset="0"/>
              </a:rPr>
              <a:t># remove leading and trailing whitespace </a:t>
            </a:r>
          </a:p>
          <a:p>
            <a:r>
              <a:rPr lang="en-US" dirty="0">
                <a:solidFill>
                  <a:srgbClr val="000000"/>
                </a:solidFill>
                <a:latin typeface="Times New Roman" panose="02020603050405020304" pitchFamily="18" charset="0"/>
              </a:rPr>
              <a:t>line = </a:t>
            </a:r>
            <a:r>
              <a:rPr lang="en-US" dirty="0" err="1">
                <a:solidFill>
                  <a:srgbClr val="000000"/>
                </a:solidFill>
                <a:latin typeface="Times New Roman" panose="02020603050405020304" pitchFamily="18" charset="0"/>
              </a:rPr>
              <a:t>line.strip</a:t>
            </a:r>
            <a:r>
              <a:rPr lang="en-US" dirty="0">
                <a:solidFill>
                  <a:srgbClr val="000000"/>
                </a:solidFill>
                <a:latin typeface="Times New Roman" panose="02020603050405020304" pitchFamily="18" charset="0"/>
              </a:rPr>
              <a:t>() </a:t>
            </a:r>
          </a:p>
          <a:p>
            <a:r>
              <a:rPr lang="en-US" dirty="0">
                <a:solidFill>
                  <a:srgbClr val="000000"/>
                </a:solidFill>
                <a:latin typeface="Times New Roman" panose="02020603050405020304" pitchFamily="18" charset="0"/>
              </a:rPr>
              <a:t># split the line into words </a:t>
            </a:r>
          </a:p>
          <a:p>
            <a:r>
              <a:rPr lang="en-US" dirty="0">
                <a:solidFill>
                  <a:srgbClr val="000000"/>
                </a:solidFill>
                <a:latin typeface="Times New Roman" panose="02020603050405020304" pitchFamily="18" charset="0"/>
              </a:rPr>
              <a:t>words = </a:t>
            </a:r>
            <a:r>
              <a:rPr lang="en-US" dirty="0" err="1">
                <a:solidFill>
                  <a:srgbClr val="000000"/>
                </a:solidFill>
                <a:latin typeface="Times New Roman" panose="02020603050405020304" pitchFamily="18" charset="0"/>
              </a:rPr>
              <a:t>line.split</a:t>
            </a:r>
            <a:r>
              <a:rPr lang="en-US" dirty="0">
                <a:solidFill>
                  <a:srgbClr val="000000"/>
                </a:solidFill>
                <a:latin typeface="Times New Roman" panose="02020603050405020304" pitchFamily="18" charset="0"/>
              </a:rPr>
              <a:t>() </a:t>
            </a:r>
          </a:p>
          <a:p>
            <a:r>
              <a:rPr lang="en-US" dirty="0">
                <a:solidFill>
                  <a:srgbClr val="000000"/>
                </a:solidFill>
                <a:latin typeface="Times New Roman" panose="02020603050405020304" pitchFamily="18" charset="0"/>
              </a:rPr>
              <a:t># increase counters </a:t>
            </a:r>
          </a:p>
          <a:p>
            <a:r>
              <a:rPr lang="en-US" dirty="0">
                <a:solidFill>
                  <a:srgbClr val="000000"/>
                </a:solidFill>
                <a:latin typeface="Times New Roman" panose="02020603050405020304" pitchFamily="18" charset="0"/>
              </a:rPr>
              <a:t>for word in words: </a:t>
            </a:r>
          </a:p>
          <a:p>
            <a:r>
              <a:rPr lang="en-US" dirty="0">
                <a:solidFill>
                  <a:srgbClr val="000000"/>
                </a:solidFill>
                <a:latin typeface="Times New Roman" panose="02020603050405020304" pitchFamily="18" charset="0"/>
              </a:rPr>
              <a:t># write the results to STDOUT (standard output); </a:t>
            </a:r>
          </a:p>
          <a:p>
            <a:r>
              <a:rPr lang="en-US" dirty="0">
                <a:solidFill>
                  <a:srgbClr val="000000"/>
                </a:solidFill>
                <a:latin typeface="Times New Roman" panose="02020603050405020304" pitchFamily="18" charset="0"/>
              </a:rPr>
              <a:t># what we output here will be the input for the </a:t>
            </a:r>
          </a:p>
          <a:p>
            <a:r>
              <a:rPr lang="en-US" dirty="0">
                <a:solidFill>
                  <a:srgbClr val="000000"/>
                </a:solidFill>
                <a:latin typeface="Times New Roman" panose="02020603050405020304" pitchFamily="18" charset="0"/>
              </a:rPr>
              <a:t># Reduce step, i.e. the input for reducer.py # </a:t>
            </a:r>
          </a:p>
          <a:p>
            <a:r>
              <a:rPr lang="en-US" dirty="0">
                <a:solidFill>
                  <a:srgbClr val="000000"/>
                </a:solidFill>
                <a:latin typeface="Times New Roman" panose="02020603050405020304" pitchFamily="18" charset="0"/>
              </a:rPr>
              <a:t># tab-delimited; the trivial word count is 1 </a:t>
            </a:r>
          </a:p>
          <a:p>
            <a:r>
              <a:rPr lang="en-US" dirty="0">
                <a:solidFill>
                  <a:srgbClr val="000000"/>
                </a:solidFill>
                <a:latin typeface="Times New Roman" panose="02020603050405020304" pitchFamily="18" charset="0"/>
              </a:rPr>
              <a:t>print("%s\t\</a:t>
            </a:r>
            <a:r>
              <a:rPr lang="en-US" dirty="0" err="1">
                <a:solidFill>
                  <a:srgbClr val="000000"/>
                </a:solidFill>
                <a:latin typeface="Times New Roman" panose="02020603050405020304" pitchFamily="18" charset="0"/>
              </a:rPr>
              <a:t>t%s</a:t>
            </a:r>
            <a:r>
              <a:rPr lang="en-US" dirty="0">
                <a:solidFill>
                  <a:srgbClr val="000000"/>
                </a:solidFill>
                <a:latin typeface="Times New Roman" panose="02020603050405020304" pitchFamily="18" charset="0"/>
              </a:rPr>
              <a:t>" %(word, 1)) </a:t>
            </a:r>
            <a:endParaRPr lang="en-US" dirty="0"/>
          </a:p>
        </p:txBody>
      </p:sp>
      <p:sp>
        <p:nvSpPr>
          <p:cNvPr id="7" name="Rectangle 6"/>
          <p:cNvSpPr/>
          <p:nvPr/>
        </p:nvSpPr>
        <p:spPr>
          <a:xfrm>
            <a:off x="5955631" y="1058778"/>
            <a:ext cx="6062005" cy="8956298"/>
          </a:xfrm>
          <a:prstGeom prst="rect">
            <a:avLst/>
          </a:prstGeom>
        </p:spPr>
        <p:txBody>
          <a:bodyPr wrap="square">
            <a:spAutoFit/>
          </a:bodyPr>
          <a:lstStyle/>
          <a:p>
            <a:r>
              <a:rPr lang="en-US" b="1" dirty="0">
                <a:solidFill>
                  <a:srgbClr val="000000"/>
                </a:solidFill>
                <a:latin typeface="Times New Roman" panose="02020603050405020304" pitchFamily="18" charset="0"/>
              </a:rPr>
              <a:t># Reducer.py </a:t>
            </a:r>
            <a:endParaRPr lang="en-US" dirty="0">
              <a:solidFill>
                <a:srgbClr val="000000"/>
              </a:solidFill>
              <a:latin typeface="Times New Roman" panose="02020603050405020304" pitchFamily="18" charset="0"/>
            </a:endParaRPr>
          </a:p>
          <a:p>
            <a:r>
              <a:rPr lang="en-US" dirty="0">
                <a:solidFill>
                  <a:srgbClr val="000000"/>
                </a:solidFill>
                <a:latin typeface="Times New Roman" panose="02020603050405020304" pitchFamily="18" charset="0"/>
              </a:rPr>
              <a:t>from operator import </a:t>
            </a:r>
            <a:r>
              <a:rPr lang="en-US" dirty="0" err="1">
                <a:solidFill>
                  <a:srgbClr val="000000"/>
                </a:solidFill>
                <a:latin typeface="Times New Roman" panose="02020603050405020304" pitchFamily="18" charset="0"/>
              </a:rPr>
              <a:t>itemgetter</a:t>
            </a:r>
            <a:r>
              <a:rPr lang="en-US" dirty="0">
                <a:solidFill>
                  <a:srgbClr val="000000"/>
                </a:solidFill>
                <a:latin typeface="Times New Roman" panose="02020603050405020304" pitchFamily="18" charset="0"/>
              </a:rPr>
              <a:t> </a:t>
            </a:r>
          </a:p>
          <a:p>
            <a:r>
              <a:rPr lang="en-US" dirty="0">
                <a:solidFill>
                  <a:srgbClr val="000000"/>
                </a:solidFill>
                <a:latin typeface="Times New Roman" panose="02020603050405020304" pitchFamily="18" charset="0"/>
              </a:rPr>
              <a:t>import sys </a:t>
            </a:r>
          </a:p>
          <a:p>
            <a:r>
              <a:rPr lang="en-US" dirty="0" err="1">
                <a:solidFill>
                  <a:srgbClr val="000000"/>
                </a:solidFill>
                <a:latin typeface="Times New Roman" panose="02020603050405020304" pitchFamily="18" charset="0"/>
              </a:rPr>
              <a:t>current_word</a:t>
            </a:r>
            <a:r>
              <a:rPr lang="en-US" dirty="0">
                <a:solidFill>
                  <a:srgbClr val="000000"/>
                </a:solidFill>
                <a:latin typeface="Times New Roman" panose="02020603050405020304" pitchFamily="18" charset="0"/>
              </a:rPr>
              <a:t> = None </a:t>
            </a:r>
          </a:p>
          <a:p>
            <a:r>
              <a:rPr lang="en-US" dirty="0" err="1">
                <a:solidFill>
                  <a:srgbClr val="000000"/>
                </a:solidFill>
                <a:latin typeface="Times New Roman" panose="02020603050405020304" pitchFamily="18" charset="0"/>
              </a:rPr>
              <a:t>current_count</a:t>
            </a:r>
            <a:r>
              <a:rPr lang="en-US" dirty="0">
                <a:solidFill>
                  <a:srgbClr val="000000"/>
                </a:solidFill>
                <a:latin typeface="Times New Roman" panose="02020603050405020304" pitchFamily="18" charset="0"/>
              </a:rPr>
              <a:t> = 0 </a:t>
            </a:r>
          </a:p>
          <a:p>
            <a:r>
              <a:rPr lang="en-US" dirty="0">
                <a:solidFill>
                  <a:srgbClr val="000000"/>
                </a:solidFill>
                <a:latin typeface="Times New Roman" panose="02020603050405020304" pitchFamily="18" charset="0"/>
              </a:rPr>
              <a:t>word = None </a:t>
            </a:r>
          </a:p>
          <a:p>
            <a:r>
              <a:rPr lang="en-US" dirty="0">
                <a:solidFill>
                  <a:srgbClr val="000000"/>
                </a:solidFill>
                <a:latin typeface="Times New Roman" panose="02020603050405020304" pitchFamily="18" charset="0"/>
              </a:rPr>
              <a:t># input comes from STDIN </a:t>
            </a:r>
          </a:p>
          <a:p>
            <a:r>
              <a:rPr lang="en-US" dirty="0">
                <a:solidFill>
                  <a:srgbClr val="000000"/>
                </a:solidFill>
                <a:latin typeface="Times New Roman" panose="02020603050405020304" pitchFamily="18" charset="0"/>
              </a:rPr>
              <a:t>for line in </a:t>
            </a:r>
            <a:r>
              <a:rPr lang="en-US" dirty="0" err="1">
                <a:solidFill>
                  <a:srgbClr val="000000"/>
                </a:solidFill>
                <a:latin typeface="Times New Roman" panose="02020603050405020304" pitchFamily="18" charset="0"/>
              </a:rPr>
              <a:t>sys.stdin</a:t>
            </a:r>
            <a:r>
              <a:rPr lang="en-US" dirty="0">
                <a:solidFill>
                  <a:srgbClr val="000000"/>
                </a:solidFill>
                <a:latin typeface="Times New Roman" panose="02020603050405020304" pitchFamily="18" charset="0"/>
              </a:rPr>
              <a:t>: </a:t>
            </a:r>
          </a:p>
          <a:p>
            <a:r>
              <a:rPr lang="en-US" dirty="0">
                <a:solidFill>
                  <a:srgbClr val="000000"/>
                </a:solidFill>
                <a:latin typeface="Times New Roman" panose="02020603050405020304" pitchFamily="18" charset="0"/>
              </a:rPr>
              <a:t># remove leading and trailing whitespace </a:t>
            </a:r>
          </a:p>
          <a:p>
            <a:r>
              <a:rPr lang="en-US" dirty="0">
                <a:solidFill>
                  <a:srgbClr val="000000"/>
                </a:solidFill>
                <a:latin typeface="Times New Roman" panose="02020603050405020304" pitchFamily="18" charset="0"/>
              </a:rPr>
              <a:t>line = </a:t>
            </a:r>
            <a:r>
              <a:rPr lang="en-US" dirty="0" err="1">
                <a:solidFill>
                  <a:srgbClr val="000000"/>
                </a:solidFill>
                <a:latin typeface="Times New Roman" panose="02020603050405020304" pitchFamily="18" charset="0"/>
              </a:rPr>
              <a:t>line.strip</a:t>
            </a:r>
            <a:r>
              <a:rPr lang="en-US" dirty="0">
                <a:solidFill>
                  <a:srgbClr val="000000"/>
                </a:solidFill>
                <a:latin typeface="Times New Roman" panose="02020603050405020304" pitchFamily="18" charset="0"/>
              </a:rPr>
              <a:t>() </a:t>
            </a:r>
          </a:p>
          <a:p>
            <a:r>
              <a:rPr lang="en-US" dirty="0">
                <a:solidFill>
                  <a:srgbClr val="000000"/>
                </a:solidFill>
                <a:latin typeface="Times New Roman" panose="02020603050405020304" pitchFamily="18" charset="0"/>
              </a:rPr>
              <a:t># parse the input we got from mapper.py </a:t>
            </a:r>
          </a:p>
          <a:p>
            <a:r>
              <a:rPr lang="en-US" dirty="0">
                <a:solidFill>
                  <a:srgbClr val="000000"/>
                </a:solidFill>
                <a:latin typeface="Times New Roman" panose="02020603050405020304" pitchFamily="18" charset="0"/>
              </a:rPr>
              <a:t>word, count = </a:t>
            </a:r>
            <a:r>
              <a:rPr lang="en-US" dirty="0" err="1">
                <a:solidFill>
                  <a:srgbClr val="000000"/>
                </a:solidFill>
                <a:latin typeface="Times New Roman" panose="02020603050405020304" pitchFamily="18" charset="0"/>
              </a:rPr>
              <a:t>line.split</a:t>
            </a:r>
            <a:r>
              <a:rPr lang="en-US" dirty="0">
                <a:solidFill>
                  <a:srgbClr val="000000"/>
                </a:solidFill>
                <a:latin typeface="Times New Roman" panose="02020603050405020304" pitchFamily="18" charset="0"/>
              </a:rPr>
              <a:t>('\t', 1) </a:t>
            </a:r>
          </a:p>
          <a:p>
            <a:r>
              <a:rPr lang="en-US" dirty="0">
                <a:solidFill>
                  <a:srgbClr val="000000"/>
                </a:solidFill>
                <a:latin typeface="Times New Roman" panose="02020603050405020304" pitchFamily="18" charset="0"/>
              </a:rPr>
              <a:t># convert count (currently a string) to </a:t>
            </a:r>
            <a:r>
              <a:rPr lang="en-US" dirty="0" err="1">
                <a:solidFill>
                  <a:srgbClr val="000000"/>
                </a:solidFill>
                <a:latin typeface="Times New Roman" panose="02020603050405020304" pitchFamily="18" charset="0"/>
              </a:rPr>
              <a:t>int</a:t>
            </a:r>
            <a:r>
              <a:rPr lang="en-US" dirty="0">
                <a:solidFill>
                  <a:srgbClr val="000000"/>
                </a:solidFill>
                <a:latin typeface="Times New Roman" panose="02020603050405020304" pitchFamily="18" charset="0"/>
              </a:rPr>
              <a:t> </a:t>
            </a:r>
          </a:p>
          <a:p>
            <a:r>
              <a:rPr lang="en-US" dirty="0">
                <a:solidFill>
                  <a:srgbClr val="000000"/>
                </a:solidFill>
                <a:latin typeface="Times New Roman" panose="02020603050405020304" pitchFamily="18" charset="0"/>
              </a:rPr>
              <a:t>try: </a:t>
            </a:r>
          </a:p>
          <a:p>
            <a:r>
              <a:rPr lang="en-US" dirty="0">
                <a:solidFill>
                  <a:srgbClr val="000000"/>
                </a:solidFill>
                <a:latin typeface="Times New Roman" panose="02020603050405020304" pitchFamily="18" charset="0"/>
              </a:rPr>
              <a:t>count = </a:t>
            </a:r>
            <a:r>
              <a:rPr lang="en-US" dirty="0" err="1">
                <a:solidFill>
                  <a:srgbClr val="000000"/>
                </a:solidFill>
                <a:latin typeface="Times New Roman" panose="02020603050405020304" pitchFamily="18" charset="0"/>
              </a:rPr>
              <a:t>int</a:t>
            </a:r>
            <a:r>
              <a:rPr lang="en-US" dirty="0">
                <a:solidFill>
                  <a:srgbClr val="000000"/>
                </a:solidFill>
                <a:latin typeface="Times New Roman" panose="02020603050405020304" pitchFamily="18" charset="0"/>
              </a:rPr>
              <a:t>(count) </a:t>
            </a:r>
          </a:p>
          <a:p>
            <a:r>
              <a:rPr lang="en-US" dirty="0">
                <a:solidFill>
                  <a:srgbClr val="000000"/>
                </a:solidFill>
                <a:latin typeface="Times New Roman" panose="02020603050405020304" pitchFamily="18" charset="0"/>
              </a:rPr>
              <a:t>except </a:t>
            </a:r>
            <a:r>
              <a:rPr lang="en-US" dirty="0" err="1">
                <a:solidFill>
                  <a:srgbClr val="000000"/>
                </a:solidFill>
                <a:latin typeface="Times New Roman" panose="02020603050405020304" pitchFamily="18" charset="0"/>
              </a:rPr>
              <a:t>ValueError</a:t>
            </a:r>
            <a:r>
              <a:rPr lang="en-US" dirty="0">
                <a:solidFill>
                  <a:srgbClr val="000000"/>
                </a:solidFill>
                <a:latin typeface="Times New Roman" panose="02020603050405020304" pitchFamily="18" charset="0"/>
              </a:rPr>
              <a:t>: </a:t>
            </a:r>
          </a:p>
          <a:p>
            <a:r>
              <a:rPr lang="en-US" dirty="0">
                <a:solidFill>
                  <a:srgbClr val="000000"/>
                </a:solidFill>
                <a:latin typeface="Times New Roman" panose="02020603050405020304" pitchFamily="18" charset="0"/>
              </a:rPr>
              <a:t># count was not a number, so silently </a:t>
            </a:r>
          </a:p>
          <a:p>
            <a:r>
              <a:rPr lang="en-US" dirty="0">
                <a:solidFill>
                  <a:srgbClr val="000000"/>
                </a:solidFill>
                <a:latin typeface="Times New Roman" panose="02020603050405020304" pitchFamily="18" charset="0"/>
              </a:rPr>
              <a:t># ignore/discard this line </a:t>
            </a:r>
          </a:p>
          <a:p>
            <a:r>
              <a:rPr lang="en-US" dirty="0">
                <a:solidFill>
                  <a:srgbClr val="000000"/>
                </a:solidFill>
                <a:latin typeface="Times New Roman" panose="02020603050405020304" pitchFamily="18" charset="0"/>
              </a:rPr>
              <a:t>continue </a:t>
            </a:r>
          </a:p>
          <a:p>
            <a:r>
              <a:rPr lang="en-US" dirty="0">
                <a:solidFill>
                  <a:srgbClr val="000000"/>
                </a:solidFill>
                <a:latin typeface="Times New Roman" panose="02020603050405020304" pitchFamily="18" charset="0"/>
              </a:rPr>
              <a:t># this IF-switch only works because Hadoop sorts map output </a:t>
            </a:r>
          </a:p>
          <a:p>
            <a:r>
              <a:rPr lang="en-US" dirty="0">
                <a:solidFill>
                  <a:srgbClr val="000000"/>
                </a:solidFill>
                <a:latin typeface="Times New Roman" panose="02020603050405020304" pitchFamily="18" charset="0"/>
              </a:rPr>
              <a:t># by key (here: word) before it is passed to the reducer </a:t>
            </a:r>
          </a:p>
          <a:p>
            <a:r>
              <a:rPr lang="en-US" dirty="0">
                <a:solidFill>
                  <a:srgbClr val="000000"/>
                </a:solidFill>
                <a:latin typeface="Times New Roman" panose="02020603050405020304" pitchFamily="18" charset="0"/>
              </a:rPr>
              <a:t>if </a:t>
            </a:r>
            <a:r>
              <a:rPr lang="en-US" dirty="0" err="1">
                <a:solidFill>
                  <a:srgbClr val="000000"/>
                </a:solidFill>
                <a:latin typeface="Times New Roman" panose="02020603050405020304" pitchFamily="18" charset="0"/>
              </a:rPr>
              <a:t>current_word</a:t>
            </a:r>
            <a:r>
              <a:rPr lang="en-US" dirty="0">
                <a:solidFill>
                  <a:srgbClr val="000000"/>
                </a:solidFill>
                <a:latin typeface="Times New Roman" panose="02020603050405020304" pitchFamily="18" charset="0"/>
              </a:rPr>
              <a:t> == word: </a:t>
            </a:r>
          </a:p>
          <a:p>
            <a:r>
              <a:rPr lang="en-US" dirty="0" err="1">
                <a:solidFill>
                  <a:srgbClr val="000000"/>
                </a:solidFill>
                <a:latin typeface="Times New Roman" panose="02020603050405020304" pitchFamily="18" charset="0"/>
              </a:rPr>
              <a:t>current_count</a:t>
            </a:r>
            <a:r>
              <a:rPr lang="en-US" dirty="0">
                <a:solidFill>
                  <a:srgbClr val="000000"/>
                </a:solidFill>
                <a:latin typeface="Times New Roman" panose="02020603050405020304" pitchFamily="18" charset="0"/>
              </a:rPr>
              <a:t> += count </a:t>
            </a:r>
          </a:p>
          <a:p>
            <a:r>
              <a:rPr lang="en-US" dirty="0">
                <a:solidFill>
                  <a:srgbClr val="000000"/>
                </a:solidFill>
                <a:latin typeface="Times New Roman" panose="02020603050405020304" pitchFamily="18" charset="0"/>
              </a:rPr>
              <a:t>else: </a:t>
            </a:r>
          </a:p>
          <a:p>
            <a:r>
              <a:rPr lang="en-US" dirty="0">
                <a:solidFill>
                  <a:srgbClr val="000000"/>
                </a:solidFill>
                <a:latin typeface="Times New Roman" panose="02020603050405020304" pitchFamily="18" charset="0"/>
              </a:rPr>
              <a:t>if </a:t>
            </a:r>
            <a:r>
              <a:rPr lang="en-US" dirty="0" err="1">
                <a:solidFill>
                  <a:srgbClr val="000000"/>
                </a:solidFill>
                <a:latin typeface="Times New Roman" panose="02020603050405020304" pitchFamily="18" charset="0"/>
              </a:rPr>
              <a:t>current_word</a:t>
            </a:r>
            <a:r>
              <a:rPr lang="en-US" dirty="0">
                <a:solidFill>
                  <a:srgbClr val="000000"/>
                </a:solidFill>
                <a:latin typeface="Times New Roman" panose="02020603050405020304" pitchFamily="18" charset="0"/>
              </a:rPr>
              <a:t>: </a:t>
            </a:r>
          </a:p>
          <a:p>
            <a:r>
              <a:rPr lang="en-US" dirty="0">
                <a:solidFill>
                  <a:srgbClr val="000000"/>
                </a:solidFill>
                <a:latin typeface="Times New Roman" panose="02020603050405020304" pitchFamily="18" charset="0"/>
              </a:rPr>
              <a:t># write result to STDOUT </a:t>
            </a:r>
          </a:p>
          <a:p>
            <a:r>
              <a:rPr lang="en-US" dirty="0">
                <a:solidFill>
                  <a:srgbClr val="000000"/>
                </a:solidFill>
                <a:latin typeface="Times New Roman" panose="02020603050405020304" pitchFamily="18" charset="0"/>
              </a:rPr>
              <a:t>print('%s\</a:t>
            </a:r>
            <a:r>
              <a:rPr lang="en-US" dirty="0" err="1">
                <a:solidFill>
                  <a:srgbClr val="000000"/>
                </a:solidFill>
                <a:latin typeface="Times New Roman" panose="02020603050405020304" pitchFamily="18" charset="0"/>
              </a:rPr>
              <a:t>t%s</a:t>
            </a:r>
            <a:r>
              <a:rPr lang="en-US" dirty="0">
                <a:solidFill>
                  <a:srgbClr val="000000"/>
                </a:solidFill>
                <a:latin typeface="Times New Roman" panose="02020603050405020304" pitchFamily="18" charset="0"/>
              </a:rPr>
              <a:t>' % (</a:t>
            </a:r>
            <a:r>
              <a:rPr lang="en-US" dirty="0" err="1">
                <a:solidFill>
                  <a:srgbClr val="000000"/>
                </a:solidFill>
                <a:latin typeface="Times New Roman" panose="02020603050405020304" pitchFamily="18" charset="0"/>
              </a:rPr>
              <a:t>current_word</a:t>
            </a:r>
            <a:r>
              <a:rPr lang="en-US" dirty="0">
                <a:solidFill>
                  <a:srgbClr val="000000"/>
                </a:solidFill>
                <a:latin typeface="Times New Roman" panose="02020603050405020304" pitchFamily="18" charset="0"/>
              </a:rPr>
              <a:t>, </a:t>
            </a:r>
            <a:r>
              <a:rPr lang="en-US" dirty="0" err="1">
                <a:solidFill>
                  <a:srgbClr val="000000"/>
                </a:solidFill>
                <a:latin typeface="Times New Roman" panose="02020603050405020304" pitchFamily="18" charset="0"/>
              </a:rPr>
              <a:t>current_count</a:t>
            </a:r>
            <a:r>
              <a:rPr lang="en-US" dirty="0">
                <a:solidFill>
                  <a:srgbClr val="000000"/>
                </a:solidFill>
                <a:latin typeface="Times New Roman" panose="02020603050405020304" pitchFamily="18" charset="0"/>
              </a:rPr>
              <a:t>) ) </a:t>
            </a:r>
          </a:p>
          <a:p>
            <a:r>
              <a:rPr lang="en-US" dirty="0" err="1">
                <a:solidFill>
                  <a:srgbClr val="000000"/>
                </a:solidFill>
                <a:latin typeface="Times New Roman" panose="02020603050405020304" pitchFamily="18" charset="0"/>
              </a:rPr>
              <a:t>current_count</a:t>
            </a:r>
            <a:r>
              <a:rPr lang="en-US" dirty="0">
                <a:solidFill>
                  <a:srgbClr val="000000"/>
                </a:solidFill>
                <a:latin typeface="Times New Roman" panose="02020603050405020304" pitchFamily="18" charset="0"/>
              </a:rPr>
              <a:t> = count </a:t>
            </a:r>
          </a:p>
          <a:p>
            <a:r>
              <a:rPr lang="en-US" dirty="0" err="1">
                <a:solidFill>
                  <a:srgbClr val="000000"/>
                </a:solidFill>
                <a:latin typeface="Times New Roman" panose="02020603050405020304" pitchFamily="18" charset="0"/>
              </a:rPr>
              <a:t>current_word</a:t>
            </a:r>
            <a:r>
              <a:rPr lang="en-US" dirty="0">
                <a:solidFill>
                  <a:srgbClr val="000000"/>
                </a:solidFill>
                <a:latin typeface="Times New Roman" panose="02020603050405020304" pitchFamily="18" charset="0"/>
              </a:rPr>
              <a:t> = word </a:t>
            </a:r>
          </a:p>
          <a:p>
            <a:r>
              <a:rPr lang="en-US" dirty="0">
                <a:solidFill>
                  <a:srgbClr val="000000"/>
                </a:solidFill>
                <a:latin typeface="Times New Roman" panose="02020603050405020304" pitchFamily="18" charset="0"/>
              </a:rPr>
              <a:t># do not forget to output the last word if needed! </a:t>
            </a:r>
          </a:p>
          <a:p>
            <a:r>
              <a:rPr lang="en-US" dirty="0">
                <a:solidFill>
                  <a:srgbClr val="000000"/>
                </a:solidFill>
                <a:latin typeface="Times New Roman" panose="02020603050405020304" pitchFamily="18" charset="0"/>
              </a:rPr>
              <a:t>if </a:t>
            </a:r>
            <a:r>
              <a:rPr lang="en-US" dirty="0" err="1">
                <a:solidFill>
                  <a:srgbClr val="000000"/>
                </a:solidFill>
                <a:latin typeface="Times New Roman" panose="02020603050405020304" pitchFamily="18" charset="0"/>
              </a:rPr>
              <a:t>current_word</a:t>
            </a:r>
            <a:r>
              <a:rPr lang="en-US" dirty="0">
                <a:solidFill>
                  <a:srgbClr val="000000"/>
                </a:solidFill>
                <a:latin typeface="Times New Roman" panose="02020603050405020304" pitchFamily="18" charset="0"/>
              </a:rPr>
              <a:t> == word: </a:t>
            </a:r>
          </a:p>
          <a:p>
            <a:r>
              <a:rPr lang="en-US" dirty="0">
                <a:solidFill>
                  <a:srgbClr val="000000"/>
                </a:solidFill>
                <a:latin typeface="Times New Roman" panose="02020603050405020304" pitchFamily="18" charset="0"/>
              </a:rPr>
              <a:t>print('%s\</a:t>
            </a:r>
            <a:r>
              <a:rPr lang="en-US" dirty="0" err="1">
                <a:solidFill>
                  <a:srgbClr val="000000"/>
                </a:solidFill>
                <a:latin typeface="Times New Roman" panose="02020603050405020304" pitchFamily="18" charset="0"/>
              </a:rPr>
              <a:t>t%s</a:t>
            </a:r>
            <a:r>
              <a:rPr lang="en-US" dirty="0">
                <a:solidFill>
                  <a:srgbClr val="000000"/>
                </a:solidFill>
                <a:latin typeface="Times New Roman" panose="02020603050405020304" pitchFamily="18" charset="0"/>
              </a:rPr>
              <a:t>' % (</a:t>
            </a:r>
            <a:r>
              <a:rPr lang="en-US" dirty="0" err="1">
                <a:solidFill>
                  <a:srgbClr val="000000"/>
                </a:solidFill>
                <a:latin typeface="Times New Roman" panose="02020603050405020304" pitchFamily="18" charset="0"/>
              </a:rPr>
              <a:t>current_word</a:t>
            </a:r>
            <a:r>
              <a:rPr lang="en-US" dirty="0">
                <a:solidFill>
                  <a:srgbClr val="000000"/>
                </a:solidFill>
                <a:latin typeface="Times New Roman" panose="02020603050405020304" pitchFamily="18" charset="0"/>
              </a:rPr>
              <a:t>, </a:t>
            </a:r>
            <a:r>
              <a:rPr lang="en-US" dirty="0" err="1">
                <a:solidFill>
                  <a:srgbClr val="000000"/>
                </a:solidFill>
                <a:latin typeface="Times New Roman" panose="02020603050405020304" pitchFamily="18" charset="0"/>
              </a:rPr>
              <a:t>current_count</a:t>
            </a:r>
            <a:r>
              <a:rPr lang="en-US" dirty="0">
                <a:solidFill>
                  <a:srgbClr val="000000"/>
                </a:solidFill>
                <a:latin typeface="Times New Roman" panose="02020603050405020304" pitchFamily="18" charset="0"/>
              </a:rPr>
              <a:t>)) </a:t>
            </a:r>
            <a:endParaRPr lang="en-US" dirty="0"/>
          </a:p>
        </p:txBody>
      </p:sp>
    </p:spTree>
    <p:extLst>
      <p:ext uri="{BB962C8B-B14F-4D97-AF65-F5344CB8AC3E}">
        <p14:creationId xmlns:p14="http://schemas.microsoft.com/office/powerpoint/2010/main" val="338267435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Hadoop </a:t>
            </a:r>
            <a:r>
              <a:rPr lang="en-US" sz="2400" b="1" dirty="0" err="1"/>
              <a:t>MapReduce</a:t>
            </a:r>
            <a:endParaRPr lang="en-US" sz="2400" b="1" dirty="0"/>
          </a:p>
        </p:txBody>
      </p:sp>
      <p:sp>
        <p:nvSpPr>
          <p:cNvPr id="2" name="Rectangle 1"/>
          <p:cNvSpPr/>
          <p:nvPr/>
        </p:nvSpPr>
        <p:spPr>
          <a:xfrm>
            <a:off x="910436" y="930895"/>
            <a:ext cx="7764332" cy="646331"/>
          </a:xfrm>
          <a:prstGeom prst="rect">
            <a:avLst/>
          </a:prstGeom>
        </p:spPr>
        <p:txBody>
          <a:bodyPr wrap="square">
            <a:spAutoFit/>
          </a:bodyPr>
          <a:lstStyle/>
          <a:p>
            <a:r>
              <a:rPr lang="en-US" b="1" dirty="0"/>
              <a:t> </a:t>
            </a:r>
            <a:r>
              <a:rPr lang="en-US" dirty="0"/>
              <a:t>Write a map reduce program that returns the cost of the item that is most expensive, for each location in the dataset example.txt </a:t>
            </a:r>
          </a:p>
        </p:txBody>
      </p:sp>
      <p:sp>
        <p:nvSpPr>
          <p:cNvPr id="5" name="Rectangle 4"/>
          <p:cNvSpPr/>
          <p:nvPr/>
        </p:nvSpPr>
        <p:spPr>
          <a:xfrm>
            <a:off x="910436" y="1582341"/>
            <a:ext cx="10242838" cy="369332"/>
          </a:xfrm>
          <a:prstGeom prst="rect">
            <a:avLst/>
          </a:prstGeom>
        </p:spPr>
        <p:txBody>
          <a:bodyPr wrap="square">
            <a:spAutoFit/>
          </a:bodyPr>
          <a:lstStyle/>
          <a:p>
            <a:endParaRPr lang="en-US" dirty="0">
              <a:solidFill>
                <a:srgbClr val="000000"/>
              </a:solidFill>
              <a:latin typeface="Times New Roman" panose="02020603050405020304" pitchFamily="18" charset="0"/>
            </a:endParaRPr>
          </a:p>
        </p:txBody>
      </p:sp>
      <p:sp>
        <p:nvSpPr>
          <p:cNvPr id="3" name="Rectangle 2"/>
          <p:cNvSpPr/>
          <p:nvPr/>
        </p:nvSpPr>
        <p:spPr>
          <a:xfrm>
            <a:off x="1137371" y="2173524"/>
            <a:ext cx="4647426" cy="369332"/>
          </a:xfrm>
          <a:prstGeom prst="rect">
            <a:avLst/>
          </a:prstGeom>
        </p:spPr>
        <p:txBody>
          <a:bodyPr wrap="none">
            <a:spAutoFit/>
          </a:bodyPr>
          <a:lstStyle/>
          <a:p>
            <a:r>
              <a:rPr lang="en-US" dirty="0">
                <a:solidFill>
                  <a:srgbClr val="000000"/>
                </a:solidFill>
                <a:latin typeface="Times New Roman" panose="02020603050405020304" pitchFamily="18" charset="0"/>
              </a:rPr>
              <a:t>Note: Input for this program is </a:t>
            </a:r>
            <a:r>
              <a:rPr lang="en-US" b="1" i="1" dirty="0">
                <a:solidFill>
                  <a:srgbClr val="000000"/>
                </a:solidFill>
                <a:latin typeface="Times New Roman" panose="02020603050405020304" pitchFamily="18" charset="0"/>
              </a:rPr>
              <a:t>example.txt </a:t>
            </a:r>
            <a:r>
              <a:rPr lang="en-US" dirty="0">
                <a:solidFill>
                  <a:srgbClr val="000000"/>
                </a:solidFill>
                <a:latin typeface="Times New Roman" panose="02020603050405020304" pitchFamily="18" charset="0"/>
              </a:rPr>
              <a:t>file. </a:t>
            </a:r>
            <a:endParaRPr lang="en-US" dirty="0"/>
          </a:p>
        </p:txBody>
      </p:sp>
      <p:sp>
        <p:nvSpPr>
          <p:cNvPr id="7" name="Rectangle 6"/>
          <p:cNvSpPr/>
          <p:nvPr/>
        </p:nvSpPr>
        <p:spPr>
          <a:xfrm>
            <a:off x="8353926" y="0"/>
            <a:ext cx="4796589" cy="6740307"/>
          </a:xfrm>
          <a:prstGeom prst="rect">
            <a:avLst/>
          </a:prstGeom>
        </p:spPr>
        <p:txBody>
          <a:bodyPr wrap="square">
            <a:spAutoFit/>
          </a:bodyPr>
          <a:lstStyle/>
          <a:p>
            <a:r>
              <a:rPr lang="en-US" b="1" dirty="0">
                <a:solidFill>
                  <a:srgbClr val="000000"/>
                </a:solidFill>
                <a:latin typeface="Times New Roman" panose="02020603050405020304" pitchFamily="18" charset="0"/>
              </a:rPr>
              <a:t>OUTPUT-1 </a:t>
            </a:r>
            <a:endParaRPr lang="en-US" dirty="0">
              <a:solidFill>
                <a:srgbClr val="000000"/>
              </a:solidFill>
              <a:latin typeface="Times New Roman" panose="02020603050405020304" pitchFamily="18" charset="0"/>
            </a:endParaRPr>
          </a:p>
          <a:p>
            <a:r>
              <a:rPr lang="en-US" dirty="0">
                <a:solidFill>
                  <a:srgbClr val="000000"/>
                </a:solidFill>
                <a:latin typeface="Times New Roman" panose="02020603050405020304" pitchFamily="18" charset="0"/>
              </a:rPr>
              <a:t>Las Vegas 208.97 </a:t>
            </a:r>
          </a:p>
          <a:p>
            <a:r>
              <a:rPr lang="en-US" dirty="0">
                <a:solidFill>
                  <a:srgbClr val="000000"/>
                </a:solidFill>
                <a:latin typeface="Times New Roman" panose="02020603050405020304" pitchFamily="18" charset="0"/>
              </a:rPr>
              <a:t>Miami 84.11 </a:t>
            </a:r>
          </a:p>
          <a:p>
            <a:r>
              <a:rPr lang="en-US" dirty="0">
                <a:solidFill>
                  <a:srgbClr val="000000"/>
                </a:solidFill>
                <a:latin typeface="Times New Roman" panose="02020603050405020304" pitchFamily="18" charset="0"/>
              </a:rPr>
              <a:t>Tucson 489.93 </a:t>
            </a:r>
          </a:p>
          <a:p>
            <a:r>
              <a:rPr lang="en-US" dirty="0">
                <a:solidFill>
                  <a:srgbClr val="000000"/>
                </a:solidFill>
                <a:latin typeface="Times New Roman" panose="02020603050405020304" pitchFamily="18" charset="0"/>
              </a:rPr>
              <a:t>San Francisco 388.3 </a:t>
            </a:r>
          </a:p>
          <a:p>
            <a:r>
              <a:rPr lang="en-US" dirty="0">
                <a:solidFill>
                  <a:srgbClr val="000000"/>
                </a:solidFill>
                <a:latin typeface="Times New Roman" panose="02020603050405020304" pitchFamily="18" charset="0"/>
              </a:rPr>
              <a:t>Dallas 145.63 </a:t>
            </a:r>
          </a:p>
          <a:p>
            <a:r>
              <a:rPr lang="en-US" dirty="0">
                <a:solidFill>
                  <a:srgbClr val="000000"/>
                </a:solidFill>
                <a:latin typeface="Times New Roman" panose="02020603050405020304" pitchFamily="18" charset="0"/>
              </a:rPr>
              <a:t>Tampa 353.23 </a:t>
            </a:r>
          </a:p>
          <a:p>
            <a:r>
              <a:rPr lang="en-US" dirty="0">
                <a:solidFill>
                  <a:srgbClr val="000000"/>
                </a:solidFill>
                <a:latin typeface="Times New Roman" panose="02020603050405020304" pitchFamily="18" charset="0"/>
              </a:rPr>
              <a:t>Washington 481.31 </a:t>
            </a:r>
          </a:p>
          <a:p>
            <a:r>
              <a:rPr lang="en-US" dirty="0">
                <a:solidFill>
                  <a:srgbClr val="000000"/>
                </a:solidFill>
                <a:latin typeface="Times New Roman" panose="02020603050405020304" pitchFamily="18" charset="0"/>
              </a:rPr>
              <a:t>San Jose 492.8 </a:t>
            </a:r>
          </a:p>
          <a:p>
            <a:r>
              <a:rPr lang="en-US" dirty="0">
                <a:solidFill>
                  <a:srgbClr val="000000"/>
                </a:solidFill>
                <a:latin typeface="Times New Roman" panose="02020603050405020304" pitchFamily="18" charset="0"/>
              </a:rPr>
              <a:t>Newark 410.37 </a:t>
            </a:r>
          </a:p>
          <a:p>
            <a:r>
              <a:rPr lang="en-US" dirty="0">
                <a:solidFill>
                  <a:srgbClr val="000000"/>
                </a:solidFill>
                <a:latin typeface="Times New Roman" panose="02020603050405020304" pitchFamily="18" charset="0"/>
              </a:rPr>
              <a:t>Memphis 354.44 </a:t>
            </a:r>
          </a:p>
          <a:p>
            <a:r>
              <a:rPr lang="en-US" dirty="0">
                <a:solidFill>
                  <a:srgbClr val="000000"/>
                </a:solidFill>
                <a:latin typeface="Times New Roman" panose="02020603050405020304" pitchFamily="18" charset="0"/>
              </a:rPr>
              <a:t>Jersey City 369.07 </a:t>
            </a:r>
          </a:p>
          <a:p>
            <a:r>
              <a:rPr lang="en-US" dirty="0">
                <a:solidFill>
                  <a:srgbClr val="000000"/>
                </a:solidFill>
                <a:latin typeface="Times New Roman" panose="02020603050405020304" pitchFamily="18" charset="0"/>
              </a:rPr>
              <a:t>Plano 4.65 </a:t>
            </a:r>
          </a:p>
          <a:p>
            <a:r>
              <a:rPr lang="en-US" dirty="0">
                <a:solidFill>
                  <a:srgbClr val="000000"/>
                </a:solidFill>
                <a:latin typeface="Times New Roman" panose="02020603050405020304" pitchFamily="18" charset="0"/>
              </a:rPr>
              <a:t>Buffalo 337.35 </a:t>
            </a:r>
          </a:p>
          <a:p>
            <a:r>
              <a:rPr lang="en-US" dirty="0">
                <a:solidFill>
                  <a:srgbClr val="000000"/>
                </a:solidFill>
                <a:latin typeface="Times New Roman" panose="02020603050405020304" pitchFamily="18" charset="0"/>
              </a:rPr>
              <a:t>Louisville 213.64 </a:t>
            </a:r>
          </a:p>
          <a:p>
            <a:r>
              <a:rPr lang="en-US" dirty="0">
                <a:solidFill>
                  <a:srgbClr val="000000"/>
                </a:solidFill>
                <a:latin typeface="Times New Roman" panose="02020603050405020304" pitchFamily="18" charset="0"/>
              </a:rPr>
              <a:t>Miami 154.64 </a:t>
            </a:r>
          </a:p>
          <a:p>
            <a:r>
              <a:rPr lang="en-US" dirty="0">
                <a:solidFill>
                  <a:srgbClr val="000000"/>
                </a:solidFill>
                <a:latin typeface="Times New Roman" panose="02020603050405020304" pitchFamily="18" charset="0"/>
              </a:rPr>
              <a:t>Los 164.5 </a:t>
            </a:r>
          </a:p>
          <a:p>
            <a:r>
              <a:rPr lang="en-US" dirty="0">
                <a:solidFill>
                  <a:srgbClr val="000000"/>
                </a:solidFill>
                <a:latin typeface="Times New Roman" panose="02020603050405020304" pitchFamily="18" charset="0"/>
              </a:rPr>
              <a:t>Birmingham 1.64 </a:t>
            </a:r>
          </a:p>
          <a:p>
            <a:r>
              <a:rPr lang="en-US" dirty="0">
                <a:solidFill>
                  <a:srgbClr val="000000"/>
                </a:solidFill>
                <a:latin typeface="Times New Roman" panose="02020603050405020304" pitchFamily="18" charset="0"/>
              </a:rPr>
              <a:t>Mesa 13.79 </a:t>
            </a:r>
          </a:p>
          <a:p>
            <a:r>
              <a:rPr lang="en-US" dirty="0">
                <a:solidFill>
                  <a:srgbClr val="000000"/>
                </a:solidFill>
                <a:latin typeface="Times New Roman" panose="02020603050405020304" pitchFamily="18" charset="0"/>
              </a:rPr>
              <a:t>Wichita 158.25 </a:t>
            </a:r>
          </a:p>
          <a:p>
            <a:r>
              <a:rPr lang="en-US" dirty="0">
                <a:solidFill>
                  <a:srgbClr val="000000"/>
                </a:solidFill>
                <a:latin typeface="Times New Roman" panose="02020603050405020304" pitchFamily="18" charset="0"/>
              </a:rPr>
              <a:t>Indianapolis 152.77 </a:t>
            </a:r>
          </a:p>
          <a:p>
            <a:r>
              <a:rPr lang="en-US" dirty="0">
                <a:solidFill>
                  <a:srgbClr val="000000"/>
                </a:solidFill>
                <a:latin typeface="Times New Roman" panose="02020603050405020304" pitchFamily="18" charset="0"/>
              </a:rPr>
              <a:t>San Bernardino 332.43 </a:t>
            </a:r>
          </a:p>
          <a:p>
            <a:r>
              <a:rPr lang="en-US" dirty="0">
                <a:solidFill>
                  <a:srgbClr val="000000"/>
                </a:solidFill>
                <a:latin typeface="Times New Roman" panose="02020603050405020304" pitchFamily="18" charset="0"/>
              </a:rPr>
              <a:t>Indianapolis 464.36 </a:t>
            </a:r>
          </a:p>
          <a:p>
            <a:r>
              <a:rPr lang="en-US" dirty="0">
                <a:solidFill>
                  <a:srgbClr val="000000"/>
                </a:solidFill>
                <a:latin typeface="Times New Roman" panose="02020603050405020304" pitchFamily="18" charset="0"/>
              </a:rPr>
              <a:t>Stockton 180.61 </a:t>
            </a:r>
          </a:p>
        </p:txBody>
      </p:sp>
    </p:spTree>
    <p:extLst>
      <p:ext uri="{BB962C8B-B14F-4D97-AF65-F5344CB8AC3E}">
        <p14:creationId xmlns:p14="http://schemas.microsoft.com/office/powerpoint/2010/main" val="210835351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Hadoop </a:t>
            </a:r>
            <a:r>
              <a:rPr lang="en-US" sz="2400" b="1" dirty="0" err="1"/>
              <a:t>MapReduce</a:t>
            </a:r>
            <a:endParaRPr lang="en-US" sz="2400" b="1" dirty="0"/>
          </a:p>
        </p:txBody>
      </p:sp>
      <p:sp>
        <p:nvSpPr>
          <p:cNvPr id="2" name="Rectangle 1"/>
          <p:cNvSpPr/>
          <p:nvPr/>
        </p:nvSpPr>
        <p:spPr>
          <a:xfrm>
            <a:off x="910436" y="930895"/>
            <a:ext cx="7764332" cy="646331"/>
          </a:xfrm>
          <a:prstGeom prst="rect">
            <a:avLst/>
          </a:prstGeom>
        </p:spPr>
        <p:txBody>
          <a:bodyPr wrap="square">
            <a:spAutoFit/>
          </a:bodyPr>
          <a:lstStyle/>
          <a:p>
            <a:r>
              <a:rPr lang="en-US" b="1" dirty="0"/>
              <a:t> </a:t>
            </a:r>
            <a:r>
              <a:rPr lang="en-US" dirty="0"/>
              <a:t>Write a map reduce program that returns the cost of the item that is most expensive, for each location in the dataset example.txt </a:t>
            </a:r>
          </a:p>
        </p:txBody>
      </p:sp>
      <p:sp>
        <p:nvSpPr>
          <p:cNvPr id="5" name="Rectangle 4"/>
          <p:cNvSpPr/>
          <p:nvPr/>
        </p:nvSpPr>
        <p:spPr>
          <a:xfrm>
            <a:off x="910436" y="1582341"/>
            <a:ext cx="10242838" cy="369332"/>
          </a:xfrm>
          <a:prstGeom prst="rect">
            <a:avLst/>
          </a:prstGeom>
        </p:spPr>
        <p:txBody>
          <a:bodyPr wrap="square">
            <a:spAutoFit/>
          </a:bodyPr>
          <a:lstStyle/>
          <a:p>
            <a:endParaRPr lang="en-US" dirty="0">
              <a:solidFill>
                <a:srgbClr val="000000"/>
              </a:solidFill>
              <a:latin typeface="Times New Roman" panose="02020603050405020304" pitchFamily="18" charset="0"/>
            </a:endParaRPr>
          </a:p>
        </p:txBody>
      </p:sp>
      <p:sp>
        <p:nvSpPr>
          <p:cNvPr id="3" name="Rectangle 2"/>
          <p:cNvSpPr/>
          <p:nvPr/>
        </p:nvSpPr>
        <p:spPr>
          <a:xfrm>
            <a:off x="1137371" y="2173524"/>
            <a:ext cx="4647426" cy="369332"/>
          </a:xfrm>
          <a:prstGeom prst="rect">
            <a:avLst/>
          </a:prstGeom>
        </p:spPr>
        <p:txBody>
          <a:bodyPr wrap="none">
            <a:spAutoFit/>
          </a:bodyPr>
          <a:lstStyle/>
          <a:p>
            <a:r>
              <a:rPr lang="en-US" dirty="0">
                <a:solidFill>
                  <a:srgbClr val="000000"/>
                </a:solidFill>
                <a:latin typeface="Times New Roman" panose="02020603050405020304" pitchFamily="18" charset="0"/>
              </a:rPr>
              <a:t>Note: Input for this program is </a:t>
            </a:r>
            <a:r>
              <a:rPr lang="en-US" b="1" i="1" dirty="0">
                <a:solidFill>
                  <a:srgbClr val="000000"/>
                </a:solidFill>
                <a:latin typeface="Times New Roman" panose="02020603050405020304" pitchFamily="18" charset="0"/>
              </a:rPr>
              <a:t>example.txt </a:t>
            </a:r>
            <a:r>
              <a:rPr lang="en-US" dirty="0">
                <a:solidFill>
                  <a:srgbClr val="000000"/>
                </a:solidFill>
                <a:latin typeface="Times New Roman" panose="02020603050405020304" pitchFamily="18" charset="0"/>
              </a:rPr>
              <a:t>file. </a:t>
            </a:r>
            <a:endParaRPr lang="en-US" dirty="0"/>
          </a:p>
        </p:txBody>
      </p:sp>
      <p:sp>
        <p:nvSpPr>
          <p:cNvPr id="6" name="Rectangle 5"/>
          <p:cNvSpPr/>
          <p:nvPr/>
        </p:nvSpPr>
        <p:spPr>
          <a:xfrm>
            <a:off x="8534400" y="235180"/>
            <a:ext cx="6096000" cy="6340197"/>
          </a:xfrm>
          <a:prstGeom prst="rect">
            <a:avLst/>
          </a:prstGeom>
        </p:spPr>
        <p:txBody>
          <a:bodyPr>
            <a:spAutoFit/>
          </a:bodyPr>
          <a:lstStyle/>
          <a:p>
            <a:r>
              <a:rPr lang="en-US" sz="1400" b="1" dirty="0">
                <a:solidFill>
                  <a:srgbClr val="000000"/>
                </a:solidFill>
                <a:latin typeface="Times New Roman" panose="02020603050405020304" pitchFamily="18" charset="0"/>
              </a:rPr>
              <a:t>OUTPUT-1 </a:t>
            </a:r>
            <a:endParaRPr lang="en-US" sz="1400" dirty="0">
              <a:solidFill>
                <a:srgbClr val="000000"/>
              </a:solidFill>
              <a:latin typeface="Times New Roman" panose="02020603050405020304" pitchFamily="18" charset="0"/>
            </a:endParaRPr>
          </a:p>
          <a:p>
            <a:r>
              <a:rPr lang="en-US" sz="1400" dirty="0">
                <a:solidFill>
                  <a:srgbClr val="000000"/>
                </a:solidFill>
                <a:latin typeface="Times New Roman" panose="02020603050405020304" pitchFamily="18" charset="0"/>
              </a:rPr>
              <a:t>Las Vegas 208.97 </a:t>
            </a:r>
          </a:p>
          <a:p>
            <a:r>
              <a:rPr lang="en-US" sz="1400" dirty="0">
                <a:solidFill>
                  <a:srgbClr val="000000"/>
                </a:solidFill>
                <a:latin typeface="Times New Roman" panose="02020603050405020304" pitchFamily="18" charset="0"/>
              </a:rPr>
              <a:t>Miami 84.11 </a:t>
            </a:r>
          </a:p>
          <a:p>
            <a:r>
              <a:rPr lang="en-US" sz="1400" dirty="0">
                <a:solidFill>
                  <a:srgbClr val="000000"/>
                </a:solidFill>
                <a:latin typeface="Times New Roman" panose="02020603050405020304" pitchFamily="18" charset="0"/>
              </a:rPr>
              <a:t>Tucson 489.93 </a:t>
            </a:r>
          </a:p>
          <a:p>
            <a:r>
              <a:rPr lang="en-US" sz="1400" dirty="0">
                <a:solidFill>
                  <a:srgbClr val="000000"/>
                </a:solidFill>
                <a:latin typeface="Times New Roman" panose="02020603050405020304" pitchFamily="18" charset="0"/>
              </a:rPr>
              <a:t>San Francisco 388.3 </a:t>
            </a:r>
          </a:p>
          <a:p>
            <a:r>
              <a:rPr lang="en-US" sz="1400" dirty="0">
                <a:solidFill>
                  <a:srgbClr val="000000"/>
                </a:solidFill>
                <a:latin typeface="Times New Roman" panose="02020603050405020304" pitchFamily="18" charset="0"/>
              </a:rPr>
              <a:t>Dallas 145.63 </a:t>
            </a:r>
          </a:p>
          <a:p>
            <a:r>
              <a:rPr lang="en-US" sz="1400" dirty="0">
                <a:solidFill>
                  <a:srgbClr val="000000"/>
                </a:solidFill>
                <a:latin typeface="Times New Roman" panose="02020603050405020304" pitchFamily="18" charset="0"/>
              </a:rPr>
              <a:t>Tampa 353.23 </a:t>
            </a:r>
          </a:p>
          <a:p>
            <a:r>
              <a:rPr lang="en-US" sz="1400" dirty="0">
                <a:solidFill>
                  <a:srgbClr val="000000"/>
                </a:solidFill>
                <a:latin typeface="Times New Roman" panose="02020603050405020304" pitchFamily="18" charset="0"/>
              </a:rPr>
              <a:t>Washington 481.31 </a:t>
            </a:r>
          </a:p>
          <a:p>
            <a:r>
              <a:rPr lang="en-US" sz="1400" dirty="0">
                <a:solidFill>
                  <a:srgbClr val="000000"/>
                </a:solidFill>
                <a:latin typeface="Times New Roman" panose="02020603050405020304" pitchFamily="18" charset="0"/>
              </a:rPr>
              <a:t>San Jose 492.8 </a:t>
            </a:r>
          </a:p>
          <a:p>
            <a:r>
              <a:rPr lang="en-US" sz="1400" dirty="0">
                <a:solidFill>
                  <a:srgbClr val="000000"/>
                </a:solidFill>
                <a:latin typeface="Times New Roman" panose="02020603050405020304" pitchFamily="18" charset="0"/>
              </a:rPr>
              <a:t>Newark 410.37 </a:t>
            </a:r>
          </a:p>
          <a:p>
            <a:r>
              <a:rPr lang="en-US" sz="1400" dirty="0">
                <a:solidFill>
                  <a:srgbClr val="000000"/>
                </a:solidFill>
                <a:latin typeface="Times New Roman" panose="02020603050405020304" pitchFamily="18" charset="0"/>
              </a:rPr>
              <a:t>Memphis 354.44 </a:t>
            </a:r>
          </a:p>
          <a:p>
            <a:r>
              <a:rPr lang="en-US" sz="1400" dirty="0">
                <a:solidFill>
                  <a:srgbClr val="000000"/>
                </a:solidFill>
                <a:latin typeface="Times New Roman" panose="02020603050405020304" pitchFamily="18" charset="0"/>
              </a:rPr>
              <a:t>Jersey City 369.07 </a:t>
            </a:r>
          </a:p>
          <a:p>
            <a:r>
              <a:rPr lang="en-US" sz="1400" dirty="0">
                <a:solidFill>
                  <a:srgbClr val="000000"/>
                </a:solidFill>
                <a:latin typeface="Times New Roman" panose="02020603050405020304" pitchFamily="18" charset="0"/>
              </a:rPr>
              <a:t>Plano 4.65 </a:t>
            </a:r>
          </a:p>
          <a:p>
            <a:r>
              <a:rPr lang="en-US" sz="1400" dirty="0">
                <a:solidFill>
                  <a:srgbClr val="000000"/>
                </a:solidFill>
                <a:latin typeface="Times New Roman" panose="02020603050405020304" pitchFamily="18" charset="0"/>
              </a:rPr>
              <a:t>Buffalo 337.35 </a:t>
            </a:r>
          </a:p>
          <a:p>
            <a:r>
              <a:rPr lang="en-US" sz="1400" dirty="0">
                <a:solidFill>
                  <a:srgbClr val="000000"/>
                </a:solidFill>
                <a:latin typeface="Times New Roman" panose="02020603050405020304" pitchFamily="18" charset="0"/>
              </a:rPr>
              <a:t>Louisville 213.64 </a:t>
            </a:r>
          </a:p>
          <a:p>
            <a:r>
              <a:rPr lang="en-US" sz="1400" dirty="0">
                <a:solidFill>
                  <a:srgbClr val="000000"/>
                </a:solidFill>
                <a:latin typeface="Times New Roman" panose="02020603050405020304" pitchFamily="18" charset="0"/>
              </a:rPr>
              <a:t>Miami 154.64 </a:t>
            </a:r>
          </a:p>
          <a:p>
            <a:r>
              <a:rPr lang="en-US" sz="1400" dirty="0">
                <a:solidFill>
                  <a:srgbClr val="000000"/>
                </a:solidFill>
                <a:latin typeface="Times New Roman" panose="02020603050405020304" pitchFamily="18" charset="0"/>
              </a:rPr>
              <a:t>Los 164.5 </a:t>
            </a:r>
          </a:p>
          <a:p>
            <a:r>
              <a:rPr lang="en-US" sz="1400" dirty="0">
                <a:solidFill>
                  <a:srgbClr val="000000"/>
                </a:solidFill>
                <a:latin typeface="Times New Roman" panose="02020603050405020304" pitchFamily="18" charset="0"/>
              </a:rPr>
              <a:t>Birmingham 1.64 </a:t>
            </a:r>
          </a:p>
          <a:p>
            <a:r>
              <a:rPr lang="en-US" sz="1400" dirty="0">
                <a:solidFill>
                  <a:srgbClr val="000000"/>
                </a:solidFill>
                <a:latin typeface="Times New Roman" panose="02020603050405020304" pitchFamily="18" charset="0"/>
              </a:rPr>
              <a:t>Mesa 13.79 </a:t>
            </a:r>
          </a:p>
          <a:p>
            <a:r>
              <a:rPr lang="en-US" sz="1400" dirty="0">
                <a:solidFill>
                  <a:srgbClr val="000000"/>
                </a:solidFill>
                <a:latin typeface="Times New Roman" panose="02020603050405020304" pitchFamily="18" charset="0"/>
              </a:rPr>
              <a:t>Wichita 158.25 </a:t>
            </a:r>
          </a:p>
          <a:p>
            <a:r>
              <a:rPr lang="en-US" sz="1400" dirty="0">
                <a:solidFill>
                  <a:srgbClr val="000000"/>
                </a:solidFill>
                <a:latin typeface="Times New Roman" panose="02020603050405020304" pitchFamily="18" charset="0"/>
              </a:rPr>
              <a:t>Indianapolis 152.77 </a:t>
            </a:r>
          </a:p>
          <a:p>
            <a:r>
              <a:rPr lang="en-US" sz="1400" dirty="0">
                <a:solidFill>
                  <a:srgbClr val="000000"/>
                </a:solidFill>
                <a:latin typeface="Times New Roman" panose="02020603050405020304" pitchFamily="18" charset="0"/>
              </a:rPr>
              <a:t>San Bernardino 332.43 </a:t>
            </a:r>
          </a:p>
          <a:p>
            <a:r>
              <a:rPr lang="en-US" sz="1400" dirty="0">
                <a:solidFill>
                  <a:srgbClr val="000000"/>
                </a:solidFill>
                <a:latin typeface="Times New Roman" panose="02020603050405020304" pitchFamily="18" charset="0"/>
              </a:rPr>
              <a:t>Indianapolis 464.36 </a:t>
            </a:r>
          </a:p>
          <a:p>
            <a:r>
              <a:rPr lang="en-US" sz="1400" dirty="0">
                <a:solidFill>
                  <a:srgbClr val="000000"/>
                </a:solidFill>
                <a:latin typeface="Times New Roman" panose="02020603050405020304" pitchFamily="18" charset="0"/>
              </a:rPr>
              <a:t>Stockton 180.61 </a:t>
            </a:r>
          </a:p>
          <a:p>
            <a:r>
              <a:rPr lang="en-US" sz="1400" dirty="0">
                <a:solidFill>
                  <a:srgbClr val="000000"/>
                </a:solidFill>
                <a:latin typeface="Times New Roman" panose="02020603050405020304" pitchFamily="18" charset="0"/>
              </a:rPr>
              <a:t>Austin 48.09 </a:t>
            </a:r>
          </a:p>
          <a:p>
            <a:r>
              <a:rPr lang="en-US" sz="1400" dirty="0">
                <a:solidFill>
                  <a:srgbClr val="000000"/>
                </a:solidFill>
                <a:latin typeface="Times New Roman" panose="02020603050405020304" pitchFamily="18" charset="0"/>
              </a:rPr>
              <a:t>Buffalo 386.56 </a:t>
            </a:r>
          </a:p>
          <a:p>
            <a:r>
              <a:rPr lang="en-US" sz="1400" dirty="0">
                <a:solidFill>
                  <a:srgbClr val="000000"/>
                </a:solidFill>
                <a:latin typeface="Times New Roman" panose="02020603050405020304" pitchFamily="18" charset="0"/>
              </a:rPr>
              <a:t>Santa Ana 2.75 </a:t>
            </a:r>
          </a:p>
          <a:p>
            <a:r>
              <a:rPr lang="en-US" sz="1400" dirty="0">
                <a:solidFill>
                  <a:srgbClr val="000000"/>
                </a:solidFill>
                <a:latin typeface="Times New Roman" panose="02020603050405020304" pitchFamily="18" charset="0"/>
              </a:rPr>
              <a:t>Gilbert 11.31 </a:t>
            </a:r>
          </a:p>
          <a:p>
            <a:r>
              <a:rPr lang="en-US" sz="1400" dirty="0">
                <a:solidFill>
                  <a:srgbClr val="000000"/>
                </a:solidFill>
                <a:latin typeface="Times New Roman" panose="02020603050405020304" pitchFamily="18" charset="0"/>
              </a:rPr>
              <a:t>New York 221.35 </a:t>
            </a:r>
          </a:p>
        </p:txBody>
      </p:sp>
    </p:spTree>
    <p:extLst>
      <p:ext uri="{BB962C8B-B14F-4D97-AF65-F5344CB8AC3E}">
        <p14:creationId xmlns:p14="http://schemas.microsoft.com/office/powerpoint/2010/main" val="372333799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Lightbox">
            <a:extLst>
              <a:ext uri="{FF2B5EF4-FFF2-40B4-BE49-F238E27FC236}">
                <a16:creationId xmlns:a16="http://schemas.microsoft.com/office/drawing/2014/main" id="{C209C85D-05A1-89E6-580F-1955B56D5A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7343" y="1517125"/>
            <a:ext cx="5847670" cy="482176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279DCBE-7618-FCA8-EDB0-B57CA8590212}"/>
              </a:ext>
            </a:extLst>
          </p:cNvPr>
          <p:cNvSpPr txBox="1"/>
          <p:nvPr/>
        </p:nvSpPr>
        <p:spPr>
          <a:xfrm>
            <a:off x="1088571" y="409192"/>
            <a:ext cx="10537371" cy="646331"/>
          </a:xfrm>
          <a:prstGeom prst="rect">
            <a:avLst/>
          </a:prstGeom>
          <a:noFill/>
        </p:spPr>
        <p:txBody>
          <a:bodyPr wrap="square">
            <a:spAutoFit/>
          </a:bodyPr>
          <a:lstStyle/>
          <a:p>
            <a:r>
              <a:rPr lang="en-US" b="0" i="0" dirty="0">
                <a:solidFill>
                  <a:srgbClr val="273239"/>
                </a:solidFill>
                <a:effectLst/>
                <a:latin typeface="Nunito" pitchFamily="2" charset="0"/>
              </a:rPr>
              <a:t>Finding top 10 or 20 records from a large dataset is the heart of many recommendation systems and it is also an important attribute for data analysis.</a:t>
            </a:r>
            <a:endParaRPr lang="en-US" dirty="0"/>
          </a:p>
        </p:txBody>
      </p:sp>
    </p:spTree>
    <p:extLst>
      <p:ext uri="{BB962C8B-B14F-4D97-AF65-F5344CB8AC3E}">
        <p14:creationId xmlns:p14="http://schemas.microsoft.com/office/powerpoint/2010/main" val="247262837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AFF691-9D18-E913-E8BB-C27B13FE46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50C01C9-E65A-4578-4D54-597AD977326A}"/>
              </a:ext>
            </a:extLst>
          </p:cNvPr>
          <p:cNvSpPr txBox="1"/>
          <p:nvPr/>
        </p:nvSpPr>
        <p:spPr>
          <a:xfrm>
            <a:off x="1088571" y="409192"/>
            <a:ext cx="10537371" cy="4729500"/>
          </a:xfrm>
          <a:prstGeom prst="rect">
            <a:avLst/>
          </a:prstGeom>
          <a:noFill/>
        </p:spPr>
        <p:txBody>
          <a:bodyPr wrap="square">
            <a:spAutoFit/>
          </a:bodyPr>
          <a:lstStyle/>
          <a:p>
            <a:pPr algn="l" fontAlgn="base">
              <a:spcAft>
                <a:spcPts val="750"/>
              </a:spcAft>
            </a:pPr>
            <a:r>
              <a:rPr lang="en-US" sz="2400" b="1" i="0" dirty="0">
                <a:solidFill>
                  <a:srgbClr val="273239"/>
                </a:solidFill>
                <a:effectLst/>
                <a:latin typeface="Nunito" pitchFamily="2" charset="0"/>
              </a:rPr>
              <a:t>Approach Used:</a:t>
            </a:r>
            <a:r>
              <a:rPr lang="en-US" sz="2400" b="0" i="0" dirty="0">
                <a:solidFill>
                  <a:srgbClr val="273239"/>
                </a:solidFill>
                <a:effectLst/>
                <a:latin typeface="Nunito" pitchFamily="2" charset="0"/>
              </a:rPr>
              <a:t> Using </a:t>
            </a:r>
            <a:r>
              <a:rPr lang="en-US" sz="2400" b="0" i="0" u="sng" dirty="0" err="1">
                <a:solidFill>
                  <a:srgbClr val="273239"/>
                </a:solidFill>
                <a:effectLst/>
                <a:latin typeface="Nunito" pitchFamily="2" charset="0"/>
                <a:hlinkClick r:id="rId2"/>
              </a:rPr>
              <a:t>TreeMap</a:t>
            </a:r>
            <a:r>
              <a:rPr lang="en-US" sz="2400" b="0" i="0" u="sng" dirty="0">
                <a:solidFill>
                  <a:srgbClr val="273239"/>
                </a:solidFill>
                <a:effectLst/>
                <a:latin typeface="Nunito" pitchFamily="2" charset="0"/>
                <a:hlinkClick r:id="rId2"/>
              </a:rPr>
              <a:t>.</a:t>
            </a:r>
            <a:r>
              <a:rPr lang="en-US" sz="2400" b="0" i="0" dirty="0">
                <a:solidFill>
                  <a:srgbClr val="273239"/>
                </a:solidFill>
                <a:effectLst/>
                <a:latin typeface="Nunito" pitchFamily="2" charset="0"/>
              </a:rPr>
              <a:t> Here, the idea is to use Mappers to find </a:t>
            </a:r>
            <a:r>
              <a:rPr lang="en-US" sz="2400" b="1" i="0" dirty="0">
                <a:solidFill>
                  <a:srgbClr val="273239"/>
                </a:solidFill>
                <a:effectLst/>
                <a:latin typeface="Nunito" pitchFamily="2" charset="0"/>
              </a:rPr>
              <a:t>local</a:t>
            </a:r>
            <a:r>
              <a:rPr lang="en-US" sz="2400" b="0" i="0" dirty="0">
                <a:solidFill>
                  <a:srgbClr val="273239"/>
                </a:solidFill>
                <a:effectLst/>
                <a:latin typeface="Nunito" pitchFamily="2" charset="0"/>
              </a:rPr>
              <a:t> top 10 records, as there can be many Mappers running parallelly on different blocks of data of a file. And then all these local top 10 records will be aggregated at Reducer where we find top 10 global records for the file.</a:t>
            </a:r>
          </a:p>
          <a:p>
            <a:pPr algn="l" fontAlgn="base">
              <a:spcAft>
                <a:spcPts val="750"/>
              </a:spcAft>
            </a:pPr>
            <a:r>
              <a:rPr lang="en-US" sz="2400" b="1" i="0" dirty="0">
                <a:solidFill>
                  <a:srgbClr val="273239"/>
                </a:solidFill>
                <a:effectLst/>
                <a:latin typeface="Nunito" pitchFamily="2" charset="0"/>
              </a:rPr>
              <a:t>Notice:</a:t>
            </a:r>
            <a:r>
              <a:rPr lang="en-US" sz="2400" b="0" i="0" dirty="0">
                <a:solidFill>
                  <a:srgbClr val="273239"/>
                </a:solidFill>
                <a:effectLst/>
                <a:latin typeface="Nunito" pitchFamily="2" charset="0"/>
              </a:rPr>
              <a:t> This approach only work if we assume that 2 movie can  not have the same number of views. Otherwise, only one of those two movie will be returned.</a:t>
            </a:r>
          </a:p>
          <a:p>
            <a:pPr algn="l" fontAlgn="base">
              <a:spcAft>
                <a:spcPts val="750"/>
              </a:spcAft>
            </a:pPr>
            <a:r>
              <a:rPr lang="en-US" sz="2400" b="1" i="0" dirty="0">
                <a:solidFill>
                  <a:srgbClr val="273239"/>
                </a:solidFill>
                <a:effectLst/>
                <a:latin typeface="Nunito" pitchFamily="2" charset="0"/>
              </a:rPr>
              <a:t>Example:</a:t>
            </a:r>
            <a:r>
              <a:rPr lang="en-US" sz="2400" b="0" i="0" dirty="0">
                <a:solidFill>
                  <a:srgbClr val="273239"/>
                </a:solidFill>
                <a:effectLst/>
                <a:latin typeface="Nunito" pitchFamily="2" charset="0"/>
              </a:rPr>
              <a:t> Assume that file(30 TB) is divided into 3 blocks of 10 TB each and each block is processed by a Mapper parallelly so we find top 10 records (local) for that block. Then this data moves to the reducer where we find the actual top 10 records from the file </a:t>
            </a:r>
            <a:r>
              <a:rPr lang="en-US" sz="2400" b="0" i="1" dirty="0">
                <a:solidFill>
                  <a:srgbClr val="273239"/>
                </a:solidFill>
                <a:effectLst/>
                <a:latin typeface="Nunito" pitchFamily="2" charset="0"/>
              </a:rPr>
              <a:t>movie.txt</a:t>
            </a:r>
            <a:r>
              <a:rPr lang="en-US" sz="2400" b="0" i="0" dirty="0">
                <a:solidFill>
                  <a:srgbClr val="273239"/>
                </a:solidFill>
                <a:effectLst/>
                <a:latin typeface="Nunito" pitchFamily="2" charset="0"/>
              </a:rPr>
              <a:t>. </a:t>
            </a:r>
          </a:p>
        </p:txBody>
      </p:sp>
    </p:spTree>
    <p:extLst>
      <p:ext uri="{BB962C8B-B14F-4D97-AF65-F5344CB8AC3E}">
        <p14:creationId xmlns:p14="http://schemas.microsoft.com/office/powerpoint/2010/main" val="136698178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CB184-37ED-4A94-43D6-477DDF1720C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B2B5AFE-A758-C787-C170-EF1869E5CEFD}"/>
              </a:ext>
            </a:extLst>
          </p:cNvPr>
          <p:cNvSpPr txBox="1"/>
          <p:nvPr/>
        </p:nvSpPr>
        <p:spPr>
          <a:xfrm>
            <a:off x="1088571" y="409192"/>
            <a:ext cx="10537371" cy="5304016"/>
          </a:xfrm>
          <a:prstGeom prst="rect">
            <a:avLst/>
          </a:prstGeom>
          <a:noFill/>
        </p:spPr>
        <p:txBody>
          <a:bodyPr wrap="square">
            <a:spAutoFit/>
          </a:bodyPr>
          <a:lstStyle/>
          <a:p>
            <a:pPr marL="342900" indent="-342900" algn="l" fontAlgn="base">
              <a:spcAft>
                <a:spcPts val="750"/>
              </a:spcAft>
              <a:buFont typeface="Arial" panose="020B0604020202020204" pitchFamily="34" charset="0"/>
              <a:buChar char="•"/>
            </a:pPr>
            <a:r>
              <a:rPr lang="en-US" sz="2400" i="0" dirty="0">
                <a:solidFill>
                  <a:srgbClr val="273239"/>
                </a:solidFill>
                <a:effectLst/>
                <a:latin typeface="Nunito" pitchFamily="2" charset="0"/>
              </a:rPr>
              <a:t>The mapper processes one key-value pair at a time and writes them as intermediate output on local disk.</a:t>
            </a:r>
          </a:p>
          <a:p>
            <a:pPr marL="342900" indent="-342900" algn="l" fontAlgn="base">
              <a:spcAft>
                <a:spcPts val="750"/>
              </a:spcAft>
              <a:buFont typeface="Arial" panose="020B0604020202020204" pitchFamily="34" charset="0"/>
              <a:buChar char="•"/>
            </a:pPr>
            <a:r>
              <a:rPr lang="en-US" sz="2400" b="0" i="0" dirty="0">
                <a:solidFill>
                  <a:srgbClr val="273239"/>
                </a:solidFill>
                <a:effectLst/>
                <a:latin typeface="Nunito" pitchFamily="2" charset="0"/>
              </a:rPr>
              <a:t>But we have to process whole block (all key-value pairs) to find top10</a:t>
            </a:r>
          </a:p>
          <a:p>
            <a:pPr marL="342900" indent="-342900" algn="just" fontAlgn="base">
              <a:spcAft>
                <a:spcPts val="750"/>
              </a:spcAft>
              <a:buFont typeface="Arial" panose="020B0604020202020204" pitchFamily="34" charset="0"/>
              <a:buChar char="•"/>
            </a:pPr>
            <a:r>
              <a:rPr lang="en-US" sz="2400" b="0" i="0" dirty="0">
                <a:solidFill>
                  <a:srgbClr val="001D35"/>
                </a:solidFill>
                <a:effectLst/>
                <a:latin typeface="Google Sans"/>
              </a:rPr>
              <a:t>In Hadoop, HDFS (Hadoop Distributed File System) is primarily used to store large datasets across a cluster of computers, allowing for distributed storage and efficient access to massive amounts of data, particularly big data, by breaking files into blocks and distributing them across multiple nodes for parallel processing; essentially, it acts as the primary data storage mechanism within the Hadoop ecosystem. </a:t>
            </a:r>
            <a:endParaRPr lang="en-US" sz="2400" dirty="0">
              <a:solidFill>
                <a:srgbClr val="273239"/>
              </a:solidFill>
              <a:latin typeface="Nunito" pitchFamily="2" charset="0"/>
            </a:endParaRPr>
          </a:p>
          <a:p>
            <a:pPr marL="342900" indent="-342900" algn="just" fontAlgn="base">
              <a:spcAft>
                <a:spcPts val="750"/>
              </a:spcAft>
              <a:buFont typeface="Arial" panose="020B0604020202020204" pitchFamily="34" charset="0"/>
              <a:buChar char="•"/>
            </a:pPr>
            <a:r>
              <a:rPr lang="en-US" sz="2400" b="0" i="0" dirty="0">
                <a:solidFill>
                  <a:srgbClr val="545D7E"/>
                </a:solidFill>
                <a:effectLst/>
                <a:latin typeface="Google Sans"/>
              </a:rPr>
              <a:t>The </a:t>
            </a:r>
            <a:r>
              <a:rPr lang="en-US" sz="2400" b="1" i="0" dirty="0">
                <a:solidFill>
                  <a:srgbClr val="545D7E"/>
                </a:solidFill>
                <a:effectLst/>
                <a:latin typeface="Google Sans"/>
              </a:rPr>
              <a:t>large text file is initially stored in HDFS</a:t>
            </a:r>
            <a:r>
              <a:rPr lang="en-US" sz="2400" b="0" i="0" dirty="0">
                <a:solidFill>
                  <a:srgbClr val="545D7E"/>
                </a:solidFill>
                <a:effectLst/>
                <a:latin typeface="Google Sans"/>
              </a:rPr>
              <a:t>, distributed across multiple nodes in a cluster for redundancy and parallel processing. </a:t>
            </a:r>
          </a:p>
          <a:p>
            <a:pPr marL="342900" indent="-342900" algn="just" fontAlgn="base">
              <a:spcAft>
                <a:spcPts val="750"/>
              </a:spcAft>
              <a:buFont typeface="Arial" panose="020B0604020202020204" pitchFamily="34" charset="0"/>
              <a:buChar char="•"/>
            </a:pPr>
            <a:r>
              <a:rPr lang="en-US" sz="2400" b="0" i="0" dirty="0">
                <a:solidFill>
                  <a:srgbClr val="001D35"/>
                </a:solidFill>
                <a:effectLst/>
                <a:latin typeface="Google Sans"/>
              </a:rPr>
              <a:t>The final outcome of a MapReduce job in Hadoop will be stored on the Hadoop Distributed File System (HDFS). </a:t>
            </a:r>
            <a:endParaRPr lang="en-US" sz="2400" b="0" i="0" dirty="0">
              <a:solidFill>
                <a:srgbClr val="273239"/>
              </a:solidFill>
              <a:effectLst/>
              <a:latin typeface="Nunito" pitchFamily="2" charset="0"/>
            </a:endParaRPr>
          </a:p>
        </p:txBody>
      </p:sp>
    </p:spTree>
    <p:extLst>
      <p:ext uri="{BB962C8B-B14F-4D97-AF65-F5344CB8AC3E}">
        <p14:creationId xmlns:p14="http://schemas.microsoft.com/office/powerpoint/2010/main" val="241493734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4400" dirty="0"/>
              <a:t>Exploring PaaS</a:t>
            </a:r>
          </a:p>
        </p:txBody>
      </p:sp>
      <p:sp>
        <p:nvSpPr>
          <p:cNvPr id="3" name="Subtitle 2"/>
          <p:cNvSpPr>
            <a:spLocks noGrp="1"/>
          </p:cNvSpPr>
          <p:nvPr>
            <p:ph type="subTitle" idx="1"/>
          </p:nvPr>
        </p:nvSpPr>
        <p:spPr>
          <a:xfrm>
            <a:off x="1533099" y="3509963"/>
            <a:ext cx="9144000" cy="1655762"/>
          </a:xfrm>
        </p:spPr>
        <p:txBody>
          <a:bodyPr/>
          <a:lstStyle/>
          <a:p>
            <a:r>
              <a:rPr lang="en-US" dirty="0"/>
              <a:t>Module 2 (continued)</a:t>
            </a:r>
          </a:p>
        </p:txBody>
      </p:sp>
      <p:sp>
        <p:nvSpPr>
          <p:cNvPr id="4" name="Rectangle 3"/>
          <p:cNvSpPr/>
          <p:nvPr/>
        </p:nvSpPr>
        <p:spPr>
          <a:xfrm>
            <a:off x="3239069" y="4429919"/>
            <a:ext cx="6096000" cy="646331"/>
          </a:xfrm>
          <a:prstGeom prst="rect">
            <a:avLst/>
          </a:prstGeom>
        </p:spPr>
        <p:txBody>
          <a:bodyPr>
            <a:spAutoFit/>
          </a:bodyPr>
          <a:lstStyle/>
          <a:p>
            <a:pPr lvl="0"/>
            <a:r>
              <a:rPr lang="en-US" b="1" dirty="0">
                <a:solidFill>
                  <a:srgbClr val="002060"/>
                </a:solidFill>
              </a:rPr>
              <a:t>Barrie </a:t>
            </a:r>
            <a:r>
              <a:rPr lang="en-US" b="1" dirty="0" err="1">
                <a:solidFill>
                  <a:srgbClr val="002060"/>
                </a:solidFill>
              </a:rPr>
              <a:t>Sosinsky</a:t>
            </a:r>
            <a:r>
              <a:rPr lang="en-US" dirty="0" err="1">
                <a:solidFill>
                  <a:srgbClr val="002060"/>
                </a:solidFill>
              </a:rPr>
              <a:t>“Cloud</a:t>
            </a:r>
            <a:r>
              <a:rPr lang="en-US" dirty="0">
                <a:solidFill>
                  <a:srgbClr val="002060"/>
                </a:solidFill>
              </a:rPr>
              <a:t>  Computing Bible” Wiley Publications , 2011 </a:t>
            </a:r>
            <a:r>
              <a:rPr lang="en-US" b="1" dirty="0">
                <a:solidFill>
                  <a:srgbClr val="002060"/>
                </a:solidFill>
              </a:rPr>
              <a:t>(Text Book 2) Chapter 7</a:t>
            </a:r>
            <a:endParaRPr lang="en-US" b="1" dirty="0"/>
          </a:p>
        </p:txBody>
      </p:sp>
    </p:spTree>
    <p:extLst>
      <p:ext uri="{BB962C8B-B14F-4D97-AF65-F5344CB8AC3E}">
        <p14:creationId xmlns:p14="http://schemas.microsoft.com/office/powerpoint/2010/main" val="2711234660"/>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95512" y="995362"/>
            <a:ext cx="7800975" cy="4867275"/>
          </a:xfrm>
          <a:prstGeom prst="rect">
            <a:avLst/>
          </a:prstGeom>
        </p:spPr>
      </p:pic>
    </p:spTree>
    <p:extLst>
      <p:ext uri="{BB962C8B-B14F-4D97-AF65-F5344CB8AC3E}">
        <p14:creationId xmlns:p14="http://schemas.microsoft.com/office/powerpoint/2010/main" val="3857973412"/>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57199"/>
            <a:ext cx="4247513" cy="461665"/>
          </a:xfrm>
          <a:prstGeom prst="rect">
            <a:avLst/>
          </a:prstGeom>
        </p:spPr>
        <p:txBody>
          <a:bodyPr wrap="square">
            <a:spAutoFit/>
          </a:bodyPr>
          <a:lstStyle/>
          <a:p>
            <a:pPr algn="ctr"/>
            <a:r>
              <a:rPr lang="en-US" sz="2400" b="1" dirty="0"/>
              <a:t>Exploring PaaS </a:t>
            </a:r>
          </a:p>
        </p:txBody>
      </p:sp>
      <p:sp>
        <p:nvSpPr>
          <p:cNvPr id="3" name="Rectangle 2"/>
          <p:cNvSpPr/>
          <p:nvPr/>
        </p:nvSpPr>
        <p:spPr>
          <a:xfrm>
            <a:off x="206828" y="997198"/>
            <a:ext cx="11778343" cy="557505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sz="2400" dirty="0"/>
              <a:t>The Platform as a Service model </a:t>
            </a:r>
            <a:r>
              <a:rPr lang="en-US" sz="2400" b="1" dirty="0"/>
              <a:t>provides the tools within an environment needed to create applications </a:t>
            </a:r>
            <a:r>
              <a:rPr lang="en-US" sz="2400" dirty="0"/>
              <a:t>that can </a:t>
            </a:r>
            <a:r>
              <a:rPr lang="en-US" sz="2400" b="1" dirty="0"/>
              <a:t>run in a Software as a Service model</a:t>
            </a:r>
            <a:r>
              <a:rPr lang="en-US" sz="2400" dirty="0"/>
              <a:t>.</a:t>
            </a:r>
          </a:p>
          <a:p>
            <a:pPr algn="just">
              <a:lnSpc>
                <a:spcPct val="150000"/>
              </a:lnSpc>
            </a:pPr>
            <a:r>
              <a:rPr lang="en-US" sz="2400" dirty="0"/>
              <a:t>•  For this reason, some </a:t>
            </a:r>
            <a:r>
              <a:rPr lang="en-US" sz="2400" b="1" dirty="0"/>
              <a:t>overlap between vendors has created </a:t>
            </a:r>
            <a:r>
              <a:rPr lang="en-US" sz="2400" dirty="0"/>
              <a:t>Software as a Service products, and those vendors have broadened their services to make their web applications more customizable.</a:t>
            </a:r>
          </a:p>
          <a:p>
            <a:pPr algn="just">
              <a:lnSpc>
                <a:spcPct val="150000"/>
              </a:lnSpc>
            </a:pPr>
            <a:r>
              <a:rPr lang="en-US" sz="2400" dirty="0"/>
              <a:t>For  </a:t>
            </a:r>
            <a:r>
              <a:rPr lang="en-US" sz="2400" b="1" dirty="0"/>
              <a:t>Example: </a:t>
            </a:r>
            <a:r>
              <a:rPr lang="en-US" sz="2400" i="1" dirty="0"/>
              <a:t>Salesforce.com and Force.com</a:t>
            </a:r>
          </a:p>
          <a:p>
            <a:pPr algn="just">
              <a:lnSpc>
                <a:spcPct val="150000"/>
              </a:lnSpc>
            </a:pPr>
            <a:r>
              <a:rPr lang="en-US" sz="2400" dirty="0"/>
              <a:t>•Salesforce.com" refers to Salesforce's primary Software-as-a-Service (SaaS) offering, which provides </a:t>
            </a:r>
            <a:r>
              <a:rPr lang="en-US" sz="2400" b="1" dirty="0"/>
              <a:t>readily accessible CRM applications like Sales Cloud and Service Cloud</a:t>
            </a:r>
            <a:r>
              <a:rPr lang="en-US" sz="2400" dirty="0"/>
              <a:t>, while "Force.com" is the name for their Platform-as-a-Service (PaaS) platform, allowing </a:t>
            </a:r>
            <a:r>
              <a:rPr lang="en-US" sz="2400" b="1" dirty="0"/>
              <a:t>users to build custom applications</a:t>
            </a:r>
            <a:r>
              <a:rPr lang="en-US" sz="2400" dirty="0"/>
              <a:t> on top of the Salesforce infrastructure using tools like Apex code</a:t>
            </a:r>
            <a:endParaRPr lang="en-US" dirty="0"/>
          </a:p>
        </p:txBody>
      </p:sp>
    </p:spTree>
    <p:extLst>
      <p:ext uri="{BB962C8B-B14F-4D97-AF65-F5344CB8AC3E}">
        <p14:creationId xmlns:p14="http://schemas.microsoft.com/office/powerpoint/2010/main" val="1256106438"/>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76DE6-C853-9B0D-67FB-C879C02120A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79E26DF-13BA-F304-60B4-97CC1B875505}"/>
              </a:ext>
            </a:extLst>
          </p:cNvPr>
          <p:cNvSpPr/>
          <p:nvPr/>
        </p:nvSpPr>
        <p:spPr>
          <a:xfrm>
            <a:off x="3344778" y="457199"/>
            <a:ext cx="4247513" cy="461665"/>
          </a:xfrm>
          <a:prstGeom prst="rect">
            <a:avLst/>
          </a:prstGeom>
        </p:spPr>
        <p:txBody>
          <a:bodyPr wrap="square">
            <a:spAutoFit/>
          </a:bodyPr>
          <a:lstStyle/>
          <a:p>
            <a:pPr algn="ctr"/>
            <a:r>
              <a:rPr lang="en-US" sz="2400" b="1"/>
              <a:t>Exploring PaaS </a:t>
            </a:r>
            <a:endParaRPr lang="en-US" sz="2400" b="1" dirty="0"/>
          </a:p>
        </p:txBody>
      </p:sp>
      <p:sp>
        <p:nvSpPr>
          <p:cNvPr id="3" name="Rectangle 2">
            <a:extLst>
              <a:ext uri="{FF2B5EF4-FFF2-40B4-BE49-F238E27FC236}">
                <a16:creationId xmlns:a16="http://schemas.microsoft.com/office/drawing/2014/main" id="{0D75FDB6-A768-23F6-FCED-8E567E19F026}"/>
              </a:ext>
            </a:extLst>
          </p:cNvPr>
          <p:cNvSpPr/>
          <p:nvPr/>
        </p:nvSpPr>
        <p:spPr>
          <a:xfrm>
            <a:off x="433137" y="1209634"/>
            <a:ext cx="11381873" cy="3788858"/>
          </a:xfrm>
          <a:prstGeom prst="rect">
            <a:avLst/>
          </a:prstGeom>
        </p:spPr>
        <p:txBody>
          <a:bodyPr wrap="square">
            <a:spAutoFit/>
          </a:bodyPr>
          <a:lstStyle/>
          <a:p>
            <a:pPr algn="just">
              <a:lnSpc>
                <a:spcPct val="150000"/>
              </a:lnSpc>
            </a:pPr>
            <a:r>
              <a:rPr lang="en-US" dirty="0"/>
              <a:t>• </a:t>
            </a:r>
            <a:r>
              <a:rPr lang="en-US" b="1" dirty="0"/>
              <a:t>Applications developed in PaaS </a:t>
            </a:r>
            <a:r>
              <a:rPr lang="en-US" dirty="0"/>
              <a:t>systems can be composite </a:t>
            </a:r>
            <a:r>
              <a:rPr lang="en-US" b="1" dirty="0"/>
              <a:t>business applications, data portals, or mashups</a:t>
            </a:r>
            <a:r>
              <a:rPr lang="en-US" dirty="0"/>
              <a:t> with data derived from multiple sources.</a:t>
            </a:r>
          </a:p>
          <a:p>
            <a:pPr algn="just">
              <a:lnSpc>
                <a:spcPct val="150000"/>
              </a:lnSpc>
            </a:pPr>
            <a:r>
              <a:rPr lang="en-US" dirty="0"/>
              <a:t>• PaaS environments can </a:t>
            </a:r>
            <a:r>
              <a:rPr lang="en-US" b="1" dirty="0"/>
              <a:t>offer integrated lifecycle management </a:t>
            </a:r>
            <a:r>
              <a:rPr lang="en-US" dirty="0"/>
              <a:t>or anchored lifecycle applications</a:t>
            </a:r>
          </a:p>
          <a:p>
            <a:pPr algn="just">
              <a:lnSpc>
                <a:spcPct val="150000"/>
              </a:lnSpc>
            </a:pPr>
            <a:r>
              <a:rPr lang="en-US" dirty="0"/>
              <a:t>• An integrated system provides a broad range of tools for customization, whereas an anchored system is based on already established software</a:t>
            </a:r>
          </a:p>
          <a:p>
            <a:pPr marL="285750" indent="-285750" algn="just">
              <a:lnSpc>
                <a:spcPct val="150000"/>
              </a:lnSpc>
              <a:buFont typeface="Arial" panose="020B0604020202020204" pitchFamily="34" charset="0"/>
              <a:buChar char="•"/>
            </a:pPr>
            <a:r>
              <a:rPr lang="en-US" sz="1800" b="0" i="0" kern="1200" dirty="0">
                <a:solidFill>
                  <a:schemeClr val="tx1"/>
                </a:solidFill>
                <a:effectLst/>
                <a:latin typeface="+mn-lt"/>
                <a:ea typeface="+mn-ea"/>
                <a:cs typeface="+mn-cs"/>
              </a:rPr>
              <a:t>Integrated lifecycle PaaS provides all of the capabilities that you need to support the complete web application lifecycle: </a:t>
            </a:r>
            <a:r>
              <a:rPr lang="en-US" sz="1800" b="1" i="0" kern="1200" dirty="0">
                <a:solidFill>
                  <a:schemeClr val="tx1"/>
                </a:solidFill>
                <a:effectLst/>
                <a:latin typeface="+mn-lt"/>
                <a:ea typeface="+mn-ea"/>
                <a:cs typeface="+mn-cs"/>
              </a:rPr>
              <a:t>building, testing, deploying, managing, and updating within the same integrated environment.</a:t>
            </a:r>
          </a:p>
          <a:p>
            <a:pPr algn="just">
              <a:lnSpc>
                <a:spcPct val="150000"/>
              </a:lnSpc>
            </a:pPr>
            <a:endParaRPr lang="en-US" dirty="0"/>
          </a:p>
          <a:p>
            <a:pPr marL="285750" indent="-285750">
              <a:lnSpc>
                <a:spcPct val="150000"/>
              </a:lnSpc>
              <a:buFont typeface="Arial" panose="020B0604020202020204" pitchFamily="34" charset="0"/>
              <a:buChar char="•"/>
            </a:pPr>
            <a:endParaRPr lang="en-US" dirty="0"/>
          </a:p>
        </p:txBody>
      </p:sp>
    </p:spTree>
    <p:extLst>
      <p:ext uri="{BB962C8B-B14F-4D97-AF65-F5344CB8AC3E}">
        <p14:creationId xmlns:p14="http://schemas.microsoft.com/office/powerpoint/2010/main" val="91934823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 PaaS Services </a:t>
            </a:r>
          </a:p>
        </p:txBody>
      </p:sp>
      <p:sp>
        <p:nvSpPr>
          <p:cNvPr id="2" name="Rectangle 1"/>
          <p:cNvSpPr>
            <a:spLocks noChangeArrowheads="1"/>
          </p:cNvSpPr>
          <p:nvPr/>
        </p:nvSpPr>
        <p:spPr bwMode="auto">
          <a:xfrm>
            <a:off x="0" y="0"/>
            <a:ext cx="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600" b="0" i="0" u="none" strike="noStrike" cap="none" normalizeH="0" baseline="0">
                <a:ln>
                  <a:noFill/>
                </a:ln>
                <a:solidFill>
                  <a:srgbClr val="000000"/>
                </a:solidFill>
                <a:effectLst/>
                <a:latin typeface="ff0"/>
              </a:rPr>
              <a:t>PaaS models span a broad ran#e of services, includin# these, amon# others)*</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700" b="1" i="0" u="none" strike="noStrike" cap="none" normalizeH="0" baseline="0">
                <a:ln>
                  <a:noFill/>
                </a:ln>
                <a:solidFill>
                  <a:srgbClr val="000000"/>
                </a:solidFill>
                <a:effectLst/>
                <a:latin typeface="ff2"/>
              </a:rPr>
              <a:t>App'(cat("$ )e*e'"pme$t+</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600" b="0" i="0" u="none" strike="noStrike" cap="none" normalizeH="0" baseline="0">
                <a:ln>
                  <a:noFill/>
                </a:ln>
                <a:solidFill>
                  <a:srgbClr val="000000"/>
                </a:solidFill>
                <a:effectLst/>
                <a:latin typeface="ff0"/>
              </a:rPr>
              <a:t>$ PaaS platform either provides the means to usepro#rams %ou create in a supported lan#ua#e or o&amp;ers a visual developmentenvironment that writes the code for %ou.*</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700" b="1" i="0" u="none" strike="noStrike" cap="none" normalizeH="0" baseline="0">
                <a:ln>
                  <a:noFill/>
                </a:ln>
                <a:solidFill>
                  <a:srgbClr val="000000"/>
                </a:solidFill>
                <a:effectLst/>
                <a:latin typeface="ff2"/>
              </a:rPr>
              <a:t>C"''a"rat("$+</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600" b="0" i="0" u="none" strike="noStrike" cap="none" normalizeH="0" baseline="0">
                <a:ln>
                  <a:noFill/>
                </a:ln>
                <a:solidFill>
                  <a:srgbClr val="000000"/>
                </a:solidFill>
                <a:effectLst/>
                <a:latin typeface="ff0"/>
              </a:rPr>
              <a:t>+an% PaaS s%stems are set up to allow multiple individuals towor on the same proects.*</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700" b="1" i="0" u="none" strike="noStrike" cap="none" normalizeH="0" baseline="0">
                <a:ln>
                  <a:noFill/>
                </a:ln>
                <a:solidFill>
                  <a:srgbClr val="000000"/>
                </a:solidFill>
                <a:effectLst/>
                <a:latin typeface="ff2"/>
              </a:rPr>
              <a:t>Data ma$aeme$t+</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600" b="0" i="0" u="none" strike="noStrike" cap="none" normalizeH="0" baseline="0">
                <a:ln>
                  <a:noFill/>
                </a:ln>
                <a:solidFill>
                  <a:srgbClr val="000000"/>
                </a:solidFill>
                <a:effectLst/>
                <a:latin typeface="ff0"/>
              </a:rPr>
              <a:t> Tools are provided for accessin# and usin# data in a datastore.*</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700" b="1" i="0" u="none" strike="noStrike" cap="none" normalizeH="0" baseline="0">
                <a:ln>
                  <a:noFill/>
                </a:ln>
                <a:solidFill>
                  <a:srgbClr val="000000"/>
                </a:solidFill>
                <a:effectLst/>
                <a:latin typeface="ff2"/>
              </a:rPr>
              <a:t>I$trume$tat("$, per"rma$ce, a$) tet($+</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600" b="0" i="0" u="none" strike="noStrike" cap="none" normalizeH="0" baseline="0">
                <a:ln>
                  <a:noFill/>
                </a:ln>
                <a:solidFill>
                  <a:srgbClr val="000000"/>
                </a:solidFill>
                <a:effectLst/>
                <a:latin typeface="ff0"/>
              </a:rPr>
              <a:t> Tools are available formeasurin# %our applications and optimi"in# their performance.*</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700" b="1" i="0" u="none" strike="noStrike" cap="none" normalizeH="0" baseline="0">
                <a:ln>
                  <a:noFill/>
                </a:ln>
                <a:solidFill>
                  <a:srgbClr val="000000"/>
                </a:solidFill>
                <a:effectLst/>
                <a:latin typeface="ff2"/>
              </a:rPr>
              <a:t>-t"rae+</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600" b="0" i="0" u="none" strike="noStrike" cap="none" normalizeH="0" baseline="0">
                <a:ln>
                  <a:noFill/>
                </a:ln>
                <a:solidFill>
                  <a:srgbClr val="000000"/>
                </a:solidFill>
                <a:effectLst/>
                <a:latin typeface="ff0"/>
              </a:rPr>
              <a:t>'ata can be stored in either the PaaS vendor-s service or accessedfrom a thirdpart% stora#e service.*</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700" b="1" i="0" u="none" strike="noStrike" cap="none" normalizeH="0" baseline="0">
                <a:ln>
                  <a:noFill/>
                </a:ln>
                <a:solidFill>
                  <a:srgbClr val="000000"/>
                </a:solidFill>
                <a:effectLst/>
                <a:latin typeface="ff2"/>
              </a:rPr>
              <a:t>Tra$act("$ ma$aeme$t+</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600" b="0" i="0" u="none" strike="noStrike" cap="none" normalizeH="0" baseline="0">
                <a:ln>
                  <a:noFill/>
                </a:ln>
                <a:solidFill>
                  <a:srgbClr val="000000"/>
                </a:solidFill>
                <a:effectLst/>
                <a:latin typeface="ff0"/>
              </a:rPr>
              <a:t>+an% PaaS s%stems provide services such astransaction mana#ers or broera#e service for maintainin# transaction inte#rit%.</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Source Sans Pro"/>
              </a:rPr>
              <a:t>  </a:t>
            </a:r>
            <a:r>
              <a:rPr kumimoji="0" lang="en-US" altLang="en-US" sz="40600" b="0" i="0" u="none" strike="noStrike" cap="none" normalizeH="0" baseline="0">
                <a:ln>
                  <a:noFill/>
                </a:ln>
                <a:solidFill>
                  <a:srgbClr val="000000"/>
                </a:solidFill>
                <a:effectLst/>
                <a:latin typeface="Source Sans Pro"/>
              </a:rPr>
              <a:t> </a:t>
            </a:r>
            <a:r>
              <a:rPr kumimoji="0" lang="en-US" altLang="en-US" sz="1200" b="0" i="0" u="none" strike="noStrike" cap="none" normalizeH="0" baseline="0">
                <a:ln>
                  <a:noFill/>
                </a:ln>
                <a:solidFill>
                  <a:srgbClr val="000000"/>
                </a:solidFill>
                <a:effectLst/>
                <a:latin typeface="Source Sans Pro"/>
              </a:rPr>
              <a:t>                                                                                                                                                                                                       </a:t>
            </a:r>
          </a:p>
        </p:txBody>
      </p:sp>
      <p:pic>
        <p:nvPicPr>
          <p:cNvPr id="1026" name="Picture 2" descr="https://html.scribdassets.com/7oa3r9i8jk5s4gjb/images/3-f1ab2aaac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63" y="13760450"/>
            <a:ext cx="8610600" cy="645795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77516" y="930896"/>
            <a:ext cx="11201400" cy="4154984"/>
          </a:xfrm>
          <a:prstGeom prst="rect">
            <a:avLst/>
          </a:prstGeom>
        </p:spPr>
        <p:txBody>
          <a:bodyPr wrap="square">
            <a:spAutoFit/>
          </a:bodyPr>
          <a:lstStyle/>
          <a:p>
            <a:pPr algn="just"/>
            <a:r>
              <a:rPr lang="en-US" sz="2400" dirty="0"/>
              <a:t>PaaS models span a </a:t>
            </a:r>
            <a:r>
              <a:rPr lang="en-US" sz="2400" b="1" dirty="0"/>
              <a:t>broad range of services</a:t>
            </a:r>
            <a:r>
              <a:rPr lang="en-US" sz="2400" dirty="0"/>
              <a:t>, including these, among others:</a:t>
            </a:r>
          </a:p>
          <a:p>
            <a:pPr algn="just"/>
            <a:endParaRPr lang="en-US" sz="2400" dirty="0"/>
          </a:p>
          <a:p>
            <a:pPr algn="just">
              <a:lnSpc>
                <a:spcPct val="150000"/>
              </a:lnSpc>
            </a:pPr>
            <a:r>
              <a:rPr lang="en-US" sz="2400" b="1" dirty="0"/>
              <a:t>Application development</a:t>
            </a:r>
            <a:r>
              <a:rPr lang="en-US" sz="2400" dirty="0"/>
              <a:t>: </a:t>
            </a:r>
          </a:p>
          <a:p>
            <a:pPr algn="just">
              <a:lnSpc>
                <a:spcPct val="150000"/>
              </a:lnSpc>
            </a:pPr>
            <a:r>
              <a:rPr lang="en-US" sz="2400" b="1" dirty="0"/>
              <a:t>Collaboration:</a:t>
            </a:r>
            <a:r>
              <a:rPr lang="en-US" sz="2400" dirty="0"/>
              <a:t> </a:t>
            </a:r>
          </a:p>
          <a:p>
            <a:pPr algn="just">
              <a:lnSpc>
                <a:spcPct val="150000"/>
              </a:lnSpc>
            </a:pPr>
            <a:r>
              <a:rPr lang="en-US" sz="2400" b="1" dirty="0"/>
              <a:t>Data management</a:t>
            </a:r>
            <a:r>
              <a:rPr lang="en-US" sz="2400" dirty="0"/>
              <a:t>: </a:t>
            </a:r>
          </a:p>
          <a:p>
            <a:pPr algn="just">
              <a:lnSpc>
                <a:spcPct val="150000"/>
              </a:lnSpc>
            </a:pPr>
            <a:r>
              <a:rPr lang="en-US" sz="2400" b="1" dirty="0"/>
              <a:t>Instrumentation, performance, and testing:</a:t>
            </a:r>
            <a:r>
              <a:rPr lang="en-US" sz="2400" dirty="0"/>
              <a:t> </a:t>
            </a:r>
          </a:p>
          <a:p>
            <a:pPr algn="just">
              <a:lnSpc>
                <a:spcPct val="150000"/>
              </a:lnSpc>
            </a:pPr>
            <a:r>
              <a:rPr lang="en-US" sz="2400" b="1" dirty="0"/>
              <a:t>Storage:</a:t>
            </a:r>
            <a:endParaRPr lang="en-US" sz="2400" dirty="0"/>
          </a:p>
          <a:p>
            <a:pPr algn="just">
              <a:lnSpc>
                <a:spcPct val="150000"/>
              </a:lnSpc>
            </a:pPr>
            <a:r>
              <a:rPr lang="en-US" sz="2400" b="1" dirty="0"/>
              <a:t>Transaction management:</a:t>
            </a:r>
            <a:endParaRPr lang="en-US" sz="2400" dirty="0"/>
          </a:p>
        </p:txBody>
      </p:sp>
    </p:spTree>
    <p:extLst>
      <p:ext uri="{BB962C8B-B14F-4D97-AF65-F5344CB8AC3E}">
        <p14:creationId xmlns:p14="http://schemas.microsoft.com/office/powerpoint/2010/main" val="579050587"/>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 PaaS Services </a:t>
            </a:r>
          </a:p>
        </p:txBody>
      </p:sp>
      <p:sp>
        <p:nvSpPr>
          <p:cNvPr id="2" name="Rectangle 1"/>
          <p:cNvSpPr>
            <a:spLocks noChangeArrowheads="1"/>
          </p:cNvSpPr>
          <p:nvPr/>
        </p:nvSpPr>
        <p:spPr bwMode="auto">
          <a:xfrm>
            <a:off x="0" y="0"/>
            <a:ext cx="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600" b="0" i="0" u="none" strike="noStrike" cap="none" normalizeH="0" baseline="0">
                <a:ln>
                  <a:noFill/>
                </a:ln>
                <a:solidFill>
                  <a:srgbClr val="000000"/>
                </a:solidFill>
                <a:effectLst/>
                <a:latin typeface="ff0"/>
              </a:rPr>
              <a:t>PaaS models span a broad ran#e of services, includin# these, amon# others)*</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700" b="1" i="0" u="none" strike="noStrike" cap="none" normalizeH="0" baseline="0">
                <a:ln>
                  <a:noFill/>
                </a:ln>
                <a:solidFill>
                  <a:srgbClr val="000000"/>
                </a:solidFill>
                <a:effectLst/>
                <a:latin typeface="ff2"/>
              </a:rPr>
              <a:t>App'(cat("$ )e*e'"pme$t+</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600" b="0" i="0" u="none" strike="noStrike" cap="none" normalizeH="0" baseline="0">
                <a:ln>
                  <a:noFill/>
                </a:ln>
                <a:solidFill>
                  <a:srgbClr val="000000"/>
                </a:solidFill>
                <a:effectLst/>
                <a:latin typeface="ff0"/>
              </a:rPr>
              <a:t>$ PaaS platform either provides the means to usepro#rams %ou create in a supported lan#ua#e or o&amp;ers a visual developmentenvironment that writes the code for %ou.*</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700" b="1" i="0" u="none" strike="noStrike" cap="none" normalizeH="0" baseline="0">
                <a:ln>
                  <a:noFill/>
                </a:ln>
                <a:solidFill>
                  <a:srgbClr val="000000"/>
                </a:solidFill>
                <a:effectLst/>
                <a:latin typeface="ff2"/>
              </a:rPr>
              <a:t>C"''a"rat("$+</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600" b="0" i="0" u="none" strike="noStrike" cap="none" normalizeH="0" baseline="0">
                <a:ln>
                  <a:noFill/>
                </a:ln>
                <a:solidFill>
                  <a:srgbClr val="000000"/>
                </a:solidFill>
                <a:effectLst/>
                <a:latin typeface="ff0"/>
              </a:rPr>
              <a:t>+an% PaaS s%stems are set up to allow multiple individuals towor on the same proects.*</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700" b="1" i="0" u="none" strike="noStrike" cap="none" normalizeH="0" baseline="0">
                <a:ln>
                  <a:noFill/>
                </a:ln>
                <a:solidFill>
                  <a:srgbClr val="000000"/>
                </a:solidFill>
                <a:effectLst/>
                <a:latin typeface="ff2"/>
              </a:rPr>
              <a:t>Data ma$aeme$t+</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600" b="0" i="0" u="none" strike="noStrike" cap="none" normalizeH="0" baseline="0">
                <a:ln>
                  <a:noFill/>
                </a:ln>
                <a:solidFill>
                  <a:srgbClr val="000000"/>
                </a:solidFill>
                <a:effectLst/>
                <a:latin typeface="ff0"/>
              </a:rPr>
              <a:t> Tools are provided for accessin# and usin# data in a datastore.*</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700" b="1" i="0" u="none" strike="noStrike" cap="none" normalizeH="0" baseline="0">
                <a:ln>
                  <a:noFill/>
                </a:ln>
                <a:solidFill>
                  <a:srgbClr val="000000"/>
                </a:solidFill>
                <a:effectLst/>
                <a:latin typeface="ff2"/>
              </a:rPr>
              <a:t>I$trume$tat("$, per"rma$ce, a$) tet($+</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600" b="0" i="0" u="none" strike="noStrike" cap="none" normalizeH="0" baseline="0">
                <a:ln>
                  <a:noFill/>
                </a:ln>
                <a:solidFill>
                  <a:srgbClr val="000000"/>
                </a:solidFill>
                <a:effectLst/>
                <a:latin typeface="ff0"/>
              </a:rPr>
              <a:t> Tools are available formeasurin# %our applications and optimi"in# their performance.*</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700" b="1" i="0" u="none" strike="noStrike" cap="none" normalizeH="0" baseline="0">
                <a:ln>
                  <a:noFill/>
                </a:ln>
                <a:solidFill>
                  <a:srgbClr val="000000"/>
                </a:solidFill>
                <a:effectLst/>
                <a:latin typeface="ff2"/>
              </a:rPr>
              <a:t>-t"rae+</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600" b="0" i="0" u="none" strike="noStrike" cap="none" normalizeH="0" baseline="0">
                <a:ln>
                  <a:noFill/>
                </a:ln>
                <a:solidFill>
                  <a:srgbClr val="000000"/>
                </a:solidFill>
                <a:effectLst/>
                <a:latin typeface="ff0"/>
              </a:rPr>
              <a:t>'ata can be stored in either the PaaS vendor-s service or accessedfrom a thirdpart% stora#e service.*</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700" b="1" i="0" u="none" strike="noStrike" cap="none" normalizeH="0" baseline="0">
                <a:ln>
                  <a:noFill/>
                </a:ln>
                <a:solidFill>
                  <a:srgbClr val="000000"/>
                </a:solidFill>
                <a:effectLst/>
                <a:latin typeface="ff2"/>
              </a:rPr>
              <a:t>Tra$act("$ ma$aeme$t+</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600" b="0" i="0" u="none" strike="noStrike" cap="none" normalizeH="0" baseline="0">
                <a:ln>
                  <a:noFill/>
                </a:ln>
                <a:solidFill>
                  <a:srgbClr val="000000"/>
                </a:solidFill>
                <a:effectLst/>
                <a:latin typeface="ff0"/>
              </a:rPr>
              <a:t>+an% PaaS s%stems provide services such astransaction mana#ers or broera#e service for maintainin# transaction inte#rit%.</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Source Sans Pro"/>
              </a:rPr>
              <a:t>  </a:t>
            </a:r>
            <a:r>
              <a:rPr kumimoji="0" lang="en-US" altLang="en-US" sz="40600" b="0" i="0" u="none" strike="noStrike" cap="none" normalizeH="0" baseline="0">
                <a:ln>
                  <a:noFill/>
                </a:ln>
                <a:solidFill>
                  <a:srgbClr val="000000"/>
                </a:solidFill>
                <a:effectLst/>
                <a:latin typeface="Source Sans Pro"/>
              </a:rPr>
              <a:t> </a:t>
            </a:r>
            <a:r>
              <a:rPr kumimoji="0" lang="en-US" altLang="en-US" sz="1200" b="0" i="0" u="none" strike="noStrike" cap="none" normalizeH="0" baseline="0">
                <a:ln>
                  <a:noFill/>
                </a:ln>
                <a:solidFill>
                  <a:srgbClr val="000000"/>
                </a:solidFill>
                <a:effectLst/>
                <a:latin typeface="Source Sans Pro"/>
              </a:rPr>
              <a:t>                                                                                                                                                                                                       </a:t>
            </a:r>
          </a:p>
        </p:txBody>
      </p:sp>
      <p:pic>
        <p:nvPicPr>
          <p:cNvPr id="1026" name="Picture 2" descr="https://html.scribdassets.com/7oa3r9i8jk5s4gjb/images/3-f1ab2aaac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63" y="13760450"/>
            <a:ext cx="8610600" cy="645795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577516" y="930896"/>
            <a:ext cx="11201400" cy="5262979"/>
          </a:xfrm>
          <a:prstGeom prst="rect">
            <a:avLst/>
          </a:prstGeom>
        </p:spPr>
        <p:txBody>
          <a:bodyPr wrap="square">
            <a:spAutoFit/>
          </a:bodyPr>
          <a:lstStyle/>
          <a:p>
            <a:pPr algn="just"/>
            <a:r>
              <a:rPr lang="en-US" sz="2400" dirty="0"/>
              <a:t>PaaS models span a </a:t>
            </a:r>
            <a:r>
              <a:rPr lang="en-US" sz="2400" b="1" dirty="0"/>
              <a:t>broad range of services</a:t>
            </a:r>
            <a:r>
              <a:rPr lang="en-US" sz="2400" dirty="0"/>
              <a:t>, including these, among others:</a:t>
            </a:r>
          </a:p>
          <a:p>
            <a:pPr algn="just"/>
            <a:endParaRPr lang="en-US" sz="2400" dirty="0"/>
          </a:p>
          <a:p>
            <a:pPr algn="just"/>
            <a:r>
              <a:rPr lang="en-US" sz="2400" b="1" dirty="0"/>
              <a:t>Application development</a:t>
            </a:r>
            <a:r>
              <a:rPr lang="en-US" sz="2400" dirty="0"/>
              <a:t>: A PaaS platform either provides the means to use programs</a:t>
            </a:r>
          </a:p>
          <a:p>
            <a:pPr algn="just"/>
            <a:r>
              <a:rPr lang="en-US" sz="2400" dirty="0"/>
              <a:t>you create in a </a:t>
            </a:r>
            <a:r>
              <a:rPr lang="en-US" sz="2400" b="1" dirty="0"/>
              <a:t>supported language or offers a visual development environment</a:t>
            </a:r>
            <a:r>
              <a:rPr lang="en-US" sz="2400" dirty="0"/>
              <a:t> that writes the code for you.</a:t>
            </a:r>
          </a:p>
          <a:p>
            <a:pPr algn="just"/>
            <a:r>
              <a:rPr lang="en-US" sz="2400" b="1" dirty="0"/>
              <a:t>Collaboration:</a:t>
            </a:r>
            <a:r>
              <a:rPr lang="en-US" sz="2400" dirty="0"/>
              <a:t> Many PaaS systems are set up to allow </a:t>
            </a:r>
            <a:r>
              <a:rPr lang="en-US" sz="2400" b="1" dirty="0"/>
              <a:t>multiple individuals to work </a:t>
            </a:r>
            <a:r>
              <a:rPr lang="en-US" sz="2400" dirty="0"/>
              <a:t>on the same projects.</a:t>
            </a:r>
          </a:p>
          <a:p>
            <a:pPr algn="just"/>
            <a:r>
              <a:rPr lang="en-US" sz="2400" b="1" dirty="0"/>
              <a:t>Data management</a:t>
            </a:r>
            <a:r>
              <a:rPr lang="en-US" sz="2400" dirty="0"/>
              <a:t>: Tools are provided for </a:t>
            </a:r>
            <a:r>
              <a:rPr lang="en-US" sz="2400" b="1" dirty="0"/>
              <a:t>accessing and using data</a:t>
            </a:r>
            <a:r>
              <a:rPr lang="en-US" sz="2400" dirty="0"/>
              <a:t> in a data store.</a:t>
            </a:r>
          </a:p>
          <a:p>
            <a:pPr algn="just"/>
            <a:r>
              <a:rPr lang="en-US" sz="2400" b="1" dirty="0"/>
              <a:t>Instrumentation, performance, and testing:</a:t>
            </a:r>
            <a:r>
              <a:rPr lang="en-US" sz="2400" dirty="0"/>
              <a:t> Tools are available for measuring your</a:t>
            </a:r>
          </a:p>
          <a:p>
            <a:pPr algn="just"/>
            <a:r>
              <a:rPr lang="en-US" sz="2400" dirty="0"/>
              <a:t>applications and optimizing their performance.</a:t>
            </a:r>
          </a:p>
          <a:p>
            <a:pPr algn="just"/>
            <a:r>
              <a:rPr lang="en-US" sz="2400" b="1" dirty="0"/>
              <a:t>Storage:</a:t>
            </a:r>
            <a:r>
              <a:rPr lang="en-US" sz="2400" dirty="0"/>
              <a:t> Data can be stored in either the </a:t>
            </a:r>
            <a:r>
              <a:rPr lang="en-US" sz="2400" b="1" dirty="0"/>
              <a:t>PaaS vendor’s service </a:t>
            </a:r>
            <a:r>
              <a:rPr lang="en-US" sz="2400" dirty="0"/>
              <a:t>or accessed from a </a:t>
            </a:r>
            <a:r>
              <a:rPr lang="en-US" sz="2400" b="1" dirty="0"/>
              <a:t>third party storage service.</a:t>
            </a:r>
          </a:p>
          <a:p>
            <a:pPr algn="just"/>
            <a:r>
              <a:rPr lang="en-US" sz="2400" b="1" dirty="0"/>
              <a:t>Transaction management:</a:t>
            </a:r>
            <a:r>
              <a:rPr lang="en-US" sz="2400" dirty="0"/>
              <a:t> Many PaaS systems provide services such as transaction managers or brokerage service for </a:t>
            </a:r>
            <a:r>
              <a:rPr lang="en-US" sz="2400" b="1" dirty="0"/>
              <a:t>maintaining transaction integrity</a:t>
            </a:r>
            <a:r>
              <a:rPr lang="en-US" sz="2400" dirty="0"/>
              <a:t>.</a:t>
            </a:r>
          </a:p>
        </p:txBody>
      </p:sp>
    </p:spTree>
    <p:extLst>
      <p:ext uri="{BB962C8B-B14F-4D97-AF65-F5344CB8AC3E}">
        <p14:creationId xmlns:p14="http://schemas.microsoft.com/office/powerpoint/2010/main" val="192774948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 PaaS characteristics </a:t>
            </a:r>
          </a:p>
        </p:txBody>
      </p:sp>
      <p:sp>
        <p:nvSpPr>
          <p:cNvPr id="2" name="Rectangle 1"/>
          <p:cNvSpPr>
            <a:spLocks noChangeArrowheads="1"/>
          </p:cNvSpPr>
          <p:nvPr/>
        </p:nvSpPr>
        <p:spPr bwMode="auto">
          <a:xfrm>
            <a:off x="0" y="0"/>
            <a:ext cx="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600" b="0" i="0" u="none" strike="noStrike" cap="none" normalizeH="0" baseline="0">
                <a:ln>
                  <a:noFill/>
                </a:ln>
                <a:solidFill>
                  <a:srgbClr val="000000"/>
                </a:solidFill>
                <a:effectLst/>
                <a:latin typeface="ff0"/>
              </a:rPr>
              <a:t>PaaS models span a broad ran#e of services, includin# these, amon# others)*</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700" b="1" i="0" u="none" strike="noStrike" cap="none" normalizeH="0" baseline="0">
                <a:ln>
                  <a:noFill/>
                </a:ln>
                <a:solidFill>
                  <a:srgbClr val="000000"/>
                </a:solidFill>
                <a:effectLst/>
                <a:latin typeface="ff2"/>
              </a:rPr>
              <a:t>App'(cat("$ )e*e'"pme$t+</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600" b="0" i="0" u="none" strike="noStrike" cap="none" normalizeH="0" baseline="0">
                <a:ln>
                  <a:noFill/>
                </a:ln>
                <a:solidFill>
                  <a:srgbClr val="000000"/>
                </a:solidFill>
                <a:effectLst/>
                <a:latin typeface="ff0"/>
              </a:rPr>
              <a:t>$ PaaS platform either provides the means to usepro#rams %ou create in a supported lan#ua#e or o&amp;ers a visual developmentenvironment that writes the code for %ou.*</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700" b="1" i="0" u="none" strike="noStrike" cap="none" normalizeH="0" baseline="0">
                <a:ln>
                  <a:noFill/>
                </a:ln>
                <a:solidFill>
                  <a:srgbClr val="000000"/>
                </a:solidFill>
                <a:effectLst/>
                <a:latin typeface="ff2"/>
              </a:rPr>
              <a:t>C"''a"rat("$+</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600" b="0" i="0" u="none" strike="noStrike" cap="none" normalizeH="0" baseline="0">
                <a:ln>
                  <a:noFill/>
                </a:ln>
                <a:solidFill>
                  <a:srgbClr val="000000"/>
                </a:solidFill>
                <a:effectLst/>
                <a:latin typeface="ff0"/>
              </a:rPr>
              <a:t>+an% PaaS s%stems are set up to allow multiple individuals towor on the same proects.*</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700" b="1" i="0" u="none" strike="noStrike" cap="none" normalizeH="0" baseline="0">
                <a:ln>
                  <a:noFill/>
                </a:ln>
                <a:solidFill>
                  <a:srgbClr val="000000"/>
                </a:solidFill>
                <a:effectLst/>
                <a:latin typeface="ff2"/>
              </a:rPr>
              <a:t>Data ma$aeme$t+</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600" b="0" i="0" u="none" strike="noStrike" cap="none" normalizeH="0" baseline="0">
                <a:ln>
                  <a:noFill/>
                </a:ln>
                <a:solidFill>
                  <a:srgbClr val="000000"/>
                </a:solidFill>
                <a:effectLst/>
                <a:latin typeface="ff0"/>
              </a:rPr>
              <a:t> Tools are provided for accessin# and usin# data in a datastore.*</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700" b="1" i="0" u="none" strike="noStrike" cap="none" normalizeH="0" baseline="0">
                <a:ln>
                  <a:noFill/>
                </a:ln>
                <a:solidFill>
                  <a:srgbClr val="000000"/>
                </a:solidFill>
                <a:effectLst/>
                <a:latin typeface="ff2"/>
              </a:rPr>
              <a:t>I$trume$tat("$, per"rma$ce, a$) tet($+</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600" b="0" i="0" u="none" strike="noStrike" cap="none" normalizeH="0" baseline="0">
                <a:ln>
                  <a:noFill/>
                </a:ln>
                <a:solidFill>
                  <a:srgbClr val="000000"/>
                </a:solidFill>
                <a:effectLst/>
                <a:latin typeface="ff0"/>
              </a:rPr>
              <a:t> Tools are available formeasurin# %our applications and optimi"in# their performance.*</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700" b="1" i="0" u="none" strike="noStrike" cap="none" normalizeH="0" baseline="0">
                <a:ln>
                  <a:noFill/>
                </a:ln>
                <a:solidFill>
                  <a:srgbClr val="000000"/>
                </a:solidFill>
                <a:effectLst/>
                <a:latin typeface="ff2"/>
              </a:rPr>
              <a:t>-t"rae+</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600" b="0" i="0" u="none" strike="noStrike" cap="none" normalizeH="0" baseline="0">
                <a:ln>
                  <a:noFill/>
                </a:ln>
                <a:solidFill>
                  <a:srgbClr val="000000"/>
                </a:solidFill>
                <a:effectLst/>
                <a:latin typeface="ff0"/>
              </a:rPr>
              <a:t>'ata can be stored in either the PaaS vendor-s service or accessedfrom a thirdpart% stora#e service.*</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700" b="1" i="0" u="none" strike="noStrike" cap="none" normalizeH="0" baseline="0">
                <a:ln>
                  <a:noFill/>
                </a:ln>
                <a:solidFill>
                  <a:srgbClr val="000000"/>
                </a:solidFill>
                <a:effectLst/>
                <a:latin typeface="ff2"/>
              </a:rPr>
              <a:t>Tra$act("$ ma$aeme$t+</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600" b="0" i="0" u="none" strike="noStrike" cap="none" normalizeH="0" baseline="0">
                <a:ln>
                  <a:noFill/>
                </a:ln>
                <a:solidFill>
                  <a:srgbClr val="000000"/>
                </a:solidFill>
                <a:effectLst/>
                <a:latin typeface="ff0"/>
              </a:rPr>
              <a:t>+an% PaaS s%stems provide services such astransaction mana#ers or broera#e service for maintainin# transaction inte#rit%.</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Source Sans Pro"/>
              </a:rPr>
              <a:t>  </a:t>
            </a:r>
            <a:r>
              <a:rPr kumimoji="0" lang="en-US" altLang="en-US" sz="40600" b="0" i="0" u="none" strike="noStrike" cap="none" normalizeH="0" baseline="0">
                <a:ln>
                  <a:noFill/>
                </a:ln>
                <a:solidFill>
                  <a:srgbClr val="000000"/>
                </a:solidFill>
                <a:effectLst/>
                <a:latin typeface="Source Sans Pro"/>
              </a:rPr>
              <a:t> </a:t>
            </a:r>
            <a:r>
              <a:rPr kumimoji="0" lang="en-US" altLang="en-US" sz="1200" b="0" i="0" u="none" strike="noStrike" cap="none" normalizeH="0" baseline="0">
                <a:ln>
                  <a:noFill/>
                </a:ln>
                <a:solidFill>
                  <a:srgbClr val="000000"/>
                </a:solidFill>
                <a:effectLst/>
                <a:latin typeface="Source Sans Pro"/>
              </a:rPr>
              <a:t>                                                                                                                                                                                                       </a:t>
            </a:r>
          </a:p>
        </p:txBody>
      </p:sp>
      <p:pic>
        <p:nvPicPr>
          <p:cNvPr id="1026" name="Picture 2" descr="https://html.scribdassets.com/7oa3r9i8jk5s4gjb/images/3-f1ab2aaac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63" y="13760450"/>
            <a:ext cx="8610600" cy="645795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613611" y="957191"/>
            <a:ext cx="11201400" cy="3323987"/>
          </a:xfrm>
          <a:prstGeom prst="rect">
            <a:avLst/>
          </a:prstGeom>
        </p:spPr>
        <p:txBody>
          <a:bodyPr wrap="square">
            <a:spAutoFit/>
          </a:bodyPr>
          <a:lstStyle/>
          <a:p>
            <a:pPr algn="just"/>
            <a:r>
              <a:rPr lang="en-US" sz="2400" dirty="0"/>
              <a:t>A </a:t>
            </a:r>
            <a:r>
              <a:rPr lang="en-US" sz="2400" b="1" dirty="0"/>
              <a:t>good PaaS system has certain desirable characteristics that </a:t>
            </a:r>
            <a:r>
              <a:rPr lang="en-US" sz="2400" dirty="0"/>
              <a:t>are important in developing robust, and hopefully portable applications</a:t>
            </a:r>
            <a:r>
              <a:rPr lang="en-US" dirty="0"/>
              <a:t>:</a:t>
            </a:r>
          </a:p>
          <a:p>
            <a:pPr algn="just"/>
            <a:endParaRPr lang="en-US" dirty="0"/>
          </a:p>
          <a:p>
            <a:pPr marL="342900" indent="-342900" algn="just">
              <a:buFont typeface="Arial" panose="020B0604020202020204" pitchFamily="34" charset="0"/>
              <a:buChar char="•"/>
            </a:pPr>
            <a:r>
              <a:rPr lang="en-US" sz="2400" dirty="0"/>
              <a:t>Separate of data management from the user interface</a:t>
            </a:r>
          </a:p>
          <a:p>
            <a:pPr marL="342900" indent="-342900" algn="just">
              <a:buFont typeface="Arial" panose="020B0604020202020204" pitchFamily="34" charset="0"/>
              <a:buChar char="•"/>
            </a:pPr>
            <a:r>
              <a:rPr lang="en-US" sz="2400" dirty="0"/>
              <a:t>Reliance on cloud computing standards</a:t>
            </a:r>
          </a:p>
          <a:p>
            <a:pPr marL="342900" indent="-342900" algn="just">
              <a:buFont typeface="Arial" panose="020B0604020202020204" pitchFamily="34" charset="0"/>
              <a:buChar char="•"/>
            </a:pPr>
            <a:r>
              <a:rPr lang="en-US" sz="2400" dirty="0"/>
              <a:t>An integrated development environment (IDE)</a:t>
            </a:r>
          </a:p>
          <a:p>
            <a:pPr marL="342900" indent="-342900" algn="just">
              <a:buFont typeface="Arial" panose="020B0604020202020204" pitchFamily="34" charset="0"/>
              <a:buChar char="•"/>
            </a:pPr>
            <a:r>
              <a:rPr lang="en-US" sz="2400" dirty="0"/>
              <a:t>Lifecycle management tools</a:t>
            </a:r>
          </a:p>
          <a:p>
            <a:pPr marL="342900" indent="-342900" algn="just">
              <a:buFont typeface="Arial" panose="020B0604020202020204" pitchFamily="34" charset="0"/>
              <a:buChar char="•"/>
            </a:pPr>
            <a:r>
              <a:rPr lang="en-US" sz="2400" dirty="0"/>
              <a:t>Multi-tenant architecture support, security, and scalability</a:t>
            </a:r>
          </a:p>
          <a:p>
            <a:pPr marL="342900" indent="-342900" algn="just">
              <a:buFont typeface="Arial" panose="020B0604020202020204" pitchFamily="34" charset="0"/>
              <a:buChar char="•"/>
            </a:pPr>
            <a:r>
              <a:rPr lang="en-US" sz="2400" dirty="0"/>
              <a:t>Performance monitoring, testing, and optimization tools</a:t>
            </a:r>
          </a:p>
        </p:txBody>
      </p:sp>
    </p:spTree>
    <p:extLst>
      <p:ext uri="{BB962C8B-B14F-4D97-AF65-F5344CB8AC3E}">
        <p14:creationId xmlns:p14="http://schemas.microsoft.com/office/powerpoint/2010/main" val="96460680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Exploring PaaS </a:t>
            </a:r>
          </a:p>
        </p:txBody>
      </p:sp>
      <p:sp>
        <p:nvSpPr>
          <p:cNvPr id="3" name="Rectangle 2"/>
          <p:cNvSpPr/>
          <p:nvPr/>
        </p:nvSpPr>
        <p:spPr>
          <a:xfrm>
            <a:off x="433137" y="1209634"/>
            <a:ext cx="11381873" cy="6435736"/>
          </a:xfrm>
          <a:prstGeom prst="rect">
            <a:avLst/>
          </a:prstGeom>
        </p:spPr>
        <p:txBody>
          <a:bodyPr wrap="square">
            <a:spAutoFit/>
          </a:bodyPr>
          <a:lstStyle/>
          <a:p>
            <a:r>
              <a:rPr lang="en-US" sz="4000" b="1" dirty="0">
                <a:solidFill>
                  <a:srgbClr val="000000"/>
                </a:solidFill>
                <a:latin typeface="OptimaLTStd-Black"/>
              </a:rPr>
              <a:t>Salesforce.com versus Force.com: SaaS versus PaaS</a:t>
            </a:r>
          </a:p>
          <a:p>
            <a:pPr marL="285750" indent="-285750" algn="just">
              <a:lnSpc>
                <a:spcPct val="150000"/>
              </a:lnSpc>
              <a:buFont typeface="Arial" panose="020B0604020202020204" pitchFamily="34" charset="0"/>
              <a:buChar char="•"/>
            </a:pPr>
            <a:r>
              <a:rPr lang="en-US" dirty="0">
                <a:solidFill>
                  <a:srgbClr val="000000"/>
                </a:solidFill>
                <a:latin typeface="BerkeleyStd-Book"/>
              </a:rPr>
              <a:t>There can be no better example illustrating the difference between a SaaS and PaaS system than that of Salesforce.com and Force.com. </a:t>
            </a:r>
          </a:p>
          <a:p>
            <a:pPr marL="285750" indent="-285750" algn="just">
              <a:lnSpc>
                <a:spcPct val="150000"/>
              </a:lnSpc>
              <a:buFont typeface="Arial" panose="020B0604020202020204" pitchFamily="34" charset="0"/>
              <a:buChar char="•"/>
            </a:pPr>
            <a:r>
              <a:rPr lang="en-US" dirty="0">
                <a:solidFill>
                  <a:srgbClr val="000000"/>
                </a:solidFill>
                <a:latin typeface="BerkeleyStd-Book"/>
              </a:rPr>
              <a:t>Salesforce.com is a Web application suite that is an SaaS.</a:t>
            </a:r>
          </a:p>
          <a:p>
            <a:pPr marL="285750" indent="-285750" algn="just">
              <a:lnSpc>
                <a:spcPct val="150000"/>
              </a:lnSpc>
              <a:buFont typeface="Arial" panose="020B0604020202020204" pitchFamily="34" charset="0"/>
              <a:buChar char="•"/>
            </a:pPr>
            <a:r>
              <a:rPr lang="en-US" dirty="0">
                <a:solidFill>
                  <a:srgbClr val="000000"/>
                </a:solidFill>
                <a:latin typeface="BerkeleyStd-Book"/>
              </a:rPr>
              <a:t>Force.com is </a:t>
            </a:r>
            <a:r>
              <a:rPr lang="en-US" dirty="0" err="1">
                <a:solidFill>
                  <a:srgbClr val="000000"/>
                </a:solidFill>
                <a:latin typeface="BerkeleyStd-Book"/>
              </a:rPr>
              <a:t>Salesforce.com’s</a:t>
            </a:r>
            <a:r>
              <a:rPr lang="en-US" dirty="0">
                <a:solidFill>
                  <a:srgbClr val="000000"/>
                </a:solidFill>
                <a:latin typeface="BerkeleyStd-Book"/>
              </a:rPr>
              <a:t> PaaS platform for building your own services.</a:t>
            </a:r>
          </a:p>
          <a:p>
            <a:pPr marL="285750" indent="-285750" algn="just">
              <a:lnSpc>
                <a:spcPct val="150000"/>
              </a:lnSpc>
              <a:buFont typeface="Arial" panose="020B0604020202020204" pitchFamily="34" charset="0"/>
              <a:buChar char="•"/>
            </a:pPr>
            <a:r>
              <a:rPr lang="en-US" dirty="0">
                <a:solidFill>
                  <a:srgbClr val="000000"/>
                </a:solidFill>
                <a:latin typeface="BerkeleyStd-Book"/>
              </a:rPr>
              <a:t>Salesforce.com was formed by several Oracle employees in 1999 to create a hosted Customer Relationship Management (CRM) system. </a:t>
            </a:r>
          </a:p>
          <a:p>
            <a:pPr marL="285750" indent="-285750" algn="just">
              <a:lnSpc>
                <a:spcPct val="150000"/>
              </a:lnSpc>
              <a:buFont typeface="Arial" panose="020B0604020202020204" pitchFamily="34" charset="0"/>
              <a:buChar char="•"/>
            </a:pPr>
            <a:r>
              <a:rPr lang="en-US" dirty="0">
                <a:solidFill>
                  <a:srgbClr val="000000"/>
                </a:solidFill>
                <a:latin typeface="BerkeleyStd-Book"/>
              </a:rPr>
              <a:t>CRM has long been one of Oracle’s core database services.</a:t>
            </a:r>
          </a:p>
          <a:p>
            <a:pPr marL="285750" indent="-285750" algn="just">
              <a:lnSpc>
                <a:spcPct val="150000"/>
              </a:lnSpc>
              <a:buFont typeface="Arial" panose="020B0604020202020204" pitchFamily="34" charset="0"/>
              <a:buChar char="•"/>
            </a:pPr>
            <a:r>
              <a:rPr lang="en-US" dirty="0">
                <a:solidFill>
                  <a:srgbClr val="000000"/>
                </a:solidFill>
                <a:latin typeface="BerkeleyStd-Book"/>
              </a:rPr>
              <a:t> </a:t>
            </a:r>
            <a:r>
              <a:rPr lang="en-US" b="1" dirty="0">
                <a:solidFill>
                  <a:srgbClr val="000000"/>
                </a:solidFill>
                <a:latin typeface="BerkeleyStd-Book"/>
              </a:rPr>
              <a:t>Salesforce.com team created hosted software based on a cloud computing model: pay as  you go</a:t>
            </a:r>
            <a:r>
              <a:rPr lang="en-US" dirty="0">
                <a:solidFill>
                  <a:srgbClr val="000000"/>
                </a:solidFill>
                <a:latin typeface="BerkeleyStd-Book"/>
              </a:rPr>
              <a:t>, simple to use, and multifunctional. The </a:t>
            </a:r>
            <a:r>
              <a:rPr lang="en-US" b="1" dirty="0">
                <a:solidFill>
                  <a:srgbClr val="000000"/>
                </a:solidFill>
                <a:latin typeface="BerkeleyStd-Book"/>
              </a:rPr>
              <a:t>Salesforce.com platform looks like a typical Web site such as Amazon.com,</a:t>
            </a:r>
            <a:r>
              <a:rPr lang="en-US" dirty="0">
                <a:solidFill>
                  <a:srgbClr val="000000"/>
                </a:solidFill>
                <a:latin typeface="BerkeleyStd-Book"/>
              </a:rPr>
              <a:t> with a multi-tabbed interface—each tab being an individual application.</a:t>
            </a:r>
          </a:p>
          <a:p>
            <a:pPr algn="just">
              <a:lnSpc>
                <a:spcPct val="150000"/>
              </a:lnSpc>
            </a:pPr>
            <a:r>
              <a:rPr lang="en-US" dirty="0">
                <a:solidFill>
                  <a:srgbClr val="000000"/>
                </a:solidFill>
                <a:latin typeface="BerkeleyStd-Book"/>
              </a:rPr>
              <a:t>Shown in Figure 7.1 is a Salesforce.com portal with the multi-tabbed interface exposing the different</a:t>
            </a:r>
          </a:p>
          <a:p>
            <a:pPr algn="just">
              <a:lnSpc>
                <a:spcPct val="150000"/>
              </a:lnSpc>
            </a:pPr>
            <a:r>
              <a:rPr lang="en-US" dirty="0">
                <a:solidFill>
                  <a:srgbClr val="000000"/>
                </a:solidFill>
                <a:latin typeface="BerkeleyStd-Book"/>
              </a:rPr>
              <a:t>applications.</a:t>
            </a:r>
          </a:p>
          <a:p>
            <a:pPr algn="just">
              <a:lnSpc>
                <a:spcPct val="150000"/>
              </a:lnSpc>
            </a:pPr>
            <a:r>
              <a:rPr lang="en-US" sz="1600" b="1" dirty="0">
                <a:solidFill>
                  <a:srgbClr val="FFFFFF"/>
                </a:solidFill>
                <a:latin typeface="Interstate-Bold"/>
              </a:rPr>
              <a:t>FIGURE 7.1</a:t>
            </a:r>
          </a:p>
          <a:p>
            <a:pPr algn="just">
              <a:lnSpc>
                <a:spcPct val="150000"/>
              </a:lnSpc>
            </a:pPr>
            <a:r>
              <a:rPr lang="en-US" dirty="0">
                <a:solidFill>
                  <a:srgbClr val="000000"/>
                </a:solidFill>
                <a:latin typeface="OptimaLTStd"/>
              </a:rPr>
              <a:t>In Salesforce.com, each tab is an application</a:t>
            </a:r>
            <a:endParaRPr lang="en-US" dirty="0"/>
          </a:p>
        </p:txBody>
      </p:sp>
    </p:spTree>
    <p:extLst>
      <p:ext uri="{BB962C8B-B14F-4D97-AF65-F5344CB8AC3E}">
        <p14:creationId xmlns:p14="http://schemas.microsoft.com/office/powerpoint/2010/main" val="2702965747"/>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68841" y="0"/>
            <a:ext cx="4247513" cy="461665"/>
          </a:xfrm>
          <a:prstGeom prst="rect">
            <a:avLst/>
          </a:prstGeom>
        </p:spPr>
        <p:txBody>
          <a:bodyPr wrap="square">
            <a:spAutoFit/>
          </a:bodyPr>
          <a:lstStyle/>
          <a:p>
            <a:pPr algn="ctr"/>
            <a:r>
              <a:rPr lang="en-US" sz="2400" b="1" dirty="0"/>
              <a:t>Exploring </a:t>
            </a:r>
            <a:r>
              <a:rPr lang="en-US" sz="2400" b="1" dirty="0" err="1"/>
              <a:t>Paas</a:t>
            </a:r>
            <a:r>
              <a:rPr lang="en-US" sz="2400" b="1" dirty="0"/>
              <a:t> </a:t>
            </a:r>
          </a:p>
        </p:txBody>
      </p:sp>
      <p:sp>
        <p:nvSpPr>
          <p:cNvPr id="3" name="Rectangle 2"/>
          <p:cNvSpPr/>
          <p:nvPr/>
        </p:nvSpPr>
        <p:spPr>
          <a:xfrm>
            <a:off x="810127" y="461665"/>
            <a:ext cx="11381873" cy="1785104"/>
          </a:xfrm>
          <a:prstGeom prst="rect">
            <a:avLst/>
          </a:prstGeom>
        </p:spPr>
        <p:txBody>
          <a:bodyPr wrap="square">
            <a:spAutoFit/>
          </a:bodyPr>
          <a:lstStyle/>
          <a:p>
            <a:r>
              <a:rPr lang="en-US" sz="2000" b="1" dirty="0">
                <a:solidFill>
                  <a:srgbClr val="000000"/>
                </a:solidFill>
                <a:latin typeface="OptimaLTStd-Black"/>
              </a:rPr>
              <a:t>Salesforce.com versus Force.com: SaaS versus PaaS</a:t>
            </a:r>
          </a:p>
          <a:p>
            <a:pPr marL="342900" indent="-342900" algn="just">
              <a:lnSpc>
                <a:spcPct val="150000"/>
              </a:lnSpc>
              <a:buFont typeface="Arial" panose="020B0604020202020204" pitchFamily="34" charset="0"/>
              <a:buChar char="•"/>
            </a:pPr>
            <a:r>
              <a:rPr lang="en-US" sz="2000" dirty="0">
                <a:solidFill>
                  <a:srgbClr val="000000"/>
                </a:solidFill>
                <a:latin typeface="BerkeleyStd-Book"/>
              </a:rPr>
              <a:t>Shown in Figure 7.1 is a Salesforce.com portal with the multi-tabbed interface exposing the different applications.</a:t>
            </a:r>
          </a:p>
          <a:p>
            <a:pPr marL="342900" indent="-342900" algn="just">
              <a:lnSpc>
                <a:spcPct val="150000"/>
              </a:lnSpc>
              <a:buFont typeface="Arial" panose="020B0604020202020204" pitchFamily="34" charset="0"/>
              <a:buChar char="•"/>
            </a:pPr>
            <a:r>
              <a:rPr lang="en-US" sz="2000" dirty="0">
                <a:solidFill>
                  <a:srgbClr val="000000"/>
                </a:solidFill>
                <a:latin typeface="BerkeleyStd-Book"/>
              </a:rPr>
              <a:t>I</a:t>
            </a:r>
            <a:r>
              <a:rPr lang="en-US" sz="2000" dirty="0">
                <a:solidFill>
                  <a:srgbClr val="000000"/>
                </a:solidFill>
                <a:latin typeface="OptimaLTStd"/>
              </a:rPr>
              <a:t>n Salesforce.com, </a:t>
            </a:r>
            <a:r>
              <a:rPr lang="en-US" sz="2000" b="1" dirty="0">
                <a:solidFill>
                  <a:srgbClr val="000000"/>
                </a:solidFill>
                <a:latin typeface="OptimaLTStd"/>
              </a:rPr>
              <a:t>each tab is an application</a:t>
            </a:r>
            <a:endParaRPr lang="en-US" sz="2000" b="1" dirty="0"/>
          </a:p>
        </p:txBody>
      </p:sp>
      <p:pic>
        <p:nvPicPr>
          <p:cNvPr id="2" name="Picture 1"/>
          <p:cNvPicPr>
            <a:picLocks noChangeAspect="1"/>
          </p:cNvPicPr>
          <p:nvPr/>
        </p:nvPicPr>
        <p:blipFill>
          <a:blip r:embed="rId3"/>
          <a:stretch>
            <a:fillRect/>
          </a:stretch>
        </p:blipFill>
        <p:spPr>
          <a:xfrm>
            <a:off x="3031959" y="2286000"/>
            <a:ext cx="7578095" cy="4262679"/>
          </a:xfrm>
          <a:prstGeom prst="rect">
            <a:avLst/>
          </a:prstGeom>
        </p:spPr>
      </p:pic>
    </p:spTree>
    <p:extLst>
      <p:ext uri="{BB962C8B-B14F-4D97-AF65-F5344CB8AC3E}">
        <p14:creationId xmlns:p14="http://schemas.microsoft.com/office/powerpoint/2010/main" val="209915758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 </a:t>
            </a:r>
          </a:p>
        </p:txBody>
      </p:sp>
      <p:sp>
        <p:nvSpPr>
          <p:cNvPr id="2" name="Rectangle 1"/>
          <p:cNvSpPr>
            <a:spLocks noChangeArrowheads="1"/>
          </p:cNvSpPr>
          <p:nvPr/>
        </p:nvSpPr>
        <p:spPr bwMode="auto">
          <a:xfrm>
            <a:off x="0" y="0"/>
            <a:ext cx="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600" b="0" i="0" u="none" strike="noStrike" cap="none" normalizeH="0" baseline="0">
                <a:ln>
                  <a:noFill/>
                </a:ln>
                <a:solidFill>
                  <a:srgbClr val="000000"/>
                </a:solidFill>
                <a:effectLst/>
                <a:latin typeface="ff0"/>
              </a:rPr>
              <a:t>PaaS models span a broad ran#e of services, includin# these, amon# others)*</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700" b="1" i="0" u="none" strike="noStrike" cap="none" normalizeH="0" baseline="0">
                <a:ln>
                  <a:noFill/>
                </a:ln>
                <a:solidFill>
                  <a:srgbClr val="000000"/>
                </a:solidFill>
                <a:effectLst/>
                <a:latin typeface="ff2"/>
              </a:rPr>
              <a:t>App'(cat("$ )e*e'"pme$t+</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600" b="0" i="0" u="none" strike="noStrike" cap="none" normalizeH="0" baseline="0">
                <a:ln>
                  <a:noFill/>
                </a:ln>
                <a:solidFill>
                  <a:srgbClr val="000000"/>
                </a:solidFill>
                <a:effectLst/>
                <a:latin typeface="ff0"/>
              </a:rPr>
              <a:t>$ PaaS platform either provides the means to usepro#rams %ou create in a supported lan#ua#e or o&amp;ers a visual developmentenvironment that writes the code for %ou.*</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700" b="1" i="0" u="none" strike="noStrike" cap="none" normalizeH="0" baseline="0">
                <a:ln>
                  <a:noFill/>
                </a:ln>
                <a:solidFill>
                  <a:srgbClr val="000000"/>
                </a:solidFill>
                <a:effectLst/>
                <a:latin typeface="ff2"/>
              </a:rPr>
              <a:t>C"''a"rat("$+</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600" b="0" i="0" u="none" strike="noStrike" cap="none" normalizeH="0" baseline="0">
                <a:ln>
                  <a:noFill/>
                </a:ln>
                <a:solidFill>
                  <a:srgbClr val="000000"/>
                </a:solidFill>
                <a:effectLst/>
                <a:latin typeface="ff0"/>
              </a:rPr>
              <a:t>+an% PaaS s%stems are set up to allow multiple individuals towor on the same proects.*</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700" b="1" i="0" u="none" strike="noStrike" cap="none" normalizeH="0" baseline="0">
                <a:ln>
                  <a:noFill/>
                </a:ln>
                <a:solidFill>
                  <a:srgbClr val="000000"/>
                </a:solidFill>
                <a:effectLst/>
                <a:latin typeface="ff2"/>
              </a:rPr>
              <a:t>Data ma$aeme$t+</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600" b="0" i="0" u="none" strike="noStrike" cap="none" normalizeH="0" baseline="0">
                <a:ln>
                  <a:noFill/>
                </a:ln>
                <a:solidFill>
                  <a:srgbClr val="000000"/>
                </a:solidFill>
                <a:effectLst/>
                <a:latin typeface="ff0"/>
              </a:rPr>
              <a:t> Tools are provided for accessin# and usin# data in a datastore.*</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700" b="1" i="0" u="none" strike="noStrike" cap="none" normalizeH="0" baseline="0">
                <a:ln>
                  <a:noFill/>
                </a:ln>
                <a:solidFill>
                  <a:srgbClr val="000000"/>
                </a:solidFill>
                <a:effectLst/>
                <a:latin typeface="ff2"/>
              </a:rPr>
              <a:t>I$trume$tat("$, per"rma$ce, a$) tet($+</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600" b="0" i="0" u="none" strike="noStrike" cap="none" normalizeH="0" baseline="0">
                <a:ln>
                  <a:noFill/>
                </a:ln>
                <a:solidFill>
                  <a:srgbClr val="000000"/>
                </a:solidFill>
                <a:effectLst/>
                <a:latin typeface="ff0"/>
              </a:rPr>
              <a:t> Tools are available formeasurin# %our applications and optimi"in# their performance.*</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700" b="1" i="0" u="none" strike="noStrike" cap="none" normalizeH="0" baseline="0">
                <a:ln>
                  <a:noFill/>
                </a:ln>
                <a:solidFill>
                  <a:srgbClr val="000000"/>
                </a:solidFill>
                <a:effectLst/>
                <a:latin typeface="ff2"/>
              </a:rPr>
              <a:t>-t"rae+</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600" b="0" i="0" u="none" strike="noStrike" cap="none" normalizeH="0" baseline="0">
                <a:ln>
                  <a:noFill/>
                </a:ln>
                <a:solidFill>
                  <a:srgbClr val="000000"/>
                </a:solidFill>
                <a:effectLst/>
                <a:latin typeface="ff0"/>
              </a:rPr>
              <a:t>'ata can be stored in either the PaaS vendor-s service or accessedfrom a thirdpart% stora#e service.*</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700" b="1" i="0" u="none" strike="noStrike" cap="none" normalizeH="0" baseline="0">
                <a:ln>
                  <a:noFill/>
                </a:ln>
                <a:solidFill>
                  <a:srgbClr val="000000"/>
                </a:solidFill>
                <a:effectLst/>
                <a:latin typeface="ff2"/>
              </a:rPr>
              <a:t>Tra$act("$ ma$aeme$t+</a:t>
            </a:r>
            <a:endParaRPr kumimoji="0" lang="en-US" altLang="en-US" sz="1200" b="0" i="0" u="none" strike="noStrike" cap="none" normalizeH="0" baseline="0">
              <a:ln>
                <a:noFill/>
              </a:ln>
              <a:solidFill>
                <a:srgbClr val="000000"/>
              </a:solidFill>
              <a:effectLst/>
              <a:latin typeface="Source Sans Pr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7600" b="0" i="0" u="none" strike="noStrike" cap="none" normalizeH="0" baseline="0">
                <a:ln>
                  <a:noFill/>
                </a:ln>
                <a:solidFill>
                  <a:srgbClr val="000000"/>
                </a:solidFill>
                <a:effectLst/>
                <a:latin typeface="ff0"/>
              </a:rPr>
              <a:t>+an% PaaS s%stems provide services such astransaction mana#ers or broera#e service for maintainin# transaction inte#rit%.</a:t>
            </a:r>
            <a:endParaRPr kumimoji="0" lang="en-US" altLang="en-US" sz="11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Source Sans Pro"/>
              </a:rPr>
              <a:t>  </a:t>
            </a:r>
            <a:r>
              <a:rPr kumimoji="0" lang="en-US" altLang="en-US" sz="40600" b="0" i="0" u="none" strike="noStrike" cap="none" normalizeH="0" baseline="0">
                <a:ln>
                  <a:noFill/>
                </a:ln>
                <a:solidFill>
                  <a:srgbClr val="000000"/>
                </a:solidFill>
                <a:effectLst/>
                <a:latin typeface="Source Sans Pro"/>
              </a:rPr>
              <a:t> </a:t>
            </a:r>
            <a:r>
              <a:rPr kumimoji="0" lang="en-US" altLang="en-US" sz="1200" b="0" i="0" u="none" strike="noStrike" cap="none" normalizeH="0" baseline="0">
                <a:ln>
                  <a:noFill/>
                </a:ln>
                <a:solidFill>
                  <a:srgbClr val="000000"/>
                </a:solidFill>
                <a:effectLst/>
                <a:latin typeface="Source Sans Pro"/>
              </a:rPr>
              <a:t>                                                                                                                                                                                                       </a:t>
            </a:r>
          </a:p>
        </p:txBody>
      </p:sp>
      <p:pic>
        <p:nvPicPr>
          <p:cNvPr id="1026" name="Picture 2" descr="https://html.scribdassets.com/7oa3r9i8jk5s4gjb/images/3-f1ab2aaac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63" y="13760450"/>
            <a:ext cx="8610600" cy="645795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613611" y="957191"/>
            <a:ext cx="11201400" cy="5262979"/>
          </a:xfrm>
          <a:prstGeom prst="rect">
            <a:avLst/>
          </a:prstGeom>
        </p:spPr>
        <p:txBody>
          <a:bodyPr wrap="square">
            <a:spAutoFit/>
          </a:bodyPr>
          <a:lstStyle/>
          <a:p>
            <a:pPr algn="just"/>
            <a:r>
              <a:rPr lang="en-US" sz="2400" b="1" dirty="0"/>
              <a:t>Salesforce.com portal </a:t>
            </a:r>
            <a:r>
              <a:rPr lang="en-US" b="1" dirty="0"/>
              <a:t>:</a:t>
            </a:r>
          </a:p>
          <a:p>
            <a:pPr algn="just"/>
            <a:r>
              <a:rPr lang="en-US" sz="2400" dirty="0"/>
              <a:t>Some of the applications included in the site are:</a:t>
            </a:r>
          </a:p>
          <a:p>
            <a:pPr marL="342900" indent="-342900" algn="just">
              <a:buFont typeface="Arial" panose="020B0604020202020204" pitchFamily="34" charset="0"/>
              <a:buChar char="•"/>
            </a:pPr>
            <a:r>
              <a:rPr lang="en-US" sz="2400" dirty="0"/>
              <a:t>Accounts and Contact</a:t>
            </a:r>
          </a:p>
          <a:p>
            <a:pPr marL="342900" indent="-342900" algn="just">
              <a:buFont typeface="Arial" panose="020B0604020202020204" pitchFamily="34" charset="0"/>
              <a:buChar char="•"/>
            </a:pPr>
            <a:r>
              <a:rPr lang="en-US" sz="2400" dirty="0"/>
              <a:t>Analytics and Forecasting</a:t>
            </a:r>
          </a:p>
          <a:p>
            <a:pPr marL="342900" indent="-342900" algn="just">
              <a:buFont typeface="Arial" panose="020B0604020202020204" pitchFamily="34" charset="0"/>
              <a:buChar char="•"/>
            </a:pPr>
            <a:r>
              <a:rPr lang="en-US" sz="2400" dirty="0"/>
              <a:t>Approvals and Workflow</a:t>
            </a:r>
          </a:p>
          <a:p>
            <a:pPr marL="342900" indent="-342900" algn="just">
              <a:buFont typeface="Arial" panose="020B0604020202020204" pitchFamily="34" charset="0"/>
              <a:buChar char="•"/>
            </a:pPr>
            <a:r>
              <a:rPr lang="en-US" sz="2400" dirty="0"/>
              <a:t>Chatter (Instant Messaging/Collaboration)</a:t>
            </a:r>
          </a:p>
          <a:p>
            <a:pPr marL="342900" indent="-342900" algn="just">
              <a:buFont typeface="Arial" panose="020B0604020202020204" pitchFamily="34" charset="0"/>
              <a:buChar char="•"/>
            </a:pPr>
            <a:r>
              <a:rPr lang="en-US" sz="2400" dirty="0"/>
              <a:t>Content Library</a:t>
            </a:r>
          </a:p>
          <a:p>
            <a:pPr marL="342900" indent="-342900" algn="just">
              <a:buFont typeface="Arial" panose="020B0604020202020204" pitchFamily="34" charset="0"/>
              <a:buChar char="•"/>
            </a:pPr>
            <a:r>
              <a:rPr lang="en-US" sz="2400" dirty="0"/>
              <a:t>E-mail and Productivity</a:t>
            </a:r>
          </a:p>
          <a:p>
            <a:pPr marL="342900" indent="-342900" algn="just">
              <a:buFont typeface="Arial" panose="020B0604020202020204" pitchFamily="34" charset="0"/>
              <a:buChar char="•"/>
            </a:pPr>
            <a:r>
              <a:rPr lang="en-US" sz="2400" dirty="0"/>
              <a:t>Jigsaw Business Data</a:t>
            </a:r>
          </a:p>
          <a:p>
            <a:pPr marL="342900" indent="-342900" algn="just">
              <a:buFont typeface="Arial" panose="020B0604020202020204" pitchFamily="34" charset="0"/>
              <a:buChar char="•"/>
            </a:pPr>
            <a:r>
              <a:rPr lang="en-US" sz="2400" dirty="0"/>
              <a:t>Marketing and Leads</a:t>
            </a:r>
          </a:p>
          <a:p>
            <a:pPr marL="342900" indent="-342900" algn="just">
              <a:buFont typeface="Arial" panose="020B0604020202020204" pitchFamily="34" charset="0"/>
              <a:buChar char="•"/>
            </a:pPr>
            <a:r>
              <a:rPr lang="en-US" sz="2400" dirty="0"/>
              <a:t>Opportunities and Quotes</a:t>
            </a:r>
          </a:p>
          <a:p>
            <a:pPr marL="342900" indent="-342900" algn="just">
              <a:buFont typeface="Arial" panose="020B0604020202020204" pitchFamily="34" charset="0"/>
              <a:buChar char="•"/>
            </a:pPr>
            <a:r>
              <a:rPr lang="en-US" sz="2400" dirty="0"/>
              <a:t>Partner Relationship</a:t>
            </a:r>
          </a:p>
          <a:p>
            <a:pPr marL="342900" indent="-342900" algn="just">
              <a:buFont typeface="Arial" panose="020B0604020202020204" pitchFamily="34" charset="0"/>
              <a:buChar char="•"/>
            </a:pPr>
            <a:r>
              <a:rPr lang="en-US" sz="2400" dirty="0"/>
              <a:t>Sales</a:t>
            </a:r>
          </a:p>
          <a:p>
            <a:pPr marL="342900" indent="-342900" algn="just">
              <a:buFont typeface="Arial" panose="020B0604020202020204" pitchFamily="34" charset="0"/>
              <a:buChar char="•"/>
            </a:pPr>
            <a:r>
              <a:rPr lang="en-US" sz="2400" dirty="0"/>
              <a:t>Service and Support</a:t>
            </a:r>
          </a:p>
        </p:txBody>
      </p:sp>
    </p:spTree>
    <p:extLst>
      <p:ext uri="{BB962C8B-B14F-4D97-AF65-F5344CB8AC3E}">
        <p14:creationId xmlns:p14="http://schemas.microsoft.com/office/powerpoint/2010/main" val="2521491546"/>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Exploring </a:t>
            </a:r>
            <a:r>
              <a:rPr lang="en-US" sz="2400" b="1" dirty="0" err="1"/>
              <a:t>Paas</a:t>
            </a:r>
            <a:r>
              <a:rPr lang="en-US" sz="2400" b="1" dirty="0"/>
              <a:t> </a:t>
            </a:r>
          </a:p>
        </p:txBody>
      </p:sp>
      <p:sp>
        <p:nvSpPr>
          <p:cNvPr id="3" name="Rectangle 2"/>
          <p:cNvSpPr/>
          <p:nvPr/>
        </p:nvSpPr>
        <p:spPr>
          <a:xfrm>
            <a:off x="810127" y="800561"/>
            <a:ext cx="11381873" cy="4708981"/>
          </a:xfrm>
          <a:prstGeom prst="rect">
            <a:avLst/>
          </a:prstGeom>
        </p:spPr>
        <p:txBody>
          <a:bodyPr wrap="square">
            <a:spAutoFit/>
          </a:bodyPr>
          <a:lstStyle/>
          <a:p>
            <a:pPr marL="342900" indent="-342900" algn="just">
              <a:lnSpc>
                <a:spcPct val="150000"/>
              </a:lnSpc>
              <a:buFont typeface="Arial" panose="020B0604020202020204" pitchFamily="34" charset="0"/>
              <a:buChar char="•"/>
            </a:pPr>
            <a:endParaRPr lang="en-US" sz="2000" dirty="0">
              <a:solidFill>
                <a:srgbClr val="000000"/>
              </a:solidFill>
              <a:latin typeface="BerkeleyStd-Book"/>
            </a:endParaRPr>
          </a:p>
          <a:p>
            <a:pPr marL="342900" indent="-342900" algn="just">
              <a:lnSpc>
                <a:spcPct val="150000"/>
              </a:lnSpc>
              <a:buFont typeface="Arial" panose="020B0604020202020204" pitchFamily="34" charset="0"/>
              <a:buChar char="•"/>
            </a:pPr>
            <a:r>
              <a:rPr lang="en-US" sz="2000" dirty="0">
                <a:solidFill>
                  <a:srgbClr val="000000"/>
                </a:solidFill>
                <a:latin typeface="BerkeleyStd-Book"/>
              </a:rPr>
              <a:t>Figure 7.2 shows the Force.com platform page at Salesforce.com.</a:t>
            </a:r>
          </a:p>
          <a:p>
            <a:pPr marL="342900" indent="-342900" algn="just">
              <a:lnSpc>
                <a:spcPct val="150000"/>
              </a:lnSpc>
              <a:buFont typeface="Arial" panose="020B0604020202020204" pitchFamily="34" charset="0"/>
              <a:buChar char="•"/>
            </a:pPr>
            <a:r>
              <a:rPr lang="en-US" sz="2000" dirty="0">
                <a:solidFill>
                  <a:srgbClr val="000000"/>
                </a:solidFill>
                <a:latin typeface="BerkeleyStd-Book"/>
              </a:rPr>
              <a:t>Force.com uses a </a:t>
            </a:r>
            <a:r>
              <a:rPr lang="en-US" sz="2000" b="1" dirty="0">
                <a:solidFill>
                  <a:srgbClr val="000000"/>
                </a:solidFill>
                <a:latin typeface="BerkeleyStd-Book"/>
              </a:rPr>
              <a:t>Java-based programming language called </a:t>
            </a:r>
            <a:r>
              <a:rPr lang="en-US" sz="2000" b="1" u="sng" dirty="0">
                <a:solidFill>
                  <a:srgbClr val="000000"/>
                </a:solidFill>
                <a:latin typeface="BerkeleyStd-Book"/>
              </a:rPr>
              <a:t>Apex</a:t>
            </a:r>
            <a:r>
              <a:rPr lang="en-US" sz="2000" b="1" dirty="0">
                <a:solidFill>
                  <a:srgbClr val="000000"/>
                </a:solidFill>
                <a:latin typeface="BerkeleyStd-Book"/>
              </a:rPr>
              <a:t> for its application building</a:t>
            </a:r>
            <a:r>
              <a:rPr lang="en-US" sz="2000" dirty="0">
                <a:solidFill>
                  <a:srgbClr val="000000"/>
                </a:solidFill>
                <a:latin typeface="BerkeleyStd-Book"/>
              </a:rPr>
              <a:t>, and it has an </a:t>
            </a:r>
            <a:r>
              <a:rPr lang="en-US" sz="2000" b="1" dirty="0">
                <a:solidFill>
                  <a:srgbClr val="000000"/>
                </a:solidFill>
                <a:latin typeface="BerkeleyStd-Book"/>
              </a:rPr>
              <a:t>interface builder called </a:t>
            </a:r>
            <a:r>
              <a:rPr lang="en-US" sz="2000" b="1" u="sng" dirty="0">
                <a:solidFill>
                  <a:srgbClr val="000000"/>
                </a:solidFill>
                <a:latin typeface="BerkeleyStd-Book"/>
              </a:rPr>
              <a:t>Visualforce </a:t>
            </a:r>
            <a:r>
              <a:rPr lang="en-US" sz="2000" dirty="0">
                <a:solidFill>
                  <a:srgbClr val="000000"/>
                </a:solidFill>
                <a:latin typeface="BerkeleyStd-Book"/>
              </a:rPr>
              <a:t>that allows a developer to create </a:t>
            </a:r>
            <a:r>
              <a:rPr lang="en-US" sz="2000" u="sng" dirty="0">
                <a:solidFill>
                  <a:srgbClr val="000000"/>
                </a:solidFill>
                <a:latin typeface="BerkeleyStd-Book"/>
              </a:rPr>
              <a:t>interfaces(reusable UIs</a:t>
            </a:r>
            <a:r>
              <a:rPr lang="en-US" sz="2000" dirty="0">
                <a:solidFill>
                  <a:srgbClr val="000000"/>
                </a:solidFill>
                <a:latin typeface="BerkeleyStd-Book"/>
              </a:rPr>
              <a:t>) using HTML, Flex, and AJAX. </a:t>
            </a:r>
          </a:p>
          <a:p>
            <a:pPr marL="342900" indent="-342900" algn="just">
              <a:lnSpc>
                <a:spcPct val="150000"/>
              </a:lnSpc>
              <a:buFont typeface="Arial" panose="020B0604020202020204" pitchFamily="34" charset="0"/>
              <a:buChar char="•"/>
            </a:pPr>
            <a:r>
              <a:rPr lang="en-US" sz="2000" b="1" dirty="0">
                <a:solidFill>
                  <a:srgbClr val="000000"/>
                </a:solidFill>
                <a:latin typeface="BerkeleyStd-Book"/>
              </a:rPr>
              <a:t>Using the Force.com </a:t>
            </a:r>
            <a:r>
              <a:rPr lang="en-US" sz="2000" dirty="0">
                <a:solidFill>
                  <a:srgbClr val="000000"/>
                </a:solidFill>
                <a:latin typeface="BerkeleyStd-Book"/>
              </a:rPr>
              <a:t>platform, </a:t>
            </a:r>
            <a:r>
              <a:rPr lang="en-US" sz="2000" b="1" dirty="0">
                <a:solidFill>
                  <a:srgbClr val="000000"/>
                </a:solidFill>
                <a:latin typeface="BerkeleyStd-Book"/>
              </a:rPr>
              <a:t>more than 1,000 applications have been created and are offered for sale on </a:t>
            </a:r>
            <a:r>
              <a:rPr lang="en-US" sz="2000" b="1" dirty="0" err="1">
                <a:solidFill>
                  <a:srgbClr val="000000"/>
                </a:solidFill>
                <a:latin typeface="BerkeleyStd-Book"/>
              </a:rPr>
              <a:t>Salesforce.com’s</a:t>
            </a:r>
            <a:r>
              <a:rPr lang="en-US" sz="2000" b="1" dirty="0">
                <a:solidFill>
                  <a:srgbClr val="000000"/>
                </a:solidFill>
                <a:latin typeface="BerkeleyStd-Book"/>
              </a:rPr>
              <a:t> AppExchange</a:t>
            </a:r>
            <a:r>
              <a:rPr lang="en-US" sz="2000" dirty="0">
                <a:solidFill>
                  <a:srgbClr val="000000"/>
                </a:solidFill>
                <a:latin typeface="BerkeleyStd-Book"/>
              </a:rPr>
              <a:t>, which has greatly enhanced its PaaS offerings. </a:t>
            </a:r>
          </a:p>
          <a:p>
            <a:pPr marL="342900" indent="-342900" algn="just">
              <a:lnSpc>
                <a:spcPct val="150000"/>
              </a:lnSpc>
              <a:buFont typeface="Arial" panose="020B0604020202020204" pitchFamily="34" charset="0"/>
              <a:buChar char="•"/>
            </a:pPr>
            <a:r>
              <a:rPr lang="en-US" sz="2000" dirty="0">
                <a:solidFill>
                  <a:srgbClr val="000000"/>
                </a:solidFill>
                <a:latin typeface="BerkeleyStd-Book"/>
              </a:rPr>
              <a:t>These applications can show up as </a:t>
            </a:r>
            <a:r>
              <a:rPr lang="en-US" sz="2000" b="1" dirty="0">
                <a:solidFill>
                  <a:srgbClr val="000000"/>
                </a:solidFill>
                <a:latin typeface="BerkeleyStd-Book"/>
              </a:rPr>
              <a:t>customizable tabs for different functions in customer applications</a:t>
            </a:r>
            <a:r>
              <a:rPr lang="en-US" sz="2000" dirty="0">
                <a:solidFill>
                  <a:srgbClr val="000000"/>
                </a:solidFill>
                <a:latin typeface="BerkeleyStd-Book"/>
              </a:rPr>
              <a:t> or as a set of S-controls that are JavaScript widgets.</a:t>
            </a:r>
            <a:endParaRPr lang="en-US" sz="2000" dirty="0"/>
          </a:p>
        </p:txBody>
      </p:sp>
    </p:spTree>
    <p:extLst>
      <p:ext uri="{BB962C8B-B14F-4D97-AF65-F5344CB8AC3E}">
        <p14:creationId xmlns:p14="http://schemas.microsoft.com/office/powerpoint/2010/main" val="196820274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Exploring </a:t>
            </a:r>
            <a:r>
              <a:rPr lang="en-US" sz="2400" b="1" dirty="0" err="1"/>
              <a:t>Paas</a:t>
            </a:r>
            <a:r>
              <a:rPr lang="en-US" sz="2400" b="1" dirty="0"/>
              <a:t> </a:t>
            </a:r>
          </a:p>
        </p:txBody>
      </p:sp>
      <p:sp>
        <p:nvSpPr>
          <p:cNvPr id="3" name="Rectangle 2"/>
          <p:cNvSpPr/>
          <p:nvPr/>
        </p:nvSpPr>
        <p:spPr>
          <a:xfrm>
            <a:off x="810127" y="800561"/>
            <a:ext cx="11381873" cy="496996"/>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sz="2000" dirty="0">
                <a:solidFill>
                  <a:srgbClr val="000000"/>
                </a:solidFill>
                <a:latin typeface="BerkeleyStd-Book"/>
              </a:rPr>
              <a:t>Figure 7.2 shows the Force.com platform page at Salesforce.com.</a:t>
            </a:r>
          </a:p>
        </p:txBody>
      </p:sp>
      <p:pic>
        <p:nvPicPr>
          <p:cNvPr id="5" name="Picture 4"/>
          <p:cNvPicPr>
            <a:picLocks noChangeAspect="1"/>
          </p:cNvPicPr>
          <p:nvPr/>
        </p:nvPicPr>
        <p:blipFill>
          <a:blip r:embed="rId3"/>
          <a:stretch>
            <a:fillRect/>
          </a:stretch>
        </p:blipFill>
        <p:spPr>
          <a:xfrm>
            <a:off x="3549316" y="1526987"/>
            <a:ext cx="6716148" cy="5016012"/>
          </a:xfrm>
          <a:prstGeom prst="rect">
            <a:avLst/>
          </a:prstGeom>
        </p:spPr>
      </p:pic>
    </p:spTree>
    <p:extLst>
      <p:ext uri="{BB962C8B-B14F-4D97-AF65-F5344CB8AC3E}">
        <p14:creationId xmlns:p14="http://schemas.microsoft.com/office/powerpoint/2010/main" val="221233404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Exploring PaaS </a:t>
            </a:r>
          </a:p>
        </p:txBody>
      </p:sp>
      <p:sp>
        <p:nvSpPr>
          <p:cNvPr id="3" name="Rectangle 2"/>
          <p:cNvSpPr/>
          <p:nvPr/>
        </p:nvSpPr>
        <p:spPr>
          <a:xfrm>
            <a:off x="810127" y="800561"/>
            <a:ext cx="11381873" cy="4093428"/>
          </a:xfrm>
          <a:prstGeom prst="rect">
            <a:avLst/>
          </a:prstGeom>
        </p:spPr>
        <p:txBody>
          <a:bodyPr wrap="square">
            <a:spAutoFit/>
          </a:bodyPr>
          <a:lstStyle/>
          <a:p>
            <a:r>
              <a:rPr lang="en-US" sz="2000" dirty="0">
                <a:solidFill>
                  <a:srgbClr val="000000"/>
                </a:solidFill>
                <a:latin typeface="BerkeleyStd-Book"/>
              </a:rPr>
              <a:t> </a:t>
            </a:r>
            <a:r>
              <a:rPr lang="en-US" sz="2000" b="1" dirty="0">
                <a:latin typeface="OptimaLTStd-Black"/>
              </a:rPr>
              <a:t>Application development</a:t>
            </a:r>
          </a:p>
          <a:p>
            <a:pPr marL="342900" indent="-342900">
              <a:lnSpc>
                <a:spcPct val="150000"/>
              </a:lnSpc>
              <a:buFont typeface="Arial" panose="020B0604020202020204" pitchFamily="34" charset="0"/>
              <a:buChar char="•"/>
            </a:pPr>
            <a:r>
              <a:rPr lang="en-US" sz="2000" dirty="0">
                <a:latin typeface="BerkeleyStd-Book"/>
              </a:rPr>
              <a:t>A PaaS provides the tools needed to </a:t>
            </a:r>
            <a:r>
              <a:rPr lang="en-US" sz="2000" b="1" dirty="0">
                <a:latin typeface="BerkeleyStd-Book"/>
              </a:rPr>
              <a:t>construct different types of applications </a:t>
            </a:r>
            <a:r>
              <a:rPr lang="en-US" sz="2000" dirty="0">
                <a:latin typeface="BerkeleyStd-Book"/>
              </a:rPr>
              <a:t>that can work together in the same environment. </a:t>
            </a:r>
          </a:p>
          <a:p>
            <a:pPr marL="342900" indent="-342900">
              <a:lnSpc>
                <a:spcPct val="150000"/>
              </a:lnSpc>
              <a:buFont typeface="Arial" panose="020B0604020202020204" pitchFamily="34" charset="0"/>
              <a:buChar char="•"/>
            </a:pPr>
            <a:r>
              <a:rPr lang="en-US" sz="2000" dirty="0">
                <a:latin typeface="BerkeleyStd-Book"/>
              </a:rPr>
              <a:t>These are among the common application types:</a:t>
            </a:r>
          </a:p>
          <a:p>
            <a:pPr>
              <a:lnSpc>
                <a:spcPct val="150000"/>
              </a:lnSpc>
            </a:pPr>
            <a:r>
              <a:rPr lang="en-US" sz="800" dirty="0">
                <a:latin typeface="WingdingsSTD"/>
              </a:rPr>
              <a:t>l </a:t>
            </a:r>
            <a:r>
              <a:rPr lang="en-US" sz="2000" i="1" dirty="0">
                <a:latin typeface="BerkeleyStd-Book"/>
              </a:rPr>
              <a:t>Composite business applications</a:t>
            </a:r>
          </a:p>
          <a:p>
            <a:pPr>
              <a:lnSpc>
                <a:spcPct val="150000"/>
              </a:lnSpc>
            </a:pPr>
            <a:r>
              <a:rPr lang="en-US" sz="800" i="1" dirty="0">
                <a:latin typeface="WingdingsSTD"/>
              </a:rPr>
              <a:t>l </a:t>
            </a:r>
            <a:r>
              <a:rPr lang="en-US" sz="2000" i="1" dirty="0">
                <a:latin typeface="BerkeleyStd-Book"/>
              </a:rPr>
              <a:t>Data portals</a:t>
            </a:r>
          </a:p>
          <a:p>
            <a:pPr>
              <a:lnSpc>
                <a:spcPct val="150000"/>
              </a:lnSpc>
            </a:pPr>
            <a:r>
              <a:rPr lang="en-US" sz="800" i="1" dirty="0">
                <a:latin typeface="WingdingsSTD"/>
              </a:rPr>
              <a:t>l </a:t>
            </a:r>
            <a:r>
              <a:rPr lang="en-US" sz="2000" i="1" dirty="0">
                <a:latin typeface="BerkeleyStd-Book"/>
              </a:rPr>
              <a:t>Mashups of multiple data sources</a:t>
            </a:r>
          </a:p>
          <a:p>
            <a:pPr>
              <a:lnSpc>
                <a:spcPct val="150000"/>
              </a:lnSpc>
            </a:pPr>
            <a:r>
              <a:rPr lang="en-US" sz="2000" dirty="0">
                <a:latin typeface="BerkeleyStd-Book"/>
              </a:rPr>
              <a:t>A </a:t>
            </a:r>
            <a:r>
              <a:rPr lang="en-US" sz="2000" i="1" dirty="0">
                <a:latin typeface="BerkeleyStd-BookItalic"/>
              </a:rPr>
              <a:t>mashup </a:t>
            </a:r>
            <a:r>
              <a:rPr lang="en-US" sz="2000" dirty="0">
                <a:latin typeface="BerkeleyStd-Book"/>
              </a:rPr>
              <a:t>is a Web page that displays data from two or more data sources. The various landmarks</a:t>
            </a:r>
          </a:p>
          <a:p>
            <a:pPr>
              <a:lnSpc>
                <a:spcPct val="150000"/>
              </a:lnSpc>
            </a:pPr>
            <a:r>
              <a:rPr lang="en-US" sz="2000" dirty="0">
                <a:latin typeface="BerkeleyStd-Book"/>
              </a:rPr>
              <a:t>and overlays you find in Google Earth, or annotated maps, are examples of mashups</a:t>
            </a:r>
            <a:r>
              <a:rPr lang="en-US" sz="2000" dirty="0">
                <a:solidFill>
                  <a:srgbClr val="000000"/>
                </a:solidFill>
                <a:latin typeface="BerkeleyStd-Book"/>
              </a:rPr>
              <a:t>.</a:t>
            </a:r>
          </a:p>
        </p:txBody>
      </p:sp>
    </p:spTree>
    <p:extLst>
      <p:ext uri="{BB962C8B-B14F-4D97-AF65-F5344CB8AC3E}">
        <p14:creationId xmlns:p14="http://schemas.microsoft.com/office/powerpoint/2010/main" val="364569162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Exploring PaaS </a:t>
            </a:r>
          </a:p>
        </p:txBody>
      </p:sp>
      <p:sp>
        <p:nvSpPr>
          <p:cNvPr id="2" name="Rectangle 1"/>
          <p:cNvSpPr/>
          <p:nvPr/>
        </p:nvSpPr>
        <p:spPr>
          <a:xfrm>
            <a:off x="445168" y="889844"/>
            <a:ext cx="11442032" cy="5632311"/>
          </a:xfrm>
          <a:prstGeom prst="rect">
            <a:avLst/>
          </a:prstGeom>
        </p:spPr>
        <p:txBody>
          <a:bodyPr wrap="square">
            <a:spAutoFit/>
          </a:bodyPr>
          <a:lstStyle/>
          <a:p>
            <a:pPr marL="285750" indent="-285750" algn="just">
              <a:lnSpc>
                <a:spcPct val="150000"/>
              </a:lnSpc>
              <a:buFont typeface="Arial" panose="020B0604020202020204" pitchFamily="34" charset="0"/>
              <a:buChar char="•"/>
            </a:pPr>
            <a:endParaRPr lang="en-US" dirty="0"/>
          </a:p>
          <a:p>
            <a:pPr marL="285750" indent="-285750" algn="just">
              <a:lnSpc>
                <a:spcPct val="150000"/>
              </a:lnSpc>
              <a:buFont typeface="Arial" panose="020B0604020202020204" pitchFamily="34" charset="0"/>
              <a:buChar char="•"/>
            </a:pPr>
            <a:r>
              <a:rPr lang="en-US" dirty="0"/>
              <a:t>As an application ages, it must be </a:t>
            </a:r>
            <a:r>
              <a:rPr lang="en-US" b="1" dirty="0"/>
              <a:t>upgraded, migrated, grown, and eventually phased out or ported. </a:t>
            </a:r>
          </a:p>
          <a:p>
            <a:pPr marL="285750" indent="-285750" algn="just">
              <a:lnSpc>
                <a:spcPct val="150000"/>
              </a:lnSpc>
              <a:buFont typeface="Arial" panose="020B0604020202020204" pitchFamily="34" charset="0"/>
              <a:buChar char="•"/>
            </a:pPr>
            <a:r>
              <a:rPr lang="en-US" b="1" dirty="0"/>
              <a:t>Many PaaS vendors </a:t>
            </a:r>
            <a:r>
              <a:rPr lang="en-US" dirty="0"/>
              <a:t>offer systems that </a:t>
            </a:r>
            <a:r>
              <a:rPr lang="en-US" b="1" dirty="0"/>
              <a:t>are integrated lifecycle development platforms</a:t>
            </a:r>
            <a:r>
              <a:rPr lang="en-US" dirty="0"/>
              <a:t>. </a:t>
            </a:r>
          </a:p>
          <a:p>
            <a:pPr marL="285750" indent="-285750" algn="just">
              <a:lnSpc>
                <a:spcPct val="150000"/>
              </a:lnSpc>
              <a:buFont typeface="Arial" panose="020B0604020202020204" pitchFamily="34" charset="0"/>
              <a:buChar char="•"/>
            </a:pPr>
            <a:r>
              <a:rPr lang="en-US" dirty="0"/>
              <a:t>That is, the vendor provides a full software development stack for the programmer to use, and it isn’t expected that the developer will need to go outside of the service to create his application.</a:t>
            </a:r>
          </a:p>
          <a:p>
            <a:pPr algn="just">
              <a:lnSpc>
                <a:spcPct val="150000"/>
              </a:lnSpc>
            </a:pPr>
            <a:r>
              <a:rPr lang="en-US" b="1" dirty="0"/>
              <a:t>An integrated lifecycle platform includes the following</a:t>
            </a:r>
            <a:r>
              <a:rPr lang="en-US" dirty="0"/>
              <a:t>:</a:t>
            </a:r>
          </a:p>
          <a:p>
            <a:pPr marL="342900" indent="-342900" algn="just">
              <a:lnSpc>
                <a:spcPct val="150000"/>
              </a:lnSpc>
              <a:buFont typeface="+mj-lt"/>
              <a:buAutoNum type="arabicPeriod"/>
            </a:pPr>
            <a:r>
              <a:rPr lang="en-US" dirty="0"/>
              <a:t>The virtual machine and operating system (often offered by an IaaS)</a:t>
            </a:r>
          </a:p>
          <a:p>
            <a:pPr marL="342900" indent="-342900" algn="just">
              <a:lnSpc>
                <a:spcPct val="150000"/>
              </a:lnSpc>
              <a:buFont typeface="+mj-lt"/>
              <a:buAutoNum type="arabicPeriod"/>
            </a:pPr>
            <a:r>
              <a:rPr lang="en-US" dirty="0"/>
              <a:t>Data design and storage</a:t>
            </a:r>
          </a:p>
          <a:p>
            <a:pPr marL="342900" indent="-342900" algn="just">
              <a:lnSpc>
                <a:spcPct val="150000"/>
              </a:lnSpc>
              <a:buFont typeface="+mj-lt"/>
              <a:buAutoNum type="arabicPeriod"/>
            </a:pPr>
            <a:r>
              <a:rPr lang="en-US" dirty="0"/>
              <a:t>A development environment with defined Application Programming Interfaces</a:t>
            </a:r>
          </a:p>
          <a:p>
            <a:pPr marL="342900" indent="-342900" algn="just">
              <a:lnSpc>
                <a:spcPct val="150000"/>
              </a:lnSpc>
              <a:buFont typeface="+mj-lt"/>
              <a:buAutoNum type="arabicPeriod"/>
            </a:pPr>
            <a:r>
              <a:rPr lang="en-US" dirty="0"/>
              <a:t>Middleware</a:t>
            </a:r>
          </a:p>
          <a:p>
            <a:pPr marL="342900" indent="-342900" algn="just">
              <a:lnSpc>
                <a:spcPct val="150000"/>
              </a:lnSpc>
              <a:buFont typeface="+mj-lt"/>
              <a:buAutoNum type="arabicPeriod"/>
            </a:pPr>
            <a:r>
              <a:rPr lang="en-US" dirty="0"/>
              <a:t>Testing and optimization tools</a:t>
            </a:r>
          </a:p>
          <a:p>
            <a:pPr marL="342900" indent="-342900" algn="just">
              <a:lnSpc>
                <a:spcPct val="150000"/>
              </a:lnSpc>
              <a:buFont typeface="+mj-lt"/>
              <a:buAutoNum type="arabicPeriod"/>
            </a:pPr>
            <a:r>
              <a:rPr lang="en-US" dirty="0"/>
              <a:t>Additional tools and services</a:t>
            </a:r>
          </a:p>
          <a:p>
            <a:pPr marL="285750" indent="-285750">
              <a:buFont typeface="Arial" panose="020B0604020202020204" pitchFamily="34" charset="0"/>
              <a:buChar char="•"/>
            </a:pPr>
            <a:r>
              <a:rPr lang="en-US" b="1" dirty="0"/>
              <a:t>Google </a:t>
            </a:r>
            <a:r>
              <a:rPr lang="en-US" b="1" dirty="0" err="1"/>
              <a:t>AppEngine</a:t>
            </a:r>
            <a:r>
              <a:rPr lang="en-US" b="1" dirty="0"/>
              <a:t>, Microsoft Windows Azure Platform</a:t>
            </a:r>
            <a:r>
              <a:rPr lang="en-US" dirty="0"/>
              <a:t>, </a:t>
            </a:r>
            <a:r>
              <a:rPr lang="en-US" dirty="0" err="1"/>
              <a:t>Eccentex</a:t>
            </a:r>
            <a:r>
              <a:rPr lang="en-US" dirty="0"/>
              <a:t> </a:t>
            </a:r>
            <a:r>
              <a:rPr lang="en-US" dirty="0" err="1"/>
              <a:t>AppBase</a:t>
            </a:r>
            <a:r>
              <a:rPr lang="en-US" dirty="0"/>
              <a:t>, </a:t>
            </a:r>
            <a:r>
              <a:rPr lang="en-US" dirty="0" err="1"/>
              <a:t>LongJump</a:t>
            </a:r>
            <a:r>
              <a:rPr lang="en-US" dirty="0"/>
              <a:t>, and Wolf</a:t>
            </a:r>
          </a:p>
          <a:p>
            <a:r>
              <a:rPr lang="en-US" dirty="0"/>
              <a:t>are examples of </a:t>
            </a:r>
            <a:r>
              <a:rPr lang="en-US" b="1" dirty="0"/>
              <a:t>integrated lifecycle platforms</a:t>
            </a:r>
            <a:r>
              <a:rPr lang="en-US" dirty="0"/>
              <a:t>.</a:t>
            </a:r>
          </a:p>
        </p:txBody>
      </p:sp>
    </p:spTree>
    <p:extLst>
      <p:ext uri="{BB962C8B-B14F-4D97-AF65-F5344CB8AC3E}">
        <p14:creationId xmlns:p14="http://schemas.microsoft.com/office/powerpoint/2010/main" val="328091326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 </a:t>
            </a:r>
            <a:r>
              <a:rPr lang="en-US" sz="2400" b="1" dirty="0" err="1"/>
              <a:t>Paas</a:t>
            </a:r>
            <a:r>
              <a:rPr lang="en-US" sz="2400" b="1" dirty="0"/>
              <a:t> application Framework </a:t>
            </a:r>
          </a:p>
        </p:txBody>
      </p:sp>
      <p:graphicFrame>
        <p:nvGraphicFramePr>
          <p:cNvPr id="3" name="Table 2"/>
          <p:cNvGraphicFramePr>
            <a:graphicFrameLocks noGrp="1"/>
          </p:cNvGraphicFramePr>
          <p:nvPr>
            <p:extLst>
              <p:ext uri="{D42A27DB-BD31-4B8C-83A1-F6EECF244321}">
                <p14:modId xmlns:p14="http://schemas.microsoft.com/office/powerpoint/2010/main" val="2962461796"/>
              </p:ext>
            </p:extLst>
          </p:nvPr>
        </p:nvGraphicFramePr>
        <p:xfrm>
          <a:off x="-108285" y="930896"/>
          <a:ext cx="11562347" cy="11870355"/>
        </p:xfrm>
        <a:graphic>
          <a:graphicData uri="http://schemas.openxmlformats.org/drawingml/2006/table">
            <a:tbl>
              <a:tblPr/>
              <a:tblGrid>
                <a:gridCol w="11562347">
                  <a:extLst>
                    <a:ext uri="{9D8B030D-6E8A-4147-A177-3AD203B41FA5}">
                      <a16:colId xmlns:a16="http://schemas.microsoft.com/office/drawing/2014/main" val="3723025685"/>
                    </a:ext>
                  </a:extLst>
                </a:gridCol>
              </a:tblGrid>
              <a:tr h="582380">
                <a:tc>
                  <a:txBody>
                    <a:bodyPr/>
                    <a:lstStyle/>
                    <a:p>
                      <a:pPr algn="l"/>
                      <a:r>
                        <a:rPr lang="en-US" sz="2800" dirty="0">
                          <a:effectLst/>
                        </a:rPr>
                        <a:t>What is the PaaS framework?</a:t>
                      </a: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ACC8CC"/>
                    </a:solidFill>
                  </a:tcPr>
                </a:tc>
                <a:extLst>
                  <a:ext uri="{0D108BD9-81ED-4DB2-BD59-A6C34878D82A}">
                    <a16:rowId xmlns:a16="http://schemas.microsoft.com/office/drawing/2014/main" val="1619436938"/>
                  </a:ext>
                </a:extLst>
              </a:tr>
              <a:tr h="1955214">
                <a:tc>
                  <a:txBody>
                    <a:bodyPr/>
                    <a:lstStyle/>
                    <a:p>
                      <a:pPr marL="457200" indent="-457200" algn="just" fontAlgn="t">
                        <a:buFont typeface="Arial" panose="020B0604020202020204" pitchFamily="34" charset="0"/>
                        <a:buChar char="•"/>
                      </a:pPr>
                      <a:r>
                        <a:rPr lang="en-US" sz="2800" b="0" dirty="0">
                          <a:effectLst/>
                        </a:rPr>
                        <a:t>Application </a:t>
                      </a:r>
                      <a:r>
                        <a:rPr lang="en-US" sz="2800" b="1" dirty="0">
                          <a:effectLst/>
                        </a:rPr>
                        <a:t>frameworks provide </a:t>
                      </a:r>
                      <a:r>
                        <a:rPr lang="en-US" sz="2800" b="0" dirty="0">
                          <a:effectLst/>
                        </a:rPr>
                        <a:t>a means for creating SaaS hosted applications using </a:t>
                      </a:r>
                      <a:r>
                        <a:rPr lang="en-US" sz="2800" b="1" dirty="0">
                          <a:effectLst/>
                        </a:rPr>
                        <a:t>a unified development environment or an integrated development environment (IDE).</a:t>
                      </a:r>
                    </a:p>
                    <a:p>
                      <a:pPr marL="457200" indent="-457200" algn="just" fontAlgn="t">
                        <a:buFont typeface="Arial" panose="020B0604020202020204" pitchFamily="34" charset="0"/>
                        <a:buChar char="•"/>
                      </a:pPr>
                      <a:r>
                        <a:rPr lang="en-US" sz="2800" b="1" dirty="0">
                          <a:effectLst/>
                        </a:rPr>
                        <a:t>PaaS IDEs provides a tool that requires a dedicated programming staff to create and run a graphical interfaces </a:t>
                      </a:r>
                      <a:r>
                        <a:rPr lang="en-US" sz="2800" dirty="0">
                          <a:effectLst/>
                        </a:rPr>
                        <a:t>that any knowledgeable computer user can navigate and create something useful with.</a:t>
                      </a: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FFFFFF"/>
                    </a:solidFill>
                  </a:tcPr>
                </a:tc>
                <a:extLst>
                  <a:ext uri="{0D108BD9-81ED-4DB2-BD59-A6C34878D82A}">
                    <a16:rowId xmlns:a16="http://schemas.microsoft.com/office/drawing/2014/main" val="2444898558"/>
                  </a:ext>
                </a:extLst>
              </a:tr>
              <a:tr h="4243270">
                <a:tc>
                  <a:txBody>
                    <a:bodyPr/>
                    <a:lstStyle/>
                    <a:p>
                      <a:pPr marL="457200" indent="-457200" fontAlgn="t">
                        <a:buFont typeface="Arial" panose="020B0604020202020204" pitchFamily="34" charset="0"/>
                        <a:buChar char="•"/>
                      </a:pPr>
                      <a:endParaRPr lang="en-US" sz="2800" dirty="0">
                        <a:effectLst/>
                      </a:endParaRP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FFFFFF"/>
                    </a:solidFill>
                  </a:tcPr>
                </a:tc>
                <a:extLst>
                  <a:ext uri="{0D108BD9-81ED-4DB2-BD59-A6C34878D82A}">
                    <a16:rowId xmlns:a16="http://schemas.microsoft.com/office/drawing/2014/main" val="1250227547"/>
                  </a:ext>
                </a:extLst>
              </a:tr>
              <a:tr h="1955214">
                <a:tc>
                  <a:txBody>
                    <a:bodyPr/>
                    <a:lstStyle/>
                    <a:p>
                      <a:pPr fontAlgn="t"/>
                      <a:r>
                        <a:rPr lang="en-US" sz="2800" dirty="0">
                          <a:effectLst/>
                        </a:rPr>
                        <a:t> the site  </a:t>
                      </a:r>
                      <a:r>
                        <a:rPr lang="en-US" sz="2800" b="1" dirty="0">
                          <a:effectLst/>
                        </a:rPr>
                        <a:t>Squarespace.com </a:t>
                      </a:r>
                      <a:r>
                        <a:rPr lang="en-US" sz="2800" dirty="0">
                          <a:effectLst/>
                        </a:rPr>
                        <a:t>was chosen to illustrate a point-and-click CMS system aimed at </a:t>
                      </a:r>
                      <a:r>
                        <a:rPr lang="en-US" sz="2800" b="1" dirty="0">
                          <a:effectLst/>
                        </a:rPr>
                        <a:t>supporting individuals, small businesses</a:t>
                      </a:r>
                      <a:r>
                        <a:rPr lang="en-US" sz="2800" dirty="0">
                          <a:effectLst/>
                        </a:rPr>
                        <a:t>, and other </a:t>
                      </a:r>
                      <a:r>
                        <a:rPr lang="en-US" sz="2800" b="1" dirty="0">
                          <a:effectLst/>
                        </a:rPr>
                        <a:t>small organizations</a:t>
                      </a:r>
                      <a:r>
                        <a:rPr lang="en-US" sz="2800" dirty="0">
                          <a:effectLst/>
                        </a:rPr>
                        <a:t>.</a:t>
                      </a: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FFFFFF"/>
                    </a:solidFill>
                  </a:tcPr>
                </a:tc>
                <a:extLst>
                  <a:ext uri="{0D108BD9-81ED-4DB2-BD59-A6C34878D82A}">
                    <a16:rowId xmlns:a16="http://schemas.microsoft.com/office/drawing/2014/main" val="3250915139"/>
                  </a:ext>
                </a:extLst>
              </a:tr>
              <a:tr h="2412825">
                <a:tc>
                  <a:txBody>
                    <a:bodyPr/>
                    <a:lstStyle/>
                    <a:p>
                      <a:pPr fontAlgn="t"/>
                      <a:r>
                        <a:rPr lang="en-US" sz="2800" b="1" dirty="0">
                          <a:effectLst/>
                        </a:rPr>
                        <a:t>Squarespac</a:t>
                      </a:r>
                      <a:r>
                        <a:rPr lang="en-US" sz="2800" dirty="0">
                          <a:effectLst/>
                        </a:rPr>
                        <a:t>e is often associated </a:t>
                      </a:r>
                      <a:r>
                        <a:rPr lang="en-US" sz="2800" b="1" dirty="0">
                          <a:effectLst/>
                        </a:rPr>
                        <a:t>with blogging tools </a:t>
                      </a:r>
                      <a:r>
                        <a:rPr lang="en-US" sz="2800" dirty="0">
                          <a:effectLst/>
                        </a:rPr>
                        <a:t>(as is Drupal), but it is more than that</a:t>
                      </a:r>
                      <a:r>
                        <a:rPr lang="en-US" sz="2800" b="1" dirty="0">
                          <a:effectLst/>
                        </a:rPr>
                        <a:t>. Squarespace works with photos, imports information from other social tools</a:t>
                      </a:r>
                      <a:r>
                        <a:rPr lang="en-US" sz="2800" dirty="0">
                          <a:effectLst/>
                        </a:rPr>
                        <a:t>, and allows very attractive Web sites to be created by average users.</a:t>
                      </a: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FFFFFF"/>
                    </a:solidFill>
                  </a:tcPr>
                </a:tc>
                <a:extLst>
                  <a:ext uri="{0D108BD9-81ED-4DB2-BD59-A6C34878D82A}">
                    <a16:rowId xmlns:a16="http://schemas.microsoft.com/office/drawing/2014/main" val="3762446470"/>
                  </a:ext>
                </a:extLst>
              </a:tr>
            </a:tbl>
          </a:graphicData>
        </a:graphic>
      </p:graphicFrame>
    </p:spTree>
    <p:extLst>
      <p:ext uri="{BB962C8B-B14F-4D97-AF65-F5344CB8AC3E}">
        <p14:creationId xmlns:p14="http://schemas.microsoft.com/office/powerpoint/2010/main" val="427029730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 PaaS application Framework </a:t>
            </a:r>
          </a:p>
        </p:txBody>
      </p:sp>
      <p:graphicFrame>
        <p:nvGraphicFramePr>
          <p:cNvPr id="3" name="Table 2"/>
          <p:cNvGraphicFramePr>
            <a:graphicFrameLocks noGrp="1"/>
          </p:cNvGraphicFramePr>
          <p:nvPr>
            <p:extLst>
              <p:ext uri="{D42A27DB-BD31-4B8C-83A1-F6EECF244321}">
                <p14:modId xmlns:p14="http://schemas.microsoft.com/office/powerpoint/2010/main" val="800367854"/>
              </p:ext>
            </p:extLst>
          </p:nvPr>
        </p:nvGraphicFramePr>
        <p:xfrm>
          <a:off x="-108285" y="930896"/>
          <a:ext cx="12300285" cy="9023591"/>
        </p:xfrm>
        <a:graphic>
          <a:graphicData uri="http://schemas.openxmlformats.org/drawingml/2006/table">
            <a:tbl>
              <a:tblPr/>
              <a:tblGrid>
                <a:gridCol w="12300285">
                  <a:extLst>
                    <a:ext uri="{9D8B030D-6E8A-4147-A177-3AD203B41FA5}">
                      <a16:colId xmlns:a16="http://schemas.microsoft.com/office/drawing/2014/main" val="3723025685"/>
                    </a:ext>
                  </a:extLst>
                </a:gridCol>
              </a:tblGrid>
              <a:tr h="582380">
                <a:tc>
                  <a:txBody>
                    <a:bodyPr/>
                    <a:lstStyle/>
                    <a:p>
                      <a:pPr algn="l"/>
                      <a:r>
                        <a:rPr lang="en-US" sz="2800" dirty="0">
                          <a:effectLst/>
                        </a:rPr>
                        <a:t>Example PaaS frameworks:</a:t>
                      </a: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ACC8CC"/>
                    </a:solidFill>
                  </a:tcPr>
                </a:tc>
                <a:extLst>
                  <a:ext uri="{0D108BD9-81ED-4DB2-BD59-A6C34878D82A}">
                    <a16:rowId xmlns:a16="http://schemas.microsoft.com/office/drawing/2014/main" val="1619436938"/>
                  </a:ext>
                </a:extLst>
              </a:tr>
              <a:tr h="532092">
                <a:tc>
                  <a:txBody>
                    <a:bodyPr/>
                    <a:lstStyle/>
                    <a:p>
                      <a:pPr marL="0" indent="0" algn="just" fontAlgn="t">
                        <a:buFont typeface="Arial" panose="020B0604020202020204" pitchFamily="34" charset="0"/>
                        <a:buNone/>
                      </a:pPr>
                      <a:r>
                        <a:rPr lang="en-US" sz="2800" dirty="0">
                          <a:effectLst/>
                        </a:rPr>
                        <a:t>1. </a:t>
                      </a:r>
                      <a:r>
                        <a:rPr lang="en-US" sz="2800" b="1" dirty="0">
                          <a:effectLst/>
                        </a:rPr>
                        <a:t>Drupal</a:t>
                      </a: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FFFFFF"/>
                    </a:solidFill>
                  </a:tcPr>
                </a:tc>
                <a:extLst>
                  <a:ext uri="{0D108BD9-81ED-4DB2-BD59-A6C34878D82A}">
                    <a16:rowId xmlns:a16="http://schemas.microsoft.com/office/drawing/2014/main" val="2444898558"/>
                  </a:ext>
                </a:extLst>
              </a:tr>
              <a:tr h="3033016">
                <a:tc>
                  <a:txBody>
                    <a:bodyPr/>
                    <a:lstStyle/>
                    <a:p>
                      <a:pPr marL="457200" indent="-457200" fontAlgn="t">
                        <a:buFont typeface="Arial" panose="020B0604020202020204" pitchFamily="34" charset="0"/>
                        <a:buChar char="•"/>
                      </a:pPr>
                      <a:r>
                        <a:rPr lang="en-US" sz="2800" dirty="0">
                          <a:effectLst/>
                        </a:rPr>
                        <a:t>The </a:t>
                      </a:r>
                      <a:r>
                        <a:rPr lang="en-US" sz="2800" b="1" dirty="0">
                          <a:effectLst/>
                        </a:rPr>
                        <a:t>Drupal CMS </a:t>
                      </a:r>
                      <a:r>
                        <a:rPr lang="en-US" sz="2800" dirty="0">
                          <a:effectLst/>
                        </a:rPr>
                        <a:t>was chosen as an example of this type of PaaS Framework</a:t>
                      </a:r>
                      <a:r>
                        <a:rPr lang="en-US" sz="2800" baseline="0" dirty="0">
                          <a:effectLst/>
                        </a:rPr>
                        <a:t> </a:t>
                      </a:r>
                      <a:r>
                        <a:rPr lang="en-US" sz="2800" dirty="0">
                          <a:effectLst/>
                        </a:rPr>
                        <a:t>because it is so extensively used </a:t>
                      </a:r>
                      <a:r>
                        <a:rPr lang="en-US" sz="2800" b="1" dirty="0">
                          <a:effectLst/>
                        </a:rPr>
                        <a:t>and has broad industry impact, </a:t>
                      </a:r>
                      <a:r>
                        <a:rPr lang="en-US" sz="2800" dirty="0">
                          <a:effectLst/>
                        </a:rPr>
                        <a:t>and it is a </a:t>
                      </a:r>
                      <a:r>
                        <a:rPr lang="en-US" sz="2800" b="1" dirty="0">
                          <a:effectLst/>
                        </a:rPr>
                        <a:t>full-strength developer tool</a:t>
                      </a:r>
                      <a:r>
                        <a:rPr lang="en-US" sz="2800" dirty="0">
                          <a:effectLst/>
                        </a:rPr>
                        <a:t>.</a:t>
                      </a:r>
                    </a:p>
                    <a:p>
                      <a:pPr marL="457200" indent="-457200" fontAlgn="t">
                        <a:buFont typeface="Arial" panose="020B0604020202020204" pitchFamily="34" charset="0"/>
                        <a:buChar char="•"/>
                      </a:pPr>
                      <a:r>
                        <a:rPr lang="en-US" sz="2800" b="0" i="0" kern="1200" dirty="0">
                          <a:solidFill>
                            <a:schemeClr val="tx1"/>
                          </a:solidFill>
                          <a:effectLst/>
                          <a:latin typeface="+mn-lt"/>
                          <a:ea typeface="+mn-ea"/>
                          <a:cs typeface="+mn-cs"/>
                        </a:rPr>
                        <a:t>Drupal is </a:t>
                      </a:r>
                      <a:r>
                        <a:rPr lang="en-US" sz="2800" b="1" i="0" kern="1200" dirty="0">
                          <a:solidFill>
                            <a:schemeClr val="tx1"/>
                          </a:solidFill>
                          <a:effectLst/>
                          <a:latin typeface="+mn-lt"/>
                          <a:ea typeface="+mn-ea"/>
                          <a:cs typeface="+mn-cs"/>
                        </a:rPr>
                        <a:t>an open source content management platform </a:t>
                      </a:r>
                      <a:r>
                        <a:rPr lang="en-US" sz="2800" b="0" i="0" kern="1200" dirty="0">
                          <a:solidFill>
                            <a:schemeClr val="tx1"/>
                          </a:solidFill>
                          <a:effectLst/>
                          <a:latin typeface="+mn-lt"/>
                          <a:ea typeface="+mn-ea"/>
                          <a:cs typeface="+mn-cs"/>
                        </a:rPr>
                        <a:t>powering</a:t>
                      </a:r>
                      <a:r>
                        <a:rPr lang="en-US" sz="2800" b="1" i="0" kern="1200" dirty="0">
                          <a:solidFill>
                            <a:schemeClr val="tx1"/>
                          </a:solidFill>
                          <a:effectLst/>
                          <a:latin typeface="+mn-lt"/>
                          <a:ea typeface="+mn-ea"/>
                          <a:cs typeface="+mn-cs"/>
                        </a:rPr>
                        <a:t> millions of websites and applications. </a:t>
                      </a:r>
                    </a:p>
                    <a:p>
                      <a:pPr marL="457200" indent="-457200" fontAlgn="t">
                        <a:buFont typeface="Arial" panose="020B0604020202020204" pitchFamily="34" charset="0"/>
                        <a:buChar char="•"/>
                      </a:pPr>
                      <a:r>
                        <a:rPr lang="en-US" sz="2800" b="0" i="0" kern="1200" dirty="0">
                          <a:solidFill>
                            <a:schemeClr val="tx1"/>
                          </a:solidFill>
                          <a:effectLst/>
                          <a:latin typeface="+mn-lt"/>
                          <a:ea typeface="+mn-ea"/>
                          <a:cs typeface="+mn-cs"/>
                        </a:rPr>
                        <a:t>It’s built, used, and supported by an active and diverse community of people around the world.</a:t>
                      </a:r>
                    </a:p>
                    <a:p>
                      <a:pPr marL="457200" indent="-457200" fontAlgn="t">
                        <a:buFont typeface="Arial" panose="020B0604020202020204" pitchFamily="34" charset="0"/>
                        <a:buChar char="•"/>
                      </a:pPr>
                      <a:r>
                        <a:rPr lang="en-US" sz="2800" dirty="0">
                          <a:effectLst/>
                        </a:rPr>
                        <a:t>Drupal is modular and exposes its functionality through a set of published APIs</a:t>
                      </a: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FFFFFF"/>
                    </a:solidFill>
                  </a:tcPr>
                </a:tc>
                <a:extLst>
                  <a:ext uri="{0D108BD9-81ED-4DB2-BD59-A6C34878D82A}">
                    <a16:rowId xmlns:a16="http://schemas.microsoft.com/office/drawing/2014/main" val="1250227547"/>
                  </a:ext>
                </a:extLst>
              </a:tr>
              <a:tr h="1955214">
                <a:tc>
                  <a:txBody>
                    <a:bodyPr/>
                    <a:lstStyle/>
                    <a:p>
                      <a:pPr fontAlgn="t"/>
                      <a:r>
                        <a:rPr lang="en-US" sz="2800" dirty="0">
                          <a:effectLst/>
                        </a:rPr>
                        <a:t> The Drupal core by itself contains a number of modules that provide for the following:</a:t>
                      </a:r>
                    </a:p>
                    <a:p>
                      <a:pPr fontAlgn="t"/>
                      <a:r>
                        <a:rPr lang="en-US" sz="2800" dirty="0">
                          <a:effectLst/>
                        </a:rPr>
                        <a:t>Auto-updates, Blogs, forums, polls, and RSS feeds, Multiple site management</a:t>
                      </a:r>
                    </a:p>
                    <a:p>
                      <a:pPr fontAlgn="t"/>
                      <a:r>
                        <a:rPr lang="en-US" sz="2800" dirty="0" err="1">
                          <a:effectLst/>
                        </a:rPr>
                        <a:t>OpenID</a:t>
                      </a:r>
                      <a:r>
                        <a:rPr lang="en-US" sz="2800" dirty="0">
                          <a:effectLst/>
                        </a:rPr>
                        <a:t> authentication,  Performance optimization, User interface creation tools</a:t>
                      </a: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FFFFFF"/>
                    </a:solidFill>
                  </a:tcPr>
                </a:tc>
                <a:extLst>
                  <a:ext uri="{0D108BD9-81ED-4DB2-BD59-A6C34878D82A}">
                    <a16:rowId xmlns:a16="http://schemas.microsoft.com/office/drawing/2014/main" val="3250915139"/>
                  </a:ext>
                </a:extLst>
              </a:tr>
              <a:tr h="2412825">
                <a:tc>
                  <a:txBody>
                    <a:bodyPr/>
                    <a:lstStyle/>
                    <a:p>
                      <a:pPr fontAlgn="t"/>
                      <a:endParaRPr lang="en-US" sz="2800" dirty="0">
                        <a:effectLst/>
                      </a:endParaRP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FFFFFF"/>
                    </a:solidFill>
                  </a:tcPr>
                </a:tc>
                <a:extLst>
                  <a:ext uri="{0D108BD9-81ED-4DB2-BD59-A6C34878D82A}">
                    <a16:rowId xmlns:a16="http://schemas.microsoft.com/office/drawing/2014/main" val="3762446470"/>
                  </a:ext>
                </a:extLst>
              </a:tr>
            </a:tbl>
          </a:graphicData>
        </a:graphic>
      </p:graphicFrame>
    </p:spTree>
    <p:extLst>
      <p:ext uri="{BB962C8B-B14F-4D97-AF65-F5344CB8AC3E}">
        <p14:creationId xmlns:p14="http://schemas.microsoft.com/office/powerpoint/2010/main" val="268150714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 PaaS application Framework </a:t>
            </a:r>
          </a:p>
        </p:txBody>
      </p:sp>
      <p:graphicFrame>
        <p:nvGraphicFramePr>
          <p:cNvPr id="3" name="Table 2"/>
          <p:cNvGraphicFramePr>
            <a:graphicFrameLocks noGrp="1"/>
          </p:cNvGraphicFramePr>
          <p:nvPr>
            <p:extLst>
              <p:ext uri="{D42A27DB-BD31-4B8C-83A1-F6EECF244321}">
                <p14:modId xmlns:p14="http://schemas.microsoft.com/office/powerpoint/2010/main" val="3194200822"/>
              </p:ext>
            </p:extLst>
          </p:nvPr>
        </p:nvGraphicFramePr>
        <p:xfrm>
          <a:off x="-108285" y="930896"/>
          <a:ext cx="12300285" cy="8526501"/>
        </p:xfrm>
        <a:graphic>
          <a:graphicData uri="http://schemas.openxmlformats.org/drawingml/2006/table">
            <a:tbl>
              <a:tblPr/>
              <a:tblGrid>
                <a:gridCol w="12300285">
                  <a:extLst>
                    <a:ext uri="{9D8B030D-6E8A-4147-A177-3AD203B41FA5}">
                      <a16:colId xmlns:a16="http://schemas.microsoft.com/office/drawing/2014/main" val="3723025685"/>
                    </a:ext>
                  </a:extLst>
                </a:gridCol>
              </a:tblGrid>
              <a:tr h="582380">
                <a:tc>
                  <a:txBody>
                    <a:bodyPr/>
                    <a:lstStyle/>
                    <a:p>
                      <a:pPr algn="l"/>
                      <a:r>
                        <a:rPr lang="en-US" sz="2800" dirty="0">
                          <a:effectLst/>
                        </a:rPr>
                        <a:t>Example PaaS frameworks:</a:t>
                      </a: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ACC8CC"/>
                    </a:solidFill>
                  </a:tcPr>
                </a:tc>
                <a:extLst>
                  <a:ext uri="{0D108BD9-81ED-4DB2-BD59-A6C34878D82A}">
                    <a16:rowId xmlns:a16="http://schemas.microsoft.com/office/drawing/2014/main" val="1619436938"/>
                  </a:ext>
                </a:extLst>
              </a:tr>
              <a:tr h="532092">
                <a:tc>
                  <a:txBody>
                    <a:bodyPr/>
                    <a:lstStyle/>
                    <a:p>
                      <a:r>
                        <a:rPr lang="en-US" sz="2800" dirty="0">
                          <a:effectLst/>
                        </a:rPr>
                        <a:t>1. </a:t>
                      </a:r>
                      <a:r>
                        <a:rPr lang="en-US" sz="2800" b="1" dirty="0">
                          <a:effectLst/>
                        </a:rPr>
                        <a:t>Drupal </a:t>
                      </a:r>
                      <a:r>
                        <a:rPr lang="en-US" sz="1800" b="1" i="0" u="none" strike="noStrike" kern="1200" baseline="0" dirty="0">
                          <a:solidFill>
                            <a:schemeClr val="tx1"/>
                          </a:solidFill>
                          <a:latin typeface="+mn-lt"/>
                          <a:ea typeface="+mn-ea"/>
                          <a:cs typeface="+mn-cs"/>
                        </a:rPr>
                        <a:t>FIGURE 7.3 </a:t>
                      </a:r>
                      <a:r>
                        <a:rPr lang="en-US" sz="1800" b="0" i="0" u="none" strike="noStrike" kern="1200" baseline="0" dirty="0">
                          <a:solidFill>
                            <a:schemeClr val="tx1"/>
                          </a:solidFill>
                          <a:latin typeface="+mn-lt"/>
                          <a:ea typeface="+mn-ea"/>
                          <a:cs typeface="+mn-cs"/>
                        </a:rPr>
                        <a:t>Artatm.com has a gallery of some of the more attractive and well-known sites built with Drupal</a:t>
                      </a:r>
                      <a:endParaRPr lang="en-US" sz="2800" b="1" dirty="0">
                        <a:effectLst/>
                      </a:endParaRP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FFFFFF"/>
                    </a:solidFill>
                  </a:tcPr>
                </a:tc>
                <a:extLst>
                  <a:ext uri="{0D108BD9-81ED-4DB2-BD59-A6C34878D82A}">
                    <a16:rowId xmlns:a16="http://schemas.microsoft.com/office/drawing/2014/main" val="2444898558"/>
                  </a:ext>
                </a:extLst>
              </a:tr>
              <a:tr h="3033016">
                <a:tc>
                  <a:txBody>
                    <a:bodyPr/>
                    <a:lstStyle/>
                    <a:p>
                      <a:pPr marL="457200" indent="-457200" fontAlgn="t">
                        <a:buFont typeface="Arial" panose="020B0604020202020204" pitchFamily="34" charset="0"/>
                        <a:buChar char="•"/>
                      </a:pPr>
                      <a:endParaRPr lang="en-US" sz="2800" dirty="0">
                        <a:effectLst/>
                      </a:endParaRP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FFFFFF"/>
                    </a:solidFill>
                  </a:tcPr>
                </a:tc>
                <a:extLst>
                  <a:ext uri="{0D108BD9-81ED-4DB2-BD59-A6C34878D82A}">
                    <a16:rowId xmlns:a16="http://schemas.microsoft.com/office/drawing/2014/main" val="1250227547"/>
                  </a:ext>
                </a:extLst>
              </a:tr>
              <a:tr h="1955214">
                <a:tc>
                  <a:txBody>
                    <a:bodyPr/>
                    <a:lstStyle/>
                    <a:p>
                      <a:pPr fontAlgn="t"/>
                      <a:endParaRPr lang="en-US" sz="2800" dirty="0">
                        <a:effectLst/>
                      </a:endParaRP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FFFFFF"/>
                    </a:solidFill>
                  </a:tcPr>
                </a:tc>
                <a:extLst>
                  <a:ext uri="{0D108BD9-81ED-4DB2-BD59-A6C34878D82A}">
                    <a16:rowId xmlns:a16="http://schemas.microsoft.com/office/drawing/2014/main" val="3250915139"/>
                  </a:ext>
                </a:extLst>
              </a:tr>
              <a:tr h="2412825">
                <a:tc>
                  <a:txBody>
                    <a:bodyPr/>
                    <a:lstStyle/>
                    <a:p>
                      <a:pPr fontAlgn="t"/>
                      <a:endParaRPr lang="en-US" sz="2800" dirty="0">
                        <a:effectLst/>
                      </a:endParaRP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FFFFFF"/>
                    </a:solidFill>
                  </a:tcPr>
                </a:tc>
                <a:extLst>
                  <a:ext uri="{0D108BD9-81ED-4DB2-BD59-A6C34878D82A}">
                    <a16:rowId xmlns:a16="http://schemas.microsoft.com/office/drawing/2014/main" val="3762446470"/>
                  </a:ext>
                </a:extLst>
              </a:tr>
            </a:tbl>
          </a:graphicData>
        </a:graphic>
      </p:graphicFrame>
      <p:pic>
        <p:nvPicPr>
          <p:cNvPr id="2" name="Picture 1"/>
          <p:cNvPicPr>
            <a:picLocks noChangeAspect="1"/>
          </p:cNvPicPr>
          <p:nvPr/>
        </p:nvPicPr>
        <p:blipFill>
          <a:blip r:embed="rId3"/>
          <a:stretch>
            <a:fillRect/>
          </a:stretch>
        </p:blipFill>
        <p:spPr>
          <a:xfrm>
            <a:off x="2213809" y="2135715"/>
            <a:ext cx="7077097" cy="5285589"/>
          </a:xfrm>
          <a:prstGeom prst="rect">
            <a:avLst/>
          </a:prstGeom>
        </p:spPr>
      </p:pic>
    </p:spTree>
    <p:extLst>
      <p:ext uri="{BB962C8B-B14F-4D97-AF65-F5344CB8AC3E}">
        <p14:creationId xmlns:p14="http://schemas.microsoft.com/office/powerpoint/2010/main" val="1232316717"/>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 PaaS application Framework </a:t>
            </a:r>
          </a:p>
        </p:txBody>
      </p:sp>
      <p:graphicFrame>
        <p:nvGraphicFramePr>
          <p:cNvPr id="3" name="Table 2"/>
          <p:cNvGraphicFramePr>
            <a:graphicFrameLocks noGrp="1"/>
          </p:cNvGraphicFramePr>
          <p:nvPr>
            <p:extLst>
              <p:ext uri="{D42A27DB-BD31-4B8C-83A1-F6EECF244321}">
                <p14:modId xmlns:p14="http://schemas.microsoft.com/office/powerpoint/2010/main" val="2713083525"/>
              </p:ext>
            </p:extLst>
          </p:nvPr>
        </p:nvGraphicFramePr>
        <p:xfrm>
          <a:off x="-108285" y="930897"/>
          <a:ext cx="11562347" cy="6400058"/>
        </p:xfrm>
        <a:graphic>
          <a:graphicData uri="http://schemas.openxmlformats.org/drawingml/2006/table">
            <a:tbl>
              <a:tblPr/>
              <a:tblGrid>
                <a:gridCol w="11562347">
                  <a:extLst>
                    <a:ext uri="{9D8B030D-6E8A-4147-A177-3AD203B41FA5}">
                      <a16:colId xmlns:a16="http://schemas.microsoft.com/office/drawing/2014/main" val="3723025685"/>
                    </a:ext>
                  </a:extLst>
                </a:gridCol>
              </a:tblGrid>
              <a:tr h="402476">
                <a:tc>
                  <a:txBody>
                    <a:bodyPr/>
                    <a:lstStyle/>
                    <a:p>
                      <a:pPr algn="l"/>
                      <a:r>
                        <a:rPr lang="en-US" sz="2800" dirty="0">
                          <a:effectLst/>
                        </a:rPr>
                        <a:t>Example PaaS frameworks:</a:t>
                      </a: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ACC8CC"/>
                    </a:solidFill>
                  </a:tcPr>
                </a:tc>
                <a:extLst>
                  <a:ext uri="{0D108BD9-81ED-4DB2-BD59-A6C34878D82A}">
                    <a16:rowId xmlns:a16="http://schemas.microsoft.com/office/drawing/2014/main" val="1619436938"/>
                  </a:ext>
                </a:extLst>
              </a:tr>
              <a:tr h="375306">
                <a:tc>
                  <a:txBody>
                    <a:bodyPr/>
                    <a:lstStyle/>
                    <a:p>
                      <a:pPr marL="0" indent="0" algn="just" fontAlgn="t">
                        <a:buFont typeface="Arial" panose="020B0604020202020204" pitchFamily="34" charset="0"/>
                        <a:buNone/>
                      </a:pPr>
                      <a:r>
                        <a:rPr lang="en-US" sz="2800" dirty="0">
                          <a:effectLst/>
                        </a:rPr>
                        <a:t>2. </a:t>
                      </a:r>
                      <a:r>
                        <a:rPr lang="en-US" sz="2800" b="1" dirty="0" err="1">
                          <a:effectLst/>
                        </a:rPr>
                        <a:t>Eccentex</a:t>
                      </a:r>
                      <a:r>
                        <a:rPr lang="en-US" sz="2800" b="1" dirty="0">
                          <a:effectLst/>
                        </a:rPr>
                        <a:t> </a:t>
                      </a:r>
                      <a:r>
                        <a:rPr lang="en-US" sz="2800" b="1" dirty="0" err="1">
                          <a:effectLst/>
                        </a:rPr>
                        <a:t>AppBase</a:t>
                      </a:r>
                      <a:r>
                        <a:rPr lang="en-US" sz="2800" b="1" dirty="0">
                          <a:effectLst/>
                        </a:rPr>
                        <a:t> 3.0</a:t>
                      </a: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FFFFFF"/>
                    </a:solidFill>
                  </a:tcPr>
                </a:tc>
                <a:extLst>
                  <a:ext uri="{0D108BD9-81ED-4DB2-BD59-A6C34878D82A}">
                    <a16:rowId xmlns:a16="http://schemas.microsoft.com/office/drawing/2014/main" val="2444898558"/>
                  </a:ext>
                </a:extLst>
              </a:tr>
              <a:tr h="2204174">
                <a:tc>
                  <a:txBody>
                    <a:bodyPr/>
                    <a:lstStyle/>
                    <a:p>
                      <a:pPr marL="457200" indent="-457200" algn="just" fontAlgn="t">
                        <a:buFont typeface="Arial" panose="020B0604020202020204" pitchFamily="34" charset="0"/>
                        <a:buChar char="•"/>
                      </a:pPr>
                      <a:r>
                        <a:rPr lang="en-US" sz="2800" dirty="0">
                          <a:effectLst/>
                        </a:rPr>
                        <a:t>The </a:t>
                      </a:r>
                      <a:r>
                        <a:rPr lang="en-US" sz="2800" dirty="0" err="1">
                          <a:effectLst/>
                        </a:rPr>
                        <a:t>Eccentex</a:t>
                      </a:r>
                      <a:r>
                        <a:rPr lang="en-US" sz="2800" dirty="0">
                          <a:effectLst/>
                        </a:rPr>
                        <a:t> </a:t>
                      </a:r>
                      <a:r>
                        <a:rPr lang="en-US" sz="2800" dirty="0" err="1">
                          <a:effectLst/>
                        </a:rPr>
                        <a:t>AppBase</a:t>
                      </a:r>
                      <a:r>
                        <a:rPr lang="en-US" sz="2800" dirty="0">
                          <a:effectLst/>
                        </a:rPr>
                        <a:t> (http://www.eccentex.com/platform/platform.html) PaaS application delivery platform creates SOA applications that work on several different IaaS vendors.</a:t>
                      </a:r>
                    </a:p>
                    <a:p>
                      <a:pPr marL="457200" indent="-457200" algn="just" fontAlgn="t">
                        <a:buFont typeface="Arial" panose="020B0604020202020204" pitchFamily="34" charset="0"/>
                        <a:buChar char="•"/>
                      </a:pPr>
                      <a:r>
                        <a:rPr lang="en-US" sz="2800" dirty="0" err="1">
                          <a:effectLst/>
                        </a:rPr>
                        <a:t>AppBase</a:t>
                      </a:r>
                      <a:r>
                        <a:rPr lang="en-US" sz="2800" dirty="0">
                          <a:effectLst/>
                        </a:rPr>
                        <a:t> includes a set of </a:t>
                      </a:r>
                      <a:r>
                        <a:rPr lang="en-US" sz="2800" b="1" dirty="0">
                          <a:effectLst/>
                        </a:rPr>
                        <a:t>different tools for building these applications</a:t>
                      </a:r>
                      <a:r>
                        <a:rPr lang="en-US" sz="2800" dirty="0">
                          <a:effectLst/>
                        </a:rPr>
                        <a:t>, including the following:</a:t>
                      </a:r>
                    </a:p>
                    <a:p>
                      <a:pPr marL="457200" indent="-457200" algn="just" fontAlgn="t">
                        <a:buFont typeface="Arial" panose="020B0604020202020204" pitchFamily="34" charset="0"/>
                        <a:buChar char="•"/>
                      </a:pPr>
                      <a:r>
                        <a:rPr lang="en-US" sz="2800" dirty="0">
                          <a:effectLst/>
                        </a:rPr>
                        <a:t>Business Objects Build,</a:t>
                      </a:r>
                      <a:r>
                        <a:rPr lang="en-US" sz="2800" baseline="0" dirty="0">
                          <a:effectLst/>
                        </a:rPr>
                        <a:t> P</a:t>
                      </a:r>
                      <a:r>
                        <a:rPr lang="en-US" sz="2800" dirty="0">
                          <a:effectLst/>
                        </a:rPr>
                        <a:t>resentation Builder, Business Process Designer,  Dashboard Designer, Report Builder, Security roles management</a:t>
                      </a: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FFFFFF"/>
                    </a:solidFill>
                  </a:tcPr>
                </a:tc>
                <a:extLst>
                  <a:ext uri="{0D108BD9-81ED-4DB2-BD59-A6C34878D82A}">
                    <a16:rowId xmlns:a16="http://schemas.microsoft.com/office/drawing/2014/main" val="1250227547"/>
                  </a:ext>
                </a:extLst>
              </a:tr>
              <a:tr h="375306">
                <a:tc>
                  <a:txBody>
                    <a:bodyPr/>
                    <a:lstStyle/>
                    <a:p>
                      <a:pPr fontAlgn="t"/>
                      <a:r>
                        <a:rPr lang="en-US" sz="2800" dirty="0">
                          <a:effectLst/>
                        </a:rPr>
                        <a:t> </a:t>
                      </a: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FFFFFF"/>
                    </a:solidFill>
                  </a:tcPr>
                </a:tc>
                <a:extLst>
                  <a:ext uri="{0D108BD9-81ED-4DB2-BD59-A6C34878D82A}">
                    <a16:rowId xmlns:a16="http://schemas.microsoft.com/office/drawing/2014/main" val="3250915139"/>
                  </a:ext>
                </a:extLst>
              </a:tr>
              <a:tr h="1667474">
                <a:tc>
                  <a:txBody>
                    <a:bodyPr/>
                    <a:lstStyle/>
                    <a:p>
                      <a:pPr fontAlgn="t"/>
                      <a:endParaRPr lang="en-US" sz="2800" dirty="0">
                        <a:effectLst/>
                      </a:endParaRP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FFFFFF"/>
                    </a:solidFill>
                  </a:tcPr>
                </a:tc>
                <a:extLst>
                  <a:ext uri="{0D108BD9-81ED-4DB2-BD59-A6C34878D82A}">
                    <a16:rowId xmlns:a16="http://schemas.microsoft.com/office/drawing/2014/main" val="3762446470"/>
                  </a:ext>
                </a:extLst>
              </a:tr>
            </a:tbl>
          </a:graphicData>
        </a:graphic>
      </p:graphicFrame>
    </p:spTree>
    <p:extLst>
      <p:ext uri="{BB962C8B-B14F-4D97-AF65-F5344CB8AC3E}">
        <p14:creationId xmlns:p14="http://schemas.microsoft.com/office/powerpoint/2010/main" val="335339789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 PaaS application Framework </a:t>
            </a:r>
          </a:p>
        </p:txBody>
      </p:sp>
      <p:graphicFrame>
        <p:nvGraphicFramePr>
          <p:cNvPr id="3" name="Table 2"/>
          <p:cNvGraphicFramePr>
            <a:graphicFrameLocks noGrp="1"/>
          </p:cNvGraphicFramePr>
          <p:nvPr>
            <p:extLst>
              <p:ext uri="{D42A27DB-BD31-4B8C-83A1-F6EECF244321}">
                <p14:modId xmlns:p14="http://schemas.microsoft.com/office/powerpoint/2010/main" val="893722368"/>
              </p:ext>
            </p:extLst>
          </p:nvPr>
        </p:nvGraphicFramePr>
        <p:xfrm>
          <a:off x="-108285" y="930897"/>
          <a:ext cx="11562347" cy="7253498"/>
        </p:xfrm>
        <a:graphic>
          <a:graphicData uri="http://schemas.openxmlformats.org/drawingml/2006/table">
            <a:tbl>
              <a:tblPr/>
              <a:tblGrid>
                <a:gridCol w="11562347">
                  <a:extLst>
                    <a:ext uri="{9D8B030D-6E8A-4147-A177-3AD203B41FA5}">
                      <a16:colId xmlns:a16="http://schemas.microsoft.com/office/drawing/2014/main" val="3723025685"/>
                    </a:ext>
                  </a:extLst>
                </a:gridCol>
              </a:tblGrid>
              <a:tr h="402476">
                <a:tc>
                  <a:txBody>
                    <a:bodyPr/>
                    <a:lstStyle/>
                    <a:p>
                      <a:pPr algn="l"/>
                      <a:r>
                        <a:rPr lang="en-US" sz="2800" dirty="0">
                          <a:effectLst/>
                        </a:rPr>
                        <a:t>Example PaaS frameworks:</a:t>
                      </a: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ACC8CC"/>
                    </a:solidFill>
                  </a:tcPr>
                </a:tc>
                <a:extLst>
                  <a:ext uri="{0D108BD9-81ED-4DB2-BD59-A6C34878D82A}">
                    <a16:rowId xmlns:a16="http://schemas.microsoft.com/office/drawing/2014/main" val="1619436938"/>
                  </a:ext>
                </a:extLst>
              </a:tr>
              <a:tr h="375306">
                <a:tc>
                  <a:txBody>
                    <a:bodyPr/>
                    <a:lstStyle/>
                    <a:p>
                      <a:pPr marL="0" indent="0" algn="just" fontAlgn="t">
                        <a:buFont typeface="Arial" panose="020B0604020202020204" pitchFamily="34" charset="0"/>
                        <a:buNone/>
                      </a:pPr>
                      <a:r>
                        <a:rPr lang="en-US" sz="2800" dirty="0">
                          <a:effectLst/>
                        </a:rPr>
                        <a:t>2. </a:t>
                      </a:r>
                      <a:r>
                        <a:rPr lang="en-US" sz="2800" b="1" dirty="0" err="1">
                          <a:effectLst/>
                        </a:rPr>
                        <a:t>Eccentex</a:t>
                      </a:r>
                      <a:r>
                        <a:rPr lang="en-US" sz="2800" b="1" dirty="0">
                          <a:effectLst/>
                        </a:rPr>
                        <a:t> </a:t>
                      </a:r>
                      <a:r>
                        <a:rPr lang="en-US" sz="2800" b="1" dirty="0" err="1">
                          <a:effectLst/>
                        </a:rPr>
                        <a:t>AppBase</a:t>
                      </a:r>
                      <a:r>
                        <a:rPr lang="en-US" sz="2800" b="1" dirty="0">
                          <a:effectLst/>
                        </a:rPr>
                        <a:t> 3.0</a:t>
                      </a: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FFFFFF"/>
                    </a:solidFill>
                  </a:tcPr>
                </a:tc>
                <a:extLst>
                  <a:ext uri="{0D108BD9-81ED-4DB2-BD59-A6C34878D82A}">
                    <a16:rowId xmlns:a16="http://schemas.microsoft.com/office/drawing/2014/main" val="2444898558"/>
                  </a:ext>
                </a:extLst>
              </a:tr>
              <a:tr h="2204174">
                <a:tc>
                  <a:txBody>
                    <a:bodyPr/>
                    <a:lstStyle/>
                    <a:p>
                      <a:r>
                        <a:rPr lang="en-US" sz="1800" b="1" i="0" u="none" strike="noStrike" kern="1200" baseline="0" dirty="0">
                          <a:solidFill>
                            <a:schemeClr val="tx1"/>
                          </a:solidFill>
                          <a:latin typeface="+mn-lt"/>
                          <a:ea typeface="+mn-ea"/>
                          <a:cs typeface="+mn-cs"/>
                        </a:rPr>
                        <a:t>Business Objects Build: </a:t>
                      </a:r>
                      <a:r>
                        <a:rPr lang="en-US" sz="1800" b="0" i="0" u="none" strike="noStrike" kern="1200" baseline="0" dirty="0">
                          <a:solidFill>
                            <a:schemeClr val="tx1"/>
                          </a:solidFill>
                          <a:latin typeface="+mn-lt"/>
                          <a:ea typeface="+mn-ea"/>
                          <a:cs typeface="+mn-cs"/>
                        </a:rPr>
                        <a:t>This object database has the ability to </a:t>
                      </a:r>
                      <a:r>
                        <a:rPr lang="en-US" sz="1800" b="1" i="0" u="none" strike="noStrike" kern="1200" baseline="0" dirty="0">
                          <a:solidFill>
                            <a:schemeClr val="tx1"/>
                          </a:solidFill>
                          <a:latin typeface="+mn-lt"/>
                          <a:ea typeface="+mn-ea"/>
                          <a:cs typeface="+mn-cs"/>
                        </a:rPr>
                        <a:t>create rich data objects</a:t>
                      </a:r>
                    </a:p>
                    <a:p>
                      <a:r>
                        <a:rPr lang="en-US" sz="1800" b="1" i="0" u="none" strike="noStrike" kern="1200" baseline="0" dirty="0">
                          <a:solidFill>
                            <a:schemeClr val="tx1"/>
                          </a:solidFill>
                          <a:latin typeface="+mn-lt"/>
                          <a:ea typeface="+mn-ea"/>
                          <a:cs typeface="+mn-cs"/>
                        </a:rPr>
                        <a:t>and create relationships between them.</a:t>
                      </a:r>
                    </a:p>
                    <a:p>
                      <a:r>
                        <a:rPr lang="en-US" sz="1800" b="0" i="0" u="none" strike="noStrike" kern="1200" baseline="0" dirty="0">
                          <a:solidFill>
                            <a:schemeClr val="tx1"/>
                          </a:solidFill>
                          <a:latin typeface="+mn-lt"/>
                          <a:ea typeface="+mn-ea"/>
                          <a:cs typeface="+mn-cs"/>
                        </a:rPr>
                        <a:t>l </a:t>
                      </a:r>
                      <a:r>
                        <a:rPr lang="en-US" sz="1800" b="1" i="0" u="none" strike="noStrike" kern="1200" baseline="0" dirty="0">
                          <a:solidFill>
                            <a:schemeClr val="tx1"/>
                          </a:solidFill>
                          <a:latin typeface="+mn-lt"/>
                          <a:ea typeface="+mn-ea"/>
                          <a:cs typeface="+mn-cs"/>
                        </a:rPr>
                        <a:t>Presentation Builder: </a:t>
                      </a:r>
                      <a:r>
                        <a:rPr lang="en-US" sz="1800" b="0" i="0" u="none" strike="noStrike" kern="1200" baseline="0" dirty="0">
                          <a:solidFill>
                            <a:schemeClr val="tx1"/>
                          </a:solidFill>
                          <a:latin typeface="+mn-lt"/>
                          <a:ea typeface="+mn-ea"/>
                          <a:cs typeface="+mn-cs"/>
                        </a:rPr>
                        <a:t>This </a:t>
                      </a:r>
                      <a:r>
                        <a:rPr lang="en-US" sz="1800" b="1" i="0" u="none" strike="noStrike" kern="1200" baseline="0" dirty="0">
                          <a:solidFill>
                            <a:schemeClr val="tx1"/>
                          </a:solidFill>
                          <a:latin typeface="+mn-lt"/>
                          <a:ea typeface="+mn-ea"/>
                          <a:cs typeface="+mn-cs"/>
                        </a:rPr>
                        <a:t>user interface (UI) builder </a:t>
                      </a:r>
                      <a:r>
                        <a:rPr lang="en-US" sz="1800" b="0" i="0" u="none" strike="noStrike" kern="1200" baseline="0" dirty="0">
                          <a:solidFill>
                            <a:schemeClr val="tx1"/>
                          </a:solidFill>
                          <a:latin typeface="+mn-lt"/>
                          <a:ea typeface="+mn-ea"/>
                          <a:cs typeface="+mn-cs"/>
                        </a:rPr>
                        <a:t>allows you to drag and drop visual</a:t>
                      </a:r>
                    </a:p>
                    <a:p>
                      <a:r>
                        <a:rPr lang="en-US" sz="1800" b="0" i="0" u="none" strike="noStrike" kern="1200" baseline="0" dirty="0">
                          <a:solidFill>
                            <a:schemeClr val="tx1"/>
                          </a:solidFill>
                          <a:latin typeface="+mn-lt"/>
                          <a:ea typeface="+mn-ea"/>
                          <a:cs typeface="+mn-cs"/>
                        </a:rPr>
                        <a:t>controls for creating Web forms and data entry screens and to include the logic necessary</a:t>
                      </a:r>
                    </a:p>
                    <a:p>
                      <a:r>
                        <a:rPr lang="en-US" sz="1800" b="0" i="0" u="none" strike="noStrike" kern="1200" baseline="0" dirty="0">
                          <a:solidFill>
                            <a:schemeClr val="tx1"/>
                          </a:solidFill>
                          <a:latin typeface="+mn-lt"/>
                          <a:ea typeface="+mn-ea"/>
                          <a:cs typeface="+mn-cs"/>
                        </a:rPr>
                        <a:t>to automate what the user sees.</a:t>
                      </a:r>
                    </a:p>
                    <a:p>
                      <a:r>
                        <a:rPr lang="en-US" sz="1800" b="0" i="0" u="none" strike="noStrike" kern="1200" baseline="0" dirty="0">
                          <a:solidFill>
                            <a:schemeClr val="tx1"/>
                          </a:solidFill>
                          <a:latin typeface="+mn-lt"/>
                          <a:ea typeface="+mn-ea"/>
                          <a:cs typeface="+mn-cs"/>
                        </a:rPr>
                        <a:t>l </a:t>
                      </a:r>
                      <a:r>
                        <a:rPr lang="en-US" sz="1800" b="1" i="0" u="none" strike="noStrike" kern="1200" baseline="0" dirty="0">
                          <a:solidFill>
                            <a:schemeClr val="tx1"/>
                          </a:solidFill>
                          <a:latin typeface="+mn-lt"/>
                          <a:ea typeface="+mn-ea"/>
                          <a:cs typeface="+mn-cs"/>
                        </a:rPr>
                        <a:t>Business Process Designer: </a:t>
                      </a:r>
                      <a:r>
                        <a:rPr lang="en-US" sz="1800" b="0" i="0" u="none" strike="noStrike" kern="1200" baseline="0" dirty="0">
                          <a:solidFill>
                            <a:schemeClr val="tx1"/>
                          </a:solidFill>
                          <a:latin typeface="+mn-lt"/>
                          <a:ea typeface="+mn-ea"/>
                          <a:cs typeface="+mn-cs"/>
                        </a:rPr>
                        <a:t>This tool is used to create business logic for your application.</a:t>
                      </a:r>
                    </a:p>
                    <a:p>
                      <a:r>
                        <a:rPr lang="en-US" sz="1800" b="0" i="0" u="none" strike="noStrike" kern="1200" baseline="0" dirty="0">
                          <a:solidFill>
                            <a:schemeClr val="tx1"/>
                          </a:solidFill>
                          <a:latin typeface="+mn-lt"/>
                          <a:ea typeface="+mn-ea"/>
                          <a:cs typeface="+mn-cs"/>
                        </a:rPr>
                        <a:t>With it, you can manage workflow, integrate modules, create rules, and validate data.</a:t>
                      </a:r>
                    </a:p>
                    <a:p>
                      <a:r>
                        <a:rPr lang="en-US" sz="1800" b="0" i="0" u="none" strike="noStrike" kern="1200" baseline="0" dirty="0">
                          <a:solidFill>
                            <a:schemeClr val="tx1"/>
                          </a:solidFill>
                          <a:latin typeface="+mn-lt"/>
                          <a:ea typeface="+mn-ea"/>
                          <a:cs typeface="+mn-cs"/>
                        </a:rPr>
                        <a:t>l </a:t>
                      </a:r>
                      <a:r>
                        <a:rPr lang="en-US" sz="1800" b="1" i="0" u="none" strike="noStrike" kern="1200" baseline="0" dirty="0">
                          <a:solidFill>
                            <a:schemeClr val="tx1"/>
                          </a:solidFill>
                          <a:latin typeface="+mn-lt"/>
                          <a:ea typeface="+mn-ea"/>
                          <a:cs typeface="+mn-cs"/>
                        </a:rPr>
                        <a:t>Dashboard Designer: </a:t>
                      </a:r>
                      <a:r>
                        <a:rPr lang="en-US" sz="1800" b="0" i="0" u="none" strike="noStrike" kern="1200" baseline="0" dirty="0">
                          <a:solidFill>
                            <a:schemeClr val="tx1"/>
                          </a:solidFill>
                          <a:latin typeface="+mn-lt"/>
                          <a:ea typeface="+mn-ea"/>
                          <a:cs typeface="+mn-cs"/>
                        </a:rPr>
                        <a:t>This instrumentation </a:t>
                      </a:r>
                      <a:r>
                        <a:rPr lang="en-US" sz="1800" b="1" i="0" u="none" strike="noStrike" kern="1200" baseline="0" dirty="0">
                          <a:solidFill>
                            <a:schemeClr val="tx1"/>
                          </a:solidFill>
                          <a:latin typeface="+mn-lt"/>
                          <a:ea typeface="+mn-ea"/>
                          <a:cs typeface="+mn-cs"/>
                        </a:rPr>
                        <a:t>tool displays the real-time parameters </a:t>
                      </a:r>
                      <a:r>
                        <a:rPr lang="en-US" sz="1800" b="0" i="0" u="none" strike="noStrike" kern="1200" baseline="0" dirty="0">
                          <a:solidFill>
                            <a:schemeClr val="tx1"/>
                          </a:solidFill>
                          <a:latin typeface="+mn-lt"/>
                          <a:ea typeface="+mn-ea"/>
                          <a:cs typeface="+mn-cs"/>
                        </a:rPr>
                        <a:t>of your</a:t>
                      </a:r>
                    </a:p>
                    <a:p>
                      <a:r>
                        <a:rPr lang="en-US" sz="1800" b="0" i="0" u="none" strike="noStrike" kern="1200" baseline="0" dirty="0">
                          <a:solidFill>
                            <a:schemeClr val="tx1"/>
                          </a:solidFill>
                          <a:latin typeface="+mn-lt"/>
                          <a:ea typeface="+mn-ea"/>
                          <a:cs typeface="+mn-cs"/>
                        </a:rPr>
                        <a:t>application in a visual form.</a:t>
                      </a:r>
                    </a:p>
                    <a:p>
                      <a:r>
                        <a:rPr lang="en-US" sz="1800" b="0" i="0" u="none" strike="noStrike" kern="1200" baseline="0" dirty="0">
                          <a:solidFill>
                            <a:schemeClr val="tx1"/>
                          </a:solidFill>
                          <a:latin typeface="+mn-lt"/>
                          <a:ea typeface="+mn-ea"/>
                          <a:cs typeface="+mn-cs"/>
                        </a:rPr>
                        <a:t>l </a:t>
                      </a:r>
                      <a:r>
                        <a:rPr lang="en-US" sz="1800" b="1" i="0" u="none" strike="noStrike" kern="1200" baseline="0" dirty="0">
                          <a:solidFill>
                            <a:schemeClr val="tx1"/>
                          </a:solidFill>
                          <a:latin typeface="+mn-lt"/>
                          <a:ea typeface="+mn-ea"/>
                          <a:cs typeface="+mn-cs"/>
                        </a:rPr>
                        <a:t>Report Builder: </a:t>
                      </a:r>
                      <a:r>
                        <a:rPr lang="en-US" sz="1800" b="0" i="0" u="none" strike="noStrike" kern="1200" baseline="0" dirty="0">
                          <a:solidFill>
                            <a:schemeClr val="tx1"/>
                          </a:solidFill>
                          <a:latin typeface="+mn-lt"/>
                          <a:ea typeface="+mn-ea"/>
                          <a:cs typeface="+mn-cs"/>
                        </a:rPr>
                        <a:t>This output design tool lets you sort, aggregate, display, and format</a:t>
                      </a:r>
                    </a:p>
                    <a:p>
                      <a:r>
                        <a:rPr lang="en-US" sz="1800" b="0" i="0" u="none" strike="noStrike" kern="1200" baseline="0" dirty="0">
                          <a:solidFill>
                            <a:schemeClr val="tx1"/>
                          </a:solidFill>
                          <a:latin typeface="+mn-lt"/>
                          <a:ea typeface="+mn-ea"/>
                          <a:cs typeface="+mn-cs"/>
                        </a:rPr>
                        <a:t>report information based on the data in your application.</a:t>
                      </a:r>
                    </a:p>
                    <a:p>
                      <a:r>
                        <a:rPr lang="en-US" sz="1800" b="0" i="0" u="none" strike="noStrike" kern="1200" baseline="0" dirty="0">
                          <a:solidFill>
                            <a:schemeClr val="tx1"/>
                          </a:solidFill>
                          <a:latin typeface="+mn-lt"/>
                          <a:ea typeface="+mn-ea"/>
                          <a:cs typeface="+mn-cs"/>
                        </a:rPr>
                        <a:t>l </a:t>
                      </a:r>
                      <a:r>
                        <a:rPr lang="en-US" sz="1800" b="1" i="0" u="none" strike="noStrike" kern="1200" baseline="0" dirty="0">
                          <a:solidFill>
                            <a:schemeClr val="tx1"/>
                          </a:solidFill>
                          <a:latin typeface="+mn-lt"/>
                          <a:ea typeface="+mn-ea"/>
                          <a:cs typeface="+mn-cs"/>
                        </a:rPr>
                        <a:t>Security Roles Management: </a:t>
                      </a:r>
                      <a:r>
                        <a:rPr lang="en-US" sz="1800" b="0" i="0" u="none" strike="noStrike" kern="1200" baseline="0" dirty="0">
                          <a:solidFill>
                            <a:schemeClr val="tx1"/>
                          </a:solidFill>
                          <a:latin typeface="+mn-lt"/>
                          <a:ea typeface="+mn-ea"/>
                          <a:cs typeface="+mn-cs"/>
                        </a:rPr>
                        <a:t>This allows you to </a:t>
                      </a:r>
                      <a:r>
                        <a:rPr lang="en-US" sz="1800" b="1" i="0" u="none" strike="noStrike" kern="1200" baseline="0" dirty="0">
                          <a:solidFill>
                            <a:schemeClr val="tx1"/>
                          </a:solidFill>
                          <a:latin typeface="+mn-lt"/>
                          <a:ea typeface="+mn-ea"/>
                          <a:cs typeface="+mn-cs"/>
                        </a:rPr>
                        <a:t>assign access rights to different objects</a:t>
                      </a:r>
                    </a:p>
                    <a:p>
                      <a:r>
                        <a:rPr lang="en-US" sz="1800" b="0" i="0" u="none" strike="noStrike" kern="1200" baseline="0" dirty="0">
                          <a:solidFill>
                            <a:schemeClr val="tx1"/>
                          </a:solidFill>
                          <a:latin typeface="+mn-lt"/>
                          <a:ea typeface="+mn-ea"/>
                          <a:cs typeface="+mn-cs"/>
                        </a:rPr>
                        <a:t>in the system, to data sets, fields, desktop tabs, and reports. </a:t>
                      </a:r>
                      <a:r>
                        <a:rPr lang="en-US" sz="1800" b="1" i="0" u="none" strike="noStrike" kern="1200" baseline="0" dirty="0">
                          <a:solidFill>
                            <a:schemeClr val="tx1"/>
                          </a:solidFill>
                          <a:latin typeface="+mn-lt"/>
                          <a:ea typeface="+mn-ea"/>
                          <a:cs typeface="+mn-cs"/>
                        </a:rPr>
                        <a:t>Security roles can be assigned</a:t>
                      </a:r>
                    </a:p>
                    <a:p>
                      <a:r>
                        <a:rPr lang="en-US" sz="1800" b="1" i="0" u="none" strike="noStrike" kern="1200" baseline="0" dirty="0">
                          <a:solidFill>
                            <a:schemeClr val="tx1"/>
                          </a:solidFill>
                          <a:latin typeface="+mn-lt"/>
                          <a:ea typeface="+mn-ea"/>
                          <a:cs typeface="+mn-cs"/>
                        </a:rPr>
                        <a:t>in groups without users, a</a:t>
                      </a:r>
                      <a:r>
                        <a:rPr lang="en-US" sz="1800" b="0" i="0" u="none" strike="noStrike" kern="1200" baseline="0" dirty="0">
                          <a:solidFill>
                            <a:schemeClr val="tx1"/>
                          </a:solidFill>
                          <a:latin typeface="+mn-lt"/>
                          <a:ea typeface="+mn-ea"/>
                          <a:cs typeface="+mn-cs"/>
                        </a:rPr>
                        <a:t>nd users can be added later as the application is deployed.</a:t>
                      </a:r>
                      <a:endParaRPr lang="en-US" sz="2800" dirty="0">
                        <a:effectLst/>
                      </a:endParaRP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FFFFFF"/>
                    </a:solidFill>
                  </a:tcPr>
                </a:tc>
                <a:extLst>
                  <a:ext uri="{0D108BD9-81ED-4DB2-BD59-A6C34878D82A}">
                    <a16:rowId xmlns:a16="http://schemas.microsoft.com/office/drawing/2014/main" val="1250227547"/>
                  </a:ext>
                </a:extLst>
              </a:tr>
              <a:tr h="375306">
                <a:tc>
                  <a:txBody>
                    <a:bodyPr/>
                    <a:lstStyle/>
                    <a:p>
                      <a:pPr fontAlgn="t"/>
                      <a:endParaRPr lang="en-US" sz="2800" dirty="0">
                        <a:effectLst/>
                      </a:endParaRP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FFFFFF"/>
                    </a:solidFill>
                  </a:tcPr>
                </a:tc>
                <a:extLst>
                  <a:ext uri="{0D108BD9-81ED-4DB2-BD59-A6C34878D82A}">
                    <a16:rowId xmlns:a16="http://schemas.microsoft.com/office/drawing/2014/main" val="3250915139"/>
                  </a:ext>
                </a:extLst>
              </a:tr>
              <a:tr h="1667474">
                <a:tc>
                  <a:txBody>
                    <a:bodyPr/>
                    <a:lstStyle/>
                    <a:p>
                      <a:pPr fontAlgn="t"/>
                      <a:endParaRPr lang="en-US" sz="2800" dirty="0">
                        <a:effectLst/>
                      </a:endParaRP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FFFFFF"/>
                    </a:solidFill>
                  </a:tcPr>
                </a:tc>
                <a:extLst>
                  <a:ext uri="{0D108BD9-81ED-4DB2-BD59-A6C34878D82A}">
                    <a16:rowId xmlns:a16="http://schemas.microsoft.com/office/drawing/2014/main" val="3762446470"/>
                  </a:ext>
                </a:extLst>
              </a:tr>
            </a:tbl>
          </a:graphicData>
        </a:graphic>
      </p:graphicFrame>
    </p:spTree>
    <p:extLst>
      <p:ext uri="{BB962C8B-B14F-4D97-AF65-F5344CB8AC3E}">
        <p14:creationId xmlns:p14="http://schemas.microsoft.com/office/powerpoint/2010/main" val="154160185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 PaaS application Framework </a:t>
            </a:r>
          </a:p>
        </p:txBody>
      </p:sp>
      <p:graphicFrame>
        <p:nvGraphicFramePr>
          <p:cNvPr id="3" name="Table 2"/>
          <p:cNvGraphicFramePr>
            <a:graphicFrameLocks noGrp="1"/>
          </p:cNvGraphicFramePr>
          <p:nvPr>
            <p:extLst>
              <p:ext uri="{D42A27DB-BD31-4B8C-83A1-F6EECF244321}">
                <p14:modId xmlns:p14="http://schemas.microsoft.com/office/powerpoint/2010/main" val="287417617"/>
              </p:ext>
            </p:extLst>
          </p:nvPr>
        </p:nvGraphicFramePr>
        <p:xfrm>
          <a:off x="-108285" y="930897"/>
          <a:ext cx="11562347" cy="6049486"/>
        </p:xfrm>
        <a:graphic>
          <a:graphicData uri="http://schemas.openxmlformats.org/drawingml/2006/table">
            <a:tbl>
              <a:tblPr/>
              <a:tblGrid>
                <a:gridCol w="11562347">
                  <a:extLst>
                    <a:ext uri="{9D8B030D-6E8A-4147-A177-3AD203B41FA5}">
                      <a16:colId xmlns:a16="http://schemas.microsoft.com/office/drawing/2014/main" val="3723025685"/>
                    </a:ext>
                  </a:extLst>
                </a:gridCol>
              </a:tblGrid>
              <a:tr h="402476">
                <a:tc>
                  <a:txBody>
                    <a:bodyPr/>
                    <a:lstStyle/>
                    <a:p>
                      <a:pPr algn="l"/>
                      <a:r>
                        <a:rPr lang="en-US" sz="2800" dirty="0">
                          <a:effectLst/>
                        </a:rPr>
                        <a:t>Example PaaS frameworks:</a:t>
                      </a: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ACC8CC"/>
                    </a:solidFill>
                  </a:tcPr>
                </a:tc>
                <a:extLst>
                  <a:ext uri="{0D108BD9-81ED-4DB2-BD59-A6C34878D82A}">
                    <a16:rowId xmlns:a16="http://schemas.microsoft.com/office/drawing/2014/main" val="1619436938"/>
                  </a:ext>
                </a:extLst>
              </a:tr>
              <a:tr h="375306">
                <a:tc>
                  <a:txBody>
                    <a:bodyPr/>
                    <a:lstStyle/>
                    <a:p>
                      <a:r>
                        <a:rPr lang="en-US" sz="2800" dirty="0">
                          <a:effectLst/>
                        </a:rPr>
                        <a:t>2. </a:t>
                      </a:r>
                      <a:r>
                        <a:rPr lang="en-US" sz="2800" b="1" dirty="0" err="1">
                          <a:effectLst/>
                        </a:rPr>
                        <a:t>Eccentex</a:t>
                      </a:r>
                      <a:r>
                        <a:rPr lang="en-US" sz="2800" b="1" dirty="0">
                          <a:effectLst/>
                        </a:rPr>
                        <a:t> </a:t>
                      </a:r>
                      <a:r>
                        <a:rPr lang="en-US" sz="2800" b="1" dirty="0" err="1">
                          <a:effectLst/>
                        </a:rPr>
                        <a:t>AppBase</a:t>
                      </a:r>
                      <a:r>
                        <a:rPr lang="en-US" sz="2800" b="1" dirty="0">
                          <a:effectLst/>
                        </a:rPr>
                        <a:t> 3.0: </a:t>
                      </a:r>
                      <a:r>
                        <a:rPr lang="en-US" sz="1800" b="1" i="0" u="none" strike="noStrike" kern="1200" baseline="0" dirty="0">
                          <a:solidFill>
                            <a:schemeClr val="tx1"/>
                          </a:solidFill>
                          <a:latin typeface="+mn-lt"/>
                          <a:ea typeface="+mn-ea"/>
                          <a:cs typeface="+mn-cs"/>
                        </a:rPr>
                        <a:t>FIGURE 7.4 </a:t>
                      </a:r>
                      <a:r>
                        <a:rPr lang="en-US" sz="1800" b="0" i="0" u="none" strike="noStrike" kern="1200" baseline="0" dirty="0">
                          <a:solidFill>
                            <a:schemeClr val="tx1"/>
                          </a:solidFill>
                          <a:latin typeface="+mn-lt"/>
                          <a:ea typeface="+mn-ea"/>
                          <a:cs typeface="+mn-cs"/>
                        </a:rPr>
                        <a:t>The </a:t>
                      </a:r>
                      <a:r>
                        <a:rPr lang="en-US" sz="1800" b="0" i="0" u="none" strike="noStrike" kern="1200" baseline="0" dirty="0" err="1">
                          <a:solidFill>
                            <a:schemeClr val="tx1"/>
                          </a:solidFill>
                          <a:latin typeface="+mn-lt"/>
                          <a:ea typeface="+mn-ea"/>
                          <a:cs typeface="+mn-cs"/>
                        </a:rPr>
                        <a:t>Eccentex</a:t>
                      </a:r>
                      <a:r>
                        <a:rPr lang="en-US" sz="1800" b="0" i="0" u="none" strike="noStrike" kern="1200" baseline="0" dirty="0">
                          <a:solidFill>
                            <a:schemeClr val="tx1"/>
                          </a:solidFill>
                          <a:latin typeface="+mn-lt"/>
                          <a:ea typeface="+mn-ea"/>
                          <a:cs typeface="+mn-cs"/>
                        </a:rPr>
                        <a:t> </a:t>
                      </a:r>
                      <a:r>
                        <a:rPr lang="en-US" sz="1800" b="0" i="0" u="none" strike="noStrike" kern="1200" baseline="0" dirty="0" err="1">
                          <a:solidFill>
                            <a:schemeClr val="tx1"/>
                          </a:solidFill>
                          <a:latin typeface="+mn-lt"/>
                          <a:ea typeface="+mn-ea"/>
                          <a:cs typeface="+mn-cs"/>
                        </a:rPr>
                        <a:t>ApppBase</a:t>
                      </a:r>
                      <a:r>
                        <a:rPr lang="en-US" sz="1800" b="0" i="0" u="none" strike="noStrike" kern="1200" baseline="0" dirty="0">
                          <a:solidFill>
                            <a:schemeClr val="tx1"/>
                          </a:solidFill>
                          <a:latin typeface="+mn-lt"/>
                          <a:ea typeface="+mn-ea"/>
                          <a:cs typeface="+mn-cs"/>
                        </a:rPr>
                        <a:t>(http://www.eccentex.com/platform/platform.html) PaaS application</a:t>
                      </a:r>
                    </a:p>
                    <a:p>
                      <a:r>
                        <a:rPr lang="en-US" sz="1800" b="0" i="0" u="none" strike="noStrike" kern="1200" baseline="0" dirty="0">
                          <a:solidFill>
                            <a:schemeClr val="tx1"/>
                          </a:solidFill>
                          <a:latin typeface="+mn-lt"/>
                          <a:ea typeface="+mn-ea"/>
                          <a:cs typeface="+mn-cs"/>
                        </a:rPr>
                        <a:t>delivery platform creates SOA applications that work on several different IaaS vendors</a:t>
                      </a:r>
                      <a:endParaRPr lang="en-US" sz="2800" b="1" dirty="0">
                        <a:effectLst/>
                      </a:endParaRP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FFFFFF"/>
                    </a:solidFill>
                  </a:tcPr>
                </a:tc>
                <a:extLst>
                  <a:ext uri="{0D108BD9-81ED-4DB2-BD59-A6C34878D82A}">
                    <a16:rowId xmlns:a16="http://schemas.microsoft.com/office/drawing/2014/main" val="2444898558"/>
                  </a:ext>
                </a:extLst>
              </a:tr>
              <a:tr h="2204174">
                <a:tc>
                  <a:txBody>
                    <a:bodyPr/>
                    <a:lstStyle/>
                    <a:p>
                      <a:pPr marL="0" indent="0" algn="just" fontAlgn="t">
                        <a:buFont typeface="Arial" panose="020B0604020202020204" pitchFamily="34" charset="0"/>
                        <a:buNone/>
                      </a:pPr>
                      <a:endParaRPr lang="en-US" sz="2800" dirty="0">
                        <a:effectLst/>
                      </a:endParaRP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FFFFFF"/>
                    </a:solidFill>
                  </a:tcPr>
                </a:tc>
                <a:extLst>
                  <a:ext uri="{0D108BD9-81ED-4DB2-BD59-A6C34878D82A}">
                    <a16:rowId xmlns:a16="http://schemas.microsoft.com/office/drawing/2014/main" val="1250227547"/>
                  </a:ext>
                </a:extLst>
              </a:tr>
              <a:tr h="375306">
                <a:tc>
                  <a:txBody>
                    <a:bodyPr/>
                    <a:lstStyle/>
                    <a:p>
                      <a:pPr fontAlgn="t"/>
                      <a:r>
                        <a:rPr lang="en-US" sz="2800" dirty="0">
                          <a:effectLst/>
                        </a:rPr>
                        <a:t> </a:t>
                      </a: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FFFFFF"/>
                    </a:solidFill>
                  </a:tcPr>
                </a:tc>
                <a:extLst>
                  <a:ext uri="{0D108BD9-81ED-4DB2-BD59-A6C34878D82A}">
                    <a16:rowId xmlns:a16="http://schemas.microsoft.com/office/drawing/2014/main" val="3250915139"/>
                  </a:ext>
                </a:extLst>
              </a:tr>
              <a:tr h="1667474">
                <a:tc>
                  <a:txBody>
                    <a:bodyPr/>
                    <a:lstStyle/>
                    <a:p>
                      <a:pPr fontAlgn="t"/>
                      <a:endParaRPr lang="en-US" sz="2800" dirty="0">
                        <a:effectLst/>
                      </a:endParaRP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FFFFFF"/>
                    </a:solidFill>
                  </a:tcPr>
                </a:tc>
                <a:extLst>
                  <a:ext uri="{0D108BD9-81ED-4DB2-BD59-A6C34878D82A}">
                    <a16:rowId xmlns:a16="http://schemas.microsoft.com/office/drawing/2014/main" val="3762446470"/>
                  </a:ext>
                </a:extLst>
              </a:tr>
            </a:tbl>
          </a:graphicData>
        </a:graphic>
      </p:graphicFrame>
      <p:pic>
        <p:nvPicPr>
          <p:cNvPr id="2" name="Picture 1"/>
          <p:cNvPicPr>
            <a:picLocks noChangeAspect="1"/>
          </p:cNvPicPr>
          <p:nvPr/>
        </p:nvPicPr>
        <p:blipFill>
          <a:blip r:embed="rId3"/>
          <a:stretch>
            <a:fillRect/>
          </a:stretch>
        </p:blipFill>
        <p:spPr>
          <a:xfrm>
            <a:off x="4532929" y="2502568"/>
            <a:ext cx="6118724" cy="4569820"/>
          </a:xfrm>
          <a:prstGeom prst="rect">
            <a:avLst/>
          </a:prstGeom>
        </p:spPr>
      </p:pic>
    </p:spTree>
    <p:extLst>
      <p:ext uri="{BB962C8B-B14F-4D97-AF65-F5344CB8AC3E}">
        <p14:creationId xmlns:p14="http://schemas.microsoft.com/office/powerpoint/2010/main" val="174775903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PaaS application Framework</a:t>
            </a:r>
          </a:p>
        </p:txBody>
      </p:sp>
      <p:graphicFrame>
        <p:nvGraphicFramePr>
          <p:cNvPr id="3" name="Table 2"/>
          <p:cNvGraphicFramePr>
            <a:graphicFrameLocks noGrp="1"/>
          </p:cNvGraphicFramePr>
          <p:nvPr>
            <p:extLst>
              <p:ext uri="{D42A27DB-BD31-4B8C-83A1-F6EECF244321}">
                <p14:modId xmlns:p14="http://schemas.microsoft.com/office/powerpoint/2010/main" val="4016363139"/>
              </p:ext>
            </p:extLst>
          </p:nvPr>
        </p:nvGraphicFramePr>
        <p:xfrm>
          <a:off x="-108285" y="930896"/>
          <a:ext cx="11562347" cy="12601875"/>
        </p:xfrm>
        <a:graphic>
          <a:graphicData uri="http://schemas.openxmlformats.org/drawingml/2006/table">
            <a:tbl>
              <a:tblPr/>
              <a:tblGrid>
                <a:gridCol w="11562347">
                  <a:extLst>
                    <a:ext uri="{9D8B030D-6E8A-4147-A177-3AD203B41FA5}">
                      <a16:colId xmlns:a16="http://schemas.microsoft.com/office/drawing/2014/main" val="3723025685"/>
                    </a:ext>
                  </a:extLst>
                </a:gridCol>
              </a:tblGrid>
              <a:tr h="582380">
                <a:tc>
                  <a:txBody>
                    <a:bodyPr/>
                    <a:lstStyle/>
                    <a:p>
                      <a:pPr algn="l"/>
                      <a:endParaRPr lang="en-US" sz="2800" dirty="0">
                        <a:effectLst/>
                      </a:endParaRP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ACC8CC"/>
                    </a:solidFill>
                  </a:tcPr>
                </a:tc>
                <a:extLst>
                  <a:ext uri="{0D108BD9-81ED-4DB2-BD59-A6C34878D82A}">
                    <a16:rowId xmlns:a16="http://schemas.microsoft.com/office/drawing/2014/main" val="1619436938"/>
                  </a:ext>
                </a:extLst>
              </a:tr>
              <a:tr h="1955214">
                <a:tc>
                  <a:txBody>
                    <a:bodyPr/>
                    <a:lstStyle/>
                    <a:p>
                      <a:r>
                        <a:rPr lang="en-US" sz="1800" b="1" i="0" kern="1200" dirty="0">
                          <a:solidFill>
                            <a:schemeClr val="tx1"/>
                          </a:solidFill>
                          <a:effectLst/>
                          <a:latin typeface="+mn-lt"/>
                          <a:ea typeface="+mn-ea"/>
                          <a:cs typeface="+mn-cs"/>
                        </a:rPr>
                        <a:t>3. </a:t>
                      </a:r>
                      <a:r>
                        <a:rPr lang="en-US" sz="1800" b="1" i="0" u="none" strike="noStrike" baseline="0" dirty="0">
                          <a:latin typeface="OptimaLTStd-Black"/>
                        </a:rPr>
                        <a:t>Squarespace</a:t>
                      </a:r>
                    </a:p>
                    <a:p>
                      <a:br>
                        <a:rPr lang="en-US" sz="1800" b="0" i="0" kern="1200" dirty="0">
                          <a:solidFill>
                            <a:schemeClr val="tx1"/>
                          </a:solidFill>
                          <a:effectLst/>
                          <a:latin typeface="+mn-lt"/>
                          <a:ea typeface="+mn-ea"/>
                          <a:cs typeface="+mn-cs"/>
                        </a:rPr>
                      </a:br>
                      <a:r>
                        <a:rPr lang="en-US" sz="1800" b="0" i="0" u="none" strike="noStrike" kern="1200" baseline="0" dirty="0">
                          <a:solidFill>
                            <a:schemeClr val="tx1"/>
                          </a:solidFill>
                          <a:latin typeface="+mn-lt"/>
                          <a:ea typeface="+mn-ea"/>
                          <a:cs typeface="+mn-cs"/>
                        </a:rPr>
                        <a:t>Squarespace (http://www.squarespace.com/), shown in Figure 7.7, is an example of a</a:t>
                      </a:r>
                    </a:p>
                    <a:p>
                      <a:r>
                        <a:rPr lang="en-US" sz="1800" b="1" i="0" u="none" strike="noStrike" kern="1200" baseline="0" dirty="0">
                          <a:solidFill>
                            <a:schemeClr val="tx1"/>
                          </a:solidFill>
                          <a:latin typeface="+mn-lt"/>
                          <a:ea typeface="+mn-ea"/>
                          <a:cs typeface="+mn-cs"/>
                        </a:rPr>
                        <a:t>next-generation Web site builder and deployment tool that has elements of a PaaS development</a:t>
                      </a:r>
                    </a:p>
                    <a:p>
                      <a:r>
                        <a:rPr lang="en-US" sz="1800" b="0" i="0" u="none" strike="noStrike" kern="1200" baseline="0" dirty="0">
                          <a:solidFill>
                            <a:schemeClr val="tx1"/>
                          </a:solidFill>
                          <a:latin typeface="+mn-lt"/>
                          <a:ea typeface="+mn-ea"/>
                          <a:cs typeface="+mn-cs"/>
                        </a:rPr>
                        <a:t>environment. The applications are </a:t>
                      </a:r>
                      <a:r>
                        <a:rPr lang="en-US" sz="1800" b="1" i="0" u="none" strike="noStrike" kern="1200" baseline="0" dirty="0">
                          <a:solidFill>
                            <a:schemeClr val="tx1"/>
                          </a:solidFill>
                          <a:latin typeface="+mn-lt"/>
                          <a:ea typeface="+mn-ea"/>
                          <a:cs typeface="+mn-cs"/>
                        </a:rPr>
                        <a:t>built using visual tools </a:t>
                      </a:r>
                      <a:r>
                        <a:rPr lang="en-US" sz="1800" b="0" i="0" u="none" strike="noStrike" kern="1200" baseline="0" dirty="0">
                          <a:solidFill>
                            <a:schemeClr val="tx1"/>
                          </a:solidFill>
                          <a:latin typeface="+mn-lt"/>
                          <a:ea typeface="+mn-ea"/>
                          <a:cs typeface="+mn-cs"/>
                        </a:rPr>
                        <a:t>and deployed on hosted infrastructure.</a:t>
                      </a:r>
                    </a:p>
                    <a:p>
                      <a:r>
                        <a:rPr lang="en-US" sz="1800" b="0" i="0" u="none" strike="noStrike" kern="1200" baseline="0" dirty="0">
                          <a:solidFill>
                            <a:schemeClr val="tx1"/>
                          </a:solidFill>
                          <a:latin typeface="+mn-lt"/>
                          <a:ea typeface="+mn-ea"/>
                          <a:cs typeface="+mn-cs"/>
                        </a:rPr>
                        <a:t>Squarespace presents itself, among other things, as:</a:t>
                      </a:r>
                    </a:p>
                    <a:p>
                      <a:r>
                        <a:rPr lang="en-US" sz="1800" b="0" i="0" u="none" strike="noStrike" kern="1200" baseline="0" dirty="0">
                          <a:solidFill>
                            <a:schemeClr val="tx1"/>
                          </a:solidFill>
                          <a:latin typeface="+mn-lt"/>
                          <a:ea typeface="+mn-ea"/>
                          <a:cs typeface="+mn-cs"/>
                        </a:rPr>
                        <a:t>A blogging tool</a:t>
                      </a:r>
                    </a:p>
                    <a:p>
                      <a:r>
                        <a:rPr lang="en-US" sz="1800" b="0" i="0" u="none" strike="noStrike" kern="1200" baseline="0" dirty="0">
                          <a:solidFill>
                            <a:schemeClr val="tx1"/>
                          </a:solidFill>
                          <a:latin typeface="+mn-lt"/>
                          <a:ea typeface="+mn-ea"/>
                          <a:cs typeface="+mn-cs"/>
                        </a:rPr>
                        <a:t>A </a:t>
                      </a:r>
                      <a:r>
                        <a:rPr lang="en-US" sz="1800" b="1" i="0" u="none" strike="noStrike" kern="1200" baseline="0" dirty="0">
                          <a:solidFill>
                            <a:schemeClr val="tx1"/>
                          </a:solidFill>
                          <a:latin typeface="+mn-lt"/>
                          <a:ea typeface="+mn-ea"/>
                          <a:cs typeface="+mn-cs"/>
                        </a:rPr>
                        <a:t>social media integration tool</a:t>
                      </a:r>
                    </a:p>
                    <a:p>
                      <a:r>
                        <a:rPr lang="en-US" sz="1800" b="0" i="0" u="none" strike="noStrike" kern="1200" baseline="0" dirty="0">
                          <a:solidFill>
                            <a:schemeClr val="tx1"/>
                          </a:solidFill>
                          <a:latin typeface="+mn-lt"/>
                          <a:ea typeface="+mn-ea"/>
                          <a:cs typeface="+mn-cs"/>
                        </a:rPr>
                        <a:t> A photo gallery</a:t>
                      </a:r>
                    </a:p>
                    <a:p>
                      <a:r>
                        <a:rPr lang="en-US" sz="1800" b="0" i="0" u="none" strike="noStrike" kern="1200" baseline="0" dirty="0">
                          <a:solidFill>
                            <a:schemeClr val="tx1"/>
                          </a:solidFill>
                          <a:latin typeface="+mn-lt"/>
                          <a:ea typeface="+mn-ea"/>
                          <a:cs typeface="+mn-cs"/>
                        </a:rPr>
                        <a:t>A form builder and data collector</a:t>
                      </a:r>
                    </a:p>
                    <a:p>
                      <a:r>
                        <a:rPr lang="de-DE" sz="1800" b="0" i="0" u="none" strike="noStrike" kern="1200" baseline="0" dirty="0">
                          <a:solidFill>
                            <a:schemeClr val="tx1"/>
                          </a:solidFill>
                          <a:latin typeface="+mn-lt"/>
                          <a:ea typeface="+mn-ea"/>
                          <a:cs typeface="+mn-cs"/>
                        </a:rPr>
                        <a:t>An item list manager</a:t>
                      </a:r>
                    </a:p>
                    <a:p>
                      <a:r>
                        <a:rPr lang="en-US" sz="1800" b="0" i="0" u="none" strike="noStrike" kern="1200" baseline="0" dirty="0">
                          <a:solidFill>
                            <a:schemeClr val="tx1"/>
                          </a:solidFill>
                          <a:latin typeface="+mn-lt"/>
                          <a:ea typeface="+mn-ea"/>
                          <a:cs typeface="+mn-cs"/>
                        </a:rPr>
                        <a:t>A traffic and site management and analysis tool</a:t>
                      </a:r>
                      <a:endParaRPr lang="en-US" sz="2800" dirty="0">
                        <a:effectLst/>
                      </a:endParaRP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FFFFFF"/>
                    </a:solidFill>
                  </a:tcPr>
                </a:tc>
                <a:extLst>
                  <a:ext uri="{0D108BD9-81ED-4DB2-BD59-A6C34878D82A}">
                    <a16:rowId xmlns:a16="http://schemas.microsoft.com/office/drawing/2014/main" val="2444898558"/>
                  </a:ext>
                </a:extLst>
              </a:tr>
              <a:tr h="4243270">
                <a:tc>
                  <a:txBody>
                    <a:bodyPr/>
                    <a:lstStyle/>
                    <a:p>
                      <a:pPr fontAlgn="t"/>
                      <a:endParaRPr lang="en-US" sz="2800" dirty="0">
                        <a:effectLst/>
                      </a:endParaRP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FFFFFF"/>
                    </a:solidFill>
                  </a:tcPr>
                </a:tc>
                <a:extLst>
                  <a:ext uri="{0D108BD9-81ED-4DB2-BD59-A6C34878D82A}">
                    <a16:rowId xmlns:a16="http://schemas.microsoft.com/office/drawing/2014/main" val="1250227547"/>
                  </a:ext>
                </a:extLst>
              </a:tr>
              <a:tr h="1955214">
                <a:tc>
                  <a:txBody>
                    <a:bodyPr/>
                    <a:lstStyle/>
                    <a:p>
                      <a:pPr fontAlgn="t"/>
                      <a:r>
                        <a:rPr lang="en-US" sz="2800" dirty="0">
                          <a:effectLst/>
                        </a:rPr>
                        <a:t> the site  </a:t>
                      </a:r>
                      <a:r>
                        <a:rPr lang="en-US" sz="2800" b="1" dirty="0">
                          <a:effectLst/>
                        </a:rPr>
                        <a:t>Squarespace.com </a:t>
                      </a:r>
                      <a:r>
                        <a:rPr lang="en-US" sz="2800" dirty="0">
                          <a:effectLst/>
                        </a:rPr>
                        <a:t>was chosen to illustrate a point-and-click CMS system aimed at </a:t>
                      </a:r>
                      <a:r>
                        <a:rPr lang="en-US" sz="2800" b="1" dirty="0">
                          <a:effectLst/>
                        </a:rPr>
                        <a:t>supporting individuals, small businesses</a:t>
                      </a:r>
                      <a:r>
                        <a:rPr lang="en-US" sz="2800" dirty="0">
                          <a:effectLst/>
                        </a:rPr>
                        <a:t>, and other </a:t>
                      </a:r>
                      <a:r>
                        <a:rPr lang="en-US" sz="2800" b="1" dirty="0">
                          <a:effectLst/>
                        </a:rPr>
                        <a:t>small organizations</a:t>
                      </a:r>
                      <a:r>
                        <a:rPr lang="en-US" sz="2800" dirty="0">
                          <a:effectLst/>
                        </a:rPr>
                        <a:t>.</a:t>
                      </a: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FFFFFF"/>
                    </a:solidFill>
                  </a:tcPr>
                </a:tc>
                <a:extLst>
                  <a:ext uri="{0D108BD9-81ED-4DB2-BD59-A6C34878D82A}">
                    <a16:rowId xmlns:a16="http://schemas.microsoft.com/office/drawing/2014/main" val="3250915139"/>
                  </a:ext>
                </a:extLst>
              </a:tr>
              <a:tr h="2412825">
                <a:tc>
                  <a:txBody>
                    <a:bodyPr/>
                    <a:lstStyle/>
                    <a:p>
                      <a:pPr fontAlgn="t"/>
                      <a:r>
                        <a:rPr lang="en-US" sz="2800" b="1" dirty="0">
                          <a:effectLst/>
                        </a:rPr>
                        <a:t>Squarespac</a:t>
                      </a:r>
                      <a:r>
                        <a:rPr lang="en-US" sz="2800" dirty="0">
                          <a:effectLst/>
                        </a:rPr>
                        <a:t>e is often associated </a:t>
                      </a:r>
                      <a:r>
                        <a:rPr lang="en-US" sz="2800" b="1" dirty="0">
                          <a:effectLst/>
                        </a:rPr>
                        <a:t>with blogging tools </a:t>
                      </a:r>
                      <a:r>
                        <a:rPr lang="en-US" sz="2800" dirty="0">
                          <a:effectLst/>
                        </a:rPr>
                        <a:t>(as is Drupal), but it is more than that</a:t>
                      </a:r>
                      <a:r>
                        <a:rPr lang="en-US" sz="2800" b="1" dirty="0">
                          <a:effectLst/>
                        </a:rPr>
                        <a:t>. Squarespace works with photos, imports information from other social tools</a:t>
                      </a:r>
                      <a:r>
                        <a:rPr lang="en-US" sz="2800" dirty="0">
                          <a:effectLst/>
                        </a:rPr>
                        <a:t>, and allows very attractive Web sites to be created by average users.</a:t>
                      </a: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FFFFFF"/>
                    </a:solidFill>
                  </a:tcPr>
                </a:tc>
                <a:extLst>
                  <a:ext uri="{0D108BD9-81ED-4DB2-BD59-A6C34878D82A}">
                    <a16:rowId xmlns:a16="http://schemas.microsoft.com/office/drawing/2014/main" val="3762446470"/>
                  </a:ext>
                </a:extLst>
              </a:tr>
            </a:tbl>
          </a:graphicData>
        </a:graphic>
      </p:graphicFrame>
      <p:pic>
        <p:nvPicPr>
          <p:cNvPr id="2" name="Picture 1"/>
          <p:cNvPicPr>
            <a:picLocks noChangeAspect="1"/>
          </p:cNvPicPr>
          <p:nvPr/>
        </p:nvPicPr>
        <p:blipFill>
          <a:blip r:embed="rId3"/>
          <a:stretch>
            <a:fillRect/>
          </a:stretch>
        </p:blipFill>
        <p:spPr>
          <a:xfrm>
            <a:off x="5626191" y="3176336"/>
            <a:ext cx="5264916" cy="3932147"/>
          </a:xfrm>
          <a:prstGeom prst="rect">
            <a:avLst/>
          </a:prstGeom>
        </p:spPr>
      </p:pic>
    </p:spTree>
    <p:extLst>
      <p:ext uri="{BB962C8B-B14F-4D97-AF65-F5344CB8AC3E}">
        <p14:creationId xmlns:p14="http://schemas.microsoft.com/office/powerpoint/2010/main" val="950912520"/>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D052AD3-7C45-5735-4AA6-47BC8A5505E9}"/>
              </a:ext>
            </a:extLst>
          </p:cNvPr>
          <p:cNvSpPr>
            <a:spLocks noGrp="1"/>
          </p:cNvSpPr>
          <p:nvPr>
            <p:ph idx="1"/>
          </p:nvPr>
        </p:nvSpPr>
        <p:spPr>
          <a:xfrm>
            <a:off x="339436" y="920460"/>
            <a:ext cx="11547764" cy="5323321"/>
          </a:xfrm>
        </p:spPr>
        <p:txBody>
          <a:bodyPr>
            <a:normAutofit/>
          </a:bodyPr>
          <a:lstStyle/>
          <a:p>
            <a:pPr marL="0" indent="0">
              <a:buNone/>
            </a:pPr>
            <a:r>
              <a:rPr lang="en-US" sz="2000" dirty="0"/>
              <a:t>Mini Project sample titles:</a:t>
            </a:r>
          </a:p>
          <a:p>
            <a:pPr marL="0" indent="0">
              <a:buNone/>
            </a:pPr>
            <a:endParaRPr lang="en-US" sz="2000" dirty="0"/>
          </a:p>
          <a:p>
            <a:pPr marL="457200" indent="-457200">
              <a:buAutoNum type="arabicPeriod"/>
            </a:pPr>
            <a:r>
              <a:rPr lang="en-US" sz="2000" b="1" dirty="0"/>
              <a:t>Cloud Based Sentiment Analysis</a:t>
            </a:r>
          </a:p>
          <a:p>
            <a:pPr>
              <a:buFont typeface="Wingdings" panose="05000000000000000000" pitchFamily="2" charset="2"/>
              <a:buChar char="Ø"/>
            </a:pPr>
            <a:r>
              <a:rPr lang="en-US" sz="2000" dirty="0"/>
              <a:t>Problem Statement</a:t>
            </a:r>
          </a:p>
          <a:p>
            <a:pPr>
              <a:buFont typeface="Wingdings" panose="05000000000000000000" pitchFamily="2" charset="2"/>
              <a:buChar char="Ø"/>
            </a:pPr>
            <a:r>
              <a:rPr lang="en-US" sz="2000" dirty="0"/>
              <a:t>Aim:</a:t>
            </a:r>
          </a:p>
          <a:p>
            <a:r>
              <a:rPr lang="en-US" sz="2000" dirty="0"/>
              <a:t> The aim of this project is to develop a scalable and efficient sentiment analysis model for Twitter data by leveraging cloud computing resources.</a:t>
            </a:r>
          </a:p>
          <a:p>
            <a:pPr algn="just"/>
            <a:r>
              <a:rPr lang="en-US" sz="2000" dirty="0"/>
              <a:t> This model will provide real-time sentiment analysis capabilities for monitoring and analyzing Twitter data streams.</a:t>
            </a:r>
          </a:p>
        </p:txBody>
      </p:sp>
    </p:spTree>
    <p:extLst>
      <p:ext uri="{BB962C8B-B14F-4D97-AF65-F5344CB8AC3E}">
        <p14:creationId xmlns:p14="http://schemas.microsoft.com/office/powerpoint/2010/main" val="428716166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6A9D1-025A-F258-CBF7-2780E4376E2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313546-7433-B187-F26D-37AD5A3C9F54}"/>
              </a:ext>
            </a:extLst>
          </p:cNvPr>
          <p:cNvSpPr>
            <a:spLocks noGrp="1"/>
          </p:cNvSpPr>
          <p:nvPr>
            <p:ph idx="1"/>
          </p:nvPr>
        </p:nvSpPr>
        <p:spPr>
          <a:xfrm>
            <a:off x="339436" y="920460"/>
            <a:ext cx="11547764" cy="5323321"/>
          </a:xfrm>
        </p:spPr>
        <p:txBody>
          <a:bodyPr>
            <a:normAutofit/>
          </a:bodyPr>
          <a:lstStyle/>
          <a:p>
            <a:pPr marL="0" indent="0">
              <a:buNone/>
            </a:pPr>
            <a:r>
              <a:rPr lang="en-US" sz="2000" dirty="0"/>
              <a:t>Mini Project sample titles:</a:t>
            </a:r>
          </a:p>
          <a:p>
            <a:pPr marL="0" indent="0">
              <a:buNone/>
            </a:pPr>
            <a:endParaRPr lang="en-US" sz="2000" dirty="0"/>
          </a:p>
          <a:p>
            <a:pPr>
              <a:buFont typeface="Wingdings" panose="05000000000000000000" pitchFamily="2" charset="2"/>
              <a:buChar char="Ø"/>
            </a:pPr>
            <a:r>
              <a:rPr lang="en-US" sz="2000" dirty="0"/>
              <a:t>Objectives:</a:t>
            </a:r>
          </a:p>
          <a:p>
            <a:pPr marL="457200" indent="-457200">
              <a:buAutoNum type="arabicPeriod"/>
            </a:pPr>
            <a:r>
              <a:rPr lang="en-US" sz="2000" dirty="0"/>
              <a:t> Collect and preprocess Twitter data using relevant APIs and tools.</a:t>
            </a:r>
          </a:p>
          <a:p>
            <a:pPr marL="457200" indent="-457200">
              <a:buAutoNum type="arabicPeriod"/>
            </a:pPr>
            <a:r>
              <a:rPr lang="en-US" sz="2000" dirty="0"/>
              <a:t>Develop a machine learning model for sentiment analysis using natural language processing (NLP) techniques.</a:t>
            </a:r>
          </a:p>
          <a:p>
            <a:pPr marL="457200" indent="-457200">
              <a:buAutoNum type="arabicPeriod"/>
            </a:pPr>
            <a:r>
              <a:rPr lang="en-US" sz="2000" dirty="0"/>
              <a:t>Deploy the sentiment analysis model on a cloud computing platform for scalability and real-time processing.</a:t>
            </a:r>
          </a:p>
          <a:p>
            <a:pPr marL="457200" indent="-457200">
              <a:buAutoNum type="arabicPeriod"/>
            </a:pPr>
            <a:r>
              <a:rPr lang="en-US" sz="2000" dirty="0"/>
              <a:t>Implement a user-friendly interface for users to interact with the sentiment analysis system</a:t>
            </a:r>
          </a:p>
          <a:p>
            <a:pPr marL="457200" indent="-457200">
              <a:buAutoNum type="arabicPeriod"/>
            </a:pPr>
            <a:r>
              <a:rPr lang="en-US" sz="2000" dirty="0"/>
              <a:t>Evaluate the performance of the model in terms of accuracy, scalability, and efficiency.</a:t>
            </a:r>
          </a:p>
        </p:txBody>
      </p:sp>
    </p:spTree>
    <p:extLst>
      <p:ext uri="{BB962C8B-B14F-4D97-AF65-F5344CB8AC3E}">
        <p14:creationId xmlns:p14="http://schemas.microsoft.com/office/powerpoint/2010/main" val="402069019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032C1-4F58-0504-C95B-3DF8378BBB8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B1C984-C725-55CB-80A4-CC19452AD224}"/>
              </a:ext>
            </a:extLst>
          </p:cNvPr>
          <p:cNvSpPr>
            <a:spLocks noGrp="1"/>
          </p:cNvSpPr>
          <p:nvPr>
            <p:ph idx="1"/>
          </p:nvPr>
        </p:nvSpPr>
        <p:spPr>
          <a:xfrm>
            <a:off x="339436" y="920460"/>
            <a:ext cx="11547764" cy="5323321"/>
          </a:xfrm>
        </p:spPr>
        <p:txBody>
          <a:bodyPr>
            <a:normAutofit/>
          </a:bodyPr>
          <a:lstStyle/>
          <a:p>
            <a:pPr marL="0" indent="0">
              <a:buNone/>
            </a:pPr>
            <a:r>
              <a:rPr lang="en-US" sz="2000" dirty="0"/>
              <a:t>Mini Project sample titles:</a:t>
            </a:r>
          </a:p>
          <a:p>
            <a:pPr marL="0" indent="0">
              <a:buNone/>
            </a:pPr>
            <a:endParaRPr lang="en-US" sz="2000" dirty="0"/>
          </a:p>
          <a:p>
            <a:pPr>
              <a:buFont typeface="Wingdings" panose="05000000000000000000" pitchFamily="2" charset="2"/>
              <a:buChar char="Ø"/>
            </a:pPr>
            <a:r>
              <a:rPr lang="en-US" sz="2000" dirty="0"/>
              <a:t>Objectives:</a:t>
            </a:r>
          </a:p>
          <a:p>
            <a:pPr marL="457200" indent="-457200">
              <a:buAutoNum type="arabicPeriod"/>
            </a:pPr>
            <a:r>
              <a:rPr lang="en-US" sz="2000" dirty="0"/>
              <a:t> Collect and preprocess Twitter data using relevant APIs and tools.</a:t>
            </a:r>
          </a:p>
          <a:p>
            <a:pPr marL="457200" indent="-457200">
              <a:buAutoNum type="arabicPeriod"/>
            </a:pPr>
            <a:r>
              <a:rPr lang="en-US" sz="2000" dirty="0"/>
              <a:t>Develop a machine learning model for sentiment analysis using natural language processing (NLP) techniques.</a:t>
            </a:r>
          </a:p>
          <a:p>
            <a:pPr marL="457200" indent="-457200">
              <a:buAutoNum type="arabicPeriod"/>
            </a:pPr>
            <a:r>
              <a:rPr lang="en-US" sz="2000" dirty="0"/>
              <a:t>Deploy the sentiment analysis model on a cloud computing platform for scalability and real-time processing.</a:t>
            </a:r>
          </a:p>
          <a:p>
            <a:pPr marL="457200" indent="-457200">
              <a:buAutoNum type="arabicPeriod"/>
            </a:pPr>
            <a:r>
              <a:rPr lang="en-US" sz="2000" dirty="0"/>
              <a:t>Implement a user-friendly interface for users to interact with the sentiment analysis system</a:t>
            </a:r>
          </a:p>
          <a:p>
            <a:pPr marL="457200" indent="-457200">
              <a:buAutoNum type="arabicPeriod"/>
            </a:pPr>
            <a:r>
              <a:rPr lang="en-US" sz="2000" dirty="0"/>
              <a:t>Evaluate the performance of the model in terms of accuracy, scalability, and efficiency.</a:t>
            </a:r>
          </a:p>
        </p:txBody>
      </p:sp>
    </p:spTree>
    <p:extLst>
      <p:ext uri="{BB962C8B-B14F-4D97-AF65-F5344CB8AC3E}">
        <p14:creationId xmlns:p14="http://schemas.microsoft.com/office/powerpoint/2010/main" val="143053807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78A91-EBB6-6B21-17FF-2A7DEB8690B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0D6F6B-30D3-C1D3-B859-7B57892D85FD}"/>
              </a:ext>
            </a:extLst>
          </p:cNvPr>
          <p:cNvSpPr>
            <a:spLocks noGrp="1"/>
          </p:cNvSpPr>
          <p:nvPr>
            <p:ph idx="1"/>
          </p:nvPr>
        </p:nvSpPr>
        <p:spPr>
          <a:xfrm>
            <a:off x="339436" y="920460"/>
            <a:ext cx="11547764" cy="5323321"/>
          </a:xfrm>
        </p:spPr>
        <p:txBody>
          <a:bodyPr>
            <a:normAutofit/>
          </a:bodyPr>
          <a:lstStyle/>
          <a:p>
            <a:pPr marL="0" indent="0">
              <a:buNone/>
            </a:pPr>
            <a:r>
              <a:rPr lang="en-US" sz="2000" dirty="0"/>
              <a:t>Mini Project sample titles:</a:t>
            </a:r>
          </a:p>
          <a:p>
            <a:pPr marL="0" indent="0">
              <a:buNone/>
            </a:pPr>
            <a:endParaRPr lang="en-US" sz="2000" dirty="0"/>
          </a:p>
          <a:p>
            <a:pPr>
              <a:buFont typeface="Wingdings" panose="05000000000000000000" pitchFamily="2" charset="2"/>
              <a:buChar char="Ø"/>
            </a:pPr>
            <a:r>
              <a:rPr lang="en-US" sz="2000" dirty="0"/>
              <a:t>Methodology:</a:t>
            </a:r>
          </a:p>
          <a:p>
            <a:pPr marL="0" indent="0">
              <a:buNone/>
            </a:pPr>
            <a:endParaRPr lang="en-US" sz="2000" dirty="0"/>
          </a:p>
        </p:txBody>
      </p:sp>
      <p:pic>
        <p:nvPicPr>
          <p:cNvPr id="4" name="Picture 3" descr="A diagram of a computer&#10;&#10;AI-generated content may be incorrect.">
            <a:extLst>
              <a:ext uri="{FF2B5EF4-FFF2-40B4-BE49-F238E27FC236}">
                <a16:creationId xmlns:a16="http://schemas.microsoft.com/office/drawing/2014/main" id="{A9F33AB8-7111-442C-D12E-514D87C1FA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9025" y="2219325"/>
            <a:ext cx="7473950" cy="2419350"/>
          </a:xfrm>
          <a:prstGeom prst="rect">
            <a:avLst/>
          </a:prstGeom>
        </p:spPr>
      </p:pic>
    </p:spTree>
    <p:extLst>
      <p:ext uri="{BB962C8B-B14F-4D97-AF65-F5344CB8AC3E}">
        <p14:creationId xmlns:p14="http://schemas.microsoft.com/office/powerpoint/2010/main" val="359208997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10668-13D3-415F-99E0-A1450CEC858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6015D6C-A427-01D1-87E7-45907A2463F1}"/>
              </a:ext>
            </a:extLst>
          </p:cNvPr>
          <p:cNvSpPr>
            <a:spLocks noGrp="1"/>
          </p:cNvSpPr>
          <p:nvPr>
            <p:ph idx="1"/>
          </p:nvPr>
        </p:nvSpPr>
        <p:spPr>
          <a:xfrm>
            <a:off x="339436" y="920460"/>
            <a:ext cx="11547764" cy="5323321"/>
          </a:xfrm>
        </p:spPr>
        <p:txBody>
          <a:bodyPr>
            <a:normAutofit/>
          </a:bodyPr>
          <a:lstStyle/>
          <a:p>
            <a:pPr marL="0" indent="0">
              <a:buNone/>
            </a:pPr>
            <a:r>
              <a:rPr lang="en-US" sz="2000" dirty="0"/>
              <a:t>Expected Outcome:</a:t>
            </a:r>
          </a:p>
          <a:p>
            <a:pPr algn="just">
              <a:buFont typeface="Wingdings" panose="05000000000000000000" pitchFamily="2" charset="2"/>
              <a:buChar char="Ø"/>
            </a:pPr>
            <a:r>
              <a:rPr lang="en-US" sz="2000" dirty="0"/>
              <a:t>A cloud-based Twitter sentiment analysis system capable of processing large volumes of data in real-time.</a:t>
            </a:r>
          </a:p>
          <a:p>
            <a:pPr algn="just">
              <a:buFont typeface="Wingdings" panose="05000000000000000000" pitchFamily="2" charset="2"/>
              <a:buChar char="Ø"/>
            </a:pPr>
            <a:r>
              <a:rPr lang="en-US" sz="2000" dirty="0"/>
              <a:t> Improved accuracy in sentiment analysis compared to traditional techniques.</a:t>
            </a:r>
          </a:p>
          <a:p>
            <a:pPr algn="just">
              <a:buFont typeface="Wingdings" panose="05000000000000000000" pitchFamily="2" charset="2"/>
              <a:buChar char="Ø"/>
            </a:pPr>
            <a:r>
              <a:rPr lang="en-US" sz="2000" dirty="0"/>
              <a:t> Scalability to handle varying workloads and data influx.</a:t>
            </a:r>
          </a:p>
          <a:p>
            <a:pPr algn="just">
              <a:buFont typeface="Wingdings" panose="05000000000000000000" pitchFamily="2" charset="2"/>
              <a:buChar char="Ø"/>
            </a:pPr>
            <a:r>
              <a:rPr lang="en-US" sz="2000" dirty="0"/>
              <a:t>User-friendly interface for easy interaction and visualization of sentiment analysis  results.</a:t>
            </a:r>
          </a:p>
          <a:p>
            <a:pPr algn="just">
              <a:buFont typeface="Wingdings" panose="05000000000000000000" pitchFamily="2" charset="2"/>
              <a:buChar char="Ø"/>
            </a:pPr>
            <a:r>
              <a:rPr lang="en-US" sz="2000" dirty="0"/>
              <a:t>Insights generated from sentiment analysis to aid decision-making processes for businesses, researchers, and organizations.</a:t>
            </a:r>
          </a:p>
          <a:p>
            <a:pPr marL="0" indent="0">
              <a:buNone/>
            </a:pPr>
            <a:endParaRPr lang="en-US" sz="2000" dirty="0"/>
          </a:p>
          <a:p>
            <a:pPr marL="0" indent="0">
              <a:buNone/>
            </a:pPr>
            <a:endParaRPr lang="en-US" sz="2000" dirty="0"/>
          </a:p>
        </p:txBody>
      </p:sp>
    </p:spTree>
    <p:extLst>
      <p:ext uri="{BB962C8B-B14F-4D97-AF65-F5344CB8AC3E}">
        <p14:creationId xmlns:p14="http://schemas.microsoft.com/office/powerpoint/2010/main" val="310987477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3"/>
          <p:cNvSpPr/>
          <p:nvPr/>
        </p:nvSpPr>
        <p:spPr>
          <a:xfrm>
            <a:off x="3464910" y="276726"/>
            <a:ext cx="4247513" cy="461665"/>
          </a:xfrm>
          <a:prstGeom prst="rect">
            <a:avLst/>
          </a:prstGeom>
        </p:spPr>
        <p:txBody>
          <a:bodyPr wrap="square">
            <a:spAutoFit/>
          </a:bodyPr>
          <a:lstStyle/>
          <a:p>
            <a:pPr algn="ctr"/>
            <a:r>
              <a:rPr lang="en-US" sz="2400" b="1" dirty="0"/>
              <a:t>Exploring </a:t>
            </a:r>
            <a:r>
              <a:rPr lang="en-US" sz="2400" b="1" dirty="0" err="1"/>
              <a:t>Paas</a:t>
            </a:r>
            <a:r>
              <a:rPr lang="en-US" sz="2400" b="1" dirty="0"/>
              <a:t> </a:t>
            </a:r>
          </a:p>
        </p:txBody>
      </p:sp>
      <p:graphicFrame>
        <p:nvGraphicFramePr>
          <p:cNvPr id="3" name="Table 2"/>
          <p:cNvGraphicFramePr>
            <a:graphicFrameLocks noGrp="1"/>
          </p:cNvGraphicFramePr>
          <p:nvPr>
            <p:extLst>
              <p:ext uri="{D42A27DB-BD31-4B8C-83A1-F6EECF244321}">
                <p14:modId xmlns:p14="http://schemas.microsoft.com/office/powerpoint/2010/main" val="726811614"/>
              </p:ext>
            </p:extLst>
          </p:nvPr>
        </p:nvGraphicFramePr>
        <p:xfrm>
          <a:off x="-108285" y="930896"/>
          <a:ext cx="11562347" cy="11504595"/>
        </p:xfrm>
        <a:graphic>
          <a:graphicData uri="http://schemas.openxmlformats.org/drawingml/2006/table">
            <a:tbl>
              <a:tblPr/>
              <a:tblGrid>
                <a:gridCol w="11562347">
                  <a:extLst>
                    <a:ext uri="{9D8B030D-6E8A-4147-A177-3AD203B41FA5}">
                      <a16:colId xmlns:a16="http://schemas.microsoft.com/office/drawing/2014/main" val="3723025685"/>
                    </a:ext>
                  </a:extLst>
                </a:gridCol>
              </a:tblGrid>
              <a:tr h="582380">
                <a:tc>
                  <a:txBody>
                    <a:bodyPr/>
                    <a:lstStyle/>
                    <a:p>
                      <a:pPr algn="l"/>
                      <a:endParaRPr lang="en-US" sz="2800" dirty="0">
                        <a:effectLst/>
                      </a:endParaRP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ACC8CC"/>
                    </a:solidFill>
                  </a:tcPr>
                </a:tc>
                <a:extLst>
                  <a:ext uri="{0D108BD9-81ED-4DB2-BD59-A6C34878D82A}">
                    <a16:rowId xmlns:a16="http://schemas.microsoft.com/office/drawing/2014/main" val="1619436938"/>
                  </a:ext>
                </a:extLst>
              </a:tr>
              <a:tr h="1955214">
                <a:tc>
                  <a:txBody>
                    <a:bodyPr/>
                    <a:lstStyle/>
                    <a:p>
                      <a:r>
                        <a:rPr lang="en-US" sz="1800" b="1" i="0" kern="1200" dirty="0" err="1">
                          <a:solidFill>
                            <a:schemeClr val="tx1"/>
                          </a:solidFill>
                          <a:effectLst/>
                          <a:latin typeface="+mn-lt"/>
                          <a:ea typeface="+mn-ea"/>
                          <a:cs typeface="+mn-cs"/>
                        </a:rPr>
                        <a:t>LongJump</a:t>
                      </a:r>
                      <a:r>
                        <a:rPr lang="en-US" sz="1800" kern="1200" dirty="0">
                          <a:solidFill>
                            <a:schemeClr val="tx1"/>
                          </a:solidFill>
                          <a:effectLst/>
                          <a:latin typeface="+mn-lt"/>
                          <a:ea typeface="+mn-ea"/>
                          <a:cs typeface="+mn-cs"/>
                        </a:rPr>
                        <a:t> provides </a:t>
                      </a:r>
                      <a:r>
                        <a:rPr lang="en-US" sz="1800" b="1" i="0" kern="1200" dirty="0">
                          <a:solidFill>
                            <a:schemeClr val="tx1"/>
                          </a:solidFill>
                          <a:effectLst/>
                          <a:latin typeface="+mn-lt"/>
                          <a:ea typeface="+mn-ea"/>
                          <a:cs typeface="+mn-cs"/>
                        </a:rPr>
                        <a:t>Platform as a Service</a:t>
                      </a:r>
                      <a:r>
                        <a:rPr lang="en-US" sz="1800" kern="1200" dirty="0">
                          <a:solidFill>
                            <a:schemeClr val="tx1"/>
                          </a:solidFill>
                          <a:effectLst/>
                          <a:latin typeface="+mn-lt"/>
                          <a:ea typeface="+mn-ea"/>
                          <a:cs typeface="+mn-cs"/>
                        </a:rPr>
                        <a:t> (</a:t>
                      </a:r>
                      <a:r>
                        <a:rPr lang="en-US" sz="1800" b="1" i="0" kern="1200" dirty="0">
                          <a:solidFill>
                            <a:schemeClr val="tx1"/>
                          </a:solidFill>
                          <a:effectLst/>
                          <a:latin typeface="+mn-lt"/>
                          <a:ea typeface="+mn-ea"/>
                          <a:cs typeface="+mn-cs"/>
                        </a:rPr>
                        <a:t>PaaS</a:t>
                      </a:r>
                      <a:r>
                        <a:rPr lang="en-US" sz="1800" kern="1200" dirty="0">
                          <a:solidFill>
                            <a:schemeClr val="tx1"/>
                          </a:solidFill>
                          <a:effectLst/>
                          <a:latin typeface="+mn-lt"/>
                          <a:ea typeface="+mn-ea"/>
                          <a:cs typeface="+mn-cs"/>
                        </a:rPr>
                        <a:t>) which </a:t>
                      </a:r>
                      <a:r>
                        <a:rPr lang="en-US" sz="1800" b="1" kern="1200" dirty="0">
                          <a:solidFill>
                            <a:schemeClr val="tx1"/>
                          </a:solidFill>
                          <a:effectLst/>
                          <a:latin typeface="+mn-lt"/>
                          <a:ea typeface="+mn-ea"/>
                          <a:cs typeface="+mn-cs"/>
                        </a:rPr>
                        <a:t>allows non-programmers to design their own applications</a:t>
                      </a:r>
                      <a:r>
                        <a:rPr lang="en-US" sz="1800" kern="1200" dirty="0">
                          <a:solidFill>
                            <a:schemeClr val="tx1"/>
                          </a:solidFill>
                          <a:effectLst/>
                          <a:latin typeface="+mn-lt"/>
                          <a:ea typeface="+mn-ea"/>
                          <a:cs typeface="+mn-cs"/>
                        </a:rPr>
                        <a:t>. Ideally, no programming skills would be needed ...</a:t>
                      </a:r>
                    </a:p>
                    <a:p>
                      <a:pPr marL="285750" indent="-285750">
                        <a:buFont typeface="Arial" panose="020B0604020202020204" pitchFamily="34" charset="0"/>
                        <a:buChar char="•"/>
                      </a:pPr>
                      <a:r>
                        <a:rPr lang="en-US" sz="1800" kern="1200" dirty="0" err="1">
                          <a:solidFill>
                            <a:schemeClr val="tx1"/>
                          </a:solidFill>
                          <a:effectLst/>
                          <a:latin typeface="+mn-lt"/>
                          <a:ea typeface="+mn-ea"/>
                          <a:cs typeface="+mn-cs"/>
                        </a:rPr>
                        <a:t>LongJump</a:t>
                      </a:r>
                      <a:r>
                        <a:rPr lang="en-US" sz="1800" kern="1200" dirty="0">
                          <a:solidFill>
                            <a:schemeClr val="tx1"/>
                          </a:solidFill>
                          <a:effectLst/>
                          <a:latin typeface="+mn-lt"/>
                          <a:ea typeface="+mn-ea"/>
                          <a:cs typeface="+mn-cs"/>
                        </a:rPr>
                        <a:t> creates browser-based Web applications that are database-enabled. </a:t>
                      </a:r>
                    </a:p>
                    <a:p>
                      <a:pPr marL="285750" indent="-285750">
                        <a:buFont typeface="Arial" panose="020B0604020202020204" pitchFamily="34" charset="0"/>
                        <a:buChar char="•"/>
                      </a:pPr>
                      <a:r>
                        <a:rPr lang="en-US" sz="1800" kern="1200" dirty="0">
                          <a:solidFill>
                            <a:schemeClr val="tx1"/>
                          </a:solidFill>
                          <a:effectLst/>
                          <a:latin typeface="+mn-lt"/>
                          <a:ea typeface="+mn-ea"/>
                          <a:cs typeface="+mn-cs"/>
                        </a:rPr>
                        <a:t>Like other products mentioned in this section, </a:t>
                      </a:r>
                      <a:r>
                        <a:rPr lang="en-US" sz="1800" kern="1200" dirty="0" err="1">
                          <a:solidFill>
                            <a:schemeClr val="tx1"/>
                          </a:solidFill>
                          <a:effectLst/>
                          <a:latin typeface="+mn-lt"/>
                          <a:ea typeface="+mn-ea"/>
                          <a:cs typeface="+mn-cs"/>
                        </a:rPr>
                        <a:t>LongJump</a:t>
                      </a:r>
                      <a:r>
                        <a:rPr lang="en-US" sz="1800" kern="1200" dirty="0">
                          <a:solidFill>
                            <a:schemeClr val="tx1"/>
                          </a:solidFill>
                          <a:effectLst/>
                          <a:latin typeface="+mn-lt"/>
                          <a:ea typeface="+mn-ea"/>
                          <a:cs typeface="+mn-cs"/>
                        </a:rPr>
                        <a:t> comes with an </a:t>
                      </a:r>
                      <a:r>
                        <a:rPr lang="en-US" sz="1800" b="1" kern="1200" dirty="0">
                          <a:solidFill>
                            <a:schemeClr val="tx1"/>
                          </a:solidFill>
                          <a:effectLst/>
                          <a:latin typeface="+mn-lt"/>
                          <a:ea typeface="+mn-ea"/>
                          <a:cs typeface="+mn-cs"/>
                        </a:rPr>
                        <a:t>Object Model Viewer</a:t>
                      </a:r>
                      <a:r>
                        <a:rPr lang="en-US" sz="1800" kern="1200" dirty="0">
                          <a:solidFill>
                            <a:schemeClr val="tx1"/>
                          </a:solidFill>
                          <a:effectLst/>
                          <a:latin typeface="+mn-lt"/>
                          <a:ea typeface="+mn-ea"/>
                          <a:cs typeface="+mn-cs"/>
                        </a:rPr>
                        <a:t>, forms, reports, layout tools, dashboards, and site management tools. </a:t>
                      </a:r>
                    </a:p>
                    <a:p>
                      <a:pPr marL="285750" indent="-285750">
                        <a:buFont typeface="Arial" panose="020B0604020202020204" pitchFamily="34" charset="0"/>
                        <a:buChar char="•"/>
                      </a:pPr>
                      <a:r>
                        <a:rPr lang="en-US" sz="1800" kern="1200" dirty="0">
                          <a:solidFill>
                            <a:schemeClr val="tx1"/>
                          </a:solidFill>
                          <a:effectLst/>
                          <a:latin typeface="+mn-lt"/>
                          <a:ea typeface="+mn-ea"/>
                          <a:cs typeface="+mn-cs"/>
                        </a:rPr>
                        <a:t>Access control is based on role- and rule-based access, and it allows for data-sharing between teams and between tenants. </a:t>
                      </a:r>
                      <a:r>
                        <a:rPr lang="en-US" sz="1800" kern="1200" dirty="0" err="1">
                          <a:solidFill>
                            <a:schemeClr val="tx1"/>
                          </a:solidFill>
                          <a:effectLst/>
                          <a:latin typeface="+mn-lt"/>
                          <a:ea typeface="+mn-ea"/>
                          <a:cs typeface="+mn-cs"/>
                        </a:rPr>
                        <a:t>LongJump</a:t>
                      </a:r>
                      <a:r>
                        <a:rPr lang="en-US" sz="1800" kern="1200" dirty="0">
                          <a:solidFill>
                            <a:schemeClr val="tx1"/>
                          </a:solidFill>
                          <a:effectLst/>
                          <a:latin typeface="+mn-lt"/>
                          <a:ea typeface="+mn-ea"/>
                          <a:cs typeface="+mn-cs"/>
                        </a:rPr>
                        <a:t> comes with a security policy engine that has user and group privileges, authentication, IP</a:t>
                      </a:r>
                    </a:p>
                    <a:p>
                      <a:pPr marL="285750" indent="-285750">
                        <a:buFont typeface="Arial" panose="020B0604020202020204" pitchFamily="34" charset="0"/>
                        <a:buChar char="•"/>
                      </a:pPr>
                      <a:r>
                        <a:rPr lang="en-US" sz="1800" b="0" i="0" kern="1200" dirty="0" err="1">
                          <a:solidFill>
                            <a:schemeClr val="tx1"/>
                          </a:solidFill>
                          <a:effectLst/>
                          <a:latin typeface="+mn-lt"/>
                          <a:ea typeface="+mn-ea"/>
                          <a:cs typeface="+mn-cs"/>
                        </a:rPr>
                        <a:t>LongJump</a:t>
                      </a:r>
                      <a:r>
                        <a:rPr lang="en-US" sz="1800" b="0" i="0" kern="1200" dirty="0">
                          <a:solidFill>
                            <a:schemeClr val="tx1"/>
                          </a:solidFill>
                          <a:effectLst/>
                          <a:latin typeface="+mn-lt"/>
                          <a:ea typeface="+mn-ea"/>
                          <a:cs typeface="+mn-cs"/>
                        </a:rPr>
                        <a:t> extends Java and uses a Model-View-Controller architecture (MVC) for its framework in the Developer Suite.</a:t>
                      </a:r>
                      <a:endParaRPr lang="en-US" sz="2800" dirty="0">
                        <a:effectLst/>
                      </a:endParaRP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FFFFFF"/>
                    </a:solidFill>
                  </a:tcPr>
                </a:tc>
                <a:extLst>
                  <a:ext uri="{0D108BD9-81ED-4DB2-BD59-A6C34878D82A}">
                    <a16:rowId xmlns:a16="http://schemas.microsoft.com/office/drawing/2014/main" val="2444898558"/>
                  </a:ext>
                </a:extLst>
              </a:tr>
              <a:tr h="4243270">
                <a:tc>
                  <a:txBody>
                    <a:bodyPr/>
                    <a:lstStyle/>
                    <a:p>
                      <a:pPr fontAlgn="t"/>
                      <a:endParaRPr lang="en-US" sz="2800" dirty="0">
                        <a:effectLst/>
                      </a:endParaRP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FFFFFF"/>
                    </a:solidFill>
                  </a:tcPr>
                </a:tc>
                <a:extLst>
                  <a:ext uri="{0D108BD9-81ED-4DB2-BD59-A6C34878D82A}">
                    <a16:rowId xmlns:a16="http://schemas.microsoft.com/office/drawing/2014/main" val="1250227547"/>
                  </a:ext>
                </a:extLst>
              </a:tr>
              <a:tr h="1955214">
                <a:tc>
                  <a:txBody>
                    <a:bodyPr/>
                    <a:lstStyle/>
                    <a:p>
                      <a:pPr fontAlgn="t"/>
                      <a:r>
                        <a:rPr lang="en-US" sz="2800" dirty="0">
                          <a:effectLst/>
                        </a:rPr>
                        <a:t> the site  </a:t>
                      </a:r>
                      <a:r>
                        <a:rPr lang="en-US" sz="2800" b="1" dirty="0">
                          <a:effectLst/>
                        </a:rPr>
                        <a:t>Squarespace.com </a:t>
                      </a:r>
                      <a:r>
                        <a:rPr lang="en-US" sz="2800" dirty="0">
                          <a:effectLst/>
                        </a:rPr>
                        <a:t>was chosen to illustrate a point-and-click CMS system aimed at </a:t>
                      </a:r>
                      <a:r>
                        <a:rPr lang="en-US" sz="2800" b="1" dirty="0">
                          <a:effectLst/>
                        </a:rPr>
                        <a:t>supporting individuals, small businesses</a:t>
                      </a:r>
                      <a:r>
                        <a:rPr lang="en-US" sz="2800" dirty="0">
                          <a:effectLst/>
                        </a:rPr>
                        <a:t>, and other </a:t>
                      </a:r>
                      <a:r>
                        <a:rPr lang="en-US" sz="2800" b="1" dirty="0">
                          <a:effectLst/>
                        </a:rPr>
                        <a:t>small organizations</a:t>
                      </a:r>
                      <a:r>
                        <a:rPr lang="en-US" sz="2800" dirty="0">
                          <a:effectLst/>
                        </a:rPr>
                        <a:t>.</a:t>
                      </a: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FFFFFF"/>
                    </a:solidFill>
                  </a:tcPr>
                </a:tc>
                <a:extLst>
                  <a:ext uri="{0D108BD9-81ED-4DB2-BD59-A6C34878D82A}">
                    <a16:rowId xmlns:a16="http://schemas.microsoft.com/office/drawing/2014/main" val="3250915139"/>
                  </a:ext>
                </a:extLst>
              </a:tr>
              <a:tr h="2412825">
                <a:tc>
                  <a:txBody>
                    <a:bodyPr/>
                    <a:lstStyle/>
                    <a:p>
                      <a:pPr fontAlgn="t"/>
                      <a:r>
                        <a:rPr lang="en-US" sz="2800" b="1" dirty="0">
                          <a:effectLst/>
                        </a:rPr>
                        <a:t>Squarespac</a:t>
                      </a:r>
                      <a:r>
                        <a:rPr lang="en-US" sz="2800" dirty="0">
                          <a:effectLst/>
                        </a:rPr>
                        <a:t>e is often associated </a:t>
                      </a:r>
                      <a:r>
                        <a:rPr lang="en-US" sz="2800" b="1" dirty="0">
                          <a:effectLst/>
                        </a:rPr>
                        <a:t>with blogging tools </a:t>
                      </a:r>
                      <a:r>
                        <a:rPr lang="en-US" sz="2800" dirty="0">
                          <a:effectLst/>
                        </a:rPr>
                        <a:t>(as is Drupal), but it is more than that</a:t>
                      </a:r>
                      <a:r>
                        <a:rPr lang="en-US" sz="2800" b="1" dirty="0">
                          <a:effectLst/>
                        </a:rPr>
                        <a:t>. Squarespace works with photos, imports information from other social tools</a:t>
                      </a:r>
                      <a:r>
                        <a:rPr lang="en-US" sz="2800" dirty="0">
                          <a:effectLst/>
                        </a:rPr>
                        <a:t>, and allows very attractive Web sites to be created by average users.</a:t>
                      </a: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FFFFFF"/>
                    </a:solidFill>
                  </a:tcPr>
                </a:tc>
                <a:extLst>
                  <a:ext uri="{0D108BD9-81ED-4DB2-BD59-A6C34878D82A}">
                    <a16:rowId xmlns:a16="http://schemas.microsoft.com/office/drawing/2014/main" val="3762446470"/>
                  </a:ext>
                </a:extLst>
              </a:tr>
            </a:tbl>
          </a:graphicData>
        </a:graphic>
      </p:graphicFrame>
      <p:pic>
        <p:nvPicPr>
          <p:cNvPr id="2" name="Picture 1"/>
          <p:cNvPicPr>
            <a:picLocks noChangeAspect="1"/>
          </p:cNvPicPr>
          <p:nvPr/>
        </p:nvPicPr>
        <p:blipFill>
          <a:blip r:embed="rId3"/>
          <a:stretch>
            <a:fillRect/>
          </a:stretch>
        </p:blipFill>
        <p:spPr>
          <a:xfrm>
            <a:off x="5588667" y="3705727"/>
            <a:ext cx="5377683" cy="4016368"/>
          </a:xfrm>
          <a:prstGeom prst="rect">
            <a:avLst/>
          </a:prstGeom>
        </p:spPr>
      </p:pic>
    </p:spTree>
    <p:extLst>
      <p:ext uri="{BB962C8B-B14F-4D97-AF65-F5344CB8AC3E}">
        <p14:creationId xmlns:p14="http://schemas.microsoft.com/office/powerpoint/2010/main" val="3307836485"/>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Rectangle 3"/>
          <p:cNvSpPr/>
          <p:nvPr/>
        </p:nvSpPr>
        <p:spPr>
          <a:xfrm>
            <a:off x="3344778" y="469231"/>
            <a:ext cx="4247513" cy="461665"/>
          </a:xfrm>
          <a:prstGeom prst="rect">
            <a:avLst/>
          </a:prstGeom>
        </p:spPr>
        <p:txBody>
          <a:bodyPr wrap="square">
            <a:spAutoFit/>
          </a:bodyPr>
          <a:lstStyle/>
          <a:p>
            <a:pPr algn="ctr"/>
            <a:r>
              <a:rPr lang="en-US" sz="2400" b="1" dirty="0"/>
              <a:t>Exploring </a:t>
            </a:r>
            <a:r>
              <a:rPr lang="en-US" sz="2400" b="1" dirty="0" err="1"/>
              <a:t>Paas</a:t>
            </a:r>
            <a:r>
              <a:rPr lang="en-US" sz="2400" b="1" dirty="0"/>
              <a:t> </a:t>
            </a:r>
          </a:p>
        </p:txBody>
      </p:sp>
      <p:graphicFrame>
        <p:nvGraphicFramePr>
          <p:cNvPr id="3" name="Table 2"/>
          <p:cNvGraphicFramePr>
            <a:graphicFrameLocks noGrp="1"/>
          </p:cNvGraphicFramePr>
          <p:nvPr>
            <p:extLst>
              <p:ext uri="{D42A27DB-BD31-4B8C-83A1-F6EECF244321}">
                <p14:modId xmlns:p14="http://schemas.microsoft.com/office/powerpoint/2010/main" val="2958585665"/>
              </p:ext>
            </p:extLst>
          </p:nvPr>
        </p:nvGraphicFramePr>
        <p:xfrm>
          <a:off x="505327" y="1207622"/>
          <a:ext cx="10359190" cy="6782398"/>
        </p:xfrm>
        <a:graphic>
          <a:graphicData uri="http://schemas.openxmlformats.org/drawingml/2006/table">
            <a:tbl>
              <a:tblPr/>
              <a:tblGrid>
                <a:gridCol w="10359190">
                  <a:extLst>
                    <a:ext uri="{9D8B030D-6E8A-4147-A177-3AD203B41FA5}">
                      <a16:colId xmlns:a16="http://schemas.microsoft.com/office/drawing/2014/main" val="3723025685"/>
                    </a:ext>
                  </a:extLst>
                </a:gridCol>
              </a:tblGrid>
              <a:tr h="488968">
                <a:tc>
                  <a:txBody>
                    <a:bodyPr/>
                    <a:lstStyle/>
                    <a:p>
                      <a:pPr fontAlgn="t"/>
                      <a:r>
                        <a:rPr lang="en-US" sz="2800" dirty="0">
                          <a:effectLst/>
                        </a:rPr>
                        <a:t> the site  </a:t>
                      </a:r>
                      <a:r>
                        <a:rPr lang="en-US" sz="2800" b="1" dirty="0">
                          <a:effectLst/>
                        </a:rPr>
                        <a:t>Squarespace.com </a:t>
                      </a:r>
                      <a:r>
                        <a:rPr lang="en-US" sz="2800" dirty="0">
                          <a:effectLst/>
                        </a:rPr>
                        <a:t>was chosen to illustrate a point-and-click CMS system aimed at </a:t>
                      </a:r>
                      <a:r>
                        <a:rPr lang="en-US" sz="2800" b="1" dirty="0">
                          <a:effectLst/>
                        </a:rPr>
                        <a:t>supporting individuals, small businesses</a:t>
                      </a:r>
                      <a:r>
                        <a:rPr lang="en-US" sz="2800" dirty="0">
                          <a:effectLst/>
                        </a:rPr>
                        <a:t>, and other </a:t>
                      </a:r>
                      <a:r>
                        <a:rPr lang="en-US" sz="2800" b="1" dirty="0">
                          <a:effectLst/>
                        </a:rPr>
                        <a:t>small organizations</a:t>
                      </a:r>
                      <a:r>
                        <a:rPr lang="en-US" sz="2800" dirty="0">
                          <a:effectLst/>
                        </a:rPr>
                        <a:t>.</a:t>
                      </a: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ACC8CC"/>
                    </a:solidFill>
                  </a:tcPr>
                </a:tc>
                <a:extLst>
                  <a:ext uri="{0D108BD9-81ED-4DB2-BD59-A6C34878D82A}">
                    <a16:rowId xmlns:a16="http://schemas.microsoft.com/office/drawing/2014/main" val="1619436938"/>
                  </a:ext>
                </a:extLst>
              </a:tr>
              <a:tr h="1641605">
                <a:tc>
                  <a:txBody>
                    <a:bodyPr/>
                    <a:lstStyle/>
                    <a:p>
                      <a:pPr fontAlgn="t"/>
                      <a:r>
                        <a:rPr lang="en-US" sz="2800" b="1" dirty="0">
                          <a:effectLst/>
                        </a:rPr>
                        <a:t>Squarespac</a:t>
                      </a:r>
                      <a:r>
                        <a:rPr lang="en-US" sz="2800" dirty="0">
                          <a:effectLst/>
                        </a:rPr>
                        <a:t>e is often associated </a:t>
                      </a:r>
                      <a:r>
                        <a:rPr lang="en-US" sz="2800" b="1" dirty="0">
                          <a:effectLst/>
                        </a:rPr>
                        <a:t>with blogging tools </a:t>
                      </a:r>
                      <a:r>
                        <a:rPr lang="en-US" sz="2800" dirty="0">
                          <a:effectLst/>
                        </a:rPr>
                        <a:t>(as is Drupal), but it is more than that</a:t>
                      </a:r>
                      <a:r>
                        <a:rPr lang="en-US" sz="2800" b="1" dirty="0">
                          <a:effectLst/>
                        </a:rPr>
                        <a:t>. Squarespace works with photos, imports  information from other social tools</a:t>
                      </a:r>
                      <a:r>
                        <a:rPr lang="en-US" sz="2800" dirty="0">
                          <a:effectLst/>
                        </a:rPr>
                        <a:t>, and allows very attractive Web sites to be created by average users.</a:t>
                      </a: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FFFFFF"/>
                    </a:solidFill>
                  </a:tcPr>
                </a:tc>
                <a:extLst>
                  <a:ext uri="{0D108BD9-81ED-4DB2-BD59-A6C34878D82A}">
                    <a16:rowId xmlns:a16="http://schemas.microsoft.com/office/drawing/2014/main" val="2444898558"/>
                  </a:ext>
                </a:extLst>
              </a:tr>
              <a:tr h="3562666">
                <a:tc>
                  <a:txBody>
                    <a:bodyPr/>
                    <a:lstStyle/>
                    <a:p>
                      <a:pPr fontAlgn="t"/>
                      <a:r>
                        <a:rPr lang="en-US" sz="2800" dirty="0">
                          <a:effectLst/>
                        </a:rPr>
                        <a:t> the site  </a:t>
                      </a:r>
                      <a:r>
                        <a:rPr lang="en-US" sz="2800" b="1" dirty="0">
                          <a:effectLst/>
                        </a:rPr>
                        <a:t>Squarespace.com </a:t>
                      </a:r>
                      <a:r>
                        <a:rPr lang="en-US" sz="2800" dirty="0">
                          <a:effectLst/>
                        </a:rPr>
                        <a:t>was chosen to illustrate a point-and-click CMS system aimed at </a:t>
                      </a:r>
                      <a:r>
                        <a:rPr lang="en-US" sz="2800" b="1" dirty="0">
                          <a:effectLst/>
                        </a:rPr>
                        <a:t>supporting individuals, small businesses</a:t>
                      </a:r>
                      <a:r>
                        <a:rPr lang="en-US" sz="2800" dirty="0">
                          <a:effectLst/>
                        </a:rPr>
                        <a:t>, and other </a:t>
                      </a:r>
                      <a:r>
                        <a:rPr lang="en-US" sz="2800" b="1" dirty="0">
                          <a:effectLst/>
                        </a:rPr>
                        <a:t>small organizations</a:t>
                      </a:r>
                      <a:r>
                        <a:rPr lang="en-US" sz="2800" dirty="0">
                          <a:effectLst/>
                        </a:rPr>
                        <a:t>.</a:t>
                      </a:r>
                    </a:p>
                  </a:txBody>
                  <a:tcPr marL="58173" marR="58173" marT="58173" marB="58173">
                    <a:lnL w="9525" cap="flat" cmpd="sng" algn="ctr">
                      <a:solidFill>
                        <a:srgbClr val="729EA5"/>
                      </a:solidFill>
                      <a:prstDash val="solid"/>
                      <a:round/>
                      <a:headEnd type="none" w="med" len="med"/>
                      <a:tailEnd type="none" w="med" len="med"/>
                    </a:lnL>
                    <a:lnR w="9525" cap="flat" cmpd="sng" algn="ctr">
                      <a:solidFill>
                        <a:srgbClr val="729EA5"/>
                      </a:solidFill>
                      <a:prstDash val="solid"/>
                      <a:round/>
                      <a:headEnd type="none" w="med" len="med"/>
                      <a:tailEnd type="none" w="med" len="med"/>
                    </a:lnR>
                    <a:lnT w="9525" cap="flat" cmpd="sng" algn="ctr">
                      <a:solidFill>
                        <a:srgbClr val="729EA5"/>
                      </a:solidFill>
                      <a:prstDash val="solid"/>
                      <a:round/>
                      <a:headEnd type="none" w="med" len="med"/>
                      <a:tailEnd type="none" w="med" len="med"/>
                    </a:lnT>
                    <a:lnB w="9525" cap="flat" cmpd="sng" algn="ctr">
                      <a:solidFill>
                        <a:srgbClr val="729EA5"/>
                      </a:solidFill>
                      <a:prstDash val="solid"/>
                      <a:round/>
                      <a:headEnd type="none" w="med" len="med"/>
                      <a:tailEnd type="none" w="med" len="med"/>
                    </a:lnB>
                    <a:solidFill>
                      <a:srgbClr val="FFFFFF"/>
                    </a:solidFill>
                  </a:tcPr>
                </a:tc>
                <a:extLst>
                  <a:ext uri="{0D108BD9-81ED-4DB2-BD59-A6C34878D82A}">
                    <a16:rowId xmlns:a16="http://schemas.microsoft.com/office/drawing/2014/main" val="1250227547"/>
                  </a:ext>
                </a:extLst>
              </a:tr>
            </a:tbl>
          </a:graphicData>
        </a:graphic>
      </p:graphicFrame>
    </p:spTree>
    <p:extLst>
      <p:ext uri="{BB962C8B-B14F-4D97-AF65-F5344CB8AC3E}">
        <p14:creationId xmlns:p14="http://schemas.microsoft.com/office/powerpoint/2010/main" val="145447626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39F81-70FA-9B16-3281-41C0403E143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2C90F4-98E1-10C4-F548-7E4B746E1729}"/>
              </a:ext>
            </a:extLst>
          </p:cNvPr>
          <p:cNvSpPr>
            <a:spLocks noGrp="1"/>
          </p:cNvSpPr>
          <p:nvPr>
            <p:ph idx="1"/>
          </p:nvPr>
        </p:nvSpPr>
        <p:spPr>
          <a:xfrm>
            <a:off x="339436" y="920460"/>
            <a:ext cx="11547764" cy="5323321"/>
          </a:xfrm>
        </p:spPr>
        <p:txBody>
          <a:bodyPr>
            <a:normAutofit/>
          </a:bodyPr>
          <a:lstStyle/>
          <a:p>
            <a:pPr marL="0" indent="0">
              <a:buNone/>
            </a:pPr>
            <a:r>
              <a:rPr lang="en-US" sz="2000" dirty="0"/>
              <a:t>Mini Project sample titles:</a:t>
            </a:r>
          </a:p>
          <a:p>
            <a:pPr marL="0" indent="0">
              <a:buNone/>
            </a:pPr>
            <a:endParaRPr lang="en-US" sz="2000" dirty="0"/>
          </a:p>
          <a:p>
            <a:pPr marL="0" indent="0">
              <a:buNone/>
            </a:pPr>
            <a:r>
              <a:rPr lang="en-US" sz="2000" b="1" dirty="0"/>
              <a:t>2. </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Build a scalable big data analytics pipeline using AWS EMR (Elastic Map Reduce)</a:t>
            </a:r>
          </a:p>
          <a:p>
            <a:pPr marL="0" indent="0">
              <a:buNone/>
            </a:pPr>
            <a:endParaRPr lang="en-US" sz="2000" b="1" dirty="0"/>
          </a:p>
          <a:p>
            <a:pPr>
              <a:buFont typeface="Wingdings" panose="05000000000000000000" pitchFamily="2" charset="2"/>
              <a:buChar char="Ø"/>
            </a:pPr>
            <a:r>
              <a:rPr lang="en-US" sz="2000" dirty="0"/>
              <a:t>Problem Statement</a:t>
            </a:r>
          </a:p>
          <a:p>
            <a:pPr>
              <a:buFont typeface="Wingdings" panose="05000000000000000000" pitchFamily="2" charset="2"/>
              <a:buChar char="Ø"/>
            </a:pPr>
            <a:r>
              <a:rPr lang="en-US" sz="2000" dirty="0"/>
              <a:t>Aim:</a:t>
            </a:r>
          </a:p>
          <a:p>
            <a:r>
              <a:rPr lang="en-US" sz="2000" dirty="0"/>
              <a:t> The aim of this project is to develop</a:t>
            </a:r>
          </a:p>
        </p:txBody>
      </p:sp>
    </p:spTree>
    <p:extLst>
      <p:ext uri="{BB962C8B-B14F-4D97-AF65-F5344CB8AC3E}">
        <p14:creationId xmlns:p14="http://schemas.microsoft.com/office/powerpoint/2010/main" val="1991226346"/>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0279" y="53732"/>
            <a:ext cx="11538284" cy="1200329"/>
          </a:xfrm>
          <a:prstGeom prst="rect">
            <a:avLst/>
          </a:prstGeom>
        </p:spPr>
        <p:txBody>
          <a:bodyPr wrap="square">
            <a:spAutoFit/>
          </a:bodyPr>
          <a:lstStyle/>
          <a:p>
            <a:pPr algn="ctr"/>
            <a:r>
              <a:rPr lang="en-US" sz="2400" b="1" dirty="0"/>
              <a:t>A Review on Amazon Web Service (AWS), Microsoft Azure</a:t>
            </a:r>
          </a:p>
          <a:p>
            <a:pPr algn="ctr"/>
            <a:r>
              <a:rPr lang="en-US" sz="2400" b="1" dirty="0"/>
              <a:t>&amp;</a:t>
            </a:r>
          </a:p>
          <a:p>
            <a:pPr algn="ctr"/>
            <a:r>
              <a:rPr lang="en-US" sz="2400" b="1" dirty="0"/>
              <a:t>Google Cloud Platform (GCP) Services</a:t>
            </a:r>
          </a:p>
        </p:txBody>
      </p:sp>
      <p:sp>
        <p:nvSpPr>
          <p:cNvPr id="5" name="Rectangle 4"/>
          <p:cNvSpPr/>
          <p:nvPr/>
        </p:nvSpPr>
        <p:spPr>
          <a:xfrm>
            <a:off x="585583" y="1254061"/>
            <a:ext cx="10916605" cy="3908762"/>
          </a:xfrm>
          <a:prstGeom prst="rect">
            <a:avLst/>
          </a:prstGeom>
        </p:spPr>
        <p:txBody>
          <a:bodyPr wrap="square">
            <a:spAutoFit/>
          </a:bodyPr>
          <a:lstStyle/>
          <a:p>
            <a:pPr algn="just"/>
            <a:endParaRPr lang="en-US" sz="3200" dirty="0">
              <a:solidFill>
                <a:srgbClr val="000000"/>
              </a:solidFill>
              <a:latin typeface="Times New Roman" panose="02020603050405020304" pitchFamily="18" charset="0"/>
            </a:endParaRPr>
          </a:p>
          <a:p>
            <a:pPr marL="285750" indent="-285750" algn="just">
              <a:lnSpc>
                <a:spcPct val="150000"/>
              </a:lnSpc>
              <a:buFont typeface="Arial" panose="020B0604020202020204" pitchFamily="34" charset="0"/>
              <a:buChar char="•"/>
            </a:pPr>
            <a:r>
              <a:rPr lang="en-US" dirty="0">
                <a:solidFill>
                  <a:srgbClr val="000000"/>
                </a:solidFill>
                <a:latin typeface="Times New Roman" panose="02020603050405020304" pitchFamily="18" charset="0"/>
              </a:rPr>
              <a:t>Due to this </a:t>
            </a:r>
            <a:r>
              <a:rPr lang="en-US" b="1" dirty="0">
                <a:solidFill>
                  <a:srgbClr val="000000"/>
                </a:solidFill>
                <a:latin typeface="Times New Roman" panose="02020603050405020304" pitchFamily="18" charset="0"/>
              </a:rPr>
              <a:t>advanced technology many services and resources became available </a:t>
            </a:r>
            <a:r>
              <a:rPr lang="en-US" dirty="0">
                <a:solidFill>
                  <a:srgbClr val="000000"/>
                </a:solidFill>
                <a:latin typeface="Times New Roman" panose="02020603050405020304" pitchFamily="18" charset="0"/>
              </a:rPr>
              <a:t>for end users</a:t>
            </a:r>
            <a:r>
              <a:rPr lang="en-US" b="1" dirty="0">
                <a:solidFill>
                  <a:srgbClr val="000000"/>
                </a:solidFill>
                <a:latin typeface="Times New Roman" panose="02020603050405020304" pitchFamily="18" charset="0"/>
              </a:rPr>
              <a:t>, </a:t>
            </a:r>
          </a:p>
          <a:p>
            <a:pPr marL="285750" indent="-285750" algn="just">
              <a:lnSpc>
                <a:spcPct val="150000"/>
              </a:lnSpc>
              <a:buFont typeface="Arial" panose="020B0604020202020204" pitchFamily="34" charset="0"/>
              <a:buChar char="•"/>
            </a:pPr>
            <a:r>
              <a:rPr lang="en-US" dirty="0">
                <a:solidFill>
                  <a:srgbClr val="000000"/>
                </a:solidFill>
                <a:latin typeface="Times New Roman" panose="02020603050405020304" pitchFamily="18" charset="0"/>
              </a:rPr>
              <a:t>On the other hand in terms of numbers cloud service provider companies has also shown a rapid growth hence creating competition in the market </a:t>
            </a:r>
          </a:p>
          <a:p>
            <a:pPr marL="285750" indent="-285750" algn="just">
              <a:lnSpc>
                <a:spcPct val="150000"/>
              </a:lnSpc>
              <a:buFont typeface="Arial" panose="020B0604020202020204" pitchFamily="34" charset="0"/>
              <a:buChar char="•"/>
            </a:pPr>
            <a:r>
              <a:rPr lang="en-US" dirty="0">
                <a:solidFill>
                  <a:srgbClr val="000000"/>
                </a:solidFill>
                <a:latin typeface="Times New Roman" panose="02020603050405020304" pitchFamily="18" charset="0"/>
              </a:rPr>
              <a:t>It traces a brief history of cloud computing, its usage in the industry, major providers and pricing models used by them</a:t>
            </a:r>
          </a:p>
          <a:p>
            <a:pPr marL="285750" indent="-285750" algn="just">
              <a:lnSpc>
                <a:spcPct val="150000"/>
              </a:lnSpc>
              <a:buFont typeface="Arial" panose="020B0604020202020204" pitchFamily="34" charset="0"/>
              <a:buChar char="•"/>
            </a:pPr>
            <a:r>
              <a:rPr lang="en-US" dirty="0">
                <a:solidFill>
                  <a:srgbClr val="000000"/>
                </a:solidFill>
                <a:latin typeface="Times New Roman" panose="02020603050405020304" pitchFamily="18" charset="0"/>
              </a:rPr>
              <a:t>The </a:t>
            </a:r>
            <a:r>
              <a:rPr lang="en-US" b="1" dirty="0">
                <a:solidFill>
                  <a:srgbClr val="000000"/>
                </a:solidFill>
                <a:latin typeface="Times New Roman" panose="02020603050405020304" pitchFamily="18" charset="0"/>
              </a:rPr>
              <a:t>objective of cloud service providers </a:t>
            </a:r>
            <a:r>
              <a:rPr lang="en-US" dirty="0">
                <a:solidFill>
                  <a:srgbClr val="000000"/>
                </a:solidFill>
                <a:latin typeface="Times New Roman" panose="02020603050405020304" pitchFamily="18" charset="0"/>
              </a:rPr>
              <a:t>is to </a:t>
            </a:r>
            <a:r>
              <a:rPr lang="en-US" b="1" dirty="0">
                <a:solidFill>
                  <a:srgbClr val="000000"/>
                </a:solidFill>
                <a:latin typeface="Times New Roman" panose="02020603050405020304" pitchFamily="18" charset="0"/>
              </a:rPr>
              <a:t>increase profit along with fulfilling objectives of </a:t>
            </a:r>
            <a:r>
              <a:rPr lang="en-US" dirty="0">
                <a:solidFill>
                  <a:srgbClr val="000000"/>
                </a:solidFill>
                <a:latin typeface="Times New Roman" panose="02020603050405020304" pitchFamily="18" charset="0"/>
              </a:rPr>
              <a:t>organization and </a:t>
            </a:r>
            <a:r>
              <a:rPr lang="en-US" b="1" dirty="0">
                <a:solidFill>
                  <a:srgbClr val="000000"/>
                </a:solidFill>
                <a:latin typeface="Times New Roman" panose="02020603050405020304" pitchFamily="18" charset="0"/>
              </a:rPr>
              <a:t>customers' needs</a:t>
            </a:r>
          </a:p>
          <a:p>
            <a:pPr marL="285750" indent="-285750" algn="just">
              <a:lnSpc>
                <a:spcPct val="150000"/>
              </a:lnSpc>
              <a:buFont typeface="Arial" panose="020B0604020202020204" pitchFamily="34" charset="0"/>
              <a:buChar char="•"/>
            </a:pPr>
            <a:r>
              <a:rPr lang="en-US" dirty="0"/>
              <a:t>Cloud service providers from types of service like Infrastructure, software, security storage and testing</a:t>
            </a:r>
            <a:endParaRPr lang="en-US"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1733177075"/>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0279" y="53732"/>
            <a:ext cx="11538284" cy="1200329"/>
          </a:xfrm>
          <a:prstGeom prst="rect">
            <a:avLst/>
          </a:prstGeom>
        </p:spPr>
        <p:txBody>
          <a:bodyPr wrap="square">
            <a:spAutoFit/>
          </a:bodyPr>
          <a:lstStyle/>
          <a:p>
            <a:pPr algn="ctr"/>
            <a:r>
              <a:rPr lang="en-US" sz="2400" b="1" dirty="0"/>
              <a:t>A Review on Amazon Web Service (AWS), Microsoft Azure</a:t>
            </a:r>
          </a:p>
          <a:p>
            <a:pPr algn="ctr"/>
            <a:r>
              <a:rPr lang="en-US" sz="2400" b="1" dirty="0"/>
              <a:t>&amp;</a:t>
            </a:r>
          </a:p>
          <a:p>
            <a:pPr algn="ctr"/>
            <a:r>
              <a:rPr lang="en-US" sz="2400" b="1" dirty="0"/>
              <a:t>Google Cloud Platform (GCP) Services</a:t>
            </a:r>
          </a:p>
        </p:txBody>
      </p:sp>
      <p:sp>
        <p:nvSpPr>
          <p:cNvPr id="5" name="Rectangle 4"/>
          <p:cNvSpPr/>
          <p:nvPr/>
        </p:nvSpPr>
        <p:spPr>
          <a:xfrm>
            <a:off x="585583" y="1254061"/>
            <a:ext cx="10916605" cy="2246769"/>
          </a:xfrm>
          <a:prstGeom prst="rect">
            <a:avLst/>
          </a:prstGeom>
        </p:spPr>
        <p:txBody>
          <a:bodyPr wrap="square">
            <a:spAutoFit/>
          </a:bodyPr>
          <a:lstStyle/>
          <a:p>
            <a:pPr algn="just"/>
            <a:endParaRPr lang="en-US" sz="3200" dirty="0">
              <a:solidFill>
                <a:srgbClr val="000000"/>
              </a:solidFill>
              <a:latin typeface="Times New Roman" panose="02020603050405020304" pitchFamily="18" charset="0"/>
            </a:endParaRPr>
          </a:p>
          <a:p>
            <a:pPr marL="285750" indent="-285750" algn="just">
              <a:lnSpc>
                <a:spcPct val="150000"/>
              </a:lnSpc>
              <a:buFont typeface="Arial" panose="020B0604020202020204" pitchFamily="34" charset="0"/>
              <a:buChar char="•"/>
            </a:pPr>
            <a:r>
              <a:rPr lang="en-US" dirty="0">
                <a:solidFill>
                  <a:srgbClr val="000000"/>
                </a:solidFill>
                <a:latin typeface="Times New Roman" panose="02020603050405020304" pitchFamily="18" charset="0"/>
              </a:rPr>
              <a:t>The benefits of cloud have direct impact on services providers and customers. </a:t>
            </a:r>
          </a:p>
          <a:p>
            <a:pPr marL="285750" indent="-285750" algn="just">
              <a:lnSpc>
                <a:spcPct val="150000"/>
              </a:lnSpc>
              <a:buFont typeface="Arial" panose="020B0604020202020204" pitchFamily="34" charset="0"/>
              <a:buChar char="•"/>
            </a:pPr>
            <a:r>
              <a:rPr lang="en-US" dirty="0">
                <a:solidFill>
                  <a:srgbClr val="000000"/>
                </a:solidFill>
                <a:latin typeface="Times New Roman" panose="02020603050405020304" pitchFamily="18" charset="0"/>
              </a:rPr>
              <a:t>The companies like Microsoft, Google, Amazon, </a:t>
            </a:r>
            <a:r>
              <a:rPr lang="en-US" dirty="0" err="1">
                <a:solidFill>
                  <a:srgbClr val="000000"/>
                </a:solidFill>
                <a:latin typeface="Times New Roman" panose="02020603050405020304" pitchFamily="18" charset="0"/>
              </a:rPr>
              <a:t>Verzion</a:t>
            </a:r>
            <a:r>
              <a:rPr lang="en-US" dirty="0">
                <a:solidFill>
                  <a:srgbClr val="000000"/>
                </a:solidFill>
                <a:latin typeface="Times New Roman" panose="02020603050405020304" pitchFamily="18" charset="0"/>
              </a:rPr>
              <a:t>, </a:t>
            </a:r>
            <a:r>
              <a:rPr lang="en-US" dirty="0" err="1">
                <a:solidFill>
                  <a:srgbClr val="000000"/>
                </a:solidFill>
                <a:latin typeface="Times New Roman" panose="02020603050405020304" pitchFamily="18" charset="0"/>
              </a:rPr>
              <a:t>Rockspace</a:t>
            </a:r>
            <a:r>
              <a:rPr lang="en-US" dirty="0">
                <a:solidFill>
                  <a:srgbClr val="000000"/>
                </a:solidFill>
                <a:latin typeface="Times New Roman" panose="02020603050405020304" pitchFamily="18" charset="0"/>
              </a:rPr>
              <a:t> has regularly change pricing scheme to provide more customer friendly service</a:t>
            </a:r>
          </a:p>
          <a:p>
            <a:pPr marL="285750" indent="-285750" algn="just">
              <a:lnSpc>
                <a:spcPct val="150000"/>
              </a:lnSpc>
              <a:buFont typeface="Arial" panose="020B0604020202020204" pitchFamily="34" charset="0"/>
              <a:buChar char="•"/>
            </a:pPr>
            <a:r>
              <a:rPr lang="en-US" dirty="0"/>
              <a:t>3 popular Cloud Service Providers Amazon Web Service (AWS) | Microsoft Azure | Google Cloud Platform (GCP) </a:t>
            </a:r>
            <a:endParaRPr lang="en-US"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2474218939"/>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0279" y="53732"/>
            <a:ext cx="11538284" cy="1200329"/>
          </a:xfrm>
          <a:prstGeom prst="rect">
            <a:avLst/>
          </a:prstGeom>
        </p:spPr>
        <p:txBody>
          <a:bodyPr wrap="square">
            <a:spAutoFit/>
          </a:bodyPr>
          <a:lstStyle/>
          <a:p>
            <a:pPr algn="ctr"/>
            <a:r>
              <a:rPr lang="en-US" sz="2400" b="1" dirty="0"/>
              <a:t>A Review on Amazon Web Service (AWS), Microsoft Azure</a:t>
            </a:r>
          </a:p>
          <a:p>
            <a:pPr algn="ctr"/>
            <a:r>
              <a:rPr lang="en-US" sz="2400" b="1" dirty="0"/>
              <a:t>&amp;</a:t>
            </a:r>
          </a:p>
          <a:p>
            <a:pPr algn="ctr"/>
            <a:r>
              <a:rPr lang="en-US" sz="2400" b="1" dirty="0"/>
              <a:t>Google Cloud Platform (GCP) Services</a:t>
            </a:r>
          </a:p>
        </p:txBody>
      </p:sp>
      <p:sp>
        <p:nvSpPr>
          <p:cNvPr id="5" name="Rectangle 4"/>
          <p:cNvSpPr/>
          <p:nvPr/>
        </p:nvSpPr>
        <p:spPr>
          <a:xfrm>
            <a:off x="585583" y="1254061"/>
            <a:ext cx="10916605" cy="3908762"/>
          </a:xfrm>
          <a:prstGeom prst="rect">
            <a:avLst/>
          </a:prstGeom>
        </p:spPr>
        <p:txBody>
          <a:bodyPr wrap="square">
            <a:spAutoFit/>
          </a:bodyPr>
          <a:lstStyle/>
          <a:p>
            <a:pPr algn="just"/>
            <a:endParaRPr lang="en-US" sz="3200" dirty="0">
              <a:solidFill>
                <a:srgbClr val="000000"/>
              </a:solidFill>
              <a:latin typeface="Times New Roman" panose="02020603050405020304" pitchFamily="18" charset="0"/>
            </a:endParaRPr>
          </a:p>
          <a:p>
            <a:pPr marL="285750" indent="-285750" algn="just">
              <a:lnSpc>
                <a:spcPct val="150000"/>
              </a:lnSpc>
              <a:buFont typeface="Arial" panose="020B0604020202020204" pitchFamily="34" charset="0"/>
              <a:buChar char="•"/>
            </a:pPr>
            <a:r>
              <a:rPr lang="en-US" dirty="0"/>
              <a:t>3 popular Cloud Service Providers Amazon Web Service (AWS) | Microsoft Azure | Google Cloud Platform (GCP)</a:t>
            </a:r>
          </a:p>
          <a:p>
            <a:pPr marL="285750" indent="-285750" algn="just">
              <a:lnSpc>
                <a:spcPct val="150000"/>
              </a:lnSpc>
              <a:buFont typeface="Arial" panose="020B0604020202020204" pitchFamily="34" charset="0"/>
              <a:buChar char="•"/>
            </a:pPr>
            <a:r>
              <a:rPr lang="en-US" dirty="0"/>
              <a:t>Amazon web Services (AWS) is one of the oldest players in the market it was started in </a:t>
            </a:r>
            <a:r>
              <a:rPr lang="en-US" b="1" dirty="0"/>
              <a:t>2006</a:t>
            </a:r>
            <a:r>
              <a:rPr lang="en-US" dirty="0"/>
              <a:t>.</a:t>
            </a:r>
          </a:p>
          <a:p>
            <a:pPr marL="285750" indent="-285750" algn="just">
              <a:lnSpc>
                <a:spcPct val="150000"/>
              </a:lnSpc>
              <a:buFont typeface="Arial" panose="020B0604020202020204" pitchFamily="34" charset="0"/>
              <a:buChar char="•"/>
            </a:pPr>
            <a:r>
              <a:rPr lang="en-US" dirty="0"/>
              <a:t>As </a:t>
            </a:r>
            <a:r>
              <a:rPr lang="en-US" b="1" dirty="0"/>
              <a:t>AWS is one of the oldest cloud platforms </a:t>
            </a:r>
            <a:r>
              <a:rPr lang="en-US" dirty="0"/>
              <a:t>in the market and is one of the famous cloud platforms available. So AWS is widely available. Amazon web Services (AWS) has </a:t>
            </a:r>
            <a:r>
              <a:rPr lang="en-US" b="1" dirty="0"/>
              <a:t>63 availability zones worldwide</a:t>
            </a:r>
          </a:p>
          <a:p>
            <a:pPr marL="285750" indent="-285750" algn="just">
              <a:lnSpc>
                <a:spcPct val="150000"/>
              </a:lnSpc>
              <a:buFont typeface="Arial" panose="020B0604020202020204" pitchFamily="34" charset="0"/>
              <a:buChar char="•"/>
            </a:pPr>
            <a:r>
              <a:rPr lang="en-US" dirty="0"/>
              <a:t>Google cloud platform </a:t>
            </a:r>
            <a:r>
              <a:rPr lang="en-US" b="1" dirty="0"/>
              <a:t>(GCP) launched in in 2011 </a:t>
            </a:r>
            <a:r>
              <a:rPr lang="en-US" dirty="0"/>
              <a:t>by Google to provide cloud computing services to its customers. Services provided by GCP includes storage, big data ,databases, analytics, cloud AI, Network, mobile computing, development tools, management tools, Internet of things, cloud security and data transfer. Google cloud platform (GCP) has </a:t>
            </a:r>
            <a:r>
              <a:rPr lang="en-US" b="1" dirty="0"/>
              <a:t>21 availability zones worldwide</a:t>
            </a:r>
            <a:endParaRPr lang="en-US"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58965200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0279" y="53732"/>
            <a:ext cx="11538284" cy="1200329"/>
          </a:xfrm>
          <a:prstGeom prst="rect">
            <a:avLst/>
          </a:prstGeom>
        </p:spPr>
        <p:txBody>
          <a:bodyPr wrap="square">
            <a:spAutoFit/>
          </a:bodyPr>
          <a:lstStyle/>
          <a:p>
            <a:pPr algn="ctr"/>
            <a:r>
              <a:rPr lang="en-US" sz="2400" b="1" dirty="0"/>
              <a:t>A Review on Amazon Web Service (AWS), Microsoft Azure</a:t>
            </a:r>
          </a:p>
          <a:p>
            <a:pPr algn="ctr"/>
            <a:r>
              <a:rPr lang="en-US" sz="2400" b="1" dirty="0"/>
              <a:t>&amp;</a:t>
            </a:r>
          </a:p>
          <a:p>
            <a:pPr algn="ctr"/>
            <a:r>
              <a:rPr lang="en-US" sz="2400" b="1" dirty="0"/>
              <a:t>Google Cloud Platform (GCP) Services</a:t>
            </a:r>
          </a:p>
        </p:txBody>
      </p:sp>
      <p:sp>
        <p:nvSpPr>
          <p:cNvPr id="5" name="Rectangle 4"/>
          <p:cNvSpPr/>
          <p:nvPr/>
        </p:nvSpPr>
        <p:spPr>
          <a:xfrm>
            <a:off x="585583" y="1254061"/>
            <a:ext cx="10916605" cy="1831271"/>
          </a:xfrm>
          <a:prstGeom prst="rect">
            <a:avLst/>
          </a:prstGeom>
        </p:spPr>
        <p:txBody>
          <a:bodyPr wrap="square">
            <a:spAutoFit/>
          </a:bodyPr>
          <a:lstStyle/>
          <a:p>
            <a:pPr algn="just"/>
            <a:endParaRPr lang="en-US" sz="3200" dirty="0">
              <a:solidFill>
                <a:srgbClr val="000000"/>
              </a:solidFill>
              <a:latin typeface="Times New Roman" panose="02020603050405020304" pitchFamily="18" charset="0"/>
            </a:endParaRPr>
          </a:p>
          <a:p>
            <a:pPr marL="285750" indent="-285750" algn="just">
              <a:lnSpc>
                <a:spcPct val="150000"/>
              </a:lnSpc>
              <a:buFont typeface="Arial" panose="020B0604020202020204" pitchFamily="34" charset="0"/>
              <a:buChar char="•"/>
            </a:pPr>
            <a:r>
              <a:rPr lang="en-US" dirty="0">
                <a:solidFill>
                  <a:srgbClr val="000000"/>
                </a:solidFill>
                <a:latin typeface="Times New Roman" panose="02020603050405020304" pitchFamily="18" charset="0"/>
              </a:rPr>
              <a:t>The graph in figure 6 represents the growth among three cloud service platforms in last 5 years (2015 to 2019)</a:t>
            </a:r>
          </a:p>
          <a:p>
            <a:pPr marL="285750" indent="-285750" algn="just">
              <a:lnSpc>
                <a:spcPct val="150000"/>
              </a:lnSpc>
              <a:buFont typeface="Arial" panose="020B0604020202020204" pitchFamily="34" charset="0"/>
              <a:buChar char="•"/>
            </a:pPr>
            <a:r>
              <a:rPr lang="en-US" dirty="0"/>
              <a:t>It is clearly visible that in last 5 years the popularity of Amazon Web Services (AWS) has surpassed Microsoft Azure and Google cloud platform (GCP) worldwide</a:t>
            </a:r>
            <a:r>
              <a:rPr lang="en-US" dirty="0">
                <a:solidFill>
                  <a:srgbClr val="000000"/>
                </a:solidFill>
                <a:latin typeface="Times New Roman" panose="02020603050405020304" pitchFamily="18" charset="0"/>
              </a:rPr>
              <a:t> </a:t>
            </a:r>
          </a:p>
        </p:txBody>
      </p:sp>
      <p:pic>
        <p:nvPicPr>
          <p:cNvPr id="2" name="Picture 1"/>
          <p:cNvPicPr>
            <a:picLocks noChangeAspect="1"/>
          </p:cNvPicPr>
          <p:nvPr/>
        </p:nvPicPr>
        <p:blipFill>
          <a:blip r:embed="rId3"/>
          <a:stretch>
            <a:fillRect/>
          </a:stretch>
        </p:blipFill>
        <p:spPr>
          <a:xfrm>
            <a:off x="2932821" y="3500715"/>
            <a:ext cx="7198842" cy="3032906"/>
          </a:xfrm>
          <a:prstGeom prst="rect">
            <a:avLst/>
          </a:prstGeom>
        </p:spPr>
      </p:pic>
    </p:spTree>
    <p:extLst>
      <p:ext uri="{BB962C8B-B14F-4D97-AF65-F5344CB8AC3E}">
        <p14:creationId xmlns:p14="http://schemas.microsoft.com/office/powerpoint/2010/main" val="312780947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0279" y="53732"/>
            <a:ext cx="11538284" cy="1200329"/>
          </a:xfrm>
          <a:prstGeom prst="rect">
            <a:avLst/>
          </a:prstGeom>
        </p:spPr>
        <p:txBody>
          <a:bodyPr wrap="square">
            <a:spAutoFit/>
          </a:bodyPr>
          <a:lstStyle/>
          <a:p>
            <a:pPr algn="ctr"/>
            <a:r>
              <a:rPr lang="en-US" sz="2400" b="1" dirty="0"/>
              <a:t>A Review on Amazon Web Service (AWS), Microsoft Azure</a:t>
            </a:r>
          </a:p>
          <a:p>
            <a:pPr algn="ctr"/>
            <a:r>
              <a:rPr lang="en-US" sz="2400" b="1" dirty="0"/>
              <a:t>&amp;</a:t>
            </a:r>
          </a:p>
          <a:p>
            <a:pPr algn="ctr"/>
            <a:r>
              <a:rPr lang="en-US" sz="2400" b="1" dirty="0"/>
              <a:t>Google Cloud Platform (GCP) Services</a:t>
            </a:r>
          </a:p>
        </p:txBody>
      </p:sp>
      <p:sp>
        <p:nvSpPr>
          <p:cNvPr id="2" name="Rectangle 1"/>
          <p:cNvSpPr/>
          <p:nvPr/>
        </p:nvSpPr>
        <p:spPr>
          <a:xfrm>
            <a:off x="842211" y="2071120"/>
            <a:ext cx="9760715" cy="1477328"/>
          </a:xfrm>
          <a:prstGeom prst="rect">
            <a:avLst/>
          </a:prstGeom>
        </p:spPr>
        <p:txBody>
          <a:bodyPr wrap="square">
            <a:spAutoFit/>
          </a:bodyPr>
          <a:lstStyle/>
          <a:p>
            <a:r>
              <a:rPr lang="en-US" b="1" dirty="0">
                <a:solidFill>
                  <a:srgbClr val="000000"/>
                </a:solidFill>
                <a:latin typeface="Arial" panose="020B0604020202020204" pitchFamily="34" charset="0"/>
              </a:rPr>
              <a:t>Cloud Service </a:t>
            </a:r>
            <a:endParaRPr lang="en-US" dirty="0">
              <a:solidFill>
                <a:srgbClr val="000000"/>
              </a:solidFill>
              <a:latin typeface="Arial" panose="020B0604020202020204" pitchFamily="34" charset="0"/>
            </a:endParaRPr>
          </a:p>
          <a:p>
            <a:r>
              <a:rPr lang="en-US" b="1" dirty="0">
                <a:solidFill>
                  <a:srgbClr val="000000"/>
                </a:solidFill>
                <a:latin typeface="Arial" panose="020B0604020202020204" pitchFamily="34" charset="0"/>
              </a:rPr>
              <a:t>Providers </a:t>
            </a:r>
            <a:r>
              <a:rPr lang="en-US" dirty="0">
                <a:solidFill>
                  <a:srgbClr val="000000"/>
                </a:solidFill>
                <a:latin typeface="Arial" panose="020B0604020202020204" pitchFamily="34" charset="0"/>
              </a:rPr>
              <a:t>		</a:t>
            </a:r>
            <a:r>
              <a:rPr lang="en-US" b="1" dirty="0">
                <a:solidFill>
                  <a:srgbClr val="000000"/>
                </a:solidFill>
                <a:latin typeface="Arial" panose="020B0604020202020204" pitchFamily="34" charset="0"/>
              </a:rPr>
              <a:t>Benefits </a:t>
            </a:r>
            <a:r>
              <a:rPr lang="en-US" dirty="0">
                <a:solidFill>
                  <a:srgbClr val="000000"/>
                </a:solidFill>
                <a:latin typeface="Arial" panose="020B0604020202020204" pitchFamily="34" charset="0"/>
              </a:rPr>
              <a:t>	</a:t>
            </a:r>
            <a:r>
              <a:rPr lang="en-US" b="1" dirty="0">
                <a:solidFill>
                  <a:srgbClr val="000000"/>
                </a:solidFill>
                <a:latin typeface="Arial" panose="020B0604020202020204" pitchFamily="34" charset="0"/>
              </a:rPr>
              <a:t>Limitations</a:t>
            </a:r>
          </a:p>
          <a:p>
            <a:r>
              <a:rPr lang="en-US" b="1" dirty="0">
                <a:solidFill>
                  <a:srgbClr val="000000"/>
                </a:solidFill>
                <a:latin typeface="Arial" panose="020B0604020202020204" pitchFamily="34" charset="0"/>
              </a:rPr>
              <a:t> </a:t>
            </a:r>
            <a:r>
              <a:rPr lang="en-US" dirty="0">
                <a:solidFill>
                  <a:srgbClr val="000000"/>
                </a:solidFill>
                <a:latin typeface="Arial" panose="020B0604020202020204" pitchFamily="34" charset="0"/>
              </a:rPr>
              <a:t>	</a:t>
            </a:r>
          </a:p>
          <a:p>
            <a:endParaRPr lang="en-US" dirty="0"/>
          </a:p>
          <a:p>
            <a:endParaRPr lang="en-US" dirty="0">
              <a:solidFill>
                <a:srgbClr val="000000"/>
              </a:solidFill>
              <a:latin typeface="Arial" panose="020B0604020202020204" pitchFamily="34"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8923" y="2956008"/>
            <a:ext cx="5972175" cy="2028825"/>
          </a:xfrm>
          <a:prstGeom prst="rect">
            <a:avLst/>
          </a:prstGeom>
        </p:spPr>
      </p:pic>
    </p:spTree>
    <p:extLst>
      <p:ext uri="{BB962C8B-B14F-4D97-AF65-F5344CB8AC3E}">
        <p14:creationId xmlns:p14="http://schemas.microsoft.com/office/powerpoint/2010/main" val="142086869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0279" y="53732"/>
            <a:ext cx="11538284" cy="1200329"/>
          </a:xfrm>
          <a:prstGeom prst="rect">
            <a:avLst/>
          </a:prstGeom>
        </p:spPr>
        <p:txBody>
          <a:bodyPr wrap="square">
            <a:spAutoFit/>
          </a:bodyPr>
          <a:lstStyle/>
          <a:p>
            <a:pPr algn="ctr"/>
            <a:r>
              <a:rPr lang="en-US" sz="2400" b="1" dirty="0"/>
              <a:t>A Review on Amazon Web Service (AWS), Microsoft Azure</a:t>
            </a:r>
          </a:p>
          <a:p>
            <a:pPr algn="ctr"/>
            <a:r>
              <a:rPr lang="en-US" sz="2400" b="1" dirty="0"/>
              <a:t>&amp;</a:t>
            </a:r>
          </a:p>
          <a:p>
            <a:pPr algn="ctr"/>
            <a:r>
              <a:rPr lang="en-US" sz="2400" b="1" dirty="0"/>
              <a:t>Google Cloud Platform (GCP) Services</a:t>
            </a:r>
          </a:p>
        </p:txBody>
      </p:sp>
      <p:sp>
        <p:nvSpPr>
          <p:cNvPr id="2" name="Rectangle 1"/>
          <p:cNvSpPr/>
          <p:nvPr/>
        </p:nvSpPr>
        <p:spPr>
          <a:xfrm>
            <a:off x="842211" y="2071120"/>
            <a:ext cx="9760715" cy="1477328"/>
          </a:xfrm>
          <a:prstGeom prst="rect">
            <a:avLst/>
          </a:prstGeom>
        </p:spPr>
        <p:txBody>
          <a:bodyPr wrap="square">
            <a:spAutoFit/>
          </a:bodyPr>
          <a:lstStyle/>
          <a:p>
            <a:r>
              <a:rPr lang="en-US" b="1" dirty="0">
                <a:solidFill>
                  <a:srgbClr val="000000"/>
                </a:solidFill>
                <a:latin typeface="Arial" panose="020B0604020202020204" pitchFamily="34" charset="0"/>
              </a:rPr>
              <a:t>Cloud Service </a:t>
            </a:r>
            <a:endParaRPr lang="en-US" dirty="0">
              <a:solidFill>
                <a:srgbClr val="000000"/>
              </a:solidFill>
              <a:latin typeface="Arial" panose="020B0604020202020204" pitchFamily="34" charset="0"/>
            </a:endParaRPr>
          </a:p>
          <a:p>
            <a:r>
              <a:rPr lang="en-US" b="1" dirty="0">
                <a:solidFill>
                  <a:srgbClr val="000000"/>
                </a:solidFill>
                <a:latin typeface="Arial" panose="020B0604020202020204" pitchFamily="34" charset="0"/>
              </a:rPr>
              <a:t>Providers </a:t>
            </a:r>
            <a:r>
              <a:rPr lang="en-US" dirty="0">
                <a:solidFill>
                  <a:srgbClr val="000000"/>
                </a:solidFill>
                <a:latin typeface="Arial" panose="020B0604020202020204" pitchFamily="34" charset="0"/>
              </a:rPr>
              <a:t>		</a:t>
            </a:r>
            <a:r>
              <a:rPr lang="en-US" b="1" dirty="0">
                <a:solidFill>
                  <a:srgbClr val="000000"/>
                </a:solidFill>
                <a:latin typeface="Arial" panose="020B0604020202020204" pitchFamily="34" charset="0"/>
              </a:rPr>
              <a:t>Benefits </a:t>
            </a:r>
            <a:r>
              <a:rPr lang="en-US" dirty="0">
                <a:solidFill>
                  <a:srgbClr val="000000"/>
                </a:solidFill>
                <a:latin typeface="Arial" panose="020B0604020202020204" pitchFamily="34" charset="0"/>
              </a:rPr>
              <a:t>	</a:t>
            </a:r>
            <a:r>
              <a:rPr lang="en-US" b="1" dirty="0">
                <a:solidFill>
                  <a:srgbClr val="000000"/>
                </a:solidFill>
                <a:latin typeface="Arial" panose="020B0604020202020204" pitchFamily="34" charset="0"/>
              </a:rPr>
              <a:t>Limitations</a:t>
            </a:r>
          </a:p>
          <a:p>
            <a:r>
              <a:rPr lang="en-US" b="1" dirty="0">
                <a:solidFill>
                  <a:srgbClr val="000000"/>
                </a:solidFill>
                <a:latin typeface="Arial" panose="020B0604020202020204" pitchFamily="34" charset="0"/>
              </a:rPr>
              <a:t> </a:t>
            </a:r>
            <a:r>
              <a:rPr lang="en-US" dirty="0">
                <a:solidFill>
                  <a:srgbClr val="000000"/>
                </a:solidFill>
                <a:latin typeface="Arial" panose="020B0604020202020204" pitchFamily="34" charset="0"/>
              </a:rPr>
              <a:t>	</a:t>
            </a:r>
          </a:p>
          <a:p>
            <a:endParaRPr lang="en-US" dirty="0"/>
          </a:p>
          <a:p>
            <a:endParaRPr lang="en-US" dirty="0">
              <a:solidFill>
                <a:srgbClr val="000000"/>
              </a:solidFill>
              <a:latin typeface="Arial" panose="020B0604020202020204" pitchFamily="34"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2211" y="3260607"/>
            <a:ext cx="6238875" cy="2209800"/>
          </a:xfrm>
          <a:prstGeom prst="rect">
            <a:avLst/>
          </a:prstGeom>
        </p:spPr>
      </p:pic>
    </p:spTree>
    <p:extLst>
      <p:ext uri="{BB962C8B-B14F-4D97-AF65-F5344CB8AC3E}">
        <p14:creationId xmlns:p14="http://schemas.microsoft.com/office/powerpoint/2010/main" val="69031506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50279" y="53732"/>
            <a:ext cx="11538284" cy="1200329"/>
          </a:xfrm>
          <a:prstGeom prst="rect">
            <a:avLst/>
          </a:prstGeom>
        </p:spPr>
        <p:txBody>
          <a:bodyPr wrap="square">
            <a:spAutoFit/>
          </a:bodyPr>
          <a:lstStyle/>
          <a:p>
            <a:pPr algn="ctr"/>
            <a:r>
              <a:rPr lang="en-US" sz="2400" b="1" dirty="0"/>
              <a:t>A Review on Amazon Web Service (AWS), Microsoft Azure</a:t>
            </a:r>
          </a:p>
          <a:p>
            <a:pPr algn="ctr"/>
            <a:r>
              <a:rPr lang="en-US" sz="2400" b="1" dirty="0"/>
              <a:t>&amp;</a:t>
            </a:r>
          </a:p>
          <a:p>
            <a:pPr algn="ctr"/>
            <a:r>
              <a:rPr lang="en-US" sz="2400" b="1" dirty="0"/>
              <a:t>Google Cloud Platform (GCP) Services</a:t>
            </a:r>
          </a:p>
        </p:txBody>
      </p:sp>
      <p:sp>
        <p:nvSpPr>
          <p:cNvPr id="2" name="Rectangle 1"/>
          <p:cNvSpPr/>
          <p:nvPr/>
        </p:nvSpPr>
        <p:spPr>
          <a:xfrm>
            <a:off x="842211" y="2071120"/>
            <a:ext cx="9760715" cy="1477328"/>
          </a:xfrm>
          <a:prstGeom prst="rect">
            <a:avLst/>
          </a:prstGeom>
        </p:spPr>
        <p:txBody>
          <a:bodyPr wrap="square">
            <a:spAutoFit/>
          </a:bodyPr>
          <a:lstStyle/>
          <a:p>
            <a:r>
              <a:rPr lang="en-US" b="1" dirty="0">
                <a:solidFill>
                  <a:srgbClr val="000000"/>
                </a:solidFill>
                <a:latin typeface="Arial" panose="020B0604020202020204" pitchFamily="34" charset="0"/>
              </a:rPr>
              <a:t>Cloud Service </a:t>
            </a:r>
            <a:endParaRPr lang="en-US" dirty="0">
              <a:solidFill>
                <a:srgbClr val="000000"/>
              </a:solidFill>
              <a:latin typeface="Arial" panose="020B0604020202020204" pitchFamily="34" charset="0"/>
            </a:endParaRPr>
          </a:p>
          <a:p>
            <a:r>
              <a:rPr lang="en-US" b="1" dirty="0">
                <a:solidFill>
                  <a:srgbClr val="000000"/>
                </a:solidFill>
                <a:latin typeface="Arial" panose="020B0604020202020204" pitchFamily="34" charset="0"/>
              </a:rPr>
              <a:t>Providers </a:t>
            </a:r>
            <a:r>
              <a:rPr lang="en-US" dirty="0">
                <a:solidFill>
                  <a:srgbClr val="000000"/>
                </a:solidFill>
                <a:latin typeface="Arial" panose="020B0604020202020204" pitchFamily="34" charset="0"/>
              </a:rPr>
              <a:t>		</a:t>
            </a:r>
            <a:r>
              <a:rPr lang="en-US" b="1" dirty="0">
                <a:solidFill>
                  <a:srgbClr val="000000"/>
                </a:solidFill>
                <a:latin typeface="Arial" panose="020B0604020202020204" pitchFamily="34" charset="0"/>
              </a:rPr>
              <a:t>Benefits </a:t>
            </a:r>
            <a:r>
              <a:rPr lang="en-US" dirty="0">
                <a:solidFill>
                  <a:srgbClr val="000000"/>
                </a:solidFill>
                <a:latin typeface="Arial" panose="020B0604020202020204" pitchFamily="34" charset="0"/>
              </a:rPr>
              <a:t>	</a:t>
            </a:r>
            <a:r>
              <a:rPr lang="en-US" b="1" dirty="0">
                <a:solidFill>
                  <a:srgbClr val="000000"/>
                </a:solidFill>
                <a:latin typeface="Arial" panose="020B0604020202020204" pitchFamily="34" charset="0"/>
              </a:rPr>
              <a:t>Limitations</a:t>
            </a:r>
          </a:p>
          <a:p>
            <a:r>
              <a:rPr lang="en-US" b="1" dirty="0">
                <a:solidFill>
                  <a:srgbClr val="000000"/>
                </a:solidFill>
                <a:latin typeface="Arial" panose="020B0604020202020204" pitchFamily="34" charset="0"/>
              </a:rPr>
              <a:t> </a:t>
            </a:r>
            <a:r>
              <a:rPr lang="en-US" dirty="0">
                <a:solidFill>
                  <a:srgbClr val="000000"/>
                </a:solidFill>
                <a:latin typeface="Arial" panose="020B0604020202020204" pitchFamily="34" charset="0"/>
              </a:rPr>
              <a:t>	</a:t>
            </a:r>
          </a:p>
          <a:p>
            <a:endParaRPr lang="en-US" dirty="0"/>
          </a:p>
          <a:p>
            <a:endParaRPr lang="en-US" dirty="0">
              <a:solidFill>
                <a:srgbClr val="000000"/>
              </a:solidFill>
              <a:latin typeface="Arial" panose="020B0604020202020204" pitchFamily="34" charset="0"/>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1446" y="2965332"/>
            <a:ext cx="6305550" cy="1400175"/>
          </a:xfrm>
          <a:prstGeom prst="rect">
            <a:avLst/>
          </a:prstGeom>
        </p:spPr>
      </p:pic>
    </p:spTree>
    <p:extLst>
      <p:ext uri="{BB962C8B-B14F-4D97-AF65-F5344CB8AC3E}">
        <p14:creationId xmlns:p14="http://schemas.microsoft.com/office/powerpoint/2010/main" val="3619314178"/>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381160" y="1825625"/>
            <a:ext cx="5429680" cy="4351338"/>
          </a:xfrm>
        </p:spPr>
      </p:pic>
    </p:spTree>
    <p:extLst>
      <p:ext uri="{BB962C8B-B14F-4D97-AF65-F5344CB8AC3E}">
        <p14:creationId xmlns:p14="http://schemas.microsoft.com/office/powerpoint/2010/main" val="5657363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AE0AB2BC5732E498C82E0889B56EE47" ma:contentTypeVersion="3" ma:contentTypeDescription="Create a new document." ma:contentTypeScope="" ma:versionID="5892355f9cb8f4d06364f44765d348e8">
  <xsd:schema xmlns:xsd="http://www.w3.org/2001/XMLSchema" xmlns:xs="http://www.w3.org/2001/XMLSchema" xmlns:p="http://schemas.microsoft.com/office/2006/metadata/properties" xmlns:ns2="edc90921-6836-4a7a-a96f-40c69ed4e8a8" targetNamespace="http://schemas.microsoft.com/office/2006/metadata/properties" ma:root="true" ma:fieldsID="c6d809e1cabde9448b78a3f00d14449d" ns2:_="">
    <xsd:import namespace="edc90921-6836-4a7a-a96f-40c69ed4e8a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c90921-6836-4a7a-a96f-40c69ed4e8a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A86599F-E6EE-4D6F-BF18-EA87AD8EFE1A}"/>
</file>

<file path=customXml/itemProps2.xml><?xml version="1.0" encoding="utf-8"?>
<ds:datastoreItem xmlns:ds="http://schemas.openxmlformats.org/officeDocument/2006/customXml" ds:itemID="{386AD355-5D9D-4085-8AEA-FAEE526EA6CC}"/>
</file>

<file path=customXml/itemProps3.xml><?xml version="1.0" encoding="utf-8"?>
<ds:datastoreItem xmlns:ds="http://schemas.openxmlformats.org/officeDocument/2006/customXml" ds:itemID="{45C7E767-D8CA-4485-A739-C38D7883A2DB}"/>
</file>

<file path=docProps/app.xml><?xml version="1.0" encoding="utf-8"?>
<Properties xmlns="http://schemas.openxmlformats.org/officeDocument/2006/extended-properties" xmlns:vt="http://schemas.openxmlformats.org/officeDocument/2006/docPropsVTypes">
  <TotalTime>11454</TotalTime>
  <Words>18218</Words>
  <Application>Microsoft Office PowerPoint</Application>
  <PresentationFormat>Widescreen</PresentationFormat>
  <Paragraphs>1296</Paragraphs>
  <Slides>149</Slides>
  <Notes>109</Notes>
  <HiddenSlides>9</HiddenSlides>
  <MMClips>0</MMClips>
  <ScaleCrop>false</ScaleCrop>
  <HeadingPairs>
    <vt:vector size="6" baseType="variant">
      <vt:variant>
        <vt:lpstr>Fonts Used</vt:lpstr>
      </vt:variant>
      <vt:variant>
        <vt:i4>27</vt:i4>
      </vt:variant>
      <vt:variant>
        <vt:lpstr>Theme</vt:lpstr>
      </vt:variant>
      <vt:variant>
        <vt:i4>1</vt:i4>
      </vt:variant>
      <vt:variant>
        <vt:lpstr>Slide Titles</vt:lpstr>
      </vt:variant>
      <vt:variant>
        <vt:i4>149</vt:i4>
      </vt:variant>
    </vt:vector>
  </HeadingPairs>
  <TitlesOfParts>
    <vt:vector size="177" baseType="lpstr">
      <vt:lpstr>AdvTimes</vt:lpstr>
      <vt:lpstr>AdvTimes-i</vt:lpstr>
      <vt:lpstr>Amazon Ember</vt:lpstr>
      <vt:lpstr>Amazon Ember Display</vt:lpstr>
      <vt:lpstr>-apple-system</vt:lpstr>
      <vt:lpstr>Aptos</vt:lpstr>
      <vt:lpstr>Arial</vt:lpstr>
      <vt:lpstr>BerkeleyStd-Book</vt:lpstr>
      <vt:lpstr>BerkeleyStd-BookItalic</vt:lpstr>
      <vt:lpstr>Calibri</vt:lpstr>
      <vt:lpstr>Calibri Light</vt:lpstr>
      <vt:lpstr>ff0</vt:lpstr>
      <vt:lpstr>ff2</vt:lpstr>
      <vt:lpstr>Google Sans</vt:lpstr>
      <vt:lpstr>inherit</vt:lpstr>
      <vt:lpstr>Interstate-Bold</vt:lpstr>
      <vt:lpstr>Nunito</vt:lpstr>
      <vt:lpstr>Open Sans</vt:lpstr>
      <vt:lpstr>OptimaLTStd</vt:lpstr>
      <vt:lpstr>OptimaLTStd-Black</vt:lpstr>
      <vt:lpstr>Roboto</vt:lpstr>
      <vt:lpstr>Segoe UI</vt:lpstr>
      <vt:lpstr>Source Sans Pro</vt:lpstr>
      <vt:lpstr>Times New Roman</vt:lpstr>
      <vt:lpstr>Verdana</vt:lpstr>
      <vt:lpstr>Wingdings</vt:lpstr>
      <vt:lpstr>WingdingsSTD</vt:lpstr>
      <vt:lpstr>Office Theme</vt:lpstr>
      <vt:lpstr>Virtual Machines Provisioning and Migration Services</vt:lpstr>
      <vt:lpstr>Module 2  (Virtual Machines Provisioning and Migration Services)</vt:lpstr>
      <vt:lpstr>5.1 Introduction</vt:lpstr>
      <vt:lpstr>Background and Related Work: </vt:lpstr>
      <vt:lpstr>PowerPoint Presentation</vt:lpstr>
      <vt:lpstr>PowerPoint Presentation</vt:lpstr>
      <vt:lpstr> 5.2.3  Private Cloud and Infrastructure Services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Aneka</vt:lpstr>
      <vt:lpstr>About Docker Container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Using a REST API with Docker allows you to containerize your API application, meaning you can package it with all its dependencies and easily deploy it across different environments by running the Docker container, making it highly portable and scalable; essentially, you can treat your REST API as a self-contained unit managed by Docker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Hadoop MapReduce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Exploring PaaS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Virtual Machine Provisioning and Migration Services</dc:title>
  <dc:creator>Mahe</dc:creator>
  <cp:lastModifiedBy>Mamatha Balachandra [MAHE-MIT]</cp:lastModifiedBy>
  <cp:revision>269</cp:revision>
  <dcterms:created xsi:type="dcterms:W3CDTF">2018-10-29T10:12:45Z</dcterms:created>
  <dcterms:modified xsi:type="dcterms:W3CDTF">2025-01-31T18:05:13Z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0x010100AAE0AB2BC5732E498C82E0889B56EE47</vt:lpwstr>
  </property>
</Properties>
</file>