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sldIdLst>
    <p:sldId id="256" r:id="rId2"/>
    <p:sldId id="269" r:id="rId3"/>
    <p:sldId id="293" r:id="rId4"/>
    <p:sldId id="270" r:id="rId5"/>
    <p:sldId id="274" r:id="rId6"/>
    <p:sldId id="272" r:id="rId7"/>
    <p:sldId id="294" r:id="rId8"/>
    <p:sldId id="271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5" r:id="rId20"/>
    <p:sldId id="296" r:id="rId21"/>
    <p:sldId id="257" r:id="rId22"/>
    <p:sldId id="258" r:id="rId23"/>
    <p:sldId id="259" r:id="rId24"/>
    <p:sldId id="260" r:id="rId25"/>
    <p:sldId id="261" r:id="rId26"/>
    <p:sldId id="263" r:id="rId27"/>
    <p:sldId id="275" r:id="rId28"/>
    <p:sldId id="276" r:id="rId29"/>
    <p:sldId id="277" r:id="rId30"/>
    <p:sldId id="278" r:id="rId31"/>
    <p:sldId id="279" r:id="rId32"/>
    <p:sldId id="280" r:id="rId33"/>
    <p:sldId id="264" r:id="rId34"/>
    <p:sldId id="291" r:id="rId35"/>
    <p:sldId id="292" r:id="rId36"/>
  </p:sldIdLst>
  <p:sldSz cx="18288000" cy="10287000"/>
  <p:notesSz cx="6858000" cy="9144000"/>
  <p:embeddedFontLst>
    <p:embeddedFont>
      <p:font typeface="Gilda Display" panose="020B0604020202020204" charset="0"/>
      <p:regular r:id="rId37"/>
    </p:embeddedFont>
    <p:embeddedFont>
      <p:font typeface="HK Grotesk Bold" panose="020B0604020202020204" charset="0"/>
      <p:regular r:id="rId38"/>
    </p:embeddedFont>
    <p:embeddedFont>
      <p:font typeface="HK Grotesk Light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24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D44B-F48C-AFE5-9C25-CA05FD14C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9C1D9-EF9C-D0C3-041E-FBEA6F775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A0153-4F35-E129-CC2B-E02449D3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4F0D3-306C-C97B-FB32-E017727A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EB1-65D0-85D9-BD82-437F3424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2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3A28-46EF-CBC8-C287-DA23187B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349B2-EFDF-6756-7F4D-BA53D36BD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11C6A-7E32-3074-990D-4F33059C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AE3A5-93A9-C0D5-7E9B-101F7874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8BF0-FB72-90E6-FEBD-3BAB78AF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7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A46B-76A7-434D-045F-328F8A23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4D774-B3AF-5987-202B-E8C379113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27B35-1B0C-92FC-77EE-BD746B49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E7C98-5FF5-548A-2502-ED6DCBA7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8FE08-B4C1-61B8-C623-75B6C813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A1D5-17F8-2D3E-8633-EAE8BFF7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ABCC8-F87D-DA55-D896-AE1C40D96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A3D7F-3B9D-6801-ACF3-5055F9E71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BF4CF-53C7-D088-FE9A-AFE529BAF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6DA85-B442-D6F2-9A22-4B6F25F6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44580-DC85-D978-0462-BFE8F5AA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8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3582-5C7D-2B32-E33B-80CA3C8E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86C1C-CAB1-98C5-7726-983CF7872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2059E-0F5F-0A4F-2471-6EB740FEE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3F30D-9E8B-9F36-455E-77F19AB9D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FEC13-D801-627C-E6EA-1C06CFA47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150BF-5BFA-37EF-68A1-56409115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444E7-B67B-3418-E04A-21BAB21E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80C2A-92B2-24F9-8D9D-C2B4B2A7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9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AA2E-E7A9-13D6-3C3A-71FED141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C121C-508D-D069-FED3-1F831BBC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1BD2B-A7F7-2302-D316-535B9478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20253-0BA1-E73F-7424-A1BD312F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3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9EC8C-C4B4-62AB-84EC-A9E471A0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DBD143-077D-8E00-FED5-789835A8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F8695-5532-928E-80AB-E28028A3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2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904E-9D9E-FEE3-FF66-B73A918E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2ECC4-0542-EE11-B01C-A151342A0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D879C-05EA-0850-837A-E2DBF7AFF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91BAB-43A0-0819-91A8-B741FF66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BADC-7A24-646D-66FA-D3CBA3D5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59696-E3A7-60D0-6A7D-565A2EC0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9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6756-8B23-3256-091E-C3333D74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59E2D-CB09-B1F9-37A6-B20C6A8FC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F81BB-7166-3268-2447-DD6CADE94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7D89E-4C71-D96E-235E-4824167E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95E0E-A5C7-BF82-E4D2-8460FC19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8FA8D-1886-9CF7-8C24-4F367389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9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1373-83E2-A307-9ED0-8AA35F12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B3348-8FC2-ACA3-6531-8CC935B9E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59607-4A62-AAB1-2DA7-73684C2E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78A56-41CE-E706-D59E-8D3FE5BB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C6D42-7B26-0C88-05AB-E97E7242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27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F8C40-2378-1D50-48AE-2E9995025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69888-42AB-ADB5-8A81-C5DAFFF6D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0904-4851-0494-A0BD-362E53E8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9A039-C2BF-BF48-D768-1B0D5BEB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CC9C6-A6FC-F8CE-CA0F-00A7E3E4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4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0B28B-CD10-47F9-FC77-06B31825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B84A2-43AC-613D-F404-0CA983F6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C1C2-0401-8900-99F0-E3CEA5F65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00984-7EFC-1F1E-9EB7-1764E4E8F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71708-2996-EB2C-CABF-90EFD9AF4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4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680185"/>
            <a:ext cx="6886575" cy="4229702"/>
            <a:chOff x="0" y="0"/>
            <a:chExt cx="9182100" cy="5639603"/>
          </a:xfrm>
        </p:grpSpPr>
        <p:sp>
          <p:nvSpPr>
            <p:cNvPr id="6" name="TextBox 6"/>
            <p:cNvSpPr txBox="1"/>
            <p:nvPr/>
          </p:nvSpPr>
          <p:spPr>
            <a:xfrm>
              <a:off x="0" y="2492393"/>
              <a:ext cx="9182100" cy="314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23"/>
                </a:lnSpc>
              </a:pPr>
              <a:r>
                <a:rPr lang="en-US" sz="6023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Applied Natural Language Processing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93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Introduction to NLP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09 Jan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206E83-36D8-1EBE-62C6-DFC870E08D2A}"/>
              </a:ext>
            </a:extLst>
          </p:cNvPr>
          <p:cNvSpPr txBox="1"/>
          <p:nvPr/>
        </p:nvSpPr>
        <p:spPr>
          <a:xfrm>
            <a:off x="958321" y="647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Prerequisite</a:t>
            </a:r>
            <a:r>
              <a:rPr lang="en-US" sz="9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9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 the course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ACE6E-4AC2-0DBF-8FE7-A5E11F16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908" y="2215582"/>
            <a:ext cx="16364460" cy="685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62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0377D0-F4B2-4301-19E9-DC8992E32027}"/>
              </a:ext>
            </a:extLst>
          </p:cNvPr>
          <p:cNvSpPr txBox="1"/>
          <p:nvPr/>
        </p:nvSpPr>
        <p:spPr>
          <a:xfrm>
            <a:off x="1676400" y="571500"/>
            <a:ext cx="123697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Technical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C2AF4-E3BA-B4A9-0332-76B2246137B3}"/>
              </a:ext>
            </a:extLst>
          </p:cNvPr>
          <p:cNvSpPr txBox="1"/>
          <p:nvPr/>
        </p:nvSpPr>
        <p:spPr>
          <a:xfrm>
            <a:off x="1905000" y="2857500"/>
            <a:ext cx="13944600" cy="49584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/>
              <a:t>Programming Language: </a:t>
            </a:r>
            <a:r>
              <a:rPr lang="en-US" sz="5400" dirty="0"/>
              <a:t>Python</a:t>
            </a:r>
          </a:p>
          <a:p>
            <a:pPr>
              <a:lnSpc>
                <a:spcPct val="150000"/>
              </a:lnSpc>
            </a:pPr>
            <a:r>
              <a:rPr lang="en-US" sz="5400" b="1" dirty="0"/>
              <a:t>IDE: </a:t>
            </a:r>
            <a:r>
              <a:rPr lang="en-US" sz="5400" dirty="0" err="1"/>
              <a:t>Colab</a:t>
            </a:r>
            <a:r>
              <a:rPr lang="en-US" sz="5400" dirty="0"/>
              <a:t>/VS studio/</a:t>
            </a:r>
            <a:r>
              <a:rPr lang="en-US" sz="5400" dirty="0" err="1"/>
              <a:t>Jupyter</a:t>
            </a:r>
            <a:r>
              <a:rPr lang="en-US" sz="5400" dirty="0"/>
              <a:t> notebook</a:t>
            </a:r>
          </a:p>
          <a:p>
            <a:pPr>
              <a:lnSpc>
                <a:spcPct val="150000"/>
              </a:lnSpc>
            </a:pPr>
            <a:r>
              <a:rPr lang="en-US" sz="5400" b="1" dirty="0"/>
              <a:t>Libraries: </a:t>
            </a:r>
            <a:r>
              <a:rPr lang="en-US" sz="5400" dirty="0"/>
              <a:t>NumPy, Pandas, Matplotlib, scikit-learn, </a:t>
            </a:r>
            <a:r>
              <a:rPr lang="en-US" sz="5400" dirty="0" err="1"/>
              <a:t>Keras</a:t>
            </a:r>
            <a:r>
              <a:rPr lang="en-US" sz="5400" dirty="0"/>
              <a:t>, </a:t>
            </a:r>
            <a:r>
              <a:rPr lang="en-US" sz="5400" dirty="0" err="1"/>
              <a:t>PyTorch</a:t>
            </a:r>
            <a:r>
              <a:rPr lang="en-US" sz="5400" dirty="0"/>
              <a:t>/TensorFlow</a:t>
            </a:r>
          </a:p>
        </p:txBody>
      </p:sp>
    </p:spTree>
    <p:extLst>
      <p:ext uri="{BB962C8B-B14F-4D97-AF65-F5344CB8AC3E}">
        <p14:creationId xmlns:p14="http://schemas.microsoft.com/office/powerpoint/2010/main" val="1185058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11BE8-19C0-23AA-9C10-B61F65B22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3797A0-A138-12C6-31DA-3BAD82C53119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Course Content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2B074-B0D4-E929-AFB6-BC60BAF26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199" y="2476500"/>
            <a:ext cx="14967479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96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C65E7-DCBB-7267-52F4-40E63E90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2A829D-CC0D-1CB3-645F-0F8746831FE6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Course </a:t>
            </a:r>
            <a:r>
              <a:rPr lang="en-US" sz="99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outcomes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03388-BC9D-7FD5-9CA7-385573FA8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095500"/>
            <a:ext cx="13792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1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51CE9-EBE5-7953-AC7F-7C3415E1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561850-77A6-4E3F-F0B8-083762553E97}"/>
              </a:ext>
            </a:extLst>
          </p:cNvPr>
          <p:cNvSpPr txBox="1"/>
          <p:nvPr/>
        </p:nvSpPr>
        <p:spPr>
          <a:xfrm>
            <a:off x="381000" y="4191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References 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BE6A6-255A-A3BE-D834-393DE052A717}"/>
              </a:ext>
            </a:extLst>
          </p:cNvPr>
          <p:cNvSpPr txBox="1"/>
          <p:nvPr/>
        </p:nvSpPr>
        <p:spPr>
          <a:xfrm>
            <a:off x="3099888" y="2019300"/>
            <a:ext cx="134355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Books (optional reading)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Speech and Language Processing, Dan </a:t>
            </a:r>
            <a:r>
              <a:rPr lang="en-US" sz="2800" dirty="0" err="1">
                <a:solidFill>
                  <a:schemeClr val="bg1"/>
                </a:solidFill>
              </a:rPr>
              <a:t>Jurafsky</a:t>
            </a:r>
            <a:r>
              <a:rPr lang="en-US" sz="2800" dirty="0">
                <a:solidFill>
                  <a:schemeClr val="bg1"/>
                </a:solidFill>
              </a:rPr>
              <a:t> and James H. Martin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https://web.stanford.edu/~jurafsky/slp3/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Natural Language Processing, Jacob Eisenstein 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https://github.com/jacobeisenstein/gt-nlp-class/blob/master/notes/eisenstein-nlp-notes.pdf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A Primer on Neural Network Models for Natural Language Processing, Yoav Goldberg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http://u.cs.biu.ac.il/~yogo/nnlp.pdf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Journals</a:t>
            </a:r>
          </a:p>
          <a:p>
            <a:r>
              <a:rPr lang="en-US" sz="2800" dirty="0">
                <a:solidFill>
                  <a:schemeClr val="bg1"/>
                </a:solidFill>
              </a:rPr>
              <a:t> Computational Linguistics, Natural Language Engineering, TACL etc.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• Conferences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 ACL, EMNLP, NAACL, COLING, ICML, </a:t>
            </a:r>
            <a:r>
              <a:rPr lang="en-US" sz="2800" dirty="0" err="1">
                <a:solidFill>
                  <a:schemeClr val="bg1"/>
                </a:solidFill>
              </a:rPr>
              <a:t>NeurIPS</a:t>
            </a:r>
            <a:r>
              <a:rPr lang="en-US" sz="2800" dirty="0">
                <a:solidFill>
                  <a:schemeClr val="bg1"/>
                </a:solidFill>
              </a:rPr>
              <a:t>, ICLR, AAAI, WWW etc. </a:t>
            </a:r>
          </a:p>
        </p:txBody>
      </p:sp>
    </p:spTree>
    <p:extLst>
      <p:ext uri="{BB962C8B-B14F-4D97-AF65-F5344CB8AC3E}">
        <p14:creationId xmlns:p14="http://schemas.microsoft.com/office/powerpoint/2010/main" val="1913053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7AE72-E7AB-3DCF-350B-658EE153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5AE28B-939D-6532-0F03-7499D6D12357}"/>
              </a:ext>
            </a:extLst>
          </p:cNvPr>
          <p:cNvSpPr txBox="1"/>
          <p:nvPr/>
        </p:nvSpPr>
        <p:spPr>
          <a:xfrm>
            <a:off x="381000" y="4191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Evaluation Scheme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0C381-FF13-F7B3-455F-1D4E91B8AC74}"/>
              </a:ext>
            </a:extLst>
          </p:cNvPr>
          <p:cNvSpPr txBox="1"/>
          <p:nvPr/>
        </p:nvSpPr>
        <p:spPr>
          <a:xfrm>
            <a:off x="3099888" y="3347978"/>
            <a:ext cx="7415712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0" dirty="0"/>
              <a:t>Mid-term – 30 Marks </a:t>
            </a:r>
          </a:p>
          <a:p>
            <a:r>
              <a:rPr lang="en-US" sz="6000" dirty="0"/>
              <a:t>Internal – 20 marks</a:t>
            </a:r>
          </a:p>
          <a:p>
            <a:r>
              <a:rPr lang="en-US" sz="6000" dirty="0"/>
              <a:t>External – 50 marks </a:t>
            </a:r>
          </a:p>
        </p:txBody>
      </p:sp>
    </p:spTree>
    <p:extLst>
      <p:ext uri="{BB962C8B-B14F-4D97-AF65-F5344CB8AC3E}">
        <p14:creationId xmlns:p14="http://schemas.microsoft.com/office/powerpoint/2010/main" val="3348964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FC562-B3F6-4E5A-95CE-051DF040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910D81-11F6-3925-0328-CDBAF3E62237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dirty="0">
                <a:solidFill>
                  <a:schemeClr val="bg1"/>
                </a:solidFill>
              </a:rPr>
              <a:t>Research Papers Repository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6FD86-8F46-D876-E14C-25EDDD591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99" y="1714501"/>
            <a:ext cx="15341581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44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26512-9D81-4FDC-948C-FF5911B2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2B1200-0EA8-9F0F-0A64-A99CD6EED940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dirty="0">
                <a:solidFill>
                  <a:schemeClr val="bg1"/>
                </a:solidFill>
              </a:rPr>
              <a:t>Research Papers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6E890D-4AB4-EF0F-9646-10380622E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834582"/>
            <a:ext cx="16078199" cy="71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79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80496-5705-6468-335F-DF47DBEC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001432-C6D9-4F73-D37D-401F71B12E1A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dirty="0">
                <a:solidFill>
                  <a:schemeClr val="bg1"/>
                </a:solidFill>
              </a:rPr>
              <a:t>Research Papers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7BB85-3D5B-92BA-419E-274DC34F5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171701"/>
            <a:ext cx="14325600" cy="72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07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32867-2EF8-C403-794C-2FA2B637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7156E3-A849-EA17-398E-6B2B5A60C70D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dirty="0">
                <a:solidFill>
                  <a:schemeClr val="bg1"/>
                </a:solidFill>
              </a:rPr>
              <a:t>Research Papers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DBDCF-4975-1636-E6A8-AE7BD073F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095500"/>
            <a:ext cx="125730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7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96E5E-6AC0-0915-EA91-08509B87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398340-EA28-FE26-5B56-633673915BBE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A4341-8DBD-9A94-15DD-181D46B42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019300"/>
            <a:ext cx="13106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95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29E15-3A20-94FA-415A-4642889F1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9A0A95-506D-225A-612B-C3A1B1B8454E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F9AC5-F4BB-0A27-61DE-BADE2423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476500"/>
            <a:ext cx="14477999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74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81AF3-E8F5-C5D0-DA41-3466116F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DA9CF3-7F01-EB5D-1678-F6B47CF490D3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CD1D9-107D-D140-F855-C42D19471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019300"/>
            <a:ext cx="13792200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04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F7D55-A131-FB72-0754-AAA1CC03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05B22B-B7CC-E816-F353-244A665D4090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A8E497-C36B-7302-D5C2-B97784175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019300"/>
            <a:ext cx="147828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17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C111A-69CC-004A-F0C5-669D2108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7FC663-00DD-610A-6F0A-F59851FD2D7E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C65F2-8AEE-D476-D9AF-20AB8F53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171700"/>
            <a:ext cx="14706600" cy="712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91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65A53-F693-6E7E-0ADE-9E7945D8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13B6AD-B22A-8260-0F9E-51613BAB3F67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8F1917-FB77-2974-9C2D-13F924DB2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171700"/>
            <a:ext cx="141732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85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E6980-6DB6-7720-9D25-A1D45D4C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529D1A-DA8A-70D2-76A7-E3E4F545AD43}"/>
              </a:ext>
            </a:extLst>
          </p:cNvPr>
          <p:cNvSpPr txBox="1"/>
          <p:nvPr/>
        </p:nvSpPr>
        <p:spPr>
          <a:xfrm>
            <a:off x="958321" y="266700"/>
            <a:ext cx="16364460" cy="156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LLM Era</a:t>
            </a:r>
            <a:endParaRPr lang="en-US" sz="9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EDADA-1723-8FE2-87D7-C2B0B926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019300"/>
            <a:ext cx="13868399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15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75F33-9615-D7CC-6EE3-4F7C2644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C1389C-1A35-E4F7-F7A4-F15813CD14E0}"/>
              </a:ext>
            </a:extLst>
          </p:cNvPr>
          <p:cNvGrpSpPr/>
          <p:nvPr/>
        </p:nvGrpSpPr>
        <p:grpSpPr>
          <a:xfrm>
            <a:off x="1680933" y="738188"/>
            <a:ext cx="15578367" cy="2451084"/>
            <a:chOff x="0" y="171450"/>
            <a:chExt cx="20771156" cy="3268112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10F2EF8B-F973-7582-5426-2388D73E6572}"/>
                </a:ext>
              </a:extLst>
            </p:cNvPr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Goal of NLP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474FBE-606C-6E48-49E1-7ED4EB0899DF}"/>
                </a:ext>
              </a:extLst>
            </p:cNvPr>
            <p:cNvSpPr txBox="1"/>
            <p:nvPr/>
          </p:nvSpPr>
          <p:spPr>
            <a:xfrm>
              <a:off x="0" y="2378075"/>
              <a:ext cx="20771156" cy="1061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36"/>
                </a:lnSpc>
              </a:pPr>
              <a:endParaRPr lang="en-US" sz="5197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EF6335A-05FA-0E32-037E-0265ED407B63}"/>
              </a:ext>
            </a:extLst>
          </p:cNvPr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B2A97F1-2179-F74A-3023-FDA2DEDA786D}"/>
              </a:ext>
            </a:extLst>
          </p:cNvPr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26BAE-D4EB-1463-8FD8-38661943C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2393158"/>
            <a:ext cx="14173200" cy="572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3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28735-5D22-570D-B607-5C642CC80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5829DBB-B852-3473-36F7-B264115A54D1}"/>
              </a:ext>
            </a:extLst>
          </p:cNvPr>
          <p:cNvGrpSpPr/>
          <p:nvPr/>
        </p:nvGrpSpPr>
        <p:grpSpPr>
          <a:xfrm>
            <a:off x="1680933" y="738188"/>
            <a:ext cx="15578367" cy="2451084"/>
            <a:chOff x="0" y="171450"/>
            <a:chExt cx="20771156" cy="3268112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3E23CFCC-6234-5150-BBDA-B7E990441BDF}"/>
                </a:ext>
              </a:extLst>
            </p:cNvPr>
            <p:cNvSpPr txBox="1"/>
            <p:nvPr/>
          </p:nvSpPr>
          <p:spPr>
            <a:xfrm>
              <a:off x="0" y="171450"/>
              <a:ext cx="16852900" cy="1426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6000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Steps in Language Communication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19F139-144A-3E94-99F6-ED689E1EB847}"/>
                </a:ext>
              </a:extLst>
            </p:cNvPr>
            <p:cNvSpPr txBox="1"/>
            <p:nvPr/>
          </p:nvSpPr>
          <p:spPr>
            <a:xfrm>
              <a:off x="0" y="2378075"/>
              <a:ext cx="20771156" cy="1061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36"/>
                </a:lnSpc>
              </a:pPr>
              <a:endParaRPr lang="en-US" sz="5197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D39A05C-6FA6-3A7F-FB83-784E8593A148}"/>
              </a:ext>
            </a:extLst>
          </p:cNvPr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084EB67-14BD-1565-0AF5-E69FA35927F5}"/>
              </a:ext>
            </a:extLst>
          </p:cNvPr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C71779-171B-6277-A2C1-51E580E09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432" y="2247900"/>
            <a:ext cx="12639674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89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0933" y="738188"/>
            <a:ext cx="15578367" cy="7048497"/>
            <a:chOff x="0" y="171450"/>
            <a:chExt cx="20771156" cy="9397996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What is NLP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78075"/>
              <a:ext cx="20771156" cy="7191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36"/>
                </a:lnSpc>
              </a:pPr>
              <a:r>
                <a:rPr lang="en-US" sz="5197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Natural Language Processing (NLP) is the field of AI that enables machines to:</a:t>
              </a:r>
            </a:p>
            <a:p>
              <a:pPr marL="1122131" lvl="1" indent="-561065" algn="l">
                <a:lnSpc>
                  <a:spcPts val="6236"/>
                </a:lnSpc>
                <a:buFont typeface="Arial"/>
                <a:buChar char="•"/>
              </a:pPr>
              <a:r>
                <a:rPr lang="en-US" sz="5197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Read</a:t>
              </a:r>
            </a:p>
            <a:p>
              <a:pPr marL="1122131" lvl="1" indent="-561065" algn="l">
                <a:lnSpc>
                  <a:spcPts val="6236"/>
                </a:lnSpc>
                <a:buFont typeface="Arial"/>
                <a:buChar char="•"/>
              </a:pPr>
              <a:r>
                <a:rPr lang="en-US" sz="5197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                                          </a:t>
              </a:r>
            </a:p>
            <a:p>
              <a:pPr marL="1122131" lvl="1" indent="-561065" algn="l">
                <a:lnSpc>
                  <a:spcPts val="6236"/>
                </a:lnSpc>
                <a:buFont typeface="Arial"/>
                <a:buChar char="•"/>
              </a:pPr>
              <a:r>
                <a:rPr lang="en-US" sz="6397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Interpret</a:t>
              </a:r>
            </a:p>
            <a:p>
              <a:pPr marL="1122131" lvl="1" indent="-561065" algn="l">
                <a:lnSpc>
                  <a:spcPts val="6236"/>
                </a:lnSpc>
                <a:buFont typeface="Arial"/>
                <a:buChar char="•"/>
              </a:pPr>
              <a:r>
                <a:rPr lang="en-US" sz="5197" b="1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Generate human language</a:t>
              </a:r>
            </a:p>
            <a:p>
              <a:pPr marL="0" lvl="0" indent="0" algn="l">
                <a:lnSpc>
                  <a:spcPts val="4436"/>
                </a:lnSpc>
              </a:pPr>
              <a:endParaRPr lang="en-US" sz="5197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77588A-0166-8E37-7299-0F3F509CE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67101"/>
            <a:ext cx="62865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5470" y="655595"/>
            <a:ext cx="14726033" cy="8571464"/>
            <a:chOff x="0" y="0"/>
            <a:chExt cx="19634710" cy="11428618"/>
          </a:xfrm>
        </p:grpSpPr>
        <p:sp>
          <p:nvSpPr>
            <p:cNvPr id="3" name="TextBox 3"/>
            <p:cNvSpPr txBox="1"/>
            <p:nvPr/>
          </p:nvSpPr>
          <p:spPr>
            <a:xfrm>
              <a:off x="1106073" y="133350"/>
              <a:ext cx="13762631" cy="253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86"/>
                </a:lnSpc>
              </a:pPr>
              <a:r>
                <a:rPr lang="en-US" sz="7186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Can Machines Understand?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548393"/>
              <a:ext cx="19634710" cy="688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114"/>
                </a:lnSpc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When humans understand language, we use: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Life experience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World knowledge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Emotions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Common sense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Cultural context</a:t>
              </a:r>
            </a:p>
            <a:p>
              <a:pPr marL="0" lvl="0" indent="0" algn="l">
                <a:lnSpc>
                  <a:spcPts val="4194"/>
                </a:lnSpc>
              </a:pPr>
              <a:endParaRPr lang="en-US" sz="5095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5470" y="-115930"/>
            <a:ext cx="14726033" cy="10114514"/>
            <a:chOff x="0" y="0"/>
            <a:chExt cx="19634710" cy="13486018"/>
          </a:xfrm>
        </p:grpSpPr>
        <p:sp>
          <p:nvSpPr>
            <p:cNvPr id="3" name="TextBox 3"/>
            <p:cNvSpPr txBox="1"/>
            <p:nvPr/>
          </p:nvSpPr>
          <p:spPr>
            <a:xfrm>
              <a:off x="1106073" y="133350"/>
              <a:ext cx="13762631" cy="253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86"/>
                </a:lnSpc>
              </a:pPr>
              <a:r>
                <a:rPr lang="en-US" sz="7186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Can Machines Understand?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548393"/>
              <a:ext cx="19634710" cy="8937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114"/>
                </a:lnSpc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What Machines Actually Do</a:t>
              </a:r>
            </a:p>
            <a:p>
              <a:pPr algn="l">
                <a:lnSpc>
                  <a:spcPts val="6114"/>
                </a:lnSpc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 machine: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Converts words → numbers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Finds patterns</a:t>
              </a:r>
            </a:p>
            <a:p>
              <a:pPr marL="1100044" lvl="1" indent="-550022" algn="l">
                <a:lnSpc>
                  <a:spcPts val="6114"/>
                </a:lnSpc>
                <a:buFont typeface="Arial"/>
                <a:buChar char="•"/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Predicts the most likely meaning</a:t>
              </a:r>
            </a:p>
            <a:p>
              <a:pPr algn="l">
                <a:lnSpc>
                  <a:spcPts val="6114"/>
                </a:lnSpc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👉 No emotions.</a:t>
              </a:r>
            </a:p>
            <a:p>
              <a:pPr algn="l">
                <a:lnSpc>
                  <a:spcPts val="6114"/>
                </a:lnSpc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👉 No Context.</a:t>
              </a:r>
            </a:p>
            <a:p>
              <a:pPr algn="l">
                <a:lnSpc>
                  <a:spcPts val="6114"/>
                </a:lnSpc>
              </a:pPr>
              <a:r>
                <a:rPr lang="en-US" sz="5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👉 Only probabilities.</a:t>
              </a:r>
            </a:p>
            <a:p>
              <a:pPr marL="0" lvl="0" indent="0" algn="l">
                <a:lnSpc>
                  <a:spcPts val="4194"/>
                </a:lnSpc>
              </a:pPr>
              <a:endParaRPr lang="en-US" sz="5095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5470" y="1584283"/>
            <a:ext cx="14726033" cy="6714089"/>
            <a:chOff x="0" y="0"/>
            <a:chExt cx="19634710" cy="8952118"/>
          </a:xfrm>
        </p:grpSpPr>
        <p:sp>
          <p:nvSpPr>
            <p:cNvPr id="3" name="TextBox 3"/>
            <p:cNvSpPr txBox="1"/>
            <p:nvPr/>
          </p:nvSpPr>
          <p:spPr>
            <a:xfrm>
              <a:off x="1106073" y="133350"/>
              <a:ext cx="13762631" cy="2536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86"/>
                </a:lnSpc>
              </a:pPr>
              <a:r>
                <a:rPr lang="en-US" sz="7186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Can Machines Understand?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548393"/>
              <a:ext cx="19634710" cy="4403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14"/>
                </a:lnSpc>
              </a:pPr>
              <a:r>
                <a:rPr lang="en-US" sz="6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“I saw her duck.”</a:t>
              </a:r>
            </a:p>
            <a:p>
              <a:pPr algn="l">
                <a:lnSpc>
                  <a:spcPts val="7314"/>
                </a:lnSpc>
              </a:pPr>
              <a:r>
                <a:rPr lang="en-US" sz="6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“Great, another Class.”</a:t>
              </a:r>
            </a:p>
            <a:p>
              <a:pPr algn="l">
                <a:lnSpc>
                  <a:spcPts val="7314"/>
                </a:lnSpc>
              </a:pPr>
              <a:r>
                <a:rPr lang="en-US" sz="6095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“The movie is not bad.”</a:t>
              </a:r>
            </a:p>
            <a:p>
              <a:pPr algn="l">
                <a:lnSpc>
                  <a:spcPts val="4194"/>
                </a:lnSpc>
              </a:pPr>
              <a:endParaRPr lang="en-US" sz="6095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429875" y="666750"/>
            <a:ext cx="7191375" cy="8953500"/>
            <a:chOff x="0" y="0"/>
            <a:chExt cx="1114132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4132" cy="1387131"/>
            </a:xfrm>
            <a:custGeom>
              <a:avLst/>
              <a:gdLst/>
              <a:ahLst/>
              <a:cxnLst/>
              <a:rect l="l" t="t" r="r" b="b"/>
              <a:pathLst>
                <a:path w="1114132" h="1387131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38173"/>
            <a:ext cx="8324850" cy="228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Why NLP is Hard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795337"/>
            <a:ext cx="8324850" cy="4005262"/>
            <a:chOff x="0" y="171449"/>
            <a:chExt cx="11099800" cy="5340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Understanding the sentence "I saw the man with the telescope" showcases how context can lead to </a:t>
              </a:r>
              <a:r>
                <a:rPr lang="en-US" sz="3000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multiple interpretations</a:t>
              </a: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49"/>
              <a:ext cx="11099800" cy="3070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Ambiguity In Language 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52F6A-0BB5-04D3-3025-EF257E13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C5346CA-3FF7-818E-F695-12F20F5CAE7D}"/>
              </a:ext>
            </a:extLst>
          </p:cNvPr>
          <p:cNvGrpSpPr/>
          <p:nvPr/>
        </p:nvGrpSpPr>
        <p:grpSpPr>
          <a:xfrm>
            <a:off x="666750" y="795337"/>
            <a:ext cx="8324850" cy="3029026"/>
            <a:chOff x="0" y="171449"/>
            <a:chExt cx="11099800" cy="40387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4C9A29-2BAC-B122-AD84-0506C6079932}"/>
                </a:ext>
              </a:extLst>
            </p:cNvPr>
            <p:cNvSpPr txBox="1"/>
            <p:nvPr/>
          </p:nvSpPr>
          <p:spPr>
            <a:xfrm>
              <a:off x="0" y="3543301"/>
              <a:ext cx="11099800" cy="6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Virat Kohli was on fire last night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85C9A01-64EC-A732-3BBF-DCDCF22EAA65}"/>
                </a:ext>
              </a:extLst>
            </p:cNvPr>
            <p:cNvSpPr txBox="1"/>
            <p:nvPr/>
          </p:nvSpPr>
          <p:spPr>
            <a:xfrm>
              <a:off x="0" y="171449"/>
              <a:ext cx="11099800" cy="3070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Ambiguity In Language 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A07F4DC-EDFF-C21F-8DF3-A5D6A28D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1" y="1181100"/>
            <a:ext cx="80772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93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29D7D-7B5A-E835-5F18-96412999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1D7E8101-5A37-D754-73AE-75D88CAB398A}"/>
              </a:ext>
            </a:extLst>
          </p:cNvPr>
          <p:cNvGrpSpPr/>
          <p:nvPr/>
        </p:nvGrpSpPr>
        <p:grpSpPr>
          <a:xfrm>
            <a:off x="666750" y="795337"/>
            <a:ext cx="8324850" cy="7091363"/>
            <a:chOff x="0" y="171449"/>
            <a:chExt cx="11099800" cy="94551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B1F4EC1-37E8-974E-7B1A-140A5255BE48}"/>
                </a:ext>
              </a:extLst>
            </p:cNvPr>
            <p:cNvSpPr txBox="1"/>
            <p:nvPr/>
          </p:nvSpPr>
          <p:spPr>
            <a:xfrm>
              <a:off x="0" y="3624957"/>
              <a:ext cx="11099800" cy="6001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Mary had a little lamb.</a:t>
              </a:r>
            </a:p>
            <a:p>
              <a:pPr marL="0" lvl="0" indent="0" algn="l">
                <a:lnSpc>
                  <a:spcPts val="3900"/>
                </a:lnSpc>
              </a:pPr>
              <a:endPara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HK Grotesk Light"/>
                <a:cs typeface="Times New Roman" panose="02020603050405020304" pitchFamily="18" charset="0"/>
                <a:sym typeface="HK Grotesk Light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HK Grotesk Light"/>
                <a:cs typeface="Times New Roman" panose="02020603050405020304" pitchFamily="18" charset="0"/>
                <a:sym typeface="HK Grotesk Light"/>
              </a:endParaRPr>
            </a:p>
            <a:p>
              <a:pPr marL="0" lvl="0" indent="0" algn="l">
                <a:lnSpc>
                  <a:spcPts val="390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Mary was physically bringing a lamb to a </a:t>
              </a:r>
            </a:p>
            <a:p>
              <a:pPr marL="0" lvl="0" indent="0" algn="l">
                <a:lnSpc>
                  <a:spcPts val="390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location, such as a farm or a home</a:t>
              </a:r>
            </a:p>
            <a:p>
              <a:pPr marL="0" lvl="0" indent="0" algn="l">
                <a:lnSpc>
                  <a:spcPts val="390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Mary ate a lamb</a:t>
              </a:r>
            </a:p>
            <a:p>
              <a:pPr marL="0" lvl="0" indent="0" algn="l">
                <a:lnSpc>
                  <a:spcPts val="3900"/>
                </a:lnSpc>
              </a:pPr>
              <a:endPara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HK Grotesk Light"/>
                <a:cs typeface="Times New Roman" panose="02020603050405020304" pitchFamily="18" charset="0"/>
                <a:sym typeface="HK Grotesk Light"/>
              </a:endParaRPr>
            </a:p>
            <a:p>
              <a:pPr marL="0" lvl="0" indent="0" algn="l">
                <a:lnSpc>
                  <a:spcPts val="3900"/>
                </a:lnSpc>
              </a:pPr>
              <a:endPara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HK Grotesk Light"/>
                <a:cs typeface="Times New Roman" panose="02020603050405020304" pitchFamily="18" charset="0"/>
                <a:sym typeface="HK Grotesk Light"/>
              </a:endParaRPr>
            </a:p>
            <a:p>
              <a:pPr marL="0" lvl="0" indent="0" algn="l">
                <a:lnSpc>
                  <a:spcPts val="3900"/>
                </a:lnSpc>
              </a:pPr>
              <a:r>
                <a:rPr lang="en-US" sz="3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Mujhe</a:t>
              </a: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 </a:t>
              </a:r>
              <a:r>
                <a:rPr lang="en-US" sz="3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aapko</a:t>
              </a: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 mithai </a:t>
              </a:r>
              <a:r>
                <a:rPr lang="en-US" sz="3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khilani</a:t>
              </a: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 </a:t>
              </a:r>
              <a:r>
                <a:rPr lang="en-US" sz="36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padegi</a:t>
              </a:r>
              <a:r>
                <a:rPr lang="en-US" sz="3600" dirty="0">
                  <a:solidFill>
                    <a:srgbClr val="FFFFFF"/>
                  </a:solidFill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EE95AD3-287C-D094-EA3A-81AA7593C3FC}"/>
                </a:ext>
              </a:extLst>
            </p:cNvPr>
            <p:cNvSpPr txBox="1"/>
            <p:nvPr/>
          </p:nvSpPr>
          <p:spPr>
            <a:xfrm>
              <a:off x="0" y="171449"/>
              <a:ext cx="11099800" cy="3070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Ambiguity In Language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72A839-A846-55A6-7546-917633358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181101"/>
            <a:ext cx="8458200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99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AB188-11D8-BCA5-B768-6940F8AD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A00E0F-0D23-10F1-A0D6-32EC9A1BAC43}"/>
              </a:ext>
            </a:extLst>
          </p:cNvPr>
          <p:cNvSpPr txBox="1"/>
          <p:nvPr/>
        </p:nvSpPr>
        <p:spPr>
          <a:xfrm>
            <a:off x="666750" y="795337"/>
            <a:ext cx="8324850" cy="230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Ambiguity and Punctuations!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7D4F2-7A2A-C560-9ECB-2460127FF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2339"/>
            <a:ext cx="12953999" cy="521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B2F6E-D43F-F943-5CAE-3D7E2549D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76CE7CC-AD8C-5477-C093-050952983498}"/>
              </a:ext>
            </a:extLst>
          </p:cNvPr>
          <p:cNvSpPr txBox="1"/>
          <p:nvPr/>
        </p:nvSpPr>
        <p:spPr>
          <a:xfrm>
            <a:off x="666750" y="795337"/>
            <a:ext cx="8324850" cy="230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Ambiguity and Punctuations!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21B2B-595F-C2A4-5D20-067F8633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771900"/>
            <a:ext cx="15163800" cy="513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20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170AC-8386-DD98-B219-7AB38E0F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21A44FB-02F3-F0F5-74B3-79111851CAF1}"/>
              </a:ext>
            </a:extLst>
          </p:cNvPr>
          <p:cNvSpPr txBox="1"/>
          <p:nvPr/>
        </p:nvSpPr>
        <p:spPr>
          <a:xfrm>
            <a:off x="666750" y="795337"/>
            <a:ext cx="8324850" cy="230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Ambiguity in words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A4BE51-401C-4680-E1C9-5C14565E7679}"/>
              </a:ext>
            </a:extLst>
          </p:cNvPr>
          <p:cNvSpPr txBox="1"/>
          <p:nvPr/>
        </p:nvSpPr>
        <p:spPr>
          <a:xfrm>
            <a:off x="1676400" y="3771900"/>
            <a:ext cx="11201400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Polysemy: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/>
              <a:t>Bank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/>
              <a:t>Light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/>
              <a:t>Run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/>
              <a:t>Letter </a:t>
            </a:r>
          </a:p>
        </p:txBody>
      </p:sp>
    </p:spTree>
    <p:extLst>
      <p:ext uri="{BB962C8B-B14F-4D97-AF65-F5344CB8AC3E}">
        <p14:creationId xmlns:p14="http://schemas.microsoft.com/office/powerpoint/2010/main" val="920762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439F8-C1E8-AAFB-05A8-4EC61A86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729326F-7AEB-212C-1124-FE06C6C68B32}"/>
              </a:ext>
            </a:extLst>
          </p:cNvPr>
          <p:cNvSpPr txBox="1"/>
          <p:nvPr/>
        </p:nvSpPr>
        <p:spPr>
          <a:xfrm>
            <a:off x="666750" y="795337"/>
            <a:ext cx="8324850" cy="117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Other Issues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C8049-B2B5-7BE4-1448-2F2B83751A44}"/>
              </a:ext>
            </a:extLst>
          </p:cNvPr>
          <p:cNvSpPr txBox="1"/>
          <p:nvPr/>
        </p:nvSpPr>
        <p:spPr>
          <a:xfrm>
            <a:off x="2590800" y="2781300"/>
            <a:ext cx="13868400" cy="51706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/>
              <a:t>Non-standard English: </a:t>
            </a:r>
            <a:r>
              <a:rPr lang="en-US" sz="6600" dirty="0"/>
              <a:t>BTW, HRU, GM, </a:t>
            </a:r>
            <a:r>
              <a:rPr lang="en-US" sz="6600" dirty="0" err="1"/>
              <a:t>etc</a:t>
            </a:r>
            <a:endParaRPr lang="en-US" sz="6600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/>
              <a:t>Use of Idioms: </a:t>
            </a:r>
            <a:r>
              <a:rPr lang="en-US" sz="6600" dirty="0"/>
              <a:t>dark horse, get cold feet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/>
              <a:t>Neologisms: </a:t>
            </a:r>
            <a:r>
              <a:rPr lang="en-US" sz="6600" dirty="0"/>
              <a:t>bromance, Brunch</a:t>
            </a:r>
          </a:p>
        </p:txBody>
      </p:sp>
    </p:spTree>
    <p:extLst>
      <p:ext uri="{BB962C8B-B14F-4D97-AF65-F5344CB8AC3E}">
        <p14:creationId xmlns:p14="http://schemas.microsoft.com/office/powerpoint/2010/main" val="1335925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429875" y="666750"/>
            <a:ext cx="7191375" cy="8953500"/>
            <a:chOff x="0" y="0"/>
            <a:chExt cx="1114132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4132" cy="1387131"/>
            </a:xfrm>
            <a:custGeom>
              <a:avLst/>
              <a:gdLst/>
              <a:ahLst/>
              <a:cxnLst/>
              <a:rect l="l" t="t" r="r" b="b"/>
              <a:pathLst>
                <a:path w="1114132" h="1387131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38173"/>
            <a:ext cx="8324850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Real-World Applications of NLP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07A9B-B8E9-D770-89B8-9BCD8D50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6D515C-C4FF-D170-E95E-0772C250A970}"/>
              </a:ext>
            </a:extLst>
          </p:cNvPr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BF1A874-90B7-FDA5-6379-97B7FE7FAD1B}"/>
              </a:ext>
            </a:extLst>
          </p:cNvPr>
          <p:cNvGrpSpPr/>
          <p:nvPr/>
        </p:nvGrpSpPr>
        <p:grpSpPr>
          <a:xfrm>
            <a:off x="10429875" y="666750"/>
            <a:ext cx="7191375" cy="8953500"/>
            <a:chOff x="0" y="0"/>
            <a:chExt cx="1114132" cy="138713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5A03D2-25F5-BECA-DBC8-909624BB7C1C}"/>
                </a:ext>
              </a:extLst>
            </p:cNvPr>
            <p:cNvSpPr/>
            <p:nvPr/>
          </p:nvSpPr>
          <p:spPr>
            <a:xfrm>
              <a:off x="0" y="0"/>
              <a:ext cx="1114132" cy="1387131"/>
            </a:xfrm>
            <a:custGeom>
              <a:avLst/>
              <a:gdLst/>
              <a:ahLst/>
              <a:cxnLst/>
              <a:rect l="l" t="t" r="r" b="b"/>
              <a:pathLst>
                <a:path w="1114132" h="1387131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CF425B9-2BE8-83E1-3D67-C36A68EB39D7}"/>
              </a:ext>
            </a:extLst>
          </p:cNvPr>
          <p:cNvSpPr txBox="1"/>
          <p:nvPr/>
        </p:nvSpPr>
        <p:spPr>
          <a:xfrm>
            <a:off x="666750" y="838173"/>
            <a:ext cx="8324850" cy="677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Gilda Display"/>
                <a:cs typeface="Times New Roman" panose="02020603050405020304" pitchFamily="18" charset="0"/>
                <a:sym typeface="Gilda Display"/>
              </a:rPr>
              <a:t>Search Engines &amp; Information Retrieval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Gilda Display"/>
                <a:cs typeface="Times New Roman" panose="02020603050405020304" pitchFamily="18" charset="0"/>
                <a:sym typeface="Gilda Display"/>
              </a:rPr>
              <a:t>Chatbots &amp; Virtual Assistants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Gilda Display"/>
                <a:cs typeface="Times New Roman" panose="02020603050405020304" pitchFamily="18" charset="0"/>
                <a:sym typeface="Gilda Display"/>
              </a:rPr>
              <a:t>Sentiment Analysis (Opinion Mining)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Hostile content detection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Machine Translation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Speech-to-Text &amp; Voice Interfaces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Question Answering Systems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Text Summarization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Emotion &amp; Intent Detection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ilda Display"/>
              </a:rPr>
              <a:t>Text Generation &amp; Content Creation</a:t>
            </a:r>
          </a:p>
        </p:txBody>
      </p:sp>
    </p:spTree>
    <p:extLst>
      <p:ext uri="{BB962C8B-B14F-4D97-AF65-F5344CB8AC3E}">
        <p14:creationId xmlns:p14="http://schemas.microsoft.com/office/powerpoint/2010/main" val="3604033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E56BF-D865-2EA9-535B-F866ED4D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683400-C9C4-4B69-793C-0ED3093E97C7}"/>
              </a:ext>
            </a:extLst>
          </p:cNvPr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59F770E-C950-747D-7C49-BFDE9F84D994}"/>
              </a:ext>
            </a:extLst>
          </p:cNvPr>
          <p:cNvSpPr txBox="1"/>
          <p:nvPr/>
        </p:nvSpPr>
        <p:spPr>
          <a:xfrm>
            <a:off x="666750" y="838173"/>
            <a:ext cx="8324850" cy="117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NLP Pipeline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23A347-E658-C9F1-941E-7E03545AC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460028"/>
            <a:ext cx="13335000" cy="603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6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</TotalTime>
  <Words>486</Words>
  <Application>Microsoft Office PowerPoint</Application>
  <PresentationFormat>Custom</PresentationFormat>
  <Paragraphs>104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HK Grotesk Bold</vt:lpstr>
      <vt:lpstr>Aptos</vt:lpstr>
      <vt:lpstr>HK Grotesk Light</vt:lpstr>
      <vt:lpstr>Arial</vt:lpstr>
      <vt:lpstr>Gilda Display</vt:lpstr>
      <vt:lpstr>Aptos Display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Applied Natural Language Processing</dc:title>
  <dc:description>Presentation - Applied Natural Language Processing</dc:description>
  <cp:lastModifiedBy>Shankar Biradar [MAHE-MIT]</cp:lastModifiedBy>
  <cp:revision>11</cp:revision>
  <dcterms:created xsi:type="dcterms:W3CDTF">2006-08-16T00:00:00Z</dcterms:created>
  <dcterms:modified xsi:type="dcterms:W3CDTF">2026-01-14T18:36:26Z</dcterms:modified>
  <dc:identifier>DAG95oDSAv0</dc:identifier>
</cp:coreProperties>
</file>