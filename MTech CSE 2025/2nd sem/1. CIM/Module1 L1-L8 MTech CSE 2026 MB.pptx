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89.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6.xml" ContentType="application/vnd.openxmlformats-officedocument.presentationml.notesSlide+xml"/>
  <Override PartName="/ppt/notesSlides/notesSlide90.xml" ContentType="application/vnd.openxmlformats-officedocument.presentationml.notesSlide+xml"/>
  <Override PartName="/ppt/notesSlides/notesSlide84.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85.xml" ContentType="application/vnd.openxmlformats-officedocument.presentationml.notesSlide+xml"/>
  <Override PartName="/ppt/notesSlides/notesSlide35.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40"/>
  </p:notesMasterIdLst>
  <p:sldIdLst>
    <p:sldId id="395" r:id="rId3"/>
    <p:sldId id="590" r:id="rId4"/>
    <p:sldId id="584" r:id="rId5"/>
    <p:sldId id="591" r:id="rId6"/>
    <p:sldId id="592" r:id="rId7"/>
    <p:sldId id="593" r:id="rId8"/>
    <p:sldId id="594" r:id="rId9"/>
    <p:sldId id="595" r:id="rId10"/>
    <p:sldId id="588" r:id="rId11"/>
    <p:sldId id="589" r:id="rId12"/>
    <p:sldId id="257" r:id="rId13"/>
    <p:sldId id="272" r:id="rId14"/>
    <p:sldId id="570" r:id="rId15"/>
    <p:sldId id="432" r:id="rId16"/>
    <p:sldId id="596" r:id="rId17"/>
    <p:sldId id="427" r:id="rId18"/>
    <p:sldId id="520" r:id="rId19"/>
    <p:sldId id="521" r:id="rId20"/>
    <p:sldId id="523" r:id="rId21"/>
    <p:sldId id="524" r:id="rId22"/>
    <p:sldId id="433" r:id="rId23"/>
    <p:sldId id="435" r:id="rId24"/>
    <p:sldId id="267" r:id="rId25"/>
    <p:sldId id="263" r:id="rId26"/>
    <p:sldId id="264" r:id="rId27"/>
    <p:sldId id="400" r:id="rId28"/>
    <p:sldId id="647" r:id="rId29"/>
    <p:sldId id="401" r:id="rId30"/>
    <p:sldId id="436" r:id="rId31"/>
    <p:sldId id="440" r:id="rId32"/>
    <p:sldId id="441" r:id="rId33"/>
    <p:sldId id="450" r:id="rId34"/>
    <p:sldId id="651" r:id="rId35"/>
    <p:sldId id="652" r:id="rId36"/>
    <p:sldId id="650" r:id="rId37"/>
    <p:sldId id="574" r:id="rId38"/>
    <p:sldId id="653" r:id="rId39"/>
    <p:sldId id="572" r:id="rId40"/>
    <p:sldId id="654" r:id="rId41"/>
    <p:sldId id="655" r:id="rId42"/>
    <p:sldId id="656" r:id="rId43"/>
    <p:sldId id="585" r:id="rId44"/>
    <p:sldId id="448" r:id="rId45"/>
    <p:sldId id="416" r:id="rId46"/>
    <p:sldId id="418" r:id="rId47"/>
    <p:sldId id="420" r:id="rId48"/>
    <p:sldId id="419" r:id="rId49"/>
    <p:sldId id="657" r:id="rId50"/>
    <p:sldId id="422" r:id="rId51"/>
    <p:sldId id="586" r:id="rId52"/>
    <p:sldId id="424" r:id="rId53"/>
    <p:sldId id="425" r:id="rId54"/>
    <p:sldId id="426" r:id="rId55"/>
    <p:sldId id="597" r:id="rId56"/>
    <p:sldId id="598" r:id="rId57"/>
    <p:sldId id="605" r:id="rId58"/>
    <p:sldId id="628" r:id="rId59"/>
    <p:sldId id="629" r:id="rId60"/>
    <p:sldId id="630" r:id="rId61"/>
    <p:sldId id="631" r:id="rId62"/>
    <p:sldId id="632" r:id="rId63"/>
    <p:sldId id="634" r:id="rId64"/>
    <p:sldId id="633" r:id="rId65"/>
    <p:sldId id="329" r:id="rId66"/>
    <p:sldId id="358" r:id="rId67"/>
    <p:sldId id="359" r:id="rId68"/>
    <p:sldId id="361" r:id="rId69"/>
    <p:sldId id="360" r:id="rId70"/>
    <p:sldId id="362" r:id="rId71"/>
    <p:sldId id="364" r:id="rId72"/>
    <p:sldId id="363" r:id="rId73"/>
    <p:sldId id="604" r:id="rId74"/>
    <p:sldId id="603" r:id="rId75"/>
    <p:sldId id="602" r:id="rId76"/>
    <p:sldId id="601" r:id="rId77"/>
    <p:sldId id="606" r:id="rId78"/>
    <p:sldId id="575" r:id="rId79"/>
    <p:sldId id="374" r:id="rId80"/>
    <p:sldId id="365" r:id="rId81"/>
    <p:sldId id="577" r:id="rId82"/>
    <p:sldId id="375" r:id="rId83"/>
    <p:sldId id="366" r:id="rId84"/>
    <p:sldId id="578" r:id="rId85"/>
    <p:sldId id="376" r:id="rId86"/>
    <p:sldId id="367" r:id="rId87"/>
    <p:sldId id="580" r:id="rId88"/>
    <p:sldId id="388" r:id="rId89"/>
    <p:sldId id="260" r:id="rId90"/>
    <p:sldId id="389" r:id="rId91"/>
    <p:sldId id="581" r:id="rId92"/>
    <p:sldId id="390" r:id="rId93"/>
    <p:sldId id="392" r:id="rId94"/>
    <p:sldId id="648" r:id="rId95"/>
    <p:sldId id="391" r:id="rId96"/>
    <p:sldId id="649" r:id="rId97"/>
    <p:sldId id="607" r:id="rId98"/>
    <p:sldId id="609" r:id="rId99"/>
    <p:sldId id="622" r:id="rId100"/>
    <p:sldId id="608" r:id="rId101"/>
    <p:sldId id="615" r:id="rId102"/>
    <p:sldId id="621" r:id="rId103"/>
    <p:sldId id="620" r:id="rId104"/>
    <p:sldId id="623" r:id="rId105"/>
    <p:sldId id="624" r:id="rId106"/>
    <p:sldId id="625" r:id="rId107"/>
    <p:sldId id="627" r:id="rId108"/>
    <p:sldId id="626" r:id="rId109"/>
    <p:sldId id="429" r:id="rId110"/>
    <p:sldId id="431" r:id="rId111"/>
    <p:sldId id="558" r:id="rId112"/>
    <p:sldId id="559" r:id="rId113"/>
    <p:sldId id="560" r:id="rId114"/>
    <p:sldId id="561" r:id="rId115"/>
    <p:sldId id="562" r:id="rId116"/>
    <p:sldId id="563" r:id="rId117"/>
    <p:sldId id="564" r:id="rId118"/>
    <p:sldId id="565" r:id="rId119"/>
    <p:sldId id="568" r:id="rId120"/>
    <p:sldId id="635" r:id="rId121"/>
    <p:sldId id="636" r:id="rId122"/>
    <p:sldId id="637" r:id="rId123"/>
    <p:sldId id="638" r:id="rId124"/>
    <p:sldId id="658" r:id="rId125"/>
    <p:sldId id="659" r:id="rId126"/>
    <p:sldId id="660" r:id="rId127"/>
    <p:sldId id="661" r:id="rId128"/>
    <p:sldId id="662" r:id="rId129"/>
    <p:sldId id="663" r:id="rId130"/>
    <p:sldId id="665" r:id="rId131"/>
    <p:sldId id="639" r:id="rId132"/>
    <p:sldId id="640" r:id="rId133"/>
    <p:sldId id="641" r:id="rId134"/>
    <p:sldId id="642" r:id="rId135"/>
    <p:sldId id="644" r:id="rId136"/>
    <p:sldId id="645" r:id="rId137"/>
    <p:sldId id="664" r:id="rId138"/>
    <p:sldId id="646" r:id="rId139"/>
  </p:sldIdLst>
  <p:sldSz cx="9144000" cy="6858000" type="screen4x3"/>
  <p:notesSz cx="6797675" cy="98742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84369" autoAdjust="0"/>
  </p:normalViewPr>
  <p:slideViewPr>
    <p:cSldViewPr>
      <p:cViewPr varScale="1">
        <p:scale>
          <a:sx n="53" d="100"/>
          <a:sy n="53" d="100"/>
        </p:scale>
        <p:origin x="1644" y="44"/>
      </p:cViewPr>
      <p:guideLst>
        <p:guide orient="horz" pos="2160"/>
        <p:guide pos="2880"/>
      </p:guideLst>
    </p:cSldViewPr>
  </p:slideViewPr>
  <p:notesTextViewPr>
    <p:cViewPr>
      <p:scale>
        <a:sx n="3" d="2"/>
        <a:sy n="3" d="2"/>
      </p:scale>
      <p:origin x="0" y="0"/>
    </p:cViewPr>
  </p:notesTextViewPr>
  <p:sorterViewPr>
    <p:cViewPr>
      <p:scale>
        <a:sx n="66" d="100"/>
        <a:sy n="66" d="100"/>
      </p:scale>
      <p:origin x="0" y="6062"/>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notesMaster" Target="notesMasters/notesMaster1.xml"/><Relationship Id="rId145"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presProps" Target="presProps.xml"/><Relationship Id="rId146" Type="http://schemas.openxmlformats.org/officeDocument/2006/relationships/customXml" Target="../customXml/item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customXml" Target="../customXml/item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viewProps" Target="view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5659" cy="4937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4" y="1"/>
            <a:ext cx="2945659" cy="493713"/>
          </a:xfrm>
          <a:prstGeom prst="rect">
            <a:avLst/>
          </a:prstGeom>
        </p:spPr>
        <p:txBody>
          <a:bodyPr vert="horz" lIns="91440" tIns="45720" rIns="91440" bIns="45720" rtlCol="0"/>
          <a:lstStyle>
            <a:lvl1pPr algn="r">
              <a:defRPr sz="1200"/>
            </a:lvl1pPr>
          </a:lstStyle>
          <a:p>
            <a:fld id="{586E5146-FD07-4142-91E5-F4903203624F}" type="datetimeFigureOut">
              <a:rPr lang="en-US" smtClean="0"/>
              <a:pPr/>
              <a:t>1/18/2026</a:t>
            </a:fld>
            <a:endParaRPr lang="en-US"/>
          </a:p>
        </p:txBody>
      </p:sp>
      <p:sp>
        <p:nvSpPr>
          <p:cNvPr id="4" name="Slide Image Placeholder 3"/>
          <p:cNvSpPr>
            <a:spLocks noGrp="1" noRot="1" noChangeAspect="1"/>
          </p:cNvSpPr>
          <p:nvPr>
            <p:ph type="sldImg" idx="2"/>
          </p:nvPr>
        </p:nvSpPr>
        <p:spPr>
          <a:xfrm>
            <a:off x="931863" y="741363"/>
            <a:ext cx="4933950"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690270"/>
            <a:ext cx="5438140" cy="44434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8825"/>
            <a:ext cx="2945659" cy="49371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4" y="9378825"/>
            <a:ext cx="2945659" cy="493713"/>
          </a:xfrm>
          <a:prstGeom prst="rect">
            <a:avLst/>
          </a:prstGeom>
        </p:spPr>
        <p:txBody>
          <a:bodyPr vert="horz" lIns="91440" tIns="45720" rIns="91440" bIns="45720" rtlCol="0" anchor="b"/>
          <a:lstStyle>
            <a:lvl1pPr algn="r">
              <a:defRPr sz="1200"/>
            </a:lvl1pPr>
          </a:lstStyle>
          <a:p>
            <a:fld id="{D923E61B-9923-41E8-A048-1B57D195D0C6}" type="slidenum">
              <a:rPr lang="en-US" smtClean="0"/>
              <a:pPr/>
              <a:t>‹#›</a:t>
            </a:fld>
            <a:endParaRPr lang="en-US"/>
          </a:p>
        </p:txBody>
      </p:sp>
    </p:spTree>
    <p:extLst>
      <p:ext uri="{BB962C8B-B14F-4D97-AF65-F5344CB8AC3E}">
        <p14:creationId xmlns:p14="http://schemas.microsoft.com/office/powerpoint/2010/main" val="914469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23E61B-9923-41E8-A048-1B57D195D0C6}" type="slidenum">
              <a:rPr lang="en-US" smtClean="0"/>
              <a:pPr/>
              <a:t>1</a:t>
            </a:fld>
            <a:endParaRPr lang="en-US"/>
          </a:p>
        </p:txBody>
      </p:sp>
    </p:spTree>
    <p:extLst>
      <p:ext uri="{BB962C8B-B14F-4D97-AF65-F5344CB8AC3E}">
        <p14:creationId xmlns:p14="http://schemas.microsoft.com/office/powerpoint/2010/main" val="4234324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2</a:t>
            </a:fld>
            <a:endParaRPr lang="en-US"/>
          </a:p>
        </p:txBody>
      </p:sp>
    </p:spTree>
    <p:extLst>
      <p:ext uri="{BB962C8B-B14F-4D97-AF65-F5344CB8AC3E}">
        <p14:creationId xmlns:p14="http://schemas.microsoft.com/office/powerpoint/2010/main" val="3252856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23E61B-9923-41E8-A048-1B57D195D0C6}" type="slidenum">
              <a:rPr lang="en-US" smtClean="0"/>
              <a:pPr/>
              <a:t>3</a:t>
            </a:fld>
            <a:endParaRPr lang="en-US"/>
          </a:p>
        </p:txBody>
      </p:sp>
    </p:spTree>
    <p:extLst>
      <p:ext uri="{BB962C8B-B14F-4D97-AF65-F5344CB8AC3E}">
        <p14:creationId xmlns:p14="http://schemas.microsoft.com/office/powerpoint/2010/main" val="3629666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4</a:t>
            </a:fld>
            <a:endParaRPr lang="en-US"/>
          </a:p>
        </p:txBody>
      </p:sp>
    </p:spTree>
    <p:extLst>
      <p:ext uri="{BB962C8B-B14F-4D97-AF65-F5344CB8AC3E}">
        <p14:creationId xmlns:p14="http://schemas.microsoft.com/office/powerpoint/2010/main" val="2802832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5</a:t>
            </a:fld>
            <a:endParaRPr lang="en-US"/>
          </a:p>
        </p:txBody>
      </p:sp>
    </p:spTree>
    <p:extLst>
      <p:ext uri="{BB962C8B-B14F-4D97-AF65-F5344CB8AC3E}">
        <p14:creationId xmlns:p14="http://schemas.microsoft.com/office/powerpoint/2010/main" val="3546963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923E61B-9923-41E8-A048-1B57D195D0C6}" type="slidenum">
              <a:rPr lang="en-US" smtClean="0"/>
              <a:pPr/>
              <a:t>6</a:t>
            </a:fld>
            <a:endParaRPr lang="en-US"/>
          </a:p>
        </p:txBody>
      </p:sp>
    </p:spTree>
    <p:extLst>
      <p:ext uri="{BB962C8B-B14F-4D97-AF65-F5344CB8AC3E}">
        <p14:creationId xmlns:p14="http://schemas.microsoft.com/office/powerpoint/2010/main" val="947084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A0A0A"/>
                </a:solidFill>
                <a:effectLst/>
                <a:latin typeface="Google Sans"/>
              </a:rPr>
              <a:t> </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923E61B-9923-41E8-A048-1B57D195D0C6}" type="slidenum">
              <a:rPr lang="en-US" smtClean="0"/>
              <a:pPr/>
              <a:t>7</a:t>
            </a:fld>
            <a:endParaRPr lang="en-US"/>
          </a:p>
        </p:txBody>
      </p:sp>
    </p:spTree>
    <p:extLst>
      <p:ext uri="{BB962C8B-B14F-4D97-AF65-F5344CB8AC3E}">
        <p14:creationId xmlns:p14="http://schemas.microsoft.com/office/powerpoint/2010/main" val="17499979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1800"/>
              </a:lnSpc>
              <a:spcBef>
                <a:spcPts val="900"/>
              </a:spcBef>
              <a:spcAft>
                <a:spcPts val="900"/>
              </a:spcAft>
            </a:pPr>
            <a:r>
              <a:rPr lang="en-US" b="0" i="0" dirty="0">
                <a:solidFill>
                  <a:srgbClr val="1F1F1F"/>
                </a:solidFill>
                <a:effectLst/>
                <a:latin typeface="Google Sans"/>
              </a:rPr>
              <a:t>What is the cloud infrastructure?</a:t>
            </a:r>
            <a:endParaRPr lang="en-US" b="0" i="0" dirty="0">
              <a:solidFill>
                <a:srgbClr val="1F1F1F"/>
              </a:solidFill>
              <a:effectLst/>
              <a:latin typeface="Arial" panose="020B0604020202020204" pitchFamily="34" charset="0"/>
            </a:endParaRPr>
          </a:p>
          <a:p>
            <a:pPr algn="l">
              <a:lnSpc>
                <a:spcPts val="1800"/>
              </a:lnSpc>
              <a:spcAft>
                <a:spcPts val="750"/>
              </a:spcAft>
            </a:pPr>
            <a:r>
              <a:rPr lang="en-US" b="0" i="0" dirty="0">
                <a:solidFill>
                  <a:srgbClr val="1F1F1F"/>
                </a:solidFill>
                <a:effectLst/>
                <a:latin typeface="Google Sans"/>
              </a:rPr>
              <a:t>Cloud Infrastructure is </a:t>
            </a:r>
            <a:r>
              <a:rPr lang="en-US" b="0" i="0" dirty="0">
                <a:solidFill>
                  <a:srgbClr val="040C28"/>
                </a:solidFill>
                <a:effectLst/>
                <a:latin typeface="Google Sans"/>
              </a:rPr>
              <a:t>the collection of hardware and software elements such as computing power, networking, storage, and virtualization resources </a:t>
            </a:r>
            <a:r>
              <a:rPr lang="en-US" b="1" i="0" dirty="0">
                <a:solidFill>
                  <a:srgbClr val="040C28"/>
                </a:solidFill>
                <a:effectLst/>
                <a:latin typeface="Google Sans"/>
              </a:rPr>
              <a:t>needed to enable cloud computing</a:t>
            </a:r>
            <a:r>
              <a:rPr lang="en-US" b="0" i="0" dirty="0">
                <a:solidFill>
                  <a:srgbClr val="1F1F1F"/>
                </a:solidFill>
                <a:effectLst/>
                <a:latin typeface="Google Sans"/>
              </a:rPr>
              <a:t>. Cloud infrastructure types usually </a:t>
            </a:r>
            <a:r>
              <a:rPr lang="en-US" b="1" i="0" dirty="0">
                <a:solidFill>
                  <a:srgbClr val="1F1F1F"/>
                </a:solidFill>
                <a:effectLst/>
                <a:latin typeface="Google Sans"/>
              </a:rPr>
              <a:t>also include a user interface (UI) for managing </a:t>
            </a:r>
            <a:r>
              <a:rPr lang="en-US" b="0" i="0" dirty="0">
                <a:solidFill>
                  <a:srgbClr val="1F1F1F"/>
                </a:solidFill>
                <a:effectLst/>
                <a:latin typeface="Google Sans"/>
              </a:rPr>
              <a:t>these virtual resources.</a:t>
            </a:r>
          </a:p>
          <a:p>
            <a:pPr algn="l">
              <a:lnSpc>
                <a:spcPts val="1800"/>
              </a:lnSpc>
              <a:spcBef>
                <a:spcPts val="900"/>
              </a:spcBef>
              <a:spcAft>
                <a:spcPts val="900"/>
              </a:spcAft>
            </a:pPr>
            <a:r>
              <a:rPr lang="en-US" b="0" i="0" dirty="0">
                <a:solidFill>
                  <a:srgbClr val="1F1F1F"/>
                </a:solidFill>
                <a:effectLst/>
                <a:latin typeface="Google Sans"/>
              </a:rPr>
              <a:t>What do you mean by cloud infrastructure management?</a:t>
            </a:r>
            <a:endParaRPr lang="en-US" b="0" i="0" dirty="0">
              <a:solidFill>
                <a:srgbClr val="1F1F1F"/>
              </a:solidFill>
              <a:effectLst/>
              <a:latin typeface="Arial" panose="020B0604020202020204" pitchFamily="34" charset="0"/>
            </a:endParaRPr>
          </a:p>
          <a:p>
            <a:pPr algn="l">
              <a:lnSpc>
                <a:spcPts val="1800"/>
              </a:lnSpc>
              <a:spcAft>
                <a:spcPts val="750"/>
              </a:spcAft>
            </a:pPr>
            <a:r>
              <a:rPr lang="en-US" b="0" i="0" dirty="0">
                <a:solidFill>
                  <a:srgbClr val="1F1F1F"/>
                </a:solidFill>
                <a:effectLst/>
                <a:latin typeface="Google Sans"/>
              </a:rPr>
              <a:t>Cloud infrastructure management </a:t>
            </a:r>
            <a:r>
              <a:rPr lang="en-US" b="0" i="0" dirty="0">
                <a:solidFill>
                  <a:srgbClr val="040C28"/>
                </a:solidFill>
                <a:effectLst/>
                <a:latin typeface="Google Sans"/>
              </a:rPr>
              <a:t>comprises the processes and tools needed to effectively allocate and deliver key resources when and where they are required</a:t>
            </a:r>
            <a:endParaRPr lang="en-US" b="0" i="0" dirty="0">
              <a:solidFill>
                <a:srgbClr val="1F1F1F"/>
              </a:solidFill>
              <a:effectLst/>
              <a:latin typeface="Arial" panose="020B0604020202020204" pitchFamily="34" charset="0"/>
            </a:endParaRPr>
          </a:p>
          <a:p>
            <a:pPr algn="l">
              <a:lnSpc>
                <a:spcPts val="1800"/>
              </a:lnSpc>
              <a:spcAft>
                <a:spcPts val="750"/>
              </a:spcAft>
            </a:pPr>
            <a:endParaRPr lang="en-US" b="0" i="0" dirty="0">
              <a:solidFill>
                <a:srgbClr val="1F1F1F"/>
              </a:solidFill>
              <a:effectLst/>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D923E61B-9923-41E8-A048-1B57D195D0C6}" type="slidenum">
              <a:rPr lang="en-US" smtClean="0"/>
              <a:pPr/>
              <a:t>11</a:t>
            </a:fld>
            <a:endParaRPr lang="en-US"/>
          </a:p>
        </p:txBody>
      </p:sp>
    </p:spTree>
    <p:extLst>
      <p:ext uri="{BB962C8B-B14F-4D97-AF65-F5344CB8AC3E}">
        <p14:creationId xmlns:p14="http://schemas.microsoft.com/office/powerpoint/2010/main" val="2202937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13</a:t>
            </a:fld>
            <a:endParaRPr lang="en-US"/>
          </a:p>
        </p:txBody>
      </p:sp>
    </p:spTree>
    <p:extLst>
      <p:ext uri="{BB962C8B-B14F-4D97-AF65-F5344CB8AC3E}">
        <p14:creationId xmlns:p14="http://schemas.microsoft.com/office/powerpoint/2010/main" val="3569561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投影片圖像版面配置區 1"/>
          <p:cNvSpPr>
            <a:spLocks noGrp="1" noRot="1" noChangeAspect="1" noTextEdit="1"/>
          </p:cNvSpPr>
          <p:nvPr>
            <p:ph type="sldImg"/>
          </p:nvPr>
        </p:nvSpPr>
        <p:spPr>
          <a:ln/>
        </p:spPr>
      </p:sp>
      <p:sp>
        <p:nvSpPr>
          <p:cNvPr id="9219"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b="1" dirty="0">
              <a:latin typeface="Arial" panose="020B0604020202020204" pitchFamily="34" charset="0"/>
            </a:endParaRPr>
          </a:p>
        </p:txBody>
      </p:sp>
      <p:sp>
        <p:nvSpPr>
          <p:cNvPr id="9220"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588AB0FC-D9CC-4291-B424-A3B9041112B8}" type="slidenum">
              <a:rPr lang="en-US" altLang="zh-TW">
                <a:latin typeface="Arial" panose="020B0604020202020204" pitchFamily="34" charset="0"/>
              </a:rPr>
              <a:pPr/>
              <a:t>14</a:t>
            </a:fld>
            <a:endParaRPr lang="en-US" altLang="zh-TW">
              <a:latin typeface="Arial" panose="020B0604020202020204" pitchFamily="34" charset="0"/>
            </a:endParaRPr>
          </a:p>
        </p:txBody>
      </p:sp>
    </p:spTree>
    <p:extLst>
      <p:ext uri="{BB962C8B-B14F-4D97-AF65-F5344CB8AC3E}">
        <p14:creationId xmlns:p14="http://schemas.microsoft.com/office/powerpoint/2010/main" val="19115890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23E61B-9923-41E8-A048-1B57D195D0C6}" type="slidenum">
              <a:rPr lang="en-US" smtClean="0"/>
              <a:pPr/>
              <a:t>15</a:t>
            </a:fld>
            <a:endParaRPr lang="en-US"/>
          </a:p>
        </p:txBody>
      </p:sp>
    </p:spTree>
    <p:extLst>
      <p:ext uri="{BB962C8B-B14F-4D97-AF65-F5344CB8AC3E}">
        <p14:creationId xmlns:p14="http://schemas.microsoft.com/office/powerpoint/2010/main" val="37592450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投影片圖像版面配置區 1"/>
          <p:cNvSpPr>
            <a:spLocks noGrp="1" noRot="1" noChangeAspect="1" noTextEdit="1"/>
          </p:cNvSpPr>
          <p:nvPr>
            <p:ph type="sldImg"/>
          </p:nvPr>
        </p:nvSpPr>
        <p:spPr>
          <a:ln/>
        </p:spPr>
      </p:sp>
      <p:sp>
        <p:nvSpPr>
          <p:cNvPr id="107523"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1.4.1	Self-Service</a:t>
            </a:r>
            <a:endParaRPr lang="zh-TW" altLang="en-US">
              <a:latin typeface="Arial" panose="020B0604020202020204" pitchFamily="34" charset="0"/>
            </a:endParaRPr>
          </a:p>
        </p:txBody>
      </p:sp>
      <p:sp>
        <p:nvSpPr>
          <p:cNvPr id="107524"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42C67759-3860-412A-9EB5-139BA018A84E}" type="slidenum">
              <a:rPr lang="en-US" altLang="zh-TW" smtClean="0">
                <a:latin typeface="Arial" panose="020B0604020202020204" pitchFamily="34" charset="0"/>
              </a:rPr>
              <a:pPr/>
              <a:t>17</a:t>
            </a:fld>
            <a:endParaRPr lang="en-US" altLang="zh-TW">
              <a:latin typeface="Arial" panose="020B0604020202020204" pitchFamily="34" charset="0"/>
            </a:endParaRPr>
          </a:p>
        </p:txBody>
      </p:sp>
    </p:spTree>
    <p:extLst>
      <p:ext uri="{BB962C8B-B14F-4D97-AF65-F5344CB8AC3E}">
        <p14:creationId xmlns:p14="http://schemas.microsoft.com/office/powerpoint/2010/main" val="31143310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投影片圖像版面配置區 1"/>
          <p:cNvSpPr>
            <a:spLocks noGrp="1" noRot="1" noChangeAspect="1" noTextEdit="1"/>
          </p:cNvSpPr>
          <p:nvPr>
            <p:ph type="sldImg"/>
          </p:nvPr>
        </p:nvSpPr>
        <p:spPr>
          <a:ln/>
        </p:spPr>
      </p:sp>
      <p:sp>
        <p:nvSpPr>
          <p:cNvPr id="109571"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1.4.2	Per-Usage Metering and Billing</a:t>
            </a:r>
            <a:endParaRPr lang="zh-TW" altLang="en-US">
              <a:latin typeface="Arial" panose="020B0604020202020204" pitchFamily="34" charset="0"/>
            </a:endParaRPr>
          </a:p>
        </p:txBody>
      </p:sp>
      <p:sp>
        <p:nvSpPr>
          <p:cNvPr id="109572"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7587D672-CBAC-43A8-A285-AD2594F8E821}" type="slidenum">
              <a:rPr lang="en-US" altLang="zh-TW" smtClean="0">
                <a:latin typeface="Arial" panose="020B0604020202020204" pitchFamily="34" charset="0"/>
              </a:rPr>
              <a:pPr/>
              <a:t>18</a:t>
            </a:fld>
            <a:endParaRPr lang="en-US" altLang="zh-TW">
              <a:latin typeface="Arial" panose="020B0604020202020204" pitchFamily="34" charset="0"/>
            </a:endParaRPr>
          </a:p>
        </p:txBody>
      </p:sp>
    </p:spTree>
    <p:extLst>
      <p:ext uri="{BB962C8B-B14F-4D97-AF65-F5344CB8AC3E}">
        <p14:creationId xmlns:p14="http://schemas.microsoft.com/office/powerpoint/2010/main" val="41647466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投影片圖像版面配置區 1"/>
          <p:cNvSpPr>
            <a:spLocks noGrp="1" noRot="1" noChangeAspect="1" noTextEdit="1"/>
          </p:cNvSpPr>
          <p:nvPr>
            <p:ph type="sldImg"/>
          </p:nvPr>
        </p:nvSpPr>
        <p:spPr>
          <a:ln/>
        </p:spPr>
      </p:sp>
      <p:sp>
        <p:nvSpPr>
          <p:cNvPr id="113667"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1.4.3	Elasticity</a:t>
            </a:r>
            <a:endParaRPr lang="zh-TW" altLang="en-US">
              <a:latin typeface="Arial" panose="020B0604020202020204" pitchFamily="34" charset="0"/>
            </a:endParaRPr>
          </a:p>
        </p:txBody>
      </p:sp>
      <p:sp>
        <p:nvSpPr>
          <p:cNvPr id="113668"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26C01CEF-5734-4F10-BE22-DDA366CBEA70}" type="slidenum">
              <a:rPr lang="en-US" altLang="zh-TW" smtClean="0">
                <a:latin typeface="Arial" panose="020B0604020202020204" pitchFamily="34" charset="0"/>
              </a:rPr>
              <a:pPr/>
              <a:t>19</a:t>
            </a:fld>
            <a:endParaRPr lang="en-US" altLang="zh-TW">
              <a:latin typeface="Arial" panose="020B0604020202020204" pitchFamily="34" charset="0"/>
            </a:endParaRPr>
          </a:p>
        </p:txBody>
      </p:sp>
    </p:spTree>
    <p:extLst>
      <p:ext uri="{BB962C8B-B14F-4D97-AF65-F5344CB8AC3E}">
        <p14:creationId xmlns:p14="http://schemas.microsoft.com/office/powerpoint/2010/main" val="521159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投影片圖像版面配置區 1"/>
          <p:cNvSpPr>
            <a:spLocks noGrp="1" noRot="1" noChangeAspect="1" noTextEdit="1"/>
          </p:cNvSpPr>
          <p:nvPr>
            <p:ph type="sldImg"/>
          </p:nvPr>
        </p:nvSpPr>
        <p:spPr>
          <a:ln/>
        </p:spPr>
      </p:sp>
      <p:sp>
        <p:nvSpPr>
          <p:cNvPr id="115715"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dirty="0">
              <a:latin typeface="Arial" panose="020B0604020202020204" pitchFamily="34" charset="0"/>
            </a:endParaRPr>
          </a:p>
        </p:txBody>
      </p:sp>
      <p:sp>
        <p:nvSpPr>
          <p:cNvPr id="115716"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E396BCD2-3A22-468F-8ED5-FCA613A4631D}" type="slidenum">
              <a:rPr lang="en-US" altLang="zh-TW" smtClean="0">
                <a:latin typeface="Arial" panose="020B0604020202020204" pitchFamily="34" charset="0"/>
              </a:rPr>
              <a:pPr/>
              <a:t>20</a:t>
            </a:fld>
            <a:endParaRPr lang="en-US" altLang="zh-TW">
              <a:latin typeface="Arial" panose="020B0604020202020204" pitchFamily="34" charset="0"/>
            </a:endParaRPr>
          </a:p>
        </p:txBody>
      </p:sp>
    </p:spTree>
    <p:extLst>
      <p:ext uri="{BB962C8B-B14F-4D97-AF65-F5344CB8AC3E}">
        <p14:creationId xmlns:p14="http://schemas.microsoft.com/office/powerpoint/2010/main" val="41218298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投影片圖像版面配置區 1"/>
          <p:cNvSpPr>
            <a:spLocks noGrp="1" noRot="1" noChangeAspect="1" noTextEdit="1"/>
          </p:cNvSpPr>
          <p:nvPr>
            <p:ph type="sldImg"/>
          </p:nvPr>
        </p:nvSpPr>
        <p:spPr>
          <a:ln/>
        </p:spPr>
      </p:sp>
      <p:sp>
        <p:nvSpPr>
          <p:cNvPr id="11267"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dirty="0">
              <a:latin typeface="Arial" panose="020B0604020202020204" pitchFamily="34" charset="0"/>
            </a:endParaRPr>
          </a:p>
        </p:txBody>
      </p:sp>
      <p:sp>
        <p:nvSpPr>
          <p:cNvPr id="11268"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5E36FEEB-9BAB-4CF3-AFD3-0FE42FB6D1C8}" type="slidenum">
              <a:rPr lang="en-US" altLang="zh-TW">
                <a:latin typeface="Arial" panose="020B0604020202020204" pitchFamily="34" charset="0"/>
              </a:rPr>
              <a:pPr/>
              <a:t>21</a:t>
            </a:fld>
            <a:endParaRPr lang="en-US" altLang="zh-TW">
              <a:latin typeface="Arial" panose="020B0604020202020204" pitchFamily="34" charset="0"/>
            </a:endParaRPr>
          </a:p>
        </p:txBody>
      </p:sp>
    </p:spTree>
    <p:extLst>
      <p:ext uri="{BB962C8B-B14F-4D97-AF65-F5344CB8AC3E}">
        <p14:creationId xmlns:p14="http://schemas.microsoft.com/office/powerpoint/2010/main" val="6855002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投影片圖像版面配置區 1"/>
          <p:cNvSpPr>
            <a:spLocks noGrp="1" noRot="1" noChangeAspect="1" noTextEdit="1"/>
          </p:cNvSpPr>
          <p:nvPr>
            <p:ph type="sldImg"/>
          </p:nvPr>
        </p:nvSpPr>
        <p:spPr>
          <a:ln/>
        </p:spPr>
      </p:sp>
      <p:sp>
        <p:nvSpPr>
          <p:cNvPr id="15363"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dirty="0">
              <a:latin typeface="Arial" panose="020B0604020202020204" pitchFamily="34" charset="0"/>
            </a:endParaRPr>
          </a:p>
        </p:txBody>
      </p:sp>
      <p:sp>
        <p:nvSpPr>
          <p:cNvPr id="15364"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D671FF76-96E0-4139-9A99-61DA4F925128}" type="slidenum">
              <a:rPr lang="en-US" altLang="zh-TW">
                <a:latin typeface="Arial" panose="020B0604020202020204" pitchFamily="34" charset="0"/>
              </a:rPr>
              <a:pPr/>
              <a:t>22</a:t>
            </a:fld>
            <a:endParaRPr lang="en-US" altLang="zh-TW">
              <a:latin typeface="Arial" panose="020B0604020202020204" pitchFamily="34" charset="0"/>
            </a:endParaRPr>
          </a:p>
        </p:txBody>
      </p:sp>
    </p:spTree>
    <p:extLst>
      <p:ext uri="{BB962C8B-B14F-4D97-AF65-F5344CB8AC3E}">
        <p14:creationId xmlns:p14="http://schemas.microsoft.com/office/powerpoint/2010/main" val="24644742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23E61B-9923-41E8-A048-1B57D195D0C6}" type="slidenum">
              <a:rPr lang="en-US" smtClean="0"/>
              <a:pPr/>
              <a:t>23</a:t>
            </a:fld>
            <a:endParaRPr lang="en-US"/>
          </a:p>
        </p:txBody>
      </p:sp>
    </p:spTree>
    <p:extLst>
      <p:ext uri="{BB962C8B-B14F-4D97-AF65-F5344CB8AC3E}">
        <p14:creationId xmlns:p14="http://schemas.microsoft.com/office/powerpoint/2010/main" val="8086988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23E61B-9923-41E8-A048-1B57D195D0C6}" type="slidenum">
              <a:rPr lang="en-US" smtClean="0"/>
              <a:pPr/>
              <a:t>24</a:t>
            </a:fld>
            <a:endParaRPr lang="en-US"/>
          </a:p>
        </p:txBody>
      </p:sp>
    </p:spTree>
    <p:extLst>
      <p:ext uri="{BB962C8B-B14F-4D97-AF65-F5344CB8AC3E}">
        <p14:creationId xmlns:p14="http://schemas.microsoft.com/office/powerpoint/2010/main" val="32269015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26</a:t>
            </a:fld>
            <a:endParaRPr lang="en-US"/>
          </a:p>
        </p:txBody>
      </p:sp>
    </p:spTree>
    <p:extLst>
      <p:ext uri="{BB962C8B-B14F-4D97-AF65-F5344CB8AC3E}">
        <p14:creationId xmlns:p14="http://schemas.microsoft.com/office/powerpoint/2010/main" val="21444438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A1413-CEF3-C70E-B92B-D414A9990D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00BE0E-5F74-4563-A534-54D90E2D9C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05C4DD-3446-EB14-A9C9-37CFEB1F70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8C5BF2-7A88-0955-783E-F592F182A907}"/>
              </a:ext>
            </a:extLst>
          </p:cNvPr>
          <p:cNvSpPr>
            <a:spLocks noGrp="1"/>
          </p:cNvSpPr>
          <p:nvPr>
            <p:ph type="sldNum" sz="quarter" idx="10"/>
          </p:nvPr>
        </p:nvSpPr>
        <p:spPr/>
        <p:txBody>
          <a:bodyPr/>
          <a:lstStyle/>
          <a:p>
            <a:fld id="{D923E61B-9923-41E8-A048-1B57D195D0C6}" type="slidenum">
              <a:rPr lang="en-US" smtClean="0"/>
              <a:pPr/>
              <a:t>27</a:t>
            </a:fld>
            <a:endParaRPr lang="en-US"/>
          </a:p>
        </p:txBody>
      </p:sp>
    </p:spTree>
    <p:extLst>
      <p:ext uri="{BB962C8B-B14F-4D97-AF65-F5344CB8AC3E}">
        <p14:creationId xmlns:p14="http://schemas.microsoft.com/office/powerpoint/2010/main" val="34896488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23E61B-9923-41E8-A048-1B57D195D0C6}" type="slidenum">
              <a:rPr lang="en-US" smtClean="0"/>
              <a:pPr/>
              <a:t>28</a:t>
            </a:fld>
            <a:endParaRPr lang="en-US"/>
          </a:p>
        </p:txBody>
      </p:sp>
    </p:spTree>
    <p:extLst>
      <p:ext uri="{BB962C8B-B14F-4D97-AF65-F5344CB8AC3E}">
        <p14:creationId xmlns:p14="http://schemas.microsoft.com/office/powerpoint/2010/main" val="14858694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投影片圖像版面配置區 1"/>
          <p:cNvSpPr>
            <a:spLocks noGrp="1" noRot="1" noChangeAspect="1" noTextEdit="1"/>
          </p:cNvSpPr>
          <p:nvPr>
            <p:ph type="sldImg"/>
          </p:nvPr>
        </p:nvSpPr>
        <p:spPr>
          <a:ln/>
        </p:spPr>
      </p:sp>
      <p:sp>
        <p:nvSpPr>
          <p:cNvPr id="19459"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1.2	Roots Of Cloud Computing</a:t>
            </a:r>
            <a:endParaRPr lang="en-US" altLang="zh-TW" b="1">
              <a:latin typeface="Arial" panose="020B0604020202020204" pitchFamily="34" charset="0"/>
            </a:endParaRPr>
          </a:p>
          <a:p>
            <a:r>
              <a:rPr lang="en-US" altLang="zh-TW" b="1">
                <a:latin typeface="Arial" panose="020B0604020202020204" pitchFamily="34" charset="0"/>
              </a:rPr>
              <a:t>FIGURE 1.1</a:t>
            </a:r>
            <a:endParaRPr lang="zh-TW" altLang="zh-TW">
              <a:latin typeface="Arial" panose="020B0604020202020204" pitchFamily="34" charset="0"/>
            </a:endParaRPr>
          </a:p>
          <a:p>
            <a:endParaRPr lang="zh-TW" altLang="en-US">
              <a:latin typeface="Arial" panose="020B0604020202020204" pitchFamily="34" charset="0"/>
            </a:endParaRPr>
          </a:p>
        </p:txBody>
      </p:sp>
      <p:sp>
        <p:nvSpPr>
          <p:cNvPr id="19460"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7D9F18B7-52C8-43AA-9845-F9D364D87A7F}" type="slidenum">
              <a:rPr lang="en-US" altLang="zh-TW">
                <a:latin typeface="Arial" panose="020B0604020202020204" pitchFamily="34" charset="0"/>
              </a:rPr>
              <a:pPr/>
              <a:t>29</a:t>
            </a:fld>
            <a:endParaRPr lang="en-US" altLang="zh-TW">
              <a:latin typeface="Arial" panose="020B0604020202020204" pitchFamily="34" charset="0"/>
            </a:endParaRPr>
          </a:p>
        </p:txBody>
      </p:sp>
    </p:spTree>
    <p:extLst>
      <p:ext uri="{BB962C8B-B14F-4D97-AF65-F5344CB8AC3E}">
        <p14:creationId xmlns:p14="http://schemas.microsoft.com/office/powerpoint/2010/main" val="25281291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5"/>
          </p:nvPr>
        </p:nvSpPr>
        <p:spPr/>
        <p:txBody>
          <a:bodyPr/>
          <a:lstStyle/>
          <a:p>
            <a:fld id="{D923E61B-9923-41E8-A048-1B57D195D0C6}" type="slidenum">
              <a:rPr lang="en-US" smtClean="0"/>
              <a:pPr/>
              <a:t>32</a:t>
            </a:fld>
            <a:endParaRPr lang="en-US"/>
          </a:p>
        </p:txBody>
      </p:sp>
    </p:spTree>
    <p:extLst>
      <p:ext uri="{BB962C8B-B14F-4D97-AF65-F5344CB8AC3E}">
        <p14:creationId xmlns:p14="http://schemas.microsoft.com/office/powerpoint/2010/main" val="35979027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2DA78-42BB-EEC7-0325-841C70282B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CAD154-BC2C-7E12-1B1F-26D712F567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DD485E-95B3-C137-7CD8-B18E784FA720}"/>
              </a:ext>
            </a:extLst>
          </p:cNvPr>
          <p:cNvSpPr>
            <a:spLocks noGrp="1"/>
          </p:cNvSpPr>
          <p:nvPr>
            <p:ph type="body" idx="1"/>
          </p:nvPr>
        </p:nvSpPr>
        <p:spPr/>
        <p:txBody>
          <a:bodyPr/>
          <a:lstStyle/>
          <a:p>
            <a:endParaRPr lang="en-US" baseline="0" dirty="0"/>
          </a:p>
        </p:txBody>
      </p:sp>
      <p:sp>
        <p:nvSpPr>
          <p:cNvPr id="4" name="Slide Number Placeholder 3">
            <a:extLst>
              <a:ext uri="{FF2B5EF4-FFF2-40B4-BE49-F238E27FC236}">
                <a16:creationId xmlns:a16="http://schemas.microsoft.com/office/drawing/2014/main" id="{8BE4D7FD-453A-3487-4C70-48189FBD5DA7}"/>
              </a:ext>
            </a:extLst>
          </p:cNvPr>
          <p:cNvSpPr>
            <a:spLocks noGrp="1"/>
          </p:cNvSpPr>
          <p:nvPr>
            <p:ph type="sldNum" sz="quarter" idx="5"/>
          </p:nvPr>
        </p:nvSpPr>
        <p:spPr/>
        <p:txBody>
          <a:bodyPr/>
          <a:lstStyle/>
          <a:p>
            <a:fld id="{D923E61B-9923-41E8-A048-1B57D195D0C6}" type="slidenum">
              <a:rPr lang="en-US" smtClean="0"/>
              <a:pPr/>
              <a:t>33</a:t>
            </a:fld>
            <a:endParaRPr lang="en-US"/>
          </a:p>
        </p:txBody>
      </p:sp>
    </p:spTree>
    <p:extLst>
      <p:ext uri="{BB962C8B-B14F-4D97-AF65-F5344CB8AC3E}">
        <p14:creationId xmlns:p14="http://schemas.microsoft.com/office/powerpoint/2010/main" val="15838517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93160-15F2-D8A1-375E-42B4EB6BC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37F7A-2BF9-3B8E-2833-FEC217D54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43A420-138E-6E74-6499-EE97927ECF6B}"/>
              </a:ext>
            </a:extLst>
          </p:cNvPr>
          <p:cNvSpPr>
            <a:spLocks noGrp="1"/>
          </p:cNvSpPr>
          <p:nvPr>
            <p:ph type="body" idx="1"/>
          </p:nvPr>
        </p:nvSpPr>
        <p:spPr/>
        <p:txBody>
          <a:bodyPr/>
          <a:lstStyle/>
          <a:p>
            <a:endParaRPr lang="en-US" baseline="0" dirty="0"/>
          </a:p>
        </p:txBody>
      </p:sp>
      <p:sp>
        <p:nvSpPr>
          <p:cNvPr id="4" name="Slide Number Placeholder 3">
            <a:extLst>
              <a:ext uri="{FF2B5EF4-FFF2-40B4-BE49-F238E27FC236}">
                <a16:creationId xmlns:a16="http://schemas.microsoft.com/office/drawing/2014/main" id="{8835C85F-54CF-E8BB-6D56-382E7376513F}"/>
              </a:ext>
            </a:extLst>
          </p:cNvPr>
          <p:cNvSpPr>
            <a:spLocks noGrp="1"/>
          </p:cNvSpPr>
          <p:nvPr>
            <p:ph type="sldNum" sz="quarter" idx="5"/>
          </p:nvPr>
        </p:nvSpPr>
        <p:spPr/>
        <p:txBody>
          <a:bodyPr/>
          <a:lstStyle/>
          <a:p>
            <a:fld id="{D923E61B-9923-41E8-A048-1B57D195D0C6}" type="slidenum">
              <a:rPr lang="en-US" smtClean="0"/>
              <a:pPr/>
              <a:t>34</a:t>
            </a:fld>
            <a:endParaRPr lang="en-US"/>
          </a:p>
        </p:txBody>
      </p:sp>
    </p:spTree>
    <p:extLst>
      <p:ext uri="{BB962C8B-B14F-4D97-AF65-F5344CB8AC3E}">
        <p14:creationId xmlns:p14="http://schemas.microsoft.com/office/powerpoint/2010/main" val="15952018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2D90C-FBCF-DA59-6042-B113E1D65A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A34491-5455-6E92-37FC-7EB1731380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4A3BB0-7D27-6C19-D089-5925F7219151}"/>
              </a:ext>
            </a:extLst>
          </p:cNvPr>
          <p:cNvSpPr>
            <a:spLocks noGrp="1"/>
          </p:cNvSpPr>
          <p:nvPr>
            <p:ph type="body" idx="1"/>
          </p:nvPr>
        </p:nvSpPr>
        <p:spPr/>
        <p:txBody>
          <a:bodyPr/>
          <a:lstStyle/>
          <a:p>
            <a:endParaRPr lang="en-US" baseline="0" dirty="0"/>
          </a:p>
        </p:txBody>
      </p:sp>
      <p:sp>
        <p:nvSpPr>
          <p:cNvPr id="4" name="Slide Number Placeholder 3">
            <a:extLst>
              <a:ext uri="{FF2B5EF4-FFF2-40B4-BE49-F238E27FC236}">
                <a16:creationId xmlns:a16="http://schemas.microsoft.com/office/drawing/2014/main" id="{B06EF50E-C552-7A5E-F931-D41BA53334AB}"/>
              </a:ext>
            </a:extLst>
          </p:cNvPr>
          <p:cNvSpPr>
            <a:spLocks noGrp="1"/>
          </p:cNvSpPr>
          <p:nvPr>
            <p:ph type="sldNum" sz="quarter" idx="5"/>
          </p:nvPr>
        </p:nvSpPr>
        <p:spPr/>
        <p:txBody>
          <a:bodyPr/>
          <a:lstStyle/>
          <a:p>
            <a:fld id="{D923E61B-9923-41E8-A048-1B57D195D0C6}" type="slidenum">
              <a:rPr lang="en-US" smtClean="0"/>
              <a:pPr/>
              <a:t>35</a:t>
            </a:fld>
            <a:endParaRPr lang="en-US"/>
          </a:p>
        </p:txBody>
      </p:sp>
    </p:spTree>
    <p:extLst>
      <p:ext uri="{BB962C8B-B14F-4D97-AF65-F5344CB8AC3E}">
        <p14:creationId xmlns:p14="http://schemas.microsoft.com/office/powerpoint/2010/main" val="517542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投影片圖像版面配置區 1"/>
          <p:cNvSpPr>
            <a:spLocks noGrp="1" noRot="1" noChangeAspect="1" noTextEdit="1"/>
          </p:cNvSpPr>
          <p:nvPr>
            <p:ph type="sldImg"/>
          </p:nvPr>
        </p:nvSpPr>
        <p:spPr>
          <a:ln/>
        </p:spPr>
      </p:sp>
      <p:sp>
        <p:nvSpPr>
          <p:cNvPr id="29699"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dirty="0">
              <a:latin typeface="Arial" panose="020B0604020202020204" pitchFamily="34" charset="0"/>
            </a:endParaRPr>
          </a:p>
        </p:txBody>
      </p:sp>
      <p:sp>
        <p:nvSpPr>
          <p:cNvPr id="29700"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1C1734D3-CF98-4501-8FA4-CE5723F96D1D}" type="slidenum">
              <a:rPr lang="en-US" altLang="zh-TW">
                <a:latin typeface="Arial" panose="020B0604020202020204" pitchFamily="34" charset="0"/>
              </a:rPr>
              <a:pPr/>
              <a:t>36</a:t>
            </a:fld>
            <a:endParaRPr lang="en-US" altLang="zh-TW">
              <a:latin typeface="Arial" panose="020B0604020202020204" pitchFamily="34" charset="0"/>
            </a:endParaRPr>
          </a:p>
        </p:txBody>
      </p:sp>
    </p:spTree>
    <p:extLst>
      <p:ext uri="{BB962C8B-B14F-4D97-AF65-F5344CB8AC3E}">
        <p14:creationId xmlns:p14="http://schemas.microsoft.com/office/powerpoint/2010/main" val="5706485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C7BED-A220-8608-5E00-E17E22140282}"/>
            </a:ext>
          </a:extLst>
        </p:cNvPr>
        <p:cNvGrpSpPr/>
        <p:nvPr/>
      </p:nvGrpSpPr>
      <p:grpSpPr>
        <a:xfrm>
          <a:off x="0" y="0"/>
          <a:ext cx="0" cy="0"/>
          <a:chOff x="0" y="0"/>
          <a:chExt cx="0" cy="0"/>
        </a:xfrm>
      </p:grpSpPr>
      <p:sp>
        <p:nvSpPr>
          <p:cNvPr id="29698" name="投影片圖像版面配置區 1">
            <a:extLst>
              <a:ext uri="{FF2B5EF4-FFF2-40B4-BE49-F238E27FC236}">
                <a16:creationId xmlns:a16="http://schemas.microsoft.com/office/drawing/2014/main" id="{86FD13C3-FBC5-43CE-F660-221F48C9BB57}"/>
              </a:ext>
            </a:extLst>
          </p:cNvPr>
          <p:cNvSpPr>
            <a:spLocks noGrp="1" noRot="1" noChangeAspect="1" noTextEdit="1"/>
          </p:cNvSpPr>
          <p:nvPr>
            <p:ph type="sldImg"/>
          </p:nvPr>
        </p:nvSpPr>
        <p:spPr>
          <a:ln/>
        </p:spPr>
      </p:sp>
      <p:sp>
        <p:nvSpPr>
          <p:cNvPr id="29699" name="備忘稿版面配置區 2">
            <a:extLst>
              <a:ext uri="{FF2B5EF4-FFF2-40B4-BE49-F238E27FC236}">
                <a16:creationId xmlns:a16="http://schemas.microsoft.com/office/drawing/2014/main" id="{09B21FAD-43A9-528F-8F57-5D268B522D1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lnSpcReduction="10000"/>
          </a:bodyPr>
          <a:lstStyle/>
          <a:p>
            <a:endParaRPr lang="zh-TW" altLang="en-US" dirty="0">
              <a:latin typeface="Arial" panose="020B0604020202020204" pitchFamily="34" charset="0"/>
            </a:endParaRPr>
          </a:p>
        </p:txBody>
      </p:sp>
      <p:sp>
        <p:nvSpPr>
          <p:cNvPr id="29700" name="投影片編號版面配置區 3">
            <a:extLst>
              <a:ext uri="{FF2B5EF4-FFF2-40B4-BE49-F238E27FC236}">
                <a16:creationId xmlns:a16="http://schemas.microsoft.com/office/drawing/2014/main" id="{1F0351A8-D6E8-4466-60FA-7D5EFFD1C7D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1C1734D3-CF98-4501-8FA4-CE5723F96D1D}" type="slidenum">
              <a:rPr lang="en-US" altLang="zh-TW">
                <a:latin typeface="Arial" panose="020B0604020202020204" pitchFamily="34" charset="0"/>
              </a:rPr>
              <a:pPr/>
              <a:t>37</a:t>
            </a:fld>
            <a:endParaRPr lang="en-US" altLang="zh-TW">
              <a:latin typeface="Arial" panose="020B0604020202020204" pitchFamily="34" charset="0"/>
            </a:endParaRPr>
          </a:p>
        </p:txBody>
      </p:sp>
    </p:spTree>
    <p:extLst>
      <p:ext uri="{BB962C8B-B14F-4D97-AF65-F5344CB8AC3E}">
        <p14:creationId xmlns:p14="http://schemas.microsoft.com/office/powerpoint/2010/main" val="33254662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投影片圖像版面配置區 1"/>
          <p:cNvSpPr>
            <a:spLocks noGrp="1" noRot="1" noChangeAspect="1" noTextEdit="1"/>
          </p:cNvSpPr>
          <p:nvPr>
            <p:ph type="sldImg"/>
          </p:nvPr>
        </p:nvSpPr>
        <p:spPr>
          <a:ln/>
        </p:spPr>
      </p:sp>
      <p:sp>
        <p:nvSpPr>
          <p:cNvPr id="27651"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dirty="0">
              <a:latin typeface="Arial" panose="020B0604020202020204" pitchFamily="34" charset="0"/>
            </a:endParaRPr>
          </a:p>
        </p:txBody>
      </p:sp>
      <p:sp>
        <p:nvSpPr>
          <p:cNvPr id="27652"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AB27FE1D-3404-4A86-AD56-5F01C2D8A7E6}" type="slidenum">
              <a:rPr lang="en-US" altLang="zh-TW">
                <a:latin typeface="Arial" panose="020B0604020202020204" pitchFamily="34" charset="0"/>
              </a:rPr>
              <a:pPr/>
              <a:t>38</a:t>
            </a:fld>
            <a:endParaRPr lang="en-US" altLang="zh-TW">
              <a:latin typeface="Arial" panose="020B0604020202020204" pitchFamily="34" charset="0"/>
            </a:endParaRPr>
          </a:p>
        </p:txBody>
      </p:sp>
    </p:spTree>
    <p:extLst>
      <p:ext uri="{BB962C8B-B14F-4D97-AF65-F5344CB8AC3E}">
        <p14:creationId xmlns:p14="http://schemas.microsoft.com/office/powerpoint/2010/main" val="29277479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5A045-0953-58A5-98F8-F04705557562}"/>
            </a:ext>
          </a:extLst>
        </p:cNvPr>
        <p:cNvGrpSpPr/>
        <p:nvPr/>
      </p:nvGrpSpPr>
      <p:grpSpPr>
        <a:xfrm>
          <a:off x="0" y="0"/>
          <a:ext cx="0" cy="0"/>
          <a:chOff x="0" y="0"/>
          <a:chExt cx="0" cy="0"/>
        </a:xfrm>
      </p:grpSpPr>
      <p:sp>
        <p:nvSpPr>
          <p:cNvPr id="27650" name="投影片圖像版面配置區 1">
            <a:extLst>
              <a:ext uri="{FF2B5EF4-FFF2-40B4-BE49-F238E27FC236}">
                <a16:creationId xmlns:a16="http://schemas.microsoft.com/office/drawing/2014/main" id="{FBD5B4F9-198D-2A81-81B9-A58BCCFA83AA}"/>
              </a:ext>
            </a:extLst>
          </p:cNvPr>
          <p:cNvSpPr>
            <a:spLocks noGrp="1" noRot="1" noChangeAspect="1" noTextEdit="1"/>
          </p:cNvSpPr>
          <p:nvPr>
            <p:ph type="sldImg"/>
          </p:nvPr>
        </p:nvSpPr>
        <p:spPr>
          <a:ln/>
        </p:spPr>
      </p:sp>
      <p:sp>
        <p:nvSpPr>
          <p:cNvPr id="27651" name="備忘稿版面配置區 2">
            <a:extLst>
              <a:ext uri="{FF2B5EF4-FFF2-40B4-BE49-F238E27FC236}">
                <a16:creationId xmlns:a16="http://schemas.microsoft.com/office/drawing/2014/main" id="{5EB3440E-C086-AE89-BD44-17BF16426FC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dirty="0">
              <a:latin typeface="Arial" panose="020B0604020202020204" pitchFamily="34" charset="0"/>
            </a:endParaRPr>
          </a:p>
        </p:txBody>
      </p:sp>
      <p:sp>
        <p:nvSpPr>
          <p:cNvPr id="27652" name="投影片編號版面配置區 3">
            <a:extLst>
              <a:ext uri="{FF2B5EF4-FFF2-40B4-BE49-F238E27FC236}">
                <a16:creationId xmlns:a16="http://schemas.microsoft.com/office/drawing/2014/main" id="{88ECA194-1657-0050-8918-D7A21DC58DC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AB27FE1D-3404-4A86-AD56-5F01C2D8A7E6}" type="slidenum">
              <a:rPr lang="en-US" altLang="zh-TW">
                <a:latin typeface="Arial" panose="020B0604020202020204" pitchFamily="34" charset="0"/>
              </a:rPr>
              <a:pPr/>
              <a:t>39</a:t>
            </a:fld>
            <a:endParaRPr lang="en-US" altLang="zh-TW">
              <a:latin typeface="Arial" panose="020B0604020202020204" pitchFamily="34" charset="0"/>
            </a:endParaRPr>
          </a:p>
        </p:txBody>
      </p:sp>
    </p:spTree>
    <p:extLst>
      <p:ext uri="{BB962C8B-B14F-4D97-AF65-F5344CB8AC3E}">
        <p14:creationId xmlns:p14="http://schemas.microsoft.com/office/powerpoint/2010/main" val="41995834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77590-878E-9099-8AE1-E7C1B8847CAF}"/>
            </a:ext>
          </a:extLst>
        </p:cNvPr>
        <p:cNvGrpSpPr/>
        <p:nvPr/>
      </p:nvGrpSpPr>
      <p:grpSpPr>
        <a:xfrm>
          <a:off x="0" y="0"/>
          <a:ext cx="0" cy="0"/>
          <a:chOff x="0" y="0"/>
          <a:chExt cx="0" cy="0"/>
        </a:xfrm>
      </p:grpSpPr>
      <p:sp>
        <p:nvSpPr>
          <p:cNvPr id="27650" name="投影片圖像版面配置區 1">
            <a:extLst>
              <a:ext uri="{FF2B5EF4-FFF2-40B4-BE49-F238E27FC236}">
                <a16:creationId xmlns:a16="http://schemas.microsoft.com/office/drawing/2014/main" id="{EF7B8BEE-07C2-BF70-3081-25FB3362C01C}"/>
              </a:ext>
            </a:extLst>
          </p:cNvPr>
          <p:cNvSpPr>
            <a:spLocks noGrp="1" noRot="1" noChangeAspect="1" noTextEdit="1"/>
          </p:cNvSpPr>
          <p:nvPr>
            <p:ph type="sldImg"/>
          </p:nvPr>
        </p:nvSpPr>
        <p:spPr>
          <a:ln/>
        </p:spPr>
      </p:sp>
      <p:sp>
        <p:nvSpPr>
          <p:cNvPr id="27651" name="備忘稿版面配置區 2">
            <a:extLst>
              <a:ext uri="{FF2B5EF4-FFF2-40B4-BE49-F238E27FC236}">
                <a16:creationId xmlns:a16="http://schemas.microsoft.com/office/drawing/2014/main" id="{BB90D999-24C1-01AE-5A55-2884B6E3ECE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1200" b="0" i="0" kern="1200" dirty="0">
              <a:solidFill>
                <a:schemeClr val="tx1"/>
              </a:solidFill>
              <a:effectLst/>
              <a:latin typeface="+mn-lt"/>
              <a:ea typeface="+mn-ea"/>
              <a:cs typeface="+mn-cs"/>
            </a:endParaRPr>
          </a:p>
        </p:txBody>
      </p:sp>
      <p:sp>
        <p:nvSpPr>
          <p:cNvPr id="27652" name="投影片編號版面配置區 3">
            <a:extLst>
              <a:ext uri="{FF2B5EF4-FFF2-40B4-BE49-F238E27FC236}">
                <a16:creationId xmlns:a16="http://schemas.microsoft.com/office/drawing/2014/main" id="{71AECE78-CC85-A938-9ABD-EC0FBB48E23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AB27FE1D-3404-4A86-AD56-5F01C2D8A7E6}" type="slidenum">
              <a:rPr lang="en-US" altLang="zh-TW">
                <a:latin typeface="Arial" panose="020B0604020202020204" pitchFamily="34" charset="0"/>
              </a:rPr>
              <a:pPr/>
              <a:t>40</a:t>
            </a:fld>
            <a:endParaRPr lang="en-US" altLang="zh-TW">
              <a:latin typeface="Arial" panose="020B0604020202020204" pitchFamily="34" charset="0"/>
            </a:endParaRPr>
          </a:p>
        </p:txBody>
      </p:sp>
    </p:spTree>
    <p:extLst>
      <p:ext uri="{BB962C8B-B14F-4D97-AF65-F5344CB8AC3E}">
        <p14:creationId xmlns:p14="http://schemas.microsoft.com/office/powerpoint/2010/main" val="29188293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FF33C-50C5-596D-6DA7-B29E5489196A}"/>
            </a:ext>
          </a:extLst>
        </p:cNvPr>
        <p:cNvGrpSpPr/>
        <p:nvPr/>
      </p:nvGrpSpPr>
      <p:grpSpPr>
        <a:xfrm>
          <a:off x="0" y="0"/>
          <a:ext cx="0" cy="0"/>
          <a:chOff x="0" y="0"/>
          <a:chExt cx="0" cy="0"/>
        </a:xfrm>
      </p:grpSpPr>
      <p:sp>
        <p:nvSpPr>
          <p:cNvPr id="27650" name="投影片圖像版面配置區 1">
            <a:extLst>
              <a:ext uri="{FF2B5EF4-FFF2-40B4-BE49-F238E27FC236}">
                <a16:creationId xmlns:a16="http://schemas.microsoft.com/office/drawing/2014/main" id="{E022F382-3AA9-09A6-DBB8-150CBDD2D69A}"/>
              </a:ext>
            </a:extLst>
          </p:cNvPr>
          <p:cNvSpPr>
            <a:spLocks noGrp="1" noRot="1" noChangeAspect="1" noTextEdit="1"/>
          </p:cNvSpPr>
          <p:nvPr>
            <p:ph type="sldImg"/>
          </p:nvPr>
        </p:nvSpPr>
        <p:spPr>
          <a:ln/>
        </p:spPr>
      </p:sp>
      <p:sp>
        <p:nvSpPr>
          <p:cNvPr id="27651" name="備忘稿版面配置區 2">
            <a:extLst>
              <a:ext uri="{FF2B5EF4-FFF2-40B4-BE49-F238E27FC236}">
                <a16:creationId xmlns:a16="http://schemas.microsoft.com/office/drawing/2014/main" id="{E20883BF-7245-11B4-1104-5A8CD5F53C0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dirty="0">
              <a:latin typeface="Arial" panose="020B0604020202020204" pitchFamily="34" charset="0"/>
            </a:endParaRPr>
          </a:p>
        </p:txBody>
      </p:sp>
      <p:sp>
        <p:nvSpPr>
          <p:cNvPr id="27652" name="投影片編號版面配置區 3">
            <a:extLst>
              <a:ext uri="{FF2B5EF4-FFF2-40B4-BE49-F238E27FC236}">
                <a16:creationId xmlns:a16="http://schemas.microsoft.com/office/drawing/2014/main" id="{05F639F0-4A8B-408F-5407-2B212B0900A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AB27FE1D-3404-4A86-AD56-5F01C2D8A7E6}" type="slidenum">
              <a:rPr lang="en-US" altLang="zh-TW">
                <a:latin typeface="Arial" panose="020B0604020202020204" pitchFamily="34" charset="0"/>
              </a:rPr>
              <a:pPr/>
              <a:t>41</a:t>
            </a:fld>
            <a:endParaRPr lang="en-US" altLang="zh-TW">
              <a:latin typeface="Arial" panose="020B0604020202020204" pitchFamily="34" charset="0"/>
            </a:endParaRPr>
          </a:p>
        </p:txBody>
      </p:sp>
    </p:spTree>
    <p:extLst>
      <p:ext uri="{BB962C8B-B14F-4D97-AF65-F5344CB8AC3E}">
        <p14:creationId xmlns:p14="http://schemas.microsoft.com/office/powerpoint/2010/main" val="5826297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投影片圖像版面配置區 1"/>
          <p:cNvSpPr>
            <a:spLocks noGrp="1" noRot="1" noChangeAspect="1" noTextEdit="1"/>
          </p:cNvSpPr>
          <p:nvPr>
            <p:ph type="sldImg"/>
          </p:nvPr>
        </p:nvSpPr>
        <p:spPr>
          <a:ln/>
        </p:spPr>
      </p:sp>
      <p:sp>
        <p:nvSpPr>
          <p:cNvPr id="27651"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dirty="0">
              <a:latin typeface="Arial" panose="020B0604020202020204" pitchFamily="34" charset="0"/>
            </a:endParaRPr>
          </a:p>
        </p:txBody>
      </p:sp>
      <p:sp>
        <p:nvSpPr>
          <p:cNvPr id="27652"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AB27FE1D-3404-4A86-AD56-5F01C2D8A7E6}" type="slidenum">
              <a:rPr lang="en-US" altLang="zh-TW">
                <a:latin typeface="Arial" panose="020B0604020202020204" pitchFamily="34" charset="0"/>
              </a:rPr>
              <a:pPr/>
              <a:t>42</a:t>
            </a:fld>
            <a:endParaRPr lang="en-US" altLang="zh-TW">
              <a:latin typeface="Arial" panose="020B0604020202020204" pitchFamily="34" charset="0"/>
            </a:endParaRPr>
          </a:p>
        </p:txBody>
      </p:sp>
    </p:spTree>
    <p:extLst>
      <p:ext uri="{BB962C8B-B14F-4D97-AF65-F5344CB8AC3E}">
        <p14:creationId xmlns:p14="http://schemas.microsoft.com/office/powerpoint/2010/main" val="12305622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投影片圖像版面配置區 1"/>
          <p:cNvSpPr>
            <a:spLocks noGrp="1" noRot="1" noChangeAspect="1" noTextEdit="1"/>
          </p:cNvSpPr>
          <p:nvPr>
            <p:ph type="sldImg"/>
          </p:nvPr>
        </p:nvSpPr>
        <p:spPr>
          <a:ln/>
        </p:spPr>
      </p:sp>
      <p:sp>
        <p:nvSpPr>
          <p:cNvPr id="33795"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dirty="0">
              <a:latin typeface="Arial" panose="020B0604020202020204" pitchFamily="34" charset="0"/>
            </a:endParaRPr>
          </a:p>
        </p:txBody>
      </p:sp>
      <p:sp>
        <p:nvSpPr>
          <p:cNvPr id="33796"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46053B68-8DAB-4DFE-9A21-9979AFF80446}" type="slidenum">
              <a:rPr lang="en-US" altLang="zh-TW">
                <a:latin typeface="Arial" panose="020B0604020202020204" pitchFamily="34" charset="0"/>
              </a:rPr>
              <a:pPr/>
              <a:t>43</a:t>
            </a:fld>
            <a:endParaRPr lang="en-US" altLang="zh-TW">
              <a:latin typeface="Arial" panose="020B0604020202020204" pitchFamily="34" charset="0"/>
            </a:endParaRPr>
          </a:p>
        </p:txBody>
      </p:sp>
    </p:spTree>
    <p:extLst>
      <p:ext uri="{BB962C8B-B14F-4D97-AF65-F5344CB8AC3E}">
        <p14:creationId xmlns:p14="http://schemas.microsoft.com/office/powerpoint/2010/main" val="4079744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Wikipedia vision: </a:t>
            </a:r>
            <a:r>
              <a:rPr lang="en-US" sz="1200" b="1" i="0" kern="1200" dirty="0">
                <a:solidFill>
                  <a:schemeClr val="tx1"/>
                </a:solidFill>
                <a:effectLst/>
                <a:latin typeface="+mn-lt"/>
                <a:ea typeface="+mn-ea"/>
                <a:cs typeface="+mn-cs"/>
              </a:rPr>
              <a:t>Google Maps API</a:t>
            </a:r>
            <a:r>
              <a:rPr lang="en-US" sz="1200" b="0" i="0" kern="1200" dirty="0">
                <a:solidFill>
                  <a:schemeClr val="tx1"/>
                </a:solidFill>
                <a:effectLst/>
                <a:latin typeface="+mn-lt"/>
                <a:ea typeface="+mn-ea"/>
                <a:cs typeface="+mn-cs"/>
              </a:rPr>
              <a:t> and the </a:t>
            </a:r>
            <a:r>
              <a:rPr lang="en-US" sz="1200" b="1" i="0" kern="1200" dirty="0">
                <a:solidFill>
                  <a:schemeClr val="tx1"/>
                </a:solidFill>
                <a:effectLst/>
                <a:latin typeface="+mn-lt"/>
                <a:ea typeface="+mn-ea"/>
                <a:cs typeface="+mn-cs"/>
              </a:rPr>
              <a:t>Wikipedia API</a:t>
            </a:r>
            <a:r>
              <a:rPr lang="en-US" sz="1200" b="0" i="0" kern="1200" dirty="0">
                <a:solidFill>
                  <a:schemeClr val="tx1"/>
                </a:solidFill>
                <a:effectLst/>
                <a:latin typeface="+mn-lt"/>
                <a:ea typeface="+mn-ea"/>
                <a:cs typeface="+mn-cs"/>
              </a:rPr>
              <a:t> </a:t>
            </a:r>
            <a:r>
              <a:rPr lang="en-US" dirty="0"/>
              <a:t>to display, in near real-time, the geographic locations of users making edits to the English Wikipedia</a:t>
            </a:r>
            <a:r>
              <a:rPr lang="en-US" sz="1200" b="0" i="0" kern="1200" dirty="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5"/>
          </p:nvPr>
        </p:nvSpPr>
        <p:spPr/>
        <p:txBody>
          <a:bodyPr/>
          <a:lstStyle/>
          <a:p>
            <a:fld id="{D923E61B-9923-41E8-A048-1B57D195D0C6}" type="slidenum">
              <a:rPr lang="en-US" smtClean="0"/>
              <a:pPr/>
              <a:t>44</a:t>
            </a:fld>
            <a:endParaRPr lang="en-US"/>
          </a:p>
        </p:txBody>
      </p:sp>
    </p:spTree>
    <p:extLst>
      <p:ext uri="{BB962C8B-B14F-4D97-AF65-F5344CB8AC3E}">
        <p14:creationId xmlns:p14="http://schemas.microsoft.com/office/powerpoint/2010/main" val="12686999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45</a:t>
            </a:fld>
            <a:endParaRPr lang="en-US"/>
          </a:p>
        </p:txBody>
      </p:sp>
    </p:spTree>
    <p:extLst>
      <p:ext uri="{BB962C8B-B14F-4D97-AF65-F5344CB8AC3E}">
        <p14:creationId xmlns:p14="http://schemas.microsoft.com/office/powerpoint/2010/main" val="8358714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23E61B-9923-41E8-A048-1B57D195D0C6}" type="slidenum">
              <a:rPr lang="en-US" smtClean="0"/>
              <a:pPr/>
              <a:t>47</a:t>
            </a:fld>
            <a:endParaRPr lang="en-US"/>
          </a:p>
        </p:txBody>
      </p:sp>
    </p:spTree>
    <p:extLst>
      <p:ext uri="{BB962C8B-B14F-4D97-AF65-F5344CB8AC3E}">
        <p14:creationId xmlns:p14="http://schemas.microsoft.com/office/powerpoint/2010/main" val="42592687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49</a:t>
            </a:fld>
            <a:endParaRPr lang="en-US"/>
          </a:p>
        </p:txBody>
      </p:sp>
    </p:spTree>
    <p:extLst>
      <p:ext uri="{BB962C8B-B14F-4D97-AF65-F5344CB8AC3E}">
        <p14:creationId xmlns:p14="http://schemas.microsoft.com/office/powerpoint/2010/main" val="919547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23E61B-9923-41E8-A048-1B57D195D0C6}" type="slidenum">
              <a:rPr lang="en-US" smtClean="0"/>
              <a:pPr/>
              <a:t>51</a:t>
            </a:fld>
            <a:endParaRPr lang="en-US"/>
          </a:p>
        </p:txBody>
      </p:sp>
    </p:spTree>
    <p:extLst>
      <p:ext uri="{BB962C8B-B14F-4D97-AF65-F5344CB8AC3E}">
        <p14:creationId xmlns:p14="http://schemas.microsoft.com/office/powerpoint/2010/main" val="8225560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Forest fire monitoring</a:t>
            </a:r>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52</a:t>
            </a:fld>
            <a:endParaRPr lang="en-US"/>
          </a:p>
        </p:txBody>
      </p:sp>
    </p:spTree>
    <p:extLst>
      <p:ext uri="{BB962C8B-B14F-4D97-AF65-F5344CB8AC3E}">
        <p14:creationId xmlns:p14="http://schemas.microsoft.com/office/powerpoint/2010/main" val="7738234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54</a:t>
            </a:fld>
            <a:endParaRPr lang="en-US"/>
          </a:p>
        </p:txBody>
      </p:sp>
    </p:spTree>
    <p:extLst>
      <p:ext uri="{BB962C8B-B14F-4D97-AF65-F5344CB8AC3E}">
        <p14:creationId xmlns:p14="http://schemas.microsoft.com/office/powerpoint/2010/main" val="2048041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55</a:t>
            </a:fld>
            <a:endParaRPr lang="en-US"/>
          </a:p>
        </p:txBody>
      </p:sp>
    </p:spTree>
    <p:extLst>
      <p:ext uri="{BB962C8B-B14F-4D97-AF65-F5344CB8AC3E}">
        <p14:creationId xmlns:p14="http://schemas.microsoft.com/office/powerpoint/2010/main" val="1833136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23E61B-9923-41E8-A048-1B57D195D0C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61268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23E61B-9923-41E8-A048-1B57D195D0C6}" type="slidenum">
              <a:rPr lang="en-US" smtClean="0"/>
              <a:pPr/>
              <a:t>59</a:t>
            </a:fld>
            <a:endParaRPr lang="en-US"/>
          </a:p>
        </p:txBody>
      </p:sp>
    </p:spTree>
    <p:extLst>
      <p:ext uri="{BB962C8B-B14F-4D97-AF65-F5344CB8AC3E}">
        <p14:creationId xmlns:p14="http://schemas.microsoft.com/office/powerpoint/2010/main" val="4482272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23E61B-9923-41E8-A048-1B57D195D0C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897803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23E61B-9923-41E8-A048-1B57D195D0C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145169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dirty="0">
              <a:solidFill>
                <a:srgbClr val="000000"/>
              </a:solidFill>
              <a:latin typeface="Georgia" panose="02040502050405020303" pitchFamily="18" charset="0"/>
              <a:ea typeface="Times New Roman" panose="02020603050405020304" pitchFamily="18" charset="0"/>
            </a:endParaRP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dirty="0">
              <a:solidFill>
                <a:srgbClr val="000000"/>
              </a:solidFill>
              <a:latin typeface="Georgia" panose="02040502050405020303"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23E61B-9923-41E8-A048-1B57D195D0C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4100323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23E61B-9923-41E8-A048-1B57D195D0C6}" type="slidenum">
              <a:rPr lang="en-US" smtClean="0"/>
              <a:pPr/>
              <a:t>72</a:t>
            </a:fld>
            <a:endParaRPr lang="en-US"/>
          </a:p>
        </p:txBody>
      </p:sp>
    </p:spTree>
    <p:extLst>
      <p:ext uri="{BB962C8B-B14F-4D97-AF65-F5344CB8AC3E}">
        <p14:creationId xmlns:p14="http://schemas.microsoft.com/office/powerpoint/2010/main" val="11713694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23E61B-9923-41E8-A048-1B57D195D0C6}" type="slidenum">
              <a:rPr lang="en-US" smtClean="0"/>
              <a:pPr/>
              <a:t>73</a:t>
            </a:fld>
            <a:endParaRPr lang="en-US"/>
          </a:p>
        </p:txBody>
      </p:sp>
    </p:spTree>
    <p:extLst>
      <p:ext uri="{BB962C8B-B14F-4D97-AF65-F5344CB8AC3E}">
        <p14:creationId xmlns:p14="http://schemas.microsoft.com/office/powerpoint/2010/main" val="345434167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79</a:t>
            </a:fld>
            <a:endParaRPr lang="en-US"/>
          </a:p>
        </p:txBody>
      </p:sp>
    </p:spTree>
    <p:extLst>
      <p:ext uri="{BB962C8B-B14F-4D97-AF65-F5344CB8AC3E}">
        <p14:creationId xmlns:p14="http://schemas.microsoft.com/office/powerpoint/2010/main" val="18701550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85</a:t>
            </a:fld>
            <a:endParaRPr lang="en-US"/>
          </a:p>
        </p:txBody>
      </p:sp>
    </p:spTree>
    <p:extLst>
      <p:ext uri="{BB962C8B-B14F-4D97-AF65-F5344CB8AC3E}">
        <p14:creationId xmlns:p14="http://schemas.microsoft.com/office/powerpoint/2010/main" val="102308857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rtl="0"/>
            <a:endParaRPr lang="en-US" dirty="0"/>
          </a:p>
        </p:txBody>
      </p:sp>
      <p:sp>
        <p:nvSpPr>
          <p:cNvPr id="4" name="Slide Number Placeholder 3"/>
          <p:cNvSpPr>
            <a:spLocks noGrp="1"/>
          </p:cNvSpPr>
          <p:nvPr>
            <p:ph type="sldNum" sz="quarter" idx="5"/>
          </p:nvPr>
        </p:nvSpPr>
        <p:spPr/>
        <p:txBody>
          <a:bodyPr/>
          <a:lstStyle/>
          <a:p>
            <a:fld id="{D923E61B-9923-41E8-A048-1B57D195D0C6}" type="slidenum">
              <a:rPr lang="en-US" smtClean="0"/>
              <a:pPr/>
              <a:t>89</a:t>
            </a:fld>
            <a:endParaRPr lang="en-US"/>
          </a:p>
        </p:txBody>
      </p:sp>
    </p:spTree>
    <p:extLst>
      <p:ext uri="{BB962C8B-B14F-4D97-AF65-F5344CB8AC3E}">
        <p14:creationId xmlns:p14="http://schemas.microsoft.com/office/powerpoint/2010/main" val="397531595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90</a:t>
            </a:fld>
            <a:endParaRPr lang="en-US"/>
          </a:p>
        </p:txBody>
      </p:sp>
    </p:spTree>
    <p:extLst>
      <p:ext uri="{BB962C8B-B14F-4D97-AF65-F5344CB8AC3E}">
        <p14:creationId xmlns:p14="http://schemas.microsoft.com/office/powerpoint/2010/main" val="80722392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rtl="0"/>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91</a:t>
            </a:fld>
            <a:endParaRPr lang="en-US"/>
          </a:p>
        </p:txBody>
      </p:sp>
    </p:spTree>
    <p:extLst>
      <p:ext uri="{BB962C8B-B14F-4D97-AF65-F5344CB8AC3E}">
        <p14:creationId xmlns:p14="http://schemas.microsoft.com/office/powerpoint/2010/main" val="33238629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92</a:t>
            </a:fld>
            <a:endParaRPr lang="en-US"/>
          </a:p>
        </p:txBody>
      </p:sp>
    </p:spTree>
    <p:extLst>
      <p:ext uri="{BB962C8B-B14F-4D97-AF65-F5344CB8AC3E}">
        <p14:creationId xmlns:p14="http://schemas.microsoft.com/office/powerpoint/2010/main" val="212373477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54F84-D526-4DC5-DDB6-DC33B6789D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E56A6-85FE-444D-FDEF-27BD31FADB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214313-3063-BB1C-FA03-276F9988FC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0A3D86-00CE-9256-15F0-4EA3ABEE85E9}"/>
              </a:ext>
            </a:extLst>
          </p:cNvPr>
          <p:cNvSpPr>
            <a:spLocks noGrp="1"/>
          </p:cNvSpPr>
          <p:nvPr>
            <p:ph type="sldNum" sz="quarter" idx="10"/>
          </p:nvPr>
        </p:nvSpPr>
        <p:spPr/>
        <p:txBody>
          <a:bodyPr/>
          <a:lstStyle/>
          <a:p>
            <a:fld id="{D923E61B-9923-41E8-A048-1B57D195D0C6}" type="slidenum">
              <a:rPr lang="en-US" smtClean="0"/>
              <a:pPr/>
              <a:t>93</a:t>
            </a:fld>
            <a:endParaRPr lang="en-US"/>
          </a:p>
        </p:txBody>
      </p:sp>
    </p:spTree>
    <p:extLst>
      <p:ext uri="{BB962C8B-B14F-4D97-AF65-F5344CB8AC3E}">
        <p14:creationId xmlns:p14="http://schemas.microsoft.com/office/powerpoint/2010/main" val="71213430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94</a:t>
            </a:fld>
            <a:endParaRPr lang="en-US"/>
          </a:p>
        </p:txBody>
      </p:sp>
    </p:spTree>
    <p:extLst>
      <p:ext uri="{BB962C8B-B14F-4D97-AF65-F5344CB8AC3E}">
        <p14:creationId xmlns:p14="http://schemas.microsoft.com/office/powerpoint/2010/main" val="8119460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F15E1-C38E-2447-8EA2-5F731CC58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AC0301-C4EA-BBB0-43E3-CF1A6EE9D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AD8EE4-4B6C-E5B2-56B0-D2BEAB1302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982941-F21A-9246-228B-B9479E437BD2}"/>
              </a:ext>
            </a:extLst>
          </p:cNvPr>
          <p:cNvSpPr>
            <a:spLocks noGrp="1"/>
          </p:cNvSpPr>
          <p:nvPr>
            <p:ph type="sldNum" sz="quarter" idx="10"/>
          </p:nvPr>
        </p:nvSpPr>
        <p:spPr/>
        <p:txBody>
          <a:bodyPr/>
          <a:lstStyle/>
          <a:p>
            <a:fld id="{D923E61B-9923-41E8-A048-1B57D195D0C6}" type="slidenum">
              <a:rPr lang="en-US" smtClean="0"/>
              <a:pPr/>
              <a:t>95</a:t>
            </a:fld>
            <a:endParaRPr lang="en-US"/>
          </a:p>
        </p:txBody>
      </p:sp>
    </p:spTree>
    <p:extLst>
      <p:ext uri="{BB962C8B-B14F-4D97-AF65-F5344CB8AC3E}">
        <p14:creationId xmlns:p14="http://schemas.microsoft.com/office/powerpoint/2010/main" val="351204316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96</a:t>
            </a:fld>
            <a:endParaRPr lang="en-US"/>
          </a:p>
        </p:txBody>
      </p:sp>
    </p:spTree>
    <p:extLst>
      <p:ext uri="{BB962C8B-B14F-4D97-AF65-F5344CB8AC3E}">
        <p14:creationId xmlns:p14="http://schemas.microsoft.com/office/powerpoint/2010/main" val="370586570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97</a:t>
            </a:fld>
            <a:endParaRPr lang="en-US"/>
          </a:p>
        </p:txBody>
      </p:sp>
    </p:spTree>
    <p:extLst>
      <p:ext uri="{BB962C8B-B14F-4D97-AF65-F5344CB8AC3E}">
        <p14:creationId xmlns:p14="http://schemas.microsoft.com/office/powerpoint/2010/main" val="200107158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98</a:t>
            </a:fld>
            <a:endParaRPr lang="en-US"/>
          </a:p>
        </p:txBody>
      </p:sp>
    </p:spTree>
    <p:extLst>
      <p:ext uri="{BB962C8B-B14F-4D97-AF65-F5344CB8AC3E}">
        <p14:creationId xmlns:p14="http://schemas.microsoft.com/office/powerpoint/2010/main" val="37080073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99</a:t>
            </a:fld>
            <a:endParaRPr lang="en-US"/>
          </a:p>
        </p:txBody>
      </p:sp>
    </p:spTree>
    <p:extLst>
      <p:ext uri="{BB962C8B-B14F-4D97-AF65-F5344CB8AC3E}">
        <p14:creationId xmlns:p14="http://schemas.microsoft.com/office/powerpoint/2010/main" val="84293008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100</a:t>
            </a:fld>
            <a:endParaRPr lang="en-US"/>
          </a:p>
        </p:txBody>
      </p:sp>
    </p:spTree>
    <p:extLst>
      <p:ext uri="{BB962C8B-B14F-4D97-AF65-F5344CB8AC3E}">
        <p14:creationId xmlns:p14="http://schemas.microsoft.com/office/powerpoint/2010/main" val="46788628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101</a:t>
            </a:fld>
            <a:endParaRPr lang="en-US"/>
          </a:p>
        </p:txBody>
      </p:sp>
    </p:spTree>
    <p:extLst>
      <p:ext uri="{BB962C8B-B14F-4D97-AF65-F5344CB8AC3E}">
        <p14:creationId xmlns:p14="http://schemas.microsoft.com/office/powerpoint/2010/main" val="365325609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102</a:t>
            </a:fld>
            <a:endParaRPr lang="en-US"/>
          </a:p>
        </p:txBody>
      </p:sp>
    </p:spTree>
    <p:extLst>
      <p:ext uri="{BB962C8B-B14F-4D97-AF65-F5344CB8AC3E}">
        <p14:creationId xmlns:p14="http://schemas.microsoft.com/office/powerpoint/2010/main" val="88567531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103</a:t>
            </a:fld>
            <a:endParaRPr lang="en-US"/>
          </a:p>
        </p:txBody>
      </p:sp>
    </p:spTree>
    <p:extLst>
      <p:ext uri="{BB962C8B-B14F-4D97-AF65-F5344CB8AC3E}">
        <p14:creationId xmlns:p14="http://schemas.microsoft.com/office/powerpoint/2010/main" val="291615227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104</a:t>
            </a:fld>
            <a:endParaRPr lang="en-US"/>
          </a:p>
        </p:txBody>
      </p:sp>
    </p:spTree>
    <p:extLst>
      <p:ext uri="{BB962C8B-B14F-4D97-AF65-F5344CB8AC3E}">
        <p14:creationId xmlns:p14="http://schemas.microsoft.com/office/powerpoint/2010/main" val="256076342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105</a:t>
            </a:fld>
            <a:endParaRPr lang="en-US"/>
          </a:p>
        </p:txBody>
      </p:sp>
    </p:spTree>
    <p:extLst>
      <p:ext uri="{BB962C8B-B14F-4D97-AF65-F5344CB8AC3E}">
        <p14:creationId xmlns:p14="http://schemas.microsoft.com/office/powerpoint/2010/main" val="164026438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106</a:t>
            </a:fld>
            <a:endParaRPr lang="en-US"/>
          </a:p>
        </p:txBody>
      </p:sp>
    </p:spTree>
    <p:extLst>
      <p:ext uri="{BB962C8B-B14F-4D97-AF65-F5344CB8AC3E}">
        <p14:creationId xmlns:p14="http://schemas.microsoft.com/office/powerpoint/2010/main" val="316241834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107</a:t>
            </a:fld>
            <a:endParaRPr lang="en-US"/>
          </a:p>
        </p:txBody>
      </p:sp>
    </p:spTree>
    <p:extLst>
      <p:ext uri="{BB962C8B-B14F-4D97-AF65-F5344CB8AC3E}">
        <p14:creationId xmlns:p14="http://schemas.microsoft.com/office/powerpoint/2010/main" val="184043556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923E61B-9923-41E8-A048-1B57D195D0C6}" type="slidenum">
              <a:rPr lang="en-US" smtClean="0"/>
              <a:pPr/>
              <a:t>109</a:t>
            </a:fld>
            <a:endParaRPr lang="en-US"/>
          </a:p>
        </p:txBody>
      </p:sp>
    </p:spTree>
    <p:extLst>
      <p:ext uri="{BB962C8B-B14F-4D97-AF65-F5344CB8AC3E}">
        <p14:creationId xmlns:p14="http://schemas.microsoft.com/office/powerpoint/2010/main" val="188213126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投影片圖像版面配置區 1"/>
          <p:cNvSpPr>
            <a:spLocks noGrp="1" noRot="1" noChangeAspect="1" noTextEdit="1"/>
          </p:cNvSpPr>
          <p:nvPr>
            <p:ph type="sldImg"/>
          </p:nvPr>
        </p:nvSpPr>
        <p:spPr>
          <a:ln/>
        </p:spPr>
      </p:sp>
      <p:sp>
        <p:nvSpPr>
          <p:cNvPr id="181251"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1.8	Challenges And Risks</a:t>
            </a:r>
            <a:endParaRPr lang="zh-TW" altLang="en-US">
              <a:latin typeface="Arial" panose="020B0604020202020204" pitchFamily="34" charset="0"/>
            </a:endParaRPr>
          </a:p>
        </p:txBody>
      </p:sp>
      <p:sp>
        <p:nvSpPr>
          <p:cNvPr id="181252"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631EEA78-26FC-4C03-A4D1-C65A8697DB8B}" type="slidenum">
              <a:rPr lang="en-US" altLang="zh-TW" smtClean="0">
                <a:latin typeface="Arial" panose="020B0604020202020204" pitchFamily="34" charset="0"/>
              </a:rPr>
              <a:pPr/>
              <a:t>110</a:t>
            </a:fld>
            <a:endParaRPr lang="en-US" altLang="zh-TW">
              <a:latin typeface="Arial" panose="020B0604020202020204" pitchFamily="34" charset="0"/>
            </a:endParaRPr>
          </a:p>
        </p:txBody>
      </p:sp>
    </p:spTree>
    <p:extLst>
      <p:ext uri="{BB962C8B-B14F-4D97-AF65-F5344CB8AC3E}">
        <p14:creationId xmlns:p14="http://schemas.microsoft.com/office/powerpoint/2010/main" val="295069006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投影片圖像版面配置區 1"/>
          <p:cNvSpPr>
            <a:spLocks noGrp="1" noRot="1" noChangeAspect="1" noTextEdit="1"/>
          </p:cNvSpPr>
          <p:nvPr>
            <p:ph type="sldImg"/>
          </p:nvPr>
        </p:nvSpPr>
        <p:spPr>
          <a:ln/>
        </p:spPr>
      </p:sp>
      <p:sp>
        <p:nvSpPr>
          <p:cNvPr id="183299"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b="1" dirty="0">
              <a:highlight>
                <a:srgbClr val="FFFF00"/>
              </a:highlight>
              <a:latin typeface="Arial" panose="020B0604020202020204" pitchFamily="34" charset="0"/>
            </a:endParaRPr>
          </a:p>
        </p:txBody>
      </p:sp>
      <p:sp>
        <p:nvSpPr>
          <p:cNvPr id="183300"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494560FA-616E-46C7-B3A9-F9D1365E41C8}" type="slidenum">
              <a:rPr lang="en-US" altLang="zh-TW" smtClean="0">
                <a:latin typeface="Arial" panose="020B0604020202020204" pitchFamily="34" charset="0"/>
              </a:rPr>
              <a:pPr/>
              <a:t>111</a:t>
            </a:fld>
            <a:endParaRPr lang="en-US" altLang="zh-TW">
              <a:latin typeface="Arial" panose="020B0604020202020204" pitchFamily="34" charset="0"/>
            </a:endParaRPr>
          </a:p>
        </p:txBody>
      </p:sp>
    </p:spTree>
    <p:extLst>
      <p:ext uri="{BB962C8B-B14F-4D97-AF65-F5344CB8AC3E}">
        <p14:creationId xmlns:p14="http://schemas.microsoft.com/office/powerpoint/2010/main" val="318760297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投影片圖像版面配置區 1"/>
          <p:cNvSpPr>
            <a:spLocks noGrp="1" noRot="1" noChangeAspect="1" noTextEdit="1"/>
          </p:cNvSpPr>
          <p:nvPr>
            <p:ph type="sldImg"/>
          </p:nvPr>
        </p:nvSpPr>
        <p:spPr>
          <a:ln/>
        </p:spPr>
      </p:sp>
      <p:sp>
        <p:nvSpPr>
          <p:cNvPr id="185347"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1.8.1	Security, Privacy, and Trust</a:t>
            </a:r>
            <a:endParaRPr lang="zh-TW" altLang="en-US">
              <a:latin typeface="Arial" panose="020B0604020202020204" pitchFamily="34" charset="0"/>
            </a:endParaRPr>
          </a:p>
        </p:txBody>
      </p:sp>
      <p:sp>
        <p:nvSpPr>
          <p:cNvPr id="185348"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3E244D37-C902-4561-BC3F-6E3FC6FCB58F}" type="slidenum">
              <a:rPr lang="en-US" altLang="zh-TW" smtClean="0">
                <a:latin typeface="Arial" panose="020B0604020202020204" pitchFamily="34" charset="0"/>
              </a:rPr>
              <a:pPr/>
              <a:t>112</a:t>
            </a:fld>
            <a:endParaRPr lang="en-US" altLang="zh-TW">
              <a:latin typeface="Arial" panose="020B0604020202020204" pitchFamily="34" charset="0"/>
            </a:endParaRPr>
          </a:p>
        </p:txBody>
      </p:sp>
    </p:spTree>
    <p:extLst>
      <p:ext uri="{BB962C8B-B14F-4D97-AF65-F5344CB8AC3E}">
        <p14:creationId xmlns:p14="http://schemas.microsoft.com/office/powerpoint/2010/main" val="93809530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投影片圖像版面配置區 1"/>
          <p:cNvSpPr>
            <a:spLocks noGrp="1" noRot="1" noChangeAspect="1" noTextEdit="1"/>
          </p:cNvSpPr>
          <p:nvPr>
            <p:ph type="sldImg"/>
          </p:nvPr>
        </p:nvSpPr>
        <p:spPr>
          <a:ln/>
        </p:spPr>
      </p:sp>
      <p:sp>
        <p:nvSpPr>
          <p:cNvPr id="187395"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1.8.2	Data Lock-In and Standardization</a:t>
            </a:r>
            <a:endParaRPr lang="zh-TW" altLang="en-US">
              <a:latin typeface="Arial" panose="020B0604020202020204" pitchFamily="34" charset="0"/>
            </a:endParaRPr>
          </a:p>
        </p:txBody>
      </p:sp>
      <p:sp>
        <p:nvSpPr>
          <p:cNvPr id="187396"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3AD549DA-0863-4601-BFE6-C254B82637C1}" type="slidenum">
              <a:rPr lang="en-US" altLang="zh-TW" smtClean="0">
                <a:latin typeface="Arial" panose="020B0604020202020204" pitchFamily="34" charset="0"/>
              </a:rPr>
              <a:pPr/>
              <a:t>113</a:t>
            </a:fld>
            <a:endParaRPr lang="en-US" altLang="zh-TW">
              <a:latin typeface="Arial" panose="020B0604020202020204" pitchFamily="34" charset="0"/>
            </a:endParaRPr>
          </a:p>
        </p:txBody>
      </p:sp>
    </p:spTree>
    <p:extLst>
      <p:ext uri="{BB962C8B-B14F-4D97-AF65-F5344CB8AC3E}">
        <p14:creationId xmlns:p14="http://schemas.microsoft.com/office/powerpoint/2010/main" val="308204230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投影片圖像版面配置區 1"/>
          <p:cNvSpPr>
            <a:spLocks noGrp="1" noRot="1" noChangeAspect="1" noTextEdit="1"/>
          </p:cNvSpPr>
          <p:nvPr>
            <p:ph type="sldImg"/>
          </p:nvPr>
        </p:nvSpPr>
        <p:spPr>
          <a:ln/>
        </p:spPr>
      </p:sp>
      <p:sp>
        <p:nvSpPr>
          <p:cNvPr id="189443"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1.8.2	Data Lock-In and Standardization</a:t>
            </a:r>
            <a:endParaRPr lang="zh-TW" altLang="en-US">
              <a:latin typeface="Arial" panose="020B0604020202020204" pitchFamily="34" charset="0"/>
            </a:endParaRPr>
          </a:p>
        </p:txBody>
      </p:sp>
      <p:sp>
        <p:nvSpPr>
          <p:cNvPr id="189444"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499CAF1D-32A5-46F6-A009-FDCA0259455A}" type="slidenum">
              <a:rPr lang="en-US" altLang="zh-TW" smtClean="0">
                <a:latin typeface="Arial" panose="020B0604020202020204" pitchFamily="34" charset="0"/>
              </a:rPr>
              <a:pPr/>
              <a:t>114</a:t>
            </a:fld>
            <a:endParaRPr lang="en-US" altLang="zh-TW">
              <a:latin typeface="Arial" panose="020B0604020202020204" pitchFamily="34" charset="0"/>
            </a:endParaRPr>
          </a:p>
        </p:txBody>
      </p:sp>
    </p:spTree>
    <p:extLst>
      <p:ext uri="{BB962C8B-B14F-4D97-AF65-F5344CB8AC3E}">
        <p14:creationId xmlns:p14="http://schemas.microsoft.com/office/powerpoint/2010/main" val="197342556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投影片圖像版面配置區 1"/>
          <p:cNvSpPr>
            <a:spLocks noGrp="1" noRot="1" noChangeAspect="1" noTextEdit="1"/>
          </p:cNvSpPr>
          <p:nvPr>
            <p:ph type="sldImg"/>
          </p:nvPr>
        </p:nvSpPr>
        <p:spPr>
          <a:ln/>
        </p:spPr>
      </p:sp>
      <p:sp>
        <p:nvSpPr>
          <p:cNvPr id="191491"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1.8.3	Availability, Fault-Tolerance, and Disaster Recovery</a:t>
            </a:r>
            <a:endParaRPr lang="zh-TW" altLang="en-US">
              <a:latin typeface="Arial" panose="020B0604020202020204" pitchFamily="34" charset="0"/>
            </a:endParaRPr>
          </a:p>
        </p:txBody>
      </p:sp>
      <p:sp>
        <p:nvSpPr>
          <p:cNvPr id="191492"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6695DB9D-4C4C-4FE2-804D-E84699B49EC6}" type="slidenum">
              <a:rPr lang="en-US" altLang="zh-TW" smtClean="0">
                <a:latin typeface="Arial" panose="020B0604020202020204" pitchFamily="34" charset="0"/>
              </a:rPr>
              <a:pPr/>
              <a:t>115</a:t>
            </a:fld>
            <a:endParaRPr lang="en-US" altLang="zh-TW">
              <a:latin typeface="Arial" panose="020B0604020202020204" pitchFamily="34" charset="0"/>
            </a:endParaRPr>
          </a:p>
        </p:txBody>
      </p:sp>
    </p:spTree>
    <p:extLst>
      <p:ext uri="{BB962C8B-B14F-4D97-AF65-F5344CB8AC3E}">
        <p14:creationId xmlns:p14="http://schemas.microsoft.com/office/powerpoint/2010/main" val="388115852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投影片圖像版面配置區 1"/>
          <p:cNvSpPr>
            <a:spLocks noGrp="1" noRot="1" noChangeAspect="1" noTextEdit="1"/>
          </p:cNvSpPr>
          <p:nvPr>
            <p:ph type="sldImg"/>
          </p:nvPr>
        </p:nvSpPr>
        <p:spPr>
          <a:ln/>
        </p:spPr>
      </p:sp>
      <p:sp>
        <p:nvSpPr>
          <p:cNvPr id="193539"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1.8.3	Availability, Fault-Tolerance, and Disaster Recovery</a:t>
            </a:r>
            <a:endParaRPr lang="zh-TW" altLang="en-US">
              <a:latin typeface="Arial" panose="020B0604020202020204" pitchFamily="34" charset="0"/>
            </a:endParaRPr>
          </a:p>
        </p:txBody>
      </p:sp>
      <p:sp>
        <p:nvSpPr>
          <p:cNvPr id="193540"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A104C010-C4FF-45CB-BF73-623D07556B41}" type="slidenum">
              <a:rPr lang="en-US" altLang="zh-TW" smtClean="0">
                <a:latin typeface="Arial" panose="020B0604020202020204" pitchFamily="34" charset="0"/>
              </a:rPr>
              <a:pPr/>
              <a:t>116</a:t>
            </a:fld>
            <a:endParaRPr lang="en-US" altLang="zh-TW">
              <a:latin typeface="Arial" panose="020B0604020202020204" pitchFamily="34" charset="0"/>
            </a:endParaRPr>
          </a:p>
        </p:txBody>
      </p:sp>
    </p:spTree>
    <p:extLst>
      <p:ext uri="{BB962C8B-B14F-4D97-AF65-F5344CB8AC3E}">
        <p14:creationId xmlns:p14="http://schemas.microsoft.com/office/powerpoint/2010/main" val="327063658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投影片圖像版面配置區 1"/>
          <p:cNvSpPr>
            <a:spLocks noGrp="1" noRot="1" noChangeAspect="1" noTextEdit="1"/>
          </p:cNvSpPr>
          <p:nvPr>
            <p:ph type="sldImg"/>
          </p:nvPr>
        </p:nvSpPr>
        <p:spPr>
          <a:ln/>
        </p:spPr>
      </p:sp>
      <p:sp>
        <p:nvSpPr>
          <p:cNvPr id="195587"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1.8.4	Resource Management and Energy-Efﬁciency	</a:t>
            </a:r>
            <a:endParaRPr lang="zh-TW" altLang="en-US">
              <a:latin typeface="Arial" panose="020B0604020202020204" pitchFamily="34" charset="0"/>
            </a:endParaRPr>
          </a:p>
        </p:txBody>
      </p:sp>
      <p:sp>
        <p:nvSpPr>
          <p:cNvPr id="195588"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D1BCFA8E-24F5-4371-9ED5-5DD3BC0CEA5B}" type="slidenum">
              <a:rPr lang="en-US" altLang="zh-TW" smtClean="0">
                <a:latin typeface="Arial" panose="020B0604020202020204" pitchFamily="34" charset="0"/>
              </a:rPr>
              <a:pPr/>
              <a:t>117</a:t>
            </a:fld>
            <a:endParaRPr lang="en-US" altLang="zh-TW">
              <a:latin typeface="Arial" panose="020B0604020202020204" pitchFamily="34" charset="0"/>
            </a:endParaRPr>
          </a:p>
        </p:txBody>
      </p:sp>
    </p:spTree>
    <p:extLst>
      <p:ext uri="{BB962C8B-B14F-4D97-AF65-F5344CB8AC3E}">
        <p14:creationId xmlns:p14="http://schemas.microsoft.com/office/powerpoint/2010/main" val="326719701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投影片圖像版面配置區 1"/>
          <p:cNvSpPr>
            <a:spLocks noGrp="1" noRot="1" noChangeAspect="1" noTextEdit="1"/>
          </p:cNvSpPr>
          <p:nvPr>
            <p:ph type="sldImg"/>
          </p:nvPr>
        </p:nvSpPr>
        <p:spPr>
          <a:ln/>
        </p:spPr>
      </p:sp>
      <p:sp>
        <p:nvSpPr>
          <p:cNvPr id="201731"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dirty="0">
              <a:latin typeface="Arial" panose="020B0604020202020204" pitchFamily="34" charset="0"/>
            </a:endParaRPr>
          </a:p>
        </p:txBody>
      </p:sp>
      <p:sp>
        <p:nvSpPr>
          <p:cNvPr id="201732"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Verdana" panose="020B0604030504040204" pitchFamily="34" charset="0"/>
                <a:ea typeface="新細明體" pitchFamily="18" charset="-120"/>
              </a:defRPr>
            </a:lvl1pPr>
            <a:lvl2pPr marL="742950" indent="-285750">
              <a:defRPr kumimoji="1">
                <a:solidFill>
                  <a:schemeClr val="tx1"/>
                </a:solidFill>
                <a:latin typeface="Verdana" panose="020B0604030504040204" pitchFamily="34" charset="0"/>
                <a:ea typeface="新細明體" pitchFamily="18" charset="-120"/>
              </a:defRPr>
            </a:lvl2pPr>
            <a:lvl3pPr marL="1143000" indent="-228600">
              <a:defRPr kumimoji="1">
                <a:solidFill>
                  <a:schemeClr val="tx1"/>
                </a:solidFill>
                <a:latin typeface="Verdana" panose="020B0604030504040204" pitchFamily="34" charset="0"/>
                <a:ea typeface="新細明體" pitchFamily="18" charset="-120"/>
              </a:defRPr>
            </a:lvl3pPr>
            <a:lvl4pPr marL="1600200" indent="-228600">
              <a:defRPr kumimoji="1">
                <a:solidFill>
                  <a:schemeClr val="tx1"/>
                </a:solidFill>
                <a:latin typeface="Verdana" panose="020B0604030504040204" pitchFamily="34" charset="0"/>
                <a:ea typeface="新細明體" pitchFamily="18" charset="-120"/>
              </a:defRPr>
            </a:lvl4pPr>
            <a:lvl5pPr marL="2057400" indent="-228600">
              <a:defRPr kumimoji="1">
                <a:solidFill>
                  <a:schemeClr val="tx1"/>
                </a:solidFill>
                <a:latin typeface="Verdana" panose="020B0604030504040204"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Verdana" panose="020B0604030504040204" pitchFamily="34" charset="0"/>
                <a:ea typeface="新細明體" pitchFamily="18" charset="-120"/>
              </a:defRPr>
            </a:lvl9pPr>
          </a:lstStyle>
          <a:p>
            <a:fld id="{E273FFC7-F9AC-4123-98F4-CB5E7DD6DA6A}" type="slidenum">
              <a:rPr lang="en-US" altLang="zh-TW" smtClean="0">
                <a:latin typeface="Arial" panose="020B0604020202020204" pitchFamily="34" charset="0"/>
              </a:rPr>
              <a:pPr/>
              <a:t>118</a:t>
            </a:fld>
            <a:endParaRPr lang="en-US" altLang="zh-TW">
              <a:latin typeface="Arial" panose="020B0604020202020204" pitchFamily="34" charset="0"/>
            </a:endParaRPr>
          </a:p>
        </p:txBody>
      </p:sp>
    </p:spTree>
    <p:extLst>
      <p:ext uri="{BB962C8B-B14F-4D97-AF65-F5344CB8AC3E}">
        <p14:creationId xmlns:p14="http://schemas.microsoft.com/office/powerpoint/2010/main" val="62927313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119</a:t>
            </a:fld>
            <a:endParaRPr lang="en-US"/>
          </a:p>
        </p:txBody>
      </p:sp>
    </p:spTree>
    <p:extLst>
      <p:ext uri="{BB962C8B-B14F-4D97-AF65-F5344CB8AC3E}">
        <p14:creationId xmlns:p14="http://schemas.microsoft.com/office/powerpoint/2010/main" val="110468341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a:lnSpc>
                <a:spcPts val="2400"/>
              </a:lnSpc>
              <a:spcAft>
                <a:spcPts val="1500"/>
              </a:spcAft>
              <a:buNone/>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D923E61B-9923-41E8-A048-1B57D195D0C6}" type="slidenum">
              <a:rPr lang="en-US" smtClean="0"/>
              <a:pPr/>
              <a:t>120</a:t>
            </a:fld>
            <a:endParaRPr lang="en-US"/>
          </a:p>
        </p:txBody>
      </p:sp>
    </p:spTree>
    <p:extLst>
      <p:ext uri="{BB962C8B-B14F-4D97-AF65-F5344CB8AC3E}">
        <p14:creationId xmlns:p14="http://schemas.microsoft.com/office/powerpoint/2010/main" val="104653057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121</a:t>
            </a:fld>
            <a:endParaRPr lang="en-US"/>
          </a:p>
        </p:txBody>
      </p:sp>
    </p:spTree>
    <p:extLst>
      <p:ext uri="{BB962C8B-B14F-4D97-AF65-F5344CB8AC3E}">
        <p14:creationId xmlns:p14="http://schemas.microsoft.com/office/powerpoint/2010/main" val="225576980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122</a:t>
            </a:fld>
            <a:endParaRPr lang="en-US"/>
          </a:p>
        </p:txBody>
      </p:sp>
    </p:spTree>
    <p:extLst>
      <p:ext uri="{BB962C8B-B14F-4D97-AF65-F5344CB8AC3E}">
        <p14:creationId xmlns:p14="http://schemas.microsoft.com/office/powerpoint/2010/main" val="28635642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C91E8-932A-BF26-7ED2-F555956FD3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4F5F52-7DAC-9F96-C660-E9F20F1F47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119E60-0409-A435-6656-C7829565484C}"/>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878F61E9-64AF-C879-E4E9-BBE3D079218B}"/>
              </a:ext>
            </a:extLst>
          </p:cNvPr>
          <p:cNvSpPr>
            <a:spLocks noGrp="1"/>
          </p:cNvSpPr>
          <p:nvPr>
            <p:ph type="sldNum" sz="quarter" idx="10"/>
          </p:nvPr>
        </p:nvSpPr>
        <p:spPr/>
        <p:txBody>
          <a:bodyPr/>
          <a:lstStyle/>
          <a:p>
            <a:fld id="{D923E61B-9923-41E8-A048-1B57D195D0C6}" type="slidenum">
              <a:rPr lang="en-US" smtClean="0"/>
              <a:pPr/>
              <a:t>123</a:t>
            </a:fld>
            <a:endParaRPr lang="en-US"/>
          </a:p>
        </p:txBody>
      </p:sp>
    </p:spTree>
    <p:extLst>
      <p:ext uri="{BB962C8B-B14F-4D97-AF65-F5344CB8AC3E}">
        <p14:creationId xmlns:p14="http://schemas.microsoft.com/office/powerpoint/2010/main" val="14128983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E5231-27D1-A314-BA39-ABBBD3DE86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17ABFC-B875-AB97-B8DE-A1FA863EFF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5BF96-8A59-17B7-10E8-C6E43E39D3CF}"/>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CF982DAB-B78D-17BC-9A28-854FE6C7FE70}"/>
              </a:ext>
            </a:extLst>
          </p:cNvPr>
          <p:cNvSpPr>
            <a:spLocks noGrp="1"/>
          </p:cNvSpPr>
          <p:nvPr>
            <p:ph type="sldNum" sz="quarter" idx="10"/>
          </p:nvPr>
        </p:nvSpPr>
        <p:spPr/>
        <p:txBody>
          <a:bodyPr/>
          <a:lstStyle/>
          <a:p>
            <a:fld id="{D923E61B-9923-41E8-A048-1B57D195D0C6}" type="slidenum">
              <a:rPr lang="en-US" smtClean="0"/>
              <a:pPr/>
              <a:t>124</a:t>
            </a:fld>
            <a:endParaRPr lang="en-US"/>
          </a:p>
        </p:txBody>
      </p:sp>
    </p:spTree>
    <p:extLst>
      <p:ext uri="{BB962C8B-B14F-4D97-AF65-F5344CB8AC3E}">
        <p14:creationId xmlns:p14="http://schemas.microsoft.com/office/powerpoint/2010/main" val="423663870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F7D77-FE19-F156-E2DE-B1C13DEB9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3F2BA5-94B6-034C-2A60-2911233DC9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DFEB98-E781-344E-565E-25CB963978AA}"/>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 </a:t>
            </a:r>
          </a:p>
        </p:txBody>
      </p:sp>
      <p:sp>
        <p:nvSpPr>
          <p:cNvPr id="4" name="Slide Number Placeholder 3">
            <a:extLst>
              <a:ext uri="{FF2B5EF4-FFF2-40B4-BE49-F238E27FC236}">
                <a16:creationId xmlns:a16="http://schemas.microsoft.com/office/drawing/2014/main" id="{BCED30CC-8369-0FE4-DECA-6F1124F6831B}"/>
              </a:ext>
            </a:extLst>
          </p:cNvPr>
          <p:cNvSpPr>
            <a:spLocks noGrp="1"/>
          </p:cNvSpPr>
          <p:nvPr>
            <p:ph type="sldNum" sz="quarter" idx="10"/>
          </p:nvPr>
        </p:nvSpPr>
        <p:spPr/>
        <p:txBody>
          <a:bodyPr/>
          <a:lstStyle/>
          <a:p>
            <a:fld id="{D923E61B-9923-41E8-A048-1B57D195D0C6}" type="slidenum">
              <a:rPr lang="en-US" smtClean="0"/>
              <a:pPr/>
              <a:t>125</a:t>
            </a:fld>
            <a:endParaRPr lang="en-US"/>
          </a:p>
        </p:txBody>
      </p:sp>
    </p:spTree>
    <p:extLst>
      <p:ext uri="{BB962C8B-B14F-4D97-AF65-F5344CB8AC3E}">
        <p14:creationId xmlns:p14="http://schemas.microsoft.com/office/powerpoint/2010/main" val="127067217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A3AE3-B6E9-7A63-730F-4DD315955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A73A68-0269-BEA7-1CBE-ACC07EECDA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8E334D-75D1-F8E9-28A1-96603AEDE46B}"/>
              </a:ext>
            </a:extLst>
          </p:cNvPr>
          <p:cNvSpPr>
            <a:spLocks noGrp="1"/>
          </p:cNvSpPr>
          <p:nvPr>
            <p:ph type="body" idx="1"/>
          </p:nvPr>
        </p:nvSpPr>
        <p:spPr/>
        <p:txBody>
          <a:bodyPr>
            <a:normAutofit/>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a:extLst>
              <a:ext uri="{FF2B5EF4-FFF2-40B4-BE49-F238E27FC236}">
                <a16:creationId xmlns:a16="http://schemas.microsoft.com/office/drawing/2014/main" id="{EAE72E5E-F668-1128-7E0E-025BC3728385}"/>
              </a:ext>
            </a:extLst>
          </p:cNvPr>
          <p:cNvSpPr>
            <a:spLocks noGrp="1"/>
          </p:cNvSpPr>
          <p:nvPr>
            <p:ph type="sldNum" sz="quarter" idx="10"/>
          </p:nvPr>
        </p:nvSpPr>
        <p:spPr/>
        <p:txBody>
          <a:bodyPr/>
          <a:lstStyle/>
          <a:p>
            <a:fld id="{D923E61B-9923-41E8-A048-1B57D195D0C6}" type="slidenum">
              <a:rPr lang="en-US" smtClean="0"/>
              <a:pPr/>
              <a:t>126</a:t>
            </a:fld>
            <a:endParaRPr lang="en-US"/>
          </a:p>
        </p:txBody>
      </p:sp>
    </p:spTree>
    <p:extLst>
      <p:ext uri="{BB962C8B-B14F-4D97-AF65-F5344CB8AC3E}">
        <p14:creationId xmlns:p14="http://schemas.microsoft.com/office/powerpoint/2010/main" val="191546209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9C315-51E4-E65B-D780-87E75EF22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000A3-DCE0-B147-B3EC-38960ADD15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B842E8-872A-46BF-5BD7-618ED05EA1C6}"/>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FEBB39B-C84E-B69F-102A-50EEB5930689}"/>
              </a:ext>
            </a:extLst>
          </p:cNvPr>
          <p:cNvSpPr>
            <a:spLocks noGrp="1"/>
          </p:cNvSpPr>
          <p:nvPr>
            <p:ph type="sldNum" sz="quarter" idx="10"/>
          </p:nvPr>
        </p:nvSpPr>
        <p:spPr/>
        <p:txBody>
          <a:bodyPr/>
          <a:lstStyle/>
          <a:p>
            <a:fld id="{D923E61B-9923-41E8-A048-1B57D195D0C6}" type="slidenum">
              <a:rPr lang="en-US" smtClean="0"/>
              <a:pPr/>
              <a:t>127</a:t>
            </a:fld>
            <a:endParaRPr lang="en-US"/>
          </a:p>
        </p:txBody>
      </p:sp>
    </p:spTree>
    <p:extLst>
      <p:ext uri="{BB962C8B-B14F-4D97-AF65-F5344CB8AC3E}">
        <p14:creationId xmlns:p14="http://schemas.microsoft.com/office/powerpoint/2010/main" val="117578689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874AD-CABE-6086-3C32-D110781CDB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0AE8B-BA58-9002-1529-499C192323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98879D-B4EF-A0ED-72E2-92B70281850B}"/>
              </a:ext>
            </a:extLst>
          </p:cNvPr>
          <p:cNvSpPr>
            <a:spLocks noGrp="1"/>
          </p:cNvSpPr>
          <p:nvPr>
            <p:ph type="body" idx="1"/>
          </p:nvPr>
        </p:nvSpPr>
        <p:spPr/>
        <p:txBody>
          <a:bodyPr>
            <a:normAutofit/>
          </a:bodyPr>
          <a:lstStyle/>
          <a:p>
            <a:pPr fontAlgn="base"/>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5C6AC6D-94E5-4739-BB77-F625002B7BE6}"/>
              </a:ext>
            </a:extLst>
          </p:cNvPr>
          <p:cNvSpPr>
            <a:spLocks noGrp="1"/>
          </p:cNvSpPr>
          <p:nvPr>
            <p:ph type="sldNum" sz="quarter" idx="10"/>
          </p:nvPr>
        </p:nvSpPr>
        <p:spPr/>
        <p:txBody>
          <a:bodyPr/>
          <a:lstStyle/>
          <a:p>
            <a:fld id="{D923E61B-9923-41E8-A048-1B57D195D0C6}" type="slidenum">
              <a:rPr lang="en-US" smtClean="0"/>
              <a:pPr/>
              <a:t>128</a:t>
            </a:fld>
            <a:endParaRPr lang="en-US"/>
          </a:p>
        </p:txBody>
      </p:sp>
    </p:spTree>
    <p:extLst>
      <p:ext uri="{BB962C8B-B14F-4D97-AF65-F5344CB8AC3E}">
        <p14:creationId xmlns:p14="http://schemas.microsoft.com/office/powerpoint/2010/main" val="397004691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8DF9B-DC30-9957-F4C3-404FA4A362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FC5B98-F4A1-17B0-FF02-E7684A1426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6748B1-77BF-B6E6-B7D3-C6AFD9032ABA}"/>
              </a:ext>
            </a:extLst>
          </p:cNvPr>
          <p:cNvSpPr>
            <a:spLocks noGrp="1"/>
          </p:cNvSpPr>
          <p:nvPr>
            <p:ph type="body" idx="1"/>
          </p:nvPr>
        </p:nvSpPr>
        <p:spPr/>
        <p:txBody>
          <a:bodyPr>
            <a:normAutofit/>
          </a:bodyPr>
          <a:lstStyle/>
          <a:p>
            <a:pPr fontAlgn="base"/>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EC76E8C-DA39-18BA-3830-F52AD354B16A}"/>
              </a:ext>
            </a:extLst>
          </p:cNvPr>
          <p:cNvSpPr>
            <a:spLocks noGrp="1"/>
          </p:cNvSpPr>
          <p:nvPr>
            <p:ph type="sldNum" sz="quarter" idx="10"/>
          </p:nvPr>
        </p:nvSpPr>
        <p:spPr/>
        <p:txBody>
          <a:bodyPr/>
          <a:lstStyle/>
          <a:p>
            <a:fld id="{D923E61B-9923-41E8-A048-1B57D195D0C6}" type="slidenum">
              <a:rPr lang="en-US" smtClean="0"/>
              <a:pPr/>
              <a:t>129</a:t>
            </a:fld>
            <a:endParaRPr lang="en-US"/>
          </a:p>
        </p:txBody>
      </p:sp>
    </p:spTree>
    <p:extLst>
      <p:ext uri="{BB962C8B-B14F-4D97-AF65-F5344CB8AC3E}">
        <p14:creationId xmlns:p14="http://schemas.microsoft.com/office/powerpoint/2010/main" val="156691390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130</a:t>
            </a:fld>
            <a:endParaRPr lang="en-US"/>
          </a:p>
        </p:txBody>
      </p:sp>
    </p:spTree>
    <p:extLst>
      <p:ext uri="{BB962C8B-B14F-4D97-AF65-F5344CB8AC3E}">
        <p14:creationId xmlns:p14="http://schemas.microsoft.com/office/powerpoint/2010/main" val="406527298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131</a:t>
            </a:fld>
            <a:endParaRPr lang="en-US"/>
          </a:p>
        </p:txBody>
      </p:sp>
    </p:spTree>
    <p:extLst>
      <p:ext uri="{BB962C8B-B14F-4D97-AF65-F5344CB8AC3E}">
        <p14:creationId xmlns:p14="http://schemas.microsoft.com/office/powerpoint/2010/main" val="219217763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132</a:t>
            </a:fld>
            <a:endParaRPr lang="en-US"/>
          </a:p>
        </p:txBody>
      </p:sp>
    </p:spTree>
    <p:extLst>
      <p:ext uri="{BB962C8B-B14F-4D97-AF65-F5344CB8AC3E}">
        <p14:creationId xmlns:p14="http://schemas.microsoft.com/office/powerpoint/2010/main" val="376737420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133</a:t>
            </a:fld>
            <a:endParaRPr lang="en-US"/>
          </a:p>
        </p:txBody>
      </p:sp>
    </p:spTree>
    <p:extLst>
      <p:ext uri="{BB962C8B-B14F-4D97-AF65-F5344CB8AC3E}">
        <p14:creationId xmlns:p14="http://schemas.microsoft.com/office/powerpoint/2010/main" val="31593208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134</a:t>
            </a:fld>
            <a:endParaRPr lang="en-US"/>
          </a:p>
        </p:txBody>
      </p:sp>
    </p:spTree>
    <p:extLst>
      <p:ext uri="{BB962C8B-B14F-4D97-AF65-F5344CB8AC3E}">
        <p14:creationId xmlns:p14="http://schemas.microsoft.com/office/powerpoint/2010/main" val="143254053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135</a:t>
            </a:fld>
            <a:endParaRPr lang="en-US"/>
          </a:p>
        </p:txBody>
      </p:sp>
    </p:spTree>
    <p:extLst>
      <p:ext uri="{BB962C8B-B14F-4D97-AF65-F5344CB8AC3E}">
        <p14:creationId xmlns:p14="http://schemas.microsoft.com/office/powerpoint/2010/main" val="294003973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CF997-3EC1-68F4-8FD9-648633E98E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3C83BB-2BD9-723A-0389-268D798191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3943E7-BA83-5100-D18D-E922265E8E71}"/>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8D66E66C-E5E5-BBB0-081E-5EE195C57C9C}"/>
              </a:ext>
            </a:extLst>
          </p:cNvPr>
          <p:cNvSpPr>
            <a:spLocks noGrp="1"/>
          </p:cNvSpPr>
          <p:nvPr>
            <p:ph type="sldNum" sz="quarter" idx="10"/>
          </p:nvPr>
        </p:nvSpPr>
        <p:spPr/>
        <p:txBody>
          <a:bodyPr/>
          <a:lstStyle/>
          <a:p>
            <a:fld id="{D923E61B-9923-41E8-A048-1B57D195D0C6}" type="slidenum">
              <a:rPr lang="en-US" smtClean="0"/>
              <a:pPr/>
              <a:t>136</a:t>
            </a:fld>
            <a:endParaRPr lang="en-US"/>
          </a:p>
        </p:txBody>
      </p:sp>
    </p:spTree>
    <p:extLst>
      <p:ext uri="{BB962C8B-B14F-4D97-AF65-F5344CB8AC3E}">
        <p14:creationId xmlns:p14="http://schemas.microsoft.com/office/powerpoint/2010/main" val="268556114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137</a:t>
            </a:fld>
            <a:endParaRPr lang="en-US"/>
          </a:p>
        </p:txBody>
      </p:sp>
    </p:spTree>
    <p:extLst>
      <p:ext uri="{BB962C8B-B14F-4D97-AF65-F5344CB8AC3E}">
        <p14:creationId xmlns:p14="http://schemas.microsoft.com/office/powerpoint/2010/main" val="10815171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lgn="ctr">
              <a:defRPr lang="en-US" sz="3600" b="1" i="1" kern="1200" dirty="0">
                <a:solidFill>
                  <a:schemeClr val="accent1">
                    <a:lumMod val="50000"/>
                  </a:schemeClr>
                </a:solidFill>
                <a:latin typeface="+mn-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nchor="b">
            <a:normAutofit/>
          </a:bodyPr>
          <a:lstStyle>
            <a:lvl1pPr marL="0" indent="0" algn="l">
              <a:buNone/>
              <a:defRPr lang="en-US" sz="1800" b="1" i="1" kern="1200" dirty="0">
                <a:solidFill>
                  <a:schemeClr val="accent2">
                    <a:lumMod val="50000"/>
                  </a:schemeClr>
                </a:solidFill>
                <a:latin typeface="Cambria" pitchFamily="18" charset="0"/>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lvl1pPr algn="r">
              <a:defRPr b="1">
                <a:latin typeface="+mj-lt"/>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標題投影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lgn="ctr">
              <a:defRPr lang="en-US" sz="3600" b="1" i="1" kern="1200" dirty="0">
                <a:solidFill>
                  <a:schemeClr val="accent1">
                    <a:lumMod val="50000"/>
                  </a:schemeClr>
                </a:solidFill>
                <a:latin typeface="+mn-lt"/>
                <a:ea typeface="+mj-ea"/>
                <a:cs typeface="+mj-cs"/>
              </a:defRPr>
            </a:lvl1pPr>
          </a:lstStyle>
          <a:p>
            <a:r>
              <a:rPr lang="zh-TW" altLang="en-US"/>
              <a:t>按一下以編輯母片標題樣式</a:t>
            </a:r>
            <a:endParaRPr lang="en-US" dirty="0"/>
          </a:p>
        </p:txBody>
      </p:sp>
      <p:sp>
        <p:nvSpPr>
          <p:cNvPr id="3" name="Subtitle 2"/>
          <p:cNvSpPr>
            <a:spLocks noGrp="1"/>
          </p:cNvSpPr>
          <p:nvPr>
            <p:ph type="subTitle" idx="1"/>
          </p:nvPr>
        </p:nvSpPr>
        <p:spPr>
          <a:xfrm>
            <a:off x="1371600" y="3886200"/>
            <a:ext cx="6400800" cy="1752600"/>
          </a:xfrm>
        </p:spPr>
        <p:txBody>
          <a:bodyPr anchor="b">
            <a:normAutofit/>
          </a:bodyPr>
          <a:lstStyle>
            <a:lvl1pPr marL="0" indent="0" algn="l">
              <a:buNone/>
              <a:defRPr lang="en-US" sz="1800" b="1" i="1" kern="1200" dirty="0">
                <a:solidFill>
                  <a:schemeClr val="accent2">
                    <a:lumMod val="50000"/>
                  </a:schemeClr>
                </a:solidFill>
                <a:latin typeface="Cambria" pitchFamily="18" charset="0"/>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2026/1/18</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pic>
        <p:nvPicPr>
          <p:cNvPr id="9" name="Picture 6" descr="logo"/>
          <p:cNvPicPr>
            <a:picLocks noChangeAspect="1" noChangeArrowheads="1"/>
          </p:cNvPicPr>
          <p:nvPr userDrawn="1"/>
        </p:nvPicPr>
        <p:blipFill>
          <a:blip r:embed="rId3" cstate="print"/>
          <a:srcRect/>
          <a:stretch>
            <a:fillRect/>
          </a:stretch>
        </p:blipFill>
        <p:spPr bwMode="auto">
          <a:xfrm>
            <a:off x="6374027" y="6030097"/>
            <a:ext cx="2743200" cy="762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lvl1pPr algn="r">
              <a:defRPr b="1">
                <a:latin typeface="+mj-lt"/>
              </a:defRPr>
            </a:lvl1pPr>
          </a:lstStyle>
          <a:p>
            <a:r>
              <a:rPr lang="zh-TW" altLang="en-US"/>
              <a:t>按一下以編輯母片標題樣式</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2026/1/18</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區段標題">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2026/1/18</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項物件">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Date Placeholder 4"/>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2026/1/18</a:t>
            </a:fld>
            <a:endParaRPr lang="zh-TW"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TW"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對">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a:t>按一下以編輯母片標題樣式</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6"/>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2026/1/18</a:t>
            </a:fld>
            <a:endParaRPr lang="zh-TW"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TW"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Date Placeholder 2"/>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2026/1/18</a:t>
            </a:fld>
            <a:endParaRPr lang="zh-TW"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TW"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2026/1/18</a:t>
            </a:fld>
            <a:endParaRPr lang="zh-TW"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TW"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2026/1/18</a:t>
            </a:fld>
            <a:endParaRPr lang="zh-TW"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TW"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2026/1/18</a:t>
            </a:fld>
            <a:endParaRPr lang="zh-TW"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TW"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2026/1/18</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2026/1/18</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solidFill>
                  <a:prstClr val="black">
                    <a:tint val="75000"/>
                  </a:prstClr>
                </a:solidFill>
              </a:rPr>
              <a:pPr/>
              <a:t>2026/1/18</a:t>
            </a:fld>
            <a:endParaRPr lang="zh-TW" alt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8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google.com/search?q=REST&amp;sca_esv=1c9ddcd99aa53bbd&amp;sxsrf=ANbL-n7my3GCXB2znPz8WhHWDjEAz9cEAw%3A1768123820752&amp;ei=rG1jaZPQLf-ZjuMP9K_oqQ4&amp;ved=2ahUKEwjy5OXBnoOSAxX5xzgGHTg_GPYQgK4QegQIBhAB&amp;uact=5&amp;oq=how+does+SOA+work+in+cloud%3FREST+and+SOAP+are+two+different+approaches+to+online+data+transmission+and+application+&amp;gs_lp=Egxnd3Mtd2l6LXNlcnAicmhvdyBkb2VzIFNPQSB3b3JrIGluIGNsb3VkP1JFU1QgYW5kIFNPQVAgYXJlIHR3byBkaWZmZXJlbnQgYXBwcm9hY2hlcyB0byBvbmxpbmUgZGF0YSB0cmFuc21pc3Npb24gYW5kIGFwcGxpY2F0aW9uIDIKEAAYsAMY1gQYRzIKEAAYsAMY1gQYRzIKEAAYsAMY1gQYRzIKEAAYsAMY1gQYRzIKEAAYsAMY1gQYRzIKEAAYsAMY1gQYRzIKEAAYsAMY1gQYRzIKEAAYsAMY1gQYR0j3CVD2Alj2AnABeACQAQCYAbgBoAG4AaoBAzAuMbgBA8gBAPgBAvgBAZgCAaACCpgDAIgGAZAGCJIHATGgB4AHsgcAuAcAwgcDMi0xyAcGgAgA&amp;sclient=gws-wiz-serp&amp;mstk=AUtExfB64sYbPtBdHqM3Va2P1tOYvAJOGlZwi4QmHGUR7eGN9zau_C6oS04P_s1DEpcoX_c6B0YQH-aJ22JetA6prRwHkiekKt6AxtkBZgKebB52fMeXCb2NnsTAFy_0jtuKpHWpsHcWbDGPFDFpfB8UKbrlI7_6aki9TaD0BypbRyWpNsI&amp;csui=3"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searchnetworking.techtarget.com/definition/bandwidth"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google.com/search?q=Mashups&amp;sca_esv=1c9ddcd99aa53bbd&amp;sxsrf=ANbL-n4u3xrxoJqFRbQOoTDV1oLlnEparA%3A1768127109475&amp;ei=hXpjadzVHJDh4-EP5t6p0QU&amp;ved=2ahUKEwiVmfPlooOSAxVQyjgGHWbIE7IQgK4QegQIAxAF&amp;uact=5&amp;oq=soa+in+cloud+service+mashup&amp;gs_lp=Egxnd3Mtd2l6LXNlcnAiG3NvYSBpbiBjbG91ZCBzZXJ2aWNlIG1hc2h1cDIFECEYoAEyBRAhGKABSOcvUGlY5yxwAXgBkAEBmAGyAqABoyGqAQgwLjEwLjkuMbgBA8gBAPgBAZgCEqACvB3CAgoQABiwAxjWBBhHwgIEECMYJ8ICCBAAGIAEGKIEwgIFEAAY7wXCAgYQABgWGB7CAgsQABiABBiRAhiKBcICChAAGIAEGBQYhwLCAgsQABiABBiGAxiKBcICCBAAGKIEGIkFwgIFECEYnwXCAgcQIRigARgKmAMAiAYBkAYIkgcHMS43LjguMqAH5XiyBwcwLjcuOC4yuAe3HcIHBjAuNy4xMcgHR4AIAA&amp;sclient=gws-wiz-serp&amp;mstk=AUtExfCvQVx0HyXxGfy-Msfw5iZuReuIhCXOE3DiEXMNvFIqcHXVy4THh95xpzop6s57xWTte-G4ugeDp82BlR6myNUK7Omwv2FPX0cxl643K4eCZ3ByuYskZIx53az3XWhA_9ZTLOP7iZWlibvek42Zsd4271dP1KAbaEJMPJjQg3u_r-zuH9lAfb7B6KxYFz5mXfO4nB41kqSJWbSsm51s7Dk9_ELlcs0Nhy_-WSC1ExAhl-Tj35qFd46Pkn6PLjfTWZTdvczkieDbI-EjNegLrUKu&amp;csui=3"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en.wikipedia.org/wiki/Classified_advertising"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hyperlink" Target="https://en.wikipedia.org/wiki/Community_service" TargetMode="External"/><Relationship Id="rId4" Type="http://schemas.openxmlformats.org/officeDocument/2006/relationships/hyperlink" Target="https://en.wikipedia.org/wiki/Personal_advertisement" TargetMode="Externa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hyperlink" Target="https://azure.microsoft.com/en-in/overview/choosing-a-cloud-service-provider/"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hyperlink" Target="https://www.cloudcodes.com/blog/conventional-it-infrastructure.html" TargetMode="External"/><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hyperlink" Target="https://www.infopulse.com/intelligent-business/azure-virtual-desktop" TargetMode="External"/><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3" Type="http://schemas.openxmlformats.org/officeDocument/2006/relationships/hyperlink" Target="https://www.infopulse.com/blog/how-cloudification-will-transform-your-business/" TargetMode="External"/><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3" Type="http://schemas.openxmlformats.org/officeDocument/2006/relationships/hyperlink" Target="https://www.infopulse.com/blog/how-to-resolve-software-conflicts" TargetMode="External"/><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0.xml"/><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1.xml"/><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3" Type="http://schemas.openxmlformats.org/officeDocument/2006/relationships/hyperlink" Target="https://phoenixnap.com/blog/what-is-disaster-recovery" TargetMode="External"/><Relationship Id="rId2" Type="http://schemas.openxmlformats.org/officeDocument/2006/relationships/notesSlide" Target="../notesSlides/notesSlide93.xml"/><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3" Type="http://schemas.openxmlformats.org/officeDocument/2006/relationships/hyperlink" Target="https://phoenixnap.com/blog/what-is-disaster-recovery" TargetMode="External"/><Relationship Id="rId2" Type="http://schemas.openxmlformats.org/officeDocument/2006/relationships/notesSlide" Target="../notesSlides/notesSlide95.xml"/><Relationship Id="rId1" Type="http://schemas.openxmlformats.org/officeDocument/2006/relationships/slideLayout" Target="../slideLayouts/slideLayout6.xml"/><Relationship Id="rId5" Type="http://schemas.openxmlformats.org/officeDocument/2006/relationships/hyperlink" Target="https://phoenixnap.com/glossary/what-is-hardware" TargetMode="External"/><Relationship Id="rId4" Type="http://schemas.openxmlformats.org/officeDocument/2006/relationships/hyperlink" Target="https://phoenixnap.com/glossary/what-is-an-application" TargetMode="External"/></Relationships>
</file>

<file path=ppt/slides/_rels/slide133.xml.rels><?xml version="1.0" encoding="UTF-8" standalone="yes"?>
<Relationships xmlns="http://schemas.openxmlformats.org/package/2006/relationships"><Relationship Id="rId8" Type="http://schemas.openxmlformats.org/officeDocument/2006/relationships/hyperlink" Target="https://phoenixnap.com/blog/disaster-recovery-plan-checklist" TargetMode="External"/><Relationship Id="rId3" Type="http://schemas.openxmlformats.org/officeDocument/2006/relationships/hyperlink" Target="https://phoenixnap.com/blog/what-is-disaster-recovery" TargetMode="External"/><Relationship Id="rId7" Type="http://schemas.openxmlformats.org/officeDocument/2006/relationships/hyperlink" Target="http://web.archive.org/web/20210802180907/https:/www.iland.com/press-release/frequent-disaster-recovery-testing-critical/" TargetMode="External"/><Relationship Id="rId2" Type="http://schemas.openxmlformats.org/officeDocument/2006/relationships/notesSlide" Target="../notesSlides/notesSlide96.xml"/><Relationship Id="rId1" Type="http://schemas.openxmlformats.org/officeDocument/2006/relationships/slideLayout" Target="../slideLayouts/slideLayout6.xml"/><Relationship Id="rId6" Type="http://schemas.openxmlformats.org/officeDocument/2006/relationships/hyperlink" Target="https://www.fema.gov/press-release/20230502/stay-business-after-disaster-planning-ahead" TargetMode="External"/><Relationship Id="rId5" Type="http://schemas.openxmlformats.org/officeDocument/2006/relationships/hyperlink" Target="https://www.inc.com/joe-galvin/60-percent-of-small-businesses-fold-within-6-months-of-a-cyber-attack-heres-how-to-protect-yourself.html" TargetMode="External"/><Relationship Id="rId4" Type="http://schemas.openxmlformats.org/officeDocument/2006/relationships/hyperlink" Target="https://phoenixnap.com/glossary/downtime" TargetMode="External"/><Relationship Id="rId9" Type="http://schemas.openxmlformats.org/officeDocument/2006/relationships/hyperlink" Target="https://phoenixnap.com/glossary/on-premise" TargetMode="External"/></Relationships>
</file>

<file path=ppt/slides/_rels/slide134.xml.rels><?xml version="1.0" encoding="UTF-8" standalone="yes"?>
<Relationships xmlns="http://schemas.openxmlformats.org/package/2006/relationships"><Relationship Id="rId3" Type="http://schemas.openxmlformats.org/officeDocument/2006/relationships/hyperlink" Target="https://phoenixnap.com/blog/what-is-disaster-recovery" TargetMode="External"/><Relationship Id="rId2" Type="http://schemas.openxmlformats.org/officeDocument/2006/relationships/notesSlide" Target="../notesSlides/notesSlide97.xml"/><Relationship Id="rId1" Type="http://schemas.openxmlformats.org/officeDocument/2006/relationships/slideLayout" Target="../slideLayouts/slideLayout6.xml"/><Relationship Id="rId4" Type="http://schemas.openxmlformats.org/officeDocument/2006/relationships/hyperlink" Target="https://phoenixnap.com/glossary/what-is-a-virtual-machine" TargetMode="External"/></Relationships>
</file>

<file path=ppt/slides/_rels/slide135.xml.rels><?xml version="1.0" encoding="UTF-8" standalone="yes"?>
<Relationships xmlns="http://schemas.openxmlformats.org/package/2006/relationships"><Relationship Id="rId3" Type="http://schemas.openxmlformats.org/officeDocument/2006/relationships/hyperlink" Target="https://phoenixnap.com/blog/what-is-disaster-recovery" TargetMode="External"/><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3" Type="http://schemas.openxmlformats.org/officeDocument/2006/relationships/hyperlink" Target="https://phoenixnap.com/blog/what-is-disaster-recovery" TargetMode="External"/><Relationship Id="rId2" Type="http://schemas.openxmlformats.org/officeDocument/2006/relationships/notesSlide" Target="../notesSlides/notesSlide99.xml"/><Relationship Id="rId1" Type="http://schemas.openxmlformats.org/officeDocument/2006/relationships/slideLayout" Target="../slideLayouts/slideLayout6.xml"/><Relationship Id="rId4" Type="http://schemas.openxmlformats.org/officeDocument/2006/relationships/hyperlink" Target="https://phoenixnap.com/glossary/what-is-a-data-center" TargetMode="External"/></Relationships>
</file>

<file path=ppt/slides/_rels/slide137.xml.rels><?xml version="1.0" encoding="UTF-8" standalone="yes"?>
<Relationships xmlns="http://schemas.openxmlformats.org/package/2006/relationships"><Relationship Id="rId3" Type="http://schemas.openxmlformats.org/officeDocument/2006/relationships/hyperlink" Target="https://phoenixnap.com/blog/what-is-disaster-recovery" TargetMode="External"/><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br>
              <a:rPr lang="en-US" altLang="zh-TW" sz="4000" dirty="0">
                <a:effectLst>
                  <a:outerShdw blurRad="38100" dist="38100" dir="2700000" algn="tl">
                    <a:srgbClr val="000000">
                      <a:alpha val="43137"/>
                    </a:srgbClr>
                  </a:outerShdw>
                </a:effectLst>
              </a:rPr>
            </a:br>
            <a:br>
              <a:rPr lang="en-US" altLang="zh-TW" sz="4000" dirty="0">
                <a:effectLst>
                  <a:outerShdw blurRad="38100" dist="38100" dir="2700000" algn="tl">
                    <a:srgbClr val="000000">
                      <a:alpha val="43137"/>
                    </a:srgbClr>
                  </a:outerShdw>
                </a:effectLst>
              </a:rPr>
            </a:br>
            <a:br>
              <a:rPr lang="en-US" altLang="zh-TW" sz="4000" dirty="0">
                <a:effectLst>
                  <a:outerShdw blurRad="38100" dist="38100" dir="2700000" algn="tl">
                    <a:srgbClr val="000000">
                      <a:alpha val="43137"/>
                    </a:srgbClr>
                  </a:outerShdw>
                </a:effectLst>
              </a:rPr>
            </a:br>
            <a:br>
              <a:rPr lang="en-US" altLang="zh-TW" sz="4000" dirty="0">
                <a:effectLst>
                  <a:outerShdw blurRad="38100" dist="38100" dir="2700000" algn="tl">
                    <a:srgbClr val="000000">
                      <a:alpha val="43137"/>
                    </a:srgbClr>
                  </a:outerShdw>
                </a:effectLst>
              </a:rPr>
            </a:br>
            <a:br>
              <a:rPr lang="en-US" altLang="zh-TW" sz="4000" dirty="0">
                <a:effectLst>
                  <a:outerShdw blurRad="38100" dist="38100" dir="2700000" algn="tl">
                    <a:srgbClr val="000000">
                      <a:alpha val="43137"/>
                    </a:srgbClr>
                  </a:outerShdw>
                </a:effectLst>
              </a:rPr>
            </a:br>
            <a:br>
              <a:rPr lang="en-US" altLang="zh-TW" sz="4000" dirty="0">
                <a:effectLst>
                  <a:outerShdw blurRad="38100" dist="38100" dir="2700000" algn="tl">
                    <a:srgbClr val="000000">
                      <a:alpha val="43137"/>
                    </a:srgbClr>
                  </a:outerShdw>
                </a:effectLst>
              </a:rPr>
            </a:br>
            <a:br>
              <a:rPr lang="en-US" altLang="zh-TW" sz="4000" dirty="0">
                <a:effectLst>
                  <a:outerShdw blurRad="38100" dist="38100" dir="2700000" algn="tl">
                    <a:srgbClr val="000000">
                      <a:alpha val="43137"/>
                    </a:srgbClr>
                  </a:outerShdw>
                </a:effectLst>
              </a:rPr>
            </a:br>
            <a:br>
              <a:rPr lang="en-US" altLang="zh-TW" sz="4000" dirty="0">
                <a:effectLst>
                  <a:outerShdw blurRad="38100" dist="38100" dir="2700000" algn="tl">
                    <a:srgbClr val="000000">
                      <a:alpha val="43137"/>
                    </a:srgbClr>
                  </a:outerShdw>
                </a:effectLst>
              </a:rPr>
            </a:br>
            <a:r>
              <a:rPr lang="en-US" sz="4000" dirty="0">
                <a:effectLst>
                  <a:outerShdw blurRad="38100" dist="38100" dir="2700000" algn="tl">
                    <a:srgbClr val="000000">
                      <a:alpha val="43137"/>
                    </a:srgbClr>
                  </a:outerShdw>
                </a:effectLst>
              </a:rPr>
              <a:t>Cloud Infrastructure Management</a:t>
            </a:r>
            <a:br>
              <a:rPr lang="en-US" sz="4000" dirty="0">
                <a:effectLst>
                  <a:outerShdw blurRad="38100" dist="38100" dir="2700000" algn="tl">
                    <a:srgbClr val="000000">
                      <a:alpha val="43137"/>
                    </a:srgbClr>
                  </a:outerShdw>
                </a:effectLst>
              </a:rPr>
            </a:br>
            <a:r>
              <a:rPr lang="en-US" sz="4000" dirty="0">
                <a:effectLst>
                  <a:outerShdw blurRad="38100" dist="38100" dir="2700000" algn="tl">
                    <a:srgbClr val="000000">
                      <a:alpha val="43137"/>
                    </a:srgbClr>
                  </a:outerShdw>
                </a:effectLst>
              </a:rPr>
              <a:t>CSE 5213</a:t>
            </a:r>
            <a:endParaRPr lang="en-US" sz="4000" i="0" dirty="0">
              <a:effectLst>
                <a:outerShdw blurRad="38100" dist="38100" dir="2700000" algn="tl">
                  <a:srgbClr val="000000">
                    <a:alpha val="43137"/>
                  </a:srgbClr>
                </a:outerShdw>
              </a:effectLst>
            </a:endParaRPr>
          </a:p>
        </p:txBody>
      </p:sp>
    </p:spTree>
  </p:cSld>
  <p:clrMapOvr>
    <a:masterClrMapping/>
  </p:clrMapOvr>
  <mc:AlternateContent xmlns:mc="http://schemas.openxmlformats.org/markup-compatibility/2006" xmlns:p14="http://schemas.microsoft.com/office/powerpoint/2010/main">
    <mc:Choice Requires="p14">
      <p:transition spd="slow" p14:dur="2000" advTm="86"/>
    </mc:Choice>
    <mc:Fallback xmlns="">
      <p:transition spd="slow" advTm="8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28600" y="1824715"/>
            <a:ext cx="8534400" cy="4131900"/>
          </a:xfrm>
          <a:prstGeom prst="rect">
            <a:avLst/>
          </a:prstGeom>
        </p:spPr>
        <p:txBody>
          <a:bodyPr wrap="square">
            <a:spAutoFit/>
          </a:bodyPr>
          <a:lstStyle/>
          <a:p>
            <a:pPr marL="63495" marR="0" lvl="0" algn="just">
              <a:lnSpc>
                <a:spcPct val="125000"/>
              </a:lnSpc>
              <a:spcBef>
                <a:spcPts val="0"/>
              </a:spcBef>
              <a:spcAft>
                <a:spcPts val="0"/>
              </a:spcAft>
            </a:pPr>
            <a:r>
              <a:rPr lang="en-US" sz="2400" b="1" dirty="0">
                <a:solidFill>
                  <a:srgbClr val="0D0D0D"/>
                </a:solidFill>
                <a:latin typeface="Times New Roman" pitchFamily="18"/>
                <a:ea typeface="Times New Roman" pitchFamily="18"/>
                <a:cs typeface="Times New Roman" pitchFamily="18"/>
              </a:rPr>
              <a:t>Course objectives: </a:t>
            </a:r>
            <a:r>
              <a:rPr lang="en-US" sz="2400" dirty="0">
                <a:solidFill>
                  <a:srgbClr val="0D0D0D"/>
                </a:solidFill>
                <a:latin typeface="Times New Roman" pitchFamily="18"/>
                <a:ea typeface="Times New Roman" pitchFamily="18"/>
                <a:cs typeface="Times New Roman" pitchFamily="18"/>
              </a:rPr>
              <a:t>This course will enable students to</a:t>
            </a:r>
            <a:endParaRPr lang="en-US" sz="2400" dirty="0">
              <a:latin typeface="Calibri" pitchFamily="34"/>
              <a:ea typeface="Calibri" pitchFamily="34"/>
              <a:cs typeface="Times New Roman" pitchFamily="18"/>
            </a:endParaRPr>
          </a:p>
          <a:p>
            <a:pPr marL="342900" marR="0" lvl="0" indent="-342900" algn="just">
              <a:lnSpc>
                <a:spcPct val="125000"/>
              </a:lnSpc>
              <a:spcBef>
                <a:spcPts val="0"/>
              </a:spcBef>
              <a:spcAft>
                <a:spcPts val="0"/>
              </a:spcAft>
              <a:buSzPct val="100000"/>
              <a:buFont typeface="Symbol" pitchFamily="18"/>
              <a:buChar char=""/>
              <a:tabLst>
                <a:tab pos="558798" algn="l"/>
              </a:tabLst>
            </a:pPr>
            <a:r>
              <a:rPr lang="en-US" sz="2400" dirty="0">
                <a:solidFill>
                  <a:srgbClr val="0D0D0D"/>
                </a:solidFill>
                <a:latin typeface="Times New Roman" pitchFamily="18"/>
                <a:ea typeface="Symbol" pitchFamily="18"/>
                <a:cs typeface="Times New Roman" pitchFamily="18"/>
              </a:rPr>
              <a:t>To gain competence  in cloud computing properties, Deployment models, and service models </a:t>
            </a:r>
          </a:p>
          <a:p>
            <a:pPr marL="342900" marR="0" lvl="0" indent="-342900" algn="just">
              <a:lnSpc>
                <a:spcPct val="125000"/>
              </a:lnSpc>
              <a:spcBef>
                <a:spcPts val="0"/>
              </a:spcBef>
              <a:spcAft>
                <a:spcPts val="0"/>
              </a:spcAft>
              <a:buSzPct val="100000"/>
              <a:buFont typeface="Symbol" pitchFamily="18"/>
              <a:buChar char=""/>
              <a:tabLst>
                <a:tab pos="558798" algn="l"/>
              </a:tabLst>
            </a:pPr>
            <a:r>
              <a:rPr lang="en-US" sz="2400" dirty="0">
                <a:solidFill>
                  <a:srgbClr val="0D0D0D"/>
                </a:solidFill>
                <a:latin typeface="Times New Roman" pitchFamily="18"/>
                <a:ea typeface="Symbol" pitchFamily="18"/>
                <a:cs typeface="Times New Roman" pitchFamily="18"/>
              </a:rPr>
              <a:t>To gain knowledge in cloud architecture, Cloud virtualization.</a:t>
            </a:r>
          </a:p>
          <a:p>
            <a:pPr marL="342900" marR="0" lvl="0" indent="-342900" algn="just">
              <a:lnSpc>
                <a:spcPct val="125000"/>
              </a:lnSpc>
              <a:spcBef>
                <a:spcPts val="0"/>
              </a:spcBef>
              <a:spcAft>
                <a:spcPts val="0"/>
              </a:spcAft>
              <a:buSzPct val="100000"/>
              <a:buFont typeface="Symbol" pitchFamily="18"/>
              <a:buChar char=""/>
              <a:tabLst>
                <a:tab pos="558798" algn="l"/>
              </a:tabLst>
            </a:pPr>
            <a:r>
              <a:rPr lang="en-US" sz="2400" dirty="0">
                <a:solidFill>
                  <a:srgbClr val="0D0D0D"/>
                </a:solidFill>
                <a:latin typeface="Times New Roman" pitchFamily="18"/>
                <a:ea typeface="Symbol" pitchFamily="18"/>
                <a:cs typeface="Times New Roman" pitchFamily="18"/>
              </a:rPr>
              <a:t>To </a:t>
            </a:r>
            <a:r>
              <a:rPr lang="en-US" sz="2400" dirty="0">
                <a:latin typeface="Times New Roman" panose="02020603050405020304" pitchFamily="18" charset="0"/>
                <a:ea typeface="Calibri" panose="020F0502020204030204" pitchFamily="34" charset="0"/>
              </a:rPr>
              <a:t>Design and development of cloud architectural solution with its detailed monitoring to enhance the resource utilization</a:t>
            </a:r>
          </a:p>
          <a:p>
            <a:pPr marL="342900" marR="0" lvl="0" indent="-342900" algn="just">
              <a:lnSpc>
                <a:spcPct val="125000"/>
              </a:lnSpc>
              <a:spcBef>
                <a:spcPts val="0"/>
              </a:spcBef>
              <a:spcAft>
                <a:spcPts val="0"/>
              </a:spcAft>
              <a:buSzPct val="100000"/>
              <a:buFont typeface="Symbol" pitchFamily="18"/>
              <a:buChar char=""/>
              <a:tabLst>
                <a:tab pos="558798" algn="l"/>
              </a:tabLst>
            </a:pPr>
            <a:r>
              <a:rPr lang="en-US" sz="2400" dirty="0">
                <a:solidFill>
                  <a:srgbClr val="0D0D0D"/>
                </a:solidFill>
                <a:latin typeface="Times New Roman" pitchFamily="18"/>
                <a:ea typeface="Symbol" pitchFamily="18"/>
                <a:cs typeface="Times New Roman" pitchFamily="18"/>
              </a:rPr>
              <a:t>To </a:t>
            </a:r>
            <a:r>
              <a:rPr lang="en-US" sz="2400" dirty="0">
                <a:latin typeface="Times New Roman" panose="02020603050405020304" pitchFamily="18" charset="0"/>
                <a:ea typeface="Calibri" panose="020F0502020204030204" pitchFamily="34" charset="0"/>
                <a:cs typeface="Mangal"/>
              </a:rPr>
              <a:t>Analyze the cloud Infrastructure Security and compliances to solve security breach in cloud environment</a:t>
            </a:r>
            <a:endParaRPr lang="en-US" sz="2000" dirty="0">
              <a:latin typeface="Calibri" panose="020F0502020204030204" pitchFamily="34" charset="0"/>
              <a:ea typeface="Calibri" panose="020F0502020204030204" pitchFamily="34" charset="0"/>
              <a:cs typeface="Mangal"/>
            </a:endParaRPr>
          </a:p>
          <a:p>
            <a:pPr marL="342900" marR="0" lvl="0" indent="-342900" algn="just">
              <a:lnSpc>
                <a:spcPct val="125000"/>
              </a:lnSpc>
              <a:spcBef>
                <a:spcPts val="0"/>
              </a:spcBef>
              <a:spcAft>
                <a:spcPts val="0"/>
              </a:spcAft>
              <a:buSzPct val="100000"/>
              <a:buFont typeface="Symbol" pitchFamily="18"/>
              <a:buChar char=""/>
              <a:tabLst>
                <a:tab pos="558798" algn="l"/>
              </a:tabLst>
            </a:pPr>
            <a:endParaRPr lang="en-US" dirty="0">
              <a:solidFill>
                <a:srgbClr val="0D0D0D"/>
              </a:solidFill>
              <a:latin typeface="Times New Roman" pitchFamily="18"/>
              <a:ea typeface="Symbol" pitchFamily="18"/>
              <a:cs typeface="Times New Roman" pitchFamily="18"/>
            </a:endParaRPr>
          </a:p>
        </p:txBody>
      </p:sp>
    </p:spTree>
    <p:extLst>
      <p:ext uri="{BB962C8B-B14F-4D97-AF65-F5344CB8AC3E}">
        <p14:creationId xmlns:p14="http://schemas.microsoft.com/office/powerpoint/2010/main" val="1930097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518" y="907676"/>
            <a:ext cx="7886700" cy="534521"/>
          </a:xfrm>
        </p:spPr>
        <p:txBody>
          <a:bodyPr>
            <a:noAutofit/>
          </a:bodyPr>
          <a:lstStyle/>
          <a:p>
            <a:pPr lvl="0"/>
            <a:r>
              <a:rPr lang="en-US" sz="2400" dirty="0">
                <a:solidFill>
                  <a:srgbClr val="C00000"/>
                </a:solidFill>
              </a:rPr>
              <a:t>Module 1: INTRODUCTION TO CLOUD COMPUTING</a:t>
            </a:r>
          </a:p>
        </p:txBody>
      </p:sp>
      <p:sp>
        <p:nvSpPr>
          <p:cNvPr id="3" name="Content Placeholder 2"/>
          <p:cNvSpPr>
            <a:spLocks noGrp="1"/>
          </p:cNvSpPr>
          <p:nvPr>
            <p:ph idx="1"/>
          </p:nvPr>
        </p:nvSpPr>
        <p:spPr>
          <a:xfrm>
            <a:off x="624013" y="1410103"/>
            <a:ext cx="8488456" cy="4134971"/>
          </a:xfrm>
        </p:spPr>
        <p:txBody>
          <a:bodyPr>
            <a:normAutofit fontScale="25000" lnSpcReduction="20000"/>
          </a:bodyPr>
          <a:lstStyle/>
          <a:p>
            <a:endParaRPr lang="en-US" dirty="0"/>
          </a:p>
          <a:p>
            <a:pPr marL="0" indent="0">
              <a:lnSpc>
                <a:spcPct val="160000"/>
              </a:lnSpc>
              <a:buNone/>
            </a:pPr>
            <a:r>
              <a:rPr lang="en-US" sz="7200" dirty="0">
                <a:sym typeface="Wingdings" panose="05000000000000000000" pitchFamily="2" charset="2"/>
              </a:rPr>
              <a:t></a:t>
            </a:r>
            <a:r>
              <a:rPr lang="en-US" sz="4800" dirty="0">
                <a:sym typeface="Wingdings" panose="05000000000000000000" pitchFamily="2" charset="2"/>
              </a:rPr>
              <a:t> </a:t>
            </a:r>
            <a:r>
              <a:rPr lang="en-US" sz="7200" dirty="0">
                <a:sym typeface="Wingdings" panose="05000000000000000000" pitchFamily="2" charset="2"/>
              </a:rPr>
              <a:t>Cloud Computing in a Nutshell </a:t>
            </a:r>
          </a:p>
          <a:p>
            <a:pPr>
              <a:lnSpc>
                <a:spcPct val="160000"/>
              </a:lnSpc>
              <a:buFont typeface="Wingdings" panose="05000000000000000000" pitchFamily="2" charset="2"/>
              <a:buChar char="à"/>
            </a:pPr>
            <a:r>
              <a:rPr lang="en-US" sz="7200" dirty="0">
                <a:sym typeface="Wingdings" panose="05000000000000000000" pitchFamily="2" charset="2"/>
              </a:rPr>
              <a:t>Roots of Cloud Computing </a:t>
            </a:r>
          </a:p>
          <a:p>
            <a:pPr>
              <a:lnSpc>
                <a:spcPct val="160000"/>
              </a:lnSpc>
              <a:buFont typeface="Wingdings" panose="05000000000000000000" pitchFamily="2" charset="2"/>
              <a:buChar char="à"/>
            </a:pPr>
            <a:r>
              <a:rPr lang="en-US" sz="7200" dirty="0">
                <a:sym typeface="Wingdings" panose="05000000000000000000" pitchFamily="2" charset="2"/>
              </a:rPr>
              <a:t>Benefits and challenges of cloud computing, </a:t>
            </a:r>
          </a:p>
          <a:p>
            <a:pPr>
              <a:lnSpc>
                <a:spcPct val="160000"/>
              </a:lnSpc>
              <a:buFont typeface="Wingdings" panose="05000000000000000000" pitchFamily="2" charset="2"/>
              <a:buChar char="à"/>
            </a:pPr>
            <a:r>
              <a:rPr lang="en-US" sz="7200" dirty="0">
                <a:sym typeface="Wingdings" panose="05000000000000000000" pitchFamily="2" charset="2"/>
              </a:rPr>
              <a:t>public vs private clouds,</a:t>
            </a:r>
          </a:p>
          <a:p>
            <a:pPr>
              <a:lnSpc>
                <a:spcPct val="160000"/>
              </a:lnSpc>
              <a:buFont typeface="Wingdings" panose="05000000000000000000" pitchFamily="2" charset="2"/>
              <a:buChar char="à"/>
            </a:pPr>
            <a:r>
              <a:rPr lang="en-US" sz="7200" dirty="0">
                <a:sym typeface="Wingdings" panose="05000000000000000000" pitchFamily="2" charset="2"/>
              </a:rPr>
              <a:t>role of virtualization in enabling the cloud</a:t>
            </a:r>
          </a:p>
          <a:p>
            <a:pPr>
              <a:lnSpc>
                <a:spcPct val="160000"/>
              </a:lnSpc>
              <a:buFont typeface="Wingdings" panose="05000000000000000000" pitchFamily="2" charset="2"/>
              <a:buChar char="à"/>
            </a:pPr>
            <a:r>
              <a:rPr lang="en-US" sz="7200" dirty="0">
                <a:sym typeface="Wingdings" panose="05000000000000000000" pitchFamily="2" charset="2"/>
              </a:rPr>
              <a:t> Business Agility: Benefits and challenges to Cloud architecture, </a:t>
            </a:r>
          </a:p>
          <a:p>
            <a:pPr>
              <a:lnSpc>
                <a:spcPct val="160000"/>
              </a:lnSpc>
              <a:buFont typeface="Wingdings" panose="05000000000000000000" pitchFamily="2" charset="2"/>
              <a:buChar char="à"/>
            </a:pPr>
            <a:r>
              <a:rPr lang="en-US" sz="7200" dirty="0">
                <a:sym typeface="Wingdings" panose="05000000000000000000" pitchFamily="2" charset="2"/>
              </a:rPr>
              <a:t>Application availability, performance, security and disaster recovery</a:t>
            </a:r>
          </a:p>
          <a:p>
            <a:pPr>
              <a:lnSpc>
                <a:spcPct val="160000"/>
              </a:lnSpc>
              <a:buFont typeface="Wingdings" panose="05000000000000000000" pitchFamily="2" charset="2"/>
              <a:buChar char="à"/>
            </a:pPr>
            <a:r>
              <a:rPr lang="en-US" sz="7200" dirty="0">
                <a:sym typeface="Wingdings" panose="05000000000000000000" pitchFamily="2" charset="2"/>
              </a:rPr>
              <a:t>Next generation Cloud Applications.</a:t>
            </a:r>
          </a:p>
          <a:p>
            <a:pPr marL="0" indent="0">
              <a:lnSpc>
                <a:spcPct val="160000"/>
              </a:lnSpc>
              <a:buNone/>
            </a:pPr>
            <a:r>
              <a:rPr lang="en-US" sz="7200" dirty="0">
                <a:solidFill>
                  <a:srgbClr val="C00000"/>
                </a:solidFill>
                <a:sym typeface="Wingdings" panose="05000000000000000000" pitchFamily="2" charset="2"/>
              </a:rPr>
              <a:t>(Text Book 1  &amp; 2)				(8 </a:t>
            </a:r>
            <a:r>
              <a:rPr lang="en-US" sz="7200" dirty="0" err="1">
                <a:solidFill>
                  <a:srgbClr val="C00000"/>
                </a:solidFill>
                <a:sym typeface="Wingdings" panose="05000000000000000000" pitchFamily="2" charset="2"/>
              </a:rPr>
              <a:t>Hrs</a:t>
            </a:r>
            <a:r>
              <a:rPr lang="en-US" sz="7200" dirty="0">
                <a:solidFill>
                  <a:srgbClr val="C00000"/>
                </a:solidFill>
                <a:sym typeface="Wingdings" panose="05000000000000000000" pitchFamily="2" charset="2"/>
              </a:rPr>
              <a:t>)</a:t>
            </a:r>
          </a:p>
          <a:p>
            <a:pPr marL="0" indent="0">
              <a:lnSpc>
                <a:spcPct val="160000"/>
              </a:lnSpc>
              <a:buNone/>
            </a:pPr>
            <a:endParaRPr lang="en-US" sz="4800" dirty="0">
              <a:sym typeface="Wingdings" panose="05000000000000000000" pitchFamily="2" charset="2"/>
            </a:endParaRPr>
          </a:p>
          <a:p>
            <a:pPr marL="0" indent="0">
              <a:lnSpc>
                <a:spcPct val="160000"/>
              </a:lnSpc>
              <a:buNone/>
            </a:pPr>
            <a:endParaRPr lang="en-US" sz="4800" dirty="0">
              <a:sym typeface="Wingdings" panose="05000000000000000000" pitchFamily="2" charset="2"/>
            </a:endParaRPr>
          </a:p>
          <a:p>
            <a:pPr marL="0" indent="0">
              <a:lnSpc>
                <a:spcPct val="160000"/>
              </a:lnSpc>
              <a:buNone/>
            </a:pPr>
            <a:endParaRPr lang="en-US" sz="4800" dirty="0">
              <a:sym typeface="Wingdings" panose="05000000000000000000" pitchFamily="2" charset="2"/>
            </a:endParaRPr>
          </a:p>
          <a:p>
            <a:pPr marL="0" indent="0">
              <a:lnSpc>
                <a:spcPct val="160000"/>
              </a:lnSpc>
              <a:buNone/>
            </a:pPr>
            <a:endParaRPr lang="en-US" sz="3825" dirty="0">
              <a:sym typeface="Wingdings" panose="05000000000000000000" pitchFamily="2" charset="2"/>
            </a:endParaRPr>
          </a:p>
          <a:p>
            <a:pPr marL="0" indent="0">
              <a:lnSpc>
                <a:spcPct val="160000"/>
              </a:lnSpc>
              <a:buNone/>
            </a:pPr>
            <a:endParaRPr lang="en-US" dirty="0"/>
          </a:p>
        </p:txBody>
      </p:sp>
      <p:sp>
        <p:nvSpPr>
          <p:cNvPr id="4" name="TextBox 3"/>
          <p:cNvSpPr txBox="1"/>
          <p:nvPr/>
        </p:nvSpPr>
        <p:spPr>
          <a:xfrm>
            <a:off x="624013" y="5545074"/>
            <a:ext cx="8488455" cy="715581"/>
          </a:xfrm>
          <a:prstGeom prst="rect">
            <a:avLst/>
          </a:prstGeom>
          <a:solidFill>
            <a:schemeClr val="bg2"/>
          </a:solidFill>
        </p:spPr>
        <p:txBody>
          <a:bodyPr wrap="square" rtlCol="0">
            <a:spAutoFit/>
          </a:bodyPr>
          <a:lstStyle/>
          <a:p>
            <a:pPr lvl="0"/>
            <a:r>
              <a:rPr lang="en-US" sz="1350" b="1" dirty="0">
                <a:solidFill>
                  <a:srgbClr val="002060"/>
                </a:solidFill>
              </a:rPr>
              <a:t>Barrie </a:t>
            </a:r>
            <a:r>
              <a:rPr lang="en-US" sz="1350" b="1" dirty="0" err="1">
                <a:solidFill>
                  <a:srgbClr val="002060"/>
                </a:solidFill>
              </a:rPr>
              <a:t>Sosinsky</a:t>
            </a:r>
            <a:r>
              <a:rPr lang="en-US" sz="1350" b="1" dirty="0">
                <a:solidFill>
                  <a:srgbClr val="002060"/>
                </a:solidFill>
              </a:rPr>
              <a:t>, “Cloud Computing Bible”,  Wiley-India, 2010  (Text Book 1)</a:t>
            </a:r>
          </a:p>
          <a:p>
            <a:pPr lvl="0"/>
            <a:r>
              <a:rPr lang="en-US" sz="1350" b="1" dirty="0" err="1">
                <a:solidFill>
                  <a:srgbClr val="002060"/>
                </a:solidFill>
              </a:rPr>
              <a:t>Rajkumar</a:t>
            </a:r>
            <a:r>
              <a:rPr lang="en-US" sz="1350" b="1" dirty="0">
                <a:solidFill>
                  <a:srgbClr val="002060"/>
                </a:solidFill>
              </a:rPr>
              <a:t> </a:t>
            </a:r>
            <a:r>
              <a:rPr lang="en-US" sz="1350" b="1" dirty="0" err="1">
                <a:solidFill>
                  <a:srgbClr val="002060"/>
                </a:solidFill>
              </a:rPr>
              <a:t>Buyya</a:t>
            </a:r>
            <a:r>
              <a:rPr lang="en-US" sz="1350" b="1" dirty="0">
                <a:solidFill>
                  <a:srgbClr val="002060"/>
                </a:solidFill>
              </a:rPr>
              <a:t>, James </a:t>
            </a:r>
            <a:r>
              <a:rPr lang="en-US" sz="1350" b="1" dirty="0" err="1">
                <a:solidFill>
                  <a:srgbClr val="002060"/>
                </a:solidFill>
              </a:rPr>
              <a:t>Broberg</a:t>
            </a:r>
            <a:r>
              <a:rPr lang="en-US" sz="1350" b="1" dirty="0">
                <a:solidFill>
                  <a:srgbClr val="002060"/>
                </a:solidFill>
              </a:rPr>
              <a:t>, Andrzej </a:t>
            </a:r>
            <a:r>
              <a:rPr lang="en-US" sz="1350" b="1" dirty="0" err="1">
                <a:solidFill>
                  <a:srgbClr val="002060"/>
                </a:solidFill>
              </a:rPr>
              <a:t>Goscinski</a:t>
            </a:r>
            <a:r>
              <a:rPr lang="en-US" sz="1350" b="1" dirty="0">
                <a:solidFill>
                  <a:srgbClr val="002060"/>
                </a:solidFill>
              </a:rPr>
              <a:t> </a:t>
            </a:r>
            <a:r>
              <a:rPr lang="en-US" sz="1350" dirty="0">
                <a:solidFill>
                  <a:srgbClr val="002060"/>
                </a:solidFill>
              </a:rPr>
              <a:t>“Cloud  Computing Principles and Paradigms” Wiley Publications , 2013 (Text Book 2)</a:t>
            </a:r>
            <a:endParaRPr lang="en-US" sz="1350" dirty="0"/>
          </a:p>
        </p:txBody>
      </p:sp>
    </p:spTree>
    <p:extLst>
      <p:ext uri="{BB962C8B-B14F-4D97-AF65-F5344CB8AC3E}">
        <p14:creationId xmlns:p14="http://schemas.microsoft.com/office/powerpoint/2010/main" val="3898880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7886700" cy="534521"/>
          </a:xfrm>
        </p:spPr>
        <p:txBody>
          <a:bodyPr>
            <a:noAutofit/>
          </a:bodyPr>
          <a:lstStyle/>
          <a:p>
            <a:pPr lvl="0"/>
            <a:r>
              <a:rPr lang="en-US" sz="2400" dirty="0">
                <a:solidFill>
                  <a:srgbClr val="C00000"/>
                </a:solidFill>
              </a:rPr>
              <a:t>Module 2: VIRTUALIZATION AND EXPLORING PLATFORM</a:t>
            </a:r>
          </a:p>
        </p:txBody>
      </p:sp>
      <p:sp>
        <p:nvSpPr>
          <p:cNvPr id="3" name="Content Placeholder 2"/>
          <p:cNvSpPr>
            <a:spLocks noGrp="1"/>
          </p:cNvSpPr>
          <p:nvPr>
            <p:ph idx="1"/>
          </p:nvPr>
        </p:nvSpPr>
        <p:spPr>
          <a:xfrm>
            <a:off x="533400" y="845947"/>
            <a:ext cx="8488456" cy="4134971"/>
          </a:xfrm>
        </p:spPr>
        <p:txBody>
          <a:bodyPr>
            <a:normAutofit fontScale="25000" lnSpcReduction="20000"/>
          </a:bodyPr>
          <a:lstStyle/>
          <a:p>
            <a:endParaRPr lang="en-US" dirty="0"/>
          </a:p>
          <a:p>
            <a:pPr algn="just">
              <a:lnSpc>
                <a:spcPct val="160000"/>
              </a:lnSpc>
              <a:buFont typeface="Wingdings" panose="05000000000000000000" pitchFamily="2" charset="2"/>
              <a:buChar char="à"/>
            </a:pPr>
            <a:r>
              <a:rPr lang="en-US" sz="7200" dirty="0">
                <a:sym typeface="Wingdings" panose="05000000000000000000" pitchFamily="2" charset="2"/>
              </a:rPr>
              <a:t>Virtualization concept, Types of virtualizations, Demo of virtualization, Virtualization Merits, </a:t>
            </a:r>
          </a:p>
          <a:p>
            <a:pPr algn="just">
              <a:lnSpc>
                <a:spcPct val="160000"/>
              </a:lnSpc>
              <a:buFont typeface="Wingdings" panose="05000000000000000000" pitchFamily="2" charset="2"/>
              <a:buChar char="à"/>
            </a:pPr>
            <a:r>
              <a:rPr lang="en-US" sz="7200" dirty="0">
                <a:sym typeface="Wingdings" panose="05000000000000000000" pitchFamily="2" charset="2"/>
              </a:rPr>
              <a:t>Role of virtualization in cloud computing, </a:t>
            </a:r>
          </a:p>
          <a:p>
            <a:pPr algn="just">
              <a:lnSpc>
                <a:spcPct val="160000"/>
              </a:lnSpc>
              <a:buFont typeface="Wingdings" panose="05000000000000000000" pitchFamily="2" charset="2"/>
              <a:buChar char="à"/>
            </a:pPr>
            <a:r>
              <a:rPr lang="en-US" sz="7200" dirty="0">
                <a:sym typeface="Wingdings" panose="05000000000000000000" pitchFamily="2" charset="2"/>
              </a:rPr>
              <a:t>Virtualization Demerits,</a:t>
            </a:r>
          </a:p>
          <a:p>
            <a:pPr algn="just">
              <a:lnSpc>
                <a:spcPct val="160000"/>
              </a:lnSpc>
              <a:buFont typeface="Wingdings" panose="05000000000000000000" pitchFamily="2" charset="2"/>
              <a:buChar char="à"/>
            </a:pPr>
            <a:r>
              <a:rPr lang="en-US" sz="7200" dirty="0">
                <a:sym typeface="Wingdings" panose="05000000000000000000" pitchFamily="2" charset="2"/>
              </a:rPr>
              <a:t> VM Placement, VM Migration, VM Migration Demo, VM clustering, </a:t>
            </a:r>
          </a:p>
          <a:p>
            <a:pPr algn="just">
              <a:lnSpc>
                <a:spcPct val="160000"/>
              </a:lnSpc>
              <a:buFont typeface="Wingdings" panose="05000000000000000000" pitchFamily="2" charset="2"/>
              <a:buChar char="à"/>
            </a:pPr>
            <a:r>
              <a:rPr lang="en-US" sz="7200" dirty="0">
                <a:sym typeface="Wingdings" panose="05000000000000000000" pitchFamily="2" charset="2"/>
              </a:rPr>
              <a:t>Design Issues in VM Clustering, Need of Dockers and Containers, Docker Eco-System, Hypervisor Vs. Docker,</a:t>
            </a:r>
          </a:p>
          <a:p>
            <a:pPr algn="just">
              <a:lnSpc>
                <a:spcPct val="160000"/>
              </a:lnSpc>
              <a:buFont typeface="Wingdings" panose="05000000000000000000" pitchFamily="2" charset="2"/>
              <a:buChar char="à"/>
            </a:pPr>
            <a:r>
              <a:rPr lang="en-US" sz="7200" dirty="0">
                <a:sym typeface="Wingdings" panose="05000000000000000000" pitchFamily="2" charset="2"/>
              </a:rPr>
              <a:t> Exploring Platform as a Service, Using Google Web Services, Using AWS (Amazon Web Services), Using Microsoft Cloud Services</a:t>
            </a:r>
            <a:r>
              <a:rPr lang="en-US" sz="7200" dirty="0">
                <a:solidFill>
                  <a:srgbClr val="C00000"/>
                </a:solidFill>
                <a:sym typeface="Wingdings" panose="05000000000000000000" pitchFamily="2" charset="2"/>
              </a:rPr>
              <a:t>		(12 </a:t>
            </a:r>
            <a:r>
              <a:rPr lang="en-US" sz="7200" dirty="0" err="1">
                <a:solidFill>
                  <a:srgbClr val="C00000"/>
                </a:solidFill>
                <a:sym typeface="Wingdings" panose="05000000000000000000" pitchFamily="2" charset="2"/>
              </a:rPr>
              <a:t>Hrs</a:t>
            </a:r>
            <a:r>
              <a:rPr lang="en-US" sz="7200" dirty="0">
                <a:solidFill>
                  <a:srgbClr val="C00000"/>
                </a:solidFill>
                <a:sym typeface="Wingdings" panose="05000000000000000000" pitchFamily="2" charset="2"/>
              </a:rPr>
              <a:t>)</a:t>
            </a:r>
          </a:p>
          <a:p>
            <a:pPr marL="0" indent="0">
              <a:lnSpc>
                <a:spcPct val="160000"/>
              </a:lnSpc>
              <a:buNone/>
            </a:pPr>
            <a:endParaRPr lang="en-US" sz="4800" dirty="0">
              <a:sym typeface="Wingdings" panose="05000000000000000000" pitchFamily="2" charset="2"/>
            </a:endParaRPr>
          </a:p>
          <a:p>
            <a:pPr marL="0" indent="0">
              <a:lnSpc>
                <a:spcPct val="160000"/>
              </a:lnSpc>
              <a:buNone/>
            </a:pPr>
            <a:endParaRPr lang="en-US" sz="4800" dirty="0">
              <a:sym typeface="Wingdings" panose="05000000000000000000" pitchFamily="2" charset="2"/>
            </a:endParaRPr>
          </a:p>
          <a:p>
            <a:pPr marL="0" indent="0">
              <a:lnSpc>
                <a:spcPct val="160000"/>
              </a:lnSpc>
              <a:buNone/>
            </a:pPr>
            <a:endParaRPr lang="en-US" sz="4800" dirty="0">
              <a:sym typeface="Wingdings" panose="05000000000000000000" pitchFamily="2" charset="2"/>
            </a:endParaRPr>
          </a:p>
          <a:p>
            <a:pPr marL="0" indent="0">
              <a:lnSpc>
                <a:spcPct val="160000"/>
              </a:lnSpc>
              <a:buNone/>
            </a:pPr>
            <a:endParaRPr lang="en-US" sz="3825" dirty="0">
              <a:sym typeface="Wingdings" panose="05000000000000000000" pitchFamily="2" charset="2"/>
            </a:endParaRPr>
          </a:p>
          <a:p>
            <a:pPr marL="0" indent="0">
              <a:lnSpc>
                <a:spcPct val="160000"/>
              </a:lnSpc>
              <a:buNone/>
            </a:pPr>
            <a:endParaRPr lang="en-US" dirty="0"/>
          </a:p>
        </p:txBody>
      </p:sp>
      <p:sp>
        <p:nvSpPr>
          <p:cNvPr id="4" name="TextBox 3"/>
          <p:cNvSpPr txBox="1"/>
          <p:nvPr/>
        </p:nvSpPr>
        <p:spPr>
          <a:xfrm>
            <a:off x="4140574" y="5334000"/>
            <a:ext cx="4881282" cy="1131079"/>
          </a:xfrm>
          <a:prstGeom prst="rect">
            <a:avLst/>
          </a:prstGeom>
          <a:solidFill>
            <a:schemeClr val="bg2"/>
          </a:solidFill>
        </p:spPr>
        <p:txBody>
          <a:bodyPr wrap="square" rtlCol="0">
            <a:spAutoFit/>
          </a:bodyPr>
          <a:lstStyle/>
          <a:p>
            <a:pPr lvl="0"/>
            <a:r>
              <a:rPr lang="en-US" sz="1350" dirty="0">
                <a:solidFill>
                  <a:srgbClr val="002060"/>
                </a:solidFill>
              </a:rPr>
              <a:t> </a:t>
            </a:r>
            <a:r>
              <a:rPr lang="en-US" sz="1350" b="1" dirty="0">
                <a:solidFill>
                  <a:srgbClr val="002060"/>
                </a:solidFill>
              </a:rPr>
              <a:t>Barrie </a:t>
            </a:r>
            <a:r>
              <a:rPr lang="en-US" sz="1350" b="1" dirty="0" err="1">
                <a:solidFill>
                  <a:srgbClr val="002060"/>
                </a:solidFill>
              </a:rPr>
              <a:t>Sosinsky</a:t>
            </a:r>
            <a:r>
              <a:rPr lang="en-US" sz="1350" b="1" dirty="0">
                <a:solidFill>
                  <a:srgbClr val="002060"/>
                </a:solidFill>
              </a:rPr>
              <a:t>, “Cloud Computing Bible”,  Wiley-India, 2010</a:t>
            </a:r>
          </a:p>
          <a:p>
            <a:pPr lvl="0"/>
            <a:r>
              <a:rPr lang="en-US" sz="1350" b="1" dirty="0">
                <a:solidFill>
                  <a:srgbClr val="002060"/>
                </a:solidFill>
              </a:rPr>
              <a:t> (Text Book 1)</a:t>
            </a:r>
          </a:p>
          <a:p>
            <a:pPr lvl="0"/>
            <a:r>
              <a:rPr lang="en-US" sz="1350" b="1" dirty="0" err="1">
                <a:solidFill>
                  <a:srgbClr val="002060"/>
                </a:solidFill>
              </a:rPr>
              <a:t>Rajkumar</a:t>
            </a:r>
            <a:r>
              <a:rPr lang="en-US" sz="1350" b="1" dirty="0">
                <a:solidFill>
                  <a:srgbClr val="002060"/>
                </a:solidFill>
              </a:rPr>
              <a:t> </a:t>
            </a:r>
            <a:r>
              <a:rPr lang="en-US" sz="1350" b="1" dirty="0" err="1">
                <a:solidFill>
                  <a:srgbClr val="002060"/>
                </a:solidFill>
              </a:rPr>
              <a:t>Buyya</a:t>
            </a:r>
            <a:r>
              <a:rPr lang="en-US" sz="1350" b="1" dirty="0">
                <a:solidFill>
                  <a:srgbClr val="002060"/>
                </a:solidFill>
              </a:rPr>
              <a:t>, James </a:t>
            </a:r>
            <a:r>
              <a:rPr lang="en-US" sz="1350" b="1" dirty="0" err="1">
                <a:solidFill>
                  <a:srgbClr val="002060"/>
                </a:solidFill>
              </a:rPr>
              <a:t>Broberg</a:t>
            </a:r>
            <a:r>
              <a:rPr lang="en-US" sz="1350" b="1" dirty="0">
                <a:solidFill>
                  <a:srgbClr val="002060"/>
                </a:solidFill>
              </a:rPr>
              <a:t>, Andrzej </a:t>
            </a:r>
            <a:r>
              <a:rPr lang="en-US" sz="1350" b="1" dirty="0" err="1">
                <a:solidFill>
                  <a:srgbClr val="002060"/>
                </a:solidFill>
              </a:rPr>
              <a:t>Goscinski</a:t>
            </a:r>
            <a:r>
              <a:rPr lang="en-US" sz="1350" b="1" dirty="0">
                <a:solidFill>
                  <a:srgbClr val="002060"/>
                </a:solidFill>
              </a:rPr>
              <a:t> </a:t>
            </a:r>
            <a:r>
              <a:rPr lang="en-US" sz="1350" dirty="0">
                <a:solidFill>
                  <a:srgbClr val="002060"/>
                </a:solidFill>
              </a:rPr>
              <a:t>“Cloud  Computing Principles and Paradigms” Wiley Publications , 2013 (Text Book 2)</a:t>
            </a:r>
            <a:endParaRPr lang="en-US" sz="1350" dirty="0"/>
          </a:p>
        </p:txBody>
      </p:sp>
    </p:spTree>
    <p:extLst>
      <p:ext uri="{BB962C8B-B14F-4D97-AF65-F5344CB8AC3E}">
        <p14:creationId xmlns:p14="http://schemas.microsoft.com/office/powerpoint/2010/main" val="396432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7886700" cy="534521"/>
          </a:xfrm>
        </p:spPr>
        <p:txBody>
          <a:bodyPr>
            <a:noAutofit/>
          </a:bodyPr>
          <a:lstStyle/>
          <a:p>
            <a:pPr lvl="0"/>
            <a:r>
              <a:rPr lang="en-US" sz="2400" dirty="0">
                <a:solidFill>
                  <a:srgbClr val="C00000"/>
                </a:solidFill>
              </a:rPr>
              <a:t>Module 3: EXPLORING CLOUD INFRASTRUCTURE:</a:t>
            </a:r>
          </a:p>
        </p:txBody>
      </p:sp>
      <p:sp>
        <p:nvSpPr>
          <p:cNvPr id="3" name="Content Placeholder 2"/>
          <p:cNvSpPr>
            <a:spLocks noGrp="1"/>
          </p:cNvSpPr>
          <p:nvPr>
            <p:ph idx="1"/>
          </p:nvPr>
        </p:nvSpPr>
        <p:spPr>
          <a:xfrm>
            <a:off x="381000" y="839321"/>
            <a:ext cx="8488456" cy="4134971"/>
          </a:xfrm>
        </p:spPr>
        <p:txBody>
          <a:bodyPr>
            <a:normAutofit fontScale="25000" lnSpcReduction="20000"/>
          </a:bodyPr>
          <a:lstStyle/>
          <a:p>
            <a:endParaRPr lang="en-US" dirty="0"/>
          </a:p>
          <a:p>
            <a:pPr algn="just">
              <a:lnSpc>
                <a:spcPct val="160000"/>
              </a:lnSpc>
              <a:buFont typeface="Wingdings" panose="05000000000000000000" pitchFamily="2" charset="2"/>
              <a:buChar char="à"/>
            </a:pPr>
            <a:r>
              <a:rPr lang="en-US" sz="7200" dirty="0">
                <a:sym typeface="Wingdings" panose="05000000000000000000" pitchFamily="2" charset="2"/>
              </a:rPr>
              <a:t>Managing the Cloud: Administrating the Clouds,</a:t>
            </a:r>
          </a:p>
          <a:p>
            <a:pPr algn="just">
              <a:lnSpc>
                <a:spcPct val="160000"/>
              </a:lnSpc>
              <a:buFont typeface="Wingdings" panose="05000000000000000000" pitchFamily="2" charset="2"/>
              <a:buChar char="à"/>
            </a:pPr>
            <a:r>
              <a:rPr lang="en-US" sz="7200" dirty="0">
                <a:sym typeface="Wingdings" panose="05000000000000000000" pitchFamily="2" charset="2"/>
              </a:rPr>
              <a:t> Management responsibilities, </a:t>
            </a:r>
          </a:p>
          <a:p>
            <a:pPr algn="just">
              <a:lnSpc>
                <a:spcPct val="160000"/>
              </a:lnSpc>
              <a:buFont typeface="Wingdings" panose="05000000000000000000" pitchFamily="2" charset="2"/>
              <a:buChar char="à"/>
            </a:pPr>
            <a:r>
              <a:rPr lang="en-US" sz="7200" dirty="0">
                <a:sym typeface="Wingdings" panose="05000000000000000000" pitchFamily="2" charset="2"/>
              </a:rPr>
              <a:t>Lifecycle management, </a:t>
            </a:r>
          </a:p>
          <a:p>
            <a:pPr algn="just">
              <a:lnSpc>
                <a:spcPct val="160000"/>
              </a:lnSpc>
              <a:buFont typeface="Wingdings" panose="05000000000000000000" pitchFamily="2" charset="2"/>
              <a:buChar char="à"/>
            </a:pPr>
            <a:r>
              <a:rPr lang="en-US" sz="7200" dirty="0">
                <a:sym typeface="Wingdings" panose="05000000000000000000" pitchFamily="2" charset="2"/>
              </a:rPr>
              <a:t>Emerging Cloud Management Standards, </a:t>
            </a:r>
          </a:p>
          <a:p>
            <a:pPr algn="just">
              <a:lnSpc>
                <a:spcPct val="160000"/>
              </a:lnSpc>
              <a:buFont typeface="Wingdings" panose="05000000000000000000" pitchFamily="2" charset="2"/>
              <a:buChar char="à"/>
            </a:pPr>
            <a:r>
              <a:rPr lang="en-US" sz="7200" dirty="0">
                <a:sym typeface="Wingdings" panose="05000000000000000000" pitchFamily="2" charset="2"/>
              </a:rPr>
              <a:t>Understanding Cloud Security:  Securing the Cloud, The security boundary, Security mapping, Securing Data, Encryption, Auditing and compliance, Establishing Identity and Presence </a:t>
            </a:r>
            <a:r>
              <a:rPr lang="en-US" sz="7200" dirty="0">
                <a:solidFill>
                  <a:srgbClr val="C00000"/>
                </a:solidFill>
                <a:sym typeface="Wingdings" panose="05000000000000000000" pitchFamily="2" charset="2"/>
              </a:rPr>
              <a:t>			(10 </a:t>
            </a:r>
            <a:r>
              <a:rPr lang="en-US" sz="7200" dirty="0" err="1">
                <a:solidFill>
                  <a:srgbClr val="C00000"/>
                </a:solidFill>
                <a:sym typeface="Wingdings" panose="05000000000000000000" pitchFamily="2" charset="2"/>
              </a:rPr>
              <a:t>Hrs</a:t>
            </a:r>
            <a:r>
              <a:rPr lang="en-US" sz="7200" dirty="0">
                <a:solidFill>
                  <a:srgbClr val="C00000"/>
                </a:solidFill>
                <a:sym typeface="Wingdings" panose="05000000000000000000" pitchFamily="2" charset="2"/>
              </a:rPr>
              <a:t>)</a:t>
            </a:r>
          </a:p>
          <a:p>
            <a:pPr marL="0" indent="0">
              <a:lnSpc>
                <a:spcPct val="160000"/>
              </a:lnSpc>
              <a:buNone/>
            </a:pPr>
            <a:endParaRPr lang="en-US" sz="4800" dirty="0">
              <a:sym typeface="Wingdings" panose="05000000000000000000" pitchFamily="2" charset="2"/>
            </a:endParaRPr>
          </a:p>
          <a:p>
            <a:pPr marL="0" indent="0">
              <a:lnSpc>
                <a:spcPct val="160000"/>
              </a:lnSpc>
              <a:buNone/>
            </a:pPr>
            <a:endParaRPr lang="en-US" sz="4800" dirty="0">
              <a:sym typeface="Wingdings" panose="05000000000000000000" pitchFamily="2" charset="2"/>
            </a:endParaRPr>
          </a:p>
          <a:p>
            <a:pPr marL="0" indent="0">
              <a:lnSpc>
                <a:spcPct val="160000"/>
              </a:lnSpc>
              <a:buNone/>
            </a:pPr>
            <a:endParaRPr lang="en-US" sz="4800" dirty="0">
              <a:sym typeface="Wingdings" panose="05000000000000000000" pitchFamily="2" charset="2"/>
            </a:endParaRPr>
          </a:p>
          <a:p>
            <a:pPr marL="0" indent="0">
              <a:lnSpc>
                <a:spcPct val="160000"/>
              </a:lnSpc>
              <a:buNone/>
            </a:pPr>
            <a:endParaRPr lang="en-US" sz="3825" dirty="0">
              <a:sym typeface="Wingdings" panose="05000000000000000000" pitchFamily="2" charset="2"/>
            </a:endParaRPr>
          </a:p>
          <a:p>
            <a:pPr marL="0" indent="0">
              <a:lnSpc>
                <a:spcPct val="160000"/>
              </a:lnSpc>
              <a:buNone/>
            </a:pPr>
            <a:endParaRPr lang="en-US" dirty="0"/>
          </a:p>
        </p:txBody>
      </p:sp>
      <p:sp>
        <p:nvSpPr>
          <p:cNvPr id="4" name="TextBox 3"/>
          <p:cNvSpPr txBox="1"/>
          <p:nvPr/>
        </p:nvSpPr>
        <p:spPr>
          <a:xfrm>
            <a:off x="1371600" y="4941162"/>
            <a:ext cx="7162800" cy="1131079"/>
          </a:xfrm>
          <a:prstGeom prst="rect">
            <a:avLst/>
          </a:prstGeom>
          <a:solidFill>
            <a:schemeClr val="bg2"/>
          </a:solidFill>
        </p:spPr>
        <p:txBody>
          <a:bodyPr wrap="square" rtlCol="0">
            <a:spAutoFit/>
          </a:bodyPr>
          <a:lstStyle/>
          <a:p>
            <a:pPr lvl="0"/>
            <a:r>
              <a:rPr lang="en-US" sz="1350" dirty="0">
                <a:solidFill>
                  <a:srgbClr val="002060"/>
                </a:solidFill>
              </a:rPr>
              <a:t> </a:t>
            </a:r>
            <a:r>
              <a:rPr lang="en-US" sz="1350" b="1" dirty="0">
                <a:solidFill>
                  <a:srgbClr val="002060"/>
                </a:solidFill>
              </a:rPr>
              <a:t>Barrie </a:t>
            </a:r>
            <a:r>
              <a:rPr lang="en-US" sz="1350" b="1" dirty="0" err="1">
                <a:solidFill>
                  <a:srgbClr val="002060"/>
                </a:solidFill>
              </a:rPr>
              <a:t>Sosinsky</a:t>
            </a:r>
            <a:r>
              <a:rPr lang="en-US" sz="1350" b="1" dirty="0">
                <a:solidFill>
                  <a:srgbClr val="002060"/>
                </a:solidFill>
              </a:rPr>
              <a:t>, “Cloud Computing Bible”,  Wiley-India, 2010</a:t>
            </a:r>
          </a:p>
          <a:p>
            <a:pPr lvl="0"/>
            <a:r>
              <a:rPr lang="en-US" sz="1350" b="1" dirty="0">
                <a:solidFill>
                  <a:srgbClr val="002060"/>
                </a:solidFill>
              </a:rPr>
              <a:t> (Text Book 1)</a:t>
            </a:r>
          </a:p>
          <a:p>
            <a:pPr lvl="0"/>
            <a:r>
              <a:rPr lang="en-US" sz="1350" b="1" dirty="0" err="1">
                <a:solidFill>
                  <a:srgbClr val="002060"/>
                </a:solidFill>
              </a:rPr>
              <a:t>Rajkumar</a:t>
            </a:r>
            <a:r>
              <a:rPr lang="en-US" sz="1350" b="1" dirty="0">
                <a:solidFill>
                  <a:srgbClr val="002060"/>
                </a:solidFill>
              </a:rPr>
              <a:t> </a:t>
            </a:r>
            <a:r>
              <a:rPr lang="en-US" sz="1350" b="1" dirty="0" err="1">
                <a:solidFill>
                  <a:srgbClr val="002060"/>
                </a:solidFill>
              </a:rPr>
              <a:t>Buyya</a:t>
            </a:r>
            <a:r>
              <a:rPr lang="en-US" sz="1350" b="1" dirty="0">
                <a:solidFill>
                  <a:srgbClr val="002060"/>
                </a:solidFill>
              </a:rPr>
              <a:t>, James </a:t>
            </a:r>
            <a:r>
              <a:rPr lang="en-US" sz="1350" b="1" dirty="0" err="1">
                <a:solidFill>
                  <a:srgbClr val="002060"/>
                </a:solidFill>
              </a:rPr>
              <a:t>Broberg</a:t>
            </a:r>
            <a:r>
              <a:rPr lang="en-US" sz="1350" b="1" dirty="0">
                <a:solidFill>
                  <a:srgbClr val="002060"/>
                </a:solidFill>
              </a:rPr>
              <a:t>, Andrzej </a:t>
            </a:r>
            <a:r>
              <a:rPr lang="en-US" sz="1350" b="1" dirty="0" err="1">
                <a:solidFill>
                  <a:srgbClr val="002060"/>
                </a:solidFill>
              </a:rPr>
              <a:t>Goscinski</a:t>
            </a:r>
            <a:r>
              <a:rPr lang="en-US" sz="1350" b="1" dirty="0">
                <a:solidFill>
                  <a:srgbClr val="002060"/>
                </a:solidFill>
              </a:rPr>
              <a:t> </a:t>
            </a:r>
            <a:r>
              <a:rPr lang="en-US" sz="1350" dirty="0">
                <a:solidFill>
                  <a:srgbClr val="002060"/>
                </a:solidFill>
              </a:rPr>
              <a:t>“Cloud  Computing Principles and Paradigms” Wiley Publications , 2013 (Text Book 2)</a:t>
            </a:r>
          </a:p>
          <a:p>
            <a:pPr lvl="0"/>
            <a:r>
              <a:rPr lang="en-US" sz="1350" dirty="0">
                <a:solidFill>
                  <a:srgbClr val="002060"/>
                </a:solidFill>
              </a:rPr>
              <a:t>Relevant research papers</a:t>
            </a:r>
            <a:endParaRPr lang="en-US" sz="1350" dirty="0"/>
          </a:p>
        </p:txBody>
      </p:sp>
    </p:spTree>
    <p:extLst>
      <p:ext uri="{BB962C8B-B14F-4D97-AF65-F5344CB8AC3E}">
        <p14:creationId xmlns:p14="http://schemas.microsoft.com/office/powerpoint/2010/main" val="3177414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458200" cy="534521"/>
          </a:xfrm>
        </p:spPr>
        <p:txBody>
          <a:bodyPr>
            <a:noAutofit/>
          </a:bodyPr>
          <a:lstStyle/>
          <a:p>
            <a:pPr lvl="0"/>
            <a:r>
              <a:rPr lang="en-US" sz="2400" dirty="0">
                <a:solidFill>
                  <a:srgbClr val="C00000"/>
                </a:solidFill>
              </a:rPr>
              <a:t>Module 4: UNDERSTANDING SERVICES AND APPLICATIONS</a:t>
            </a:r>
          </a:p>
        </p:txBody>
      </p:sp>
      <p:sp>
        <p:nvSpPr>
          <p:cNvPr id="3" name="Content Placeholder 2"/>
          <p:cNvSpPr>
            <a:spLocks noGrp="1"/>
          </p:cNvSpPr>
          <p:nvPr>
            <p:ph idx="1"/>
          </p:nvPr>
        </p:nvSpPr>
        <p:spPr>
          <a:xfrm>
            <a:off x="533400" y="845947"/>
            <a:ext cx="8488456" cy="5554853"/>
          </a:xfrm>
        </p:spPr>
        <p:txBody>
          <a:bodyPr>
            <a:normAutofit fontScale="25000" lnSpcReduction="20000"/>
          </a:bodyPr>
          <a:lstStyle/>
          <a:p>
            <a:endParaRPr lang="en-US" dirty="0"/>
          </a:p>
          <a:p>
            <a:pPr algn="just">
              <a:lnSpc>
                <a:spcPct val="160000"/>
              </a:lnSpc>
              <a:buFont typeface="Wingdings" panose="05000000000000000000" pitchFamily="2" charset="2"/>
              <a:buChar char="à"/>
            </a:pPr>
            <a:r>
              <a:rPr lang="en-US" sz="8000" dirty="0">
                <a:sym typeface="Wingdings" panose="05000000000000000000" pitchFamily="2" charset="2"/>
              </a:rPr>
              <a:t>Introducing Service Oriented Architecture, </a:t>
            </a:r>
          </a:p>
          <a:p>
            <a:pPr algn="just">
              <a:lnSpc>
                <a:spcPct val="160000"/>
              </a:lnSpc>
              <a:buFont typeface="Wingdings" panose="05000000000000000000" pitchFamily="2" charset="2"/>
              <a:buChar char="à"/>
            </a:pPr>
            <a:r>
              <a:rPr lang="en-US" sz="8000" dirty="0">
                <a:sym typeface="Wingdings" panose="05000000000000000000" pitchFamily="2" charset="2"/>
              </a:rPr>
              <a:t>Event-driven SOA or SOA 2.0, The Enterprise Service Bus, </a:t>
            </a:r>
          </a:p>
          <a:p>
            <a:pPr algn="just">
              <a:lnSpc>
                <a:spcPct val="160000"/>
              </a:lnSpc>
              <a:buFont typeface="Wingdings" panose="05000000000000000000" pitchFamily="2" charset="2"/>
              <a:buChar char="à"/>
            </a:pPr>
            <a:r>
              <a:rPr lang="en-US" sz="8000" dirty="0">
                <a:sym typeface="Wingdings" panose="05000000000000000000" pitchFamily="2" charset="2"/>
              </a:rPr>
              <a:t>Service catalogs, Managing and Monitoring SOA, </a:t>
            </a:r>
          </a:p>
          <a:p>
            <a:pPr algn="just">
              <a:lnSpc>
                <a:spcPct val="160000"/>
              </a:lnSpc>
              <a:buFont typeface="Wingdings" panose="05000000000000000000" pitchFamily="2" charset="2"/>
              <a:buChar char="à"/>
            </a:pPr>
            <a:r>
              <a:rPr lang="en-US" sz="8000" dirty="0">
                <a:sym typeface="Wingdings" panose="05000000000000000000" pitchFamily="2" charset="2"/>
              </a:rPr>
              <a:t>SOA management tools, SOA security, </a:t>
            </a:r>
          </a:p>
          <a:p>
            <a:pPr algn="just">
              <a:lnSpc>
                <a:spcPct val="160000"/>
              </a:lnSpc>
              <a:buFont typeface="Wingdings" panose="05000000000000000000" pitchFamily="2" charset="2"/>
              <a:buChar char="à"/>
            </a:pPr>
            <a:r>
              <a:rPr lang="en-US" sz="8000" dirty="0">
                <a:sym typeface="Wingdings" panose="05000000000000000000" pitchFamily="2" charset="2"/>
              </a:rPr>
              <a:t>The Open Cloud Consortium ,</a:t>
            </a:r>
          </a:p>
          <a:p>
            <a:pPr algn="just">
              <a:lnSpc>
                <a:spcPct val="160000"/>
              </a:lnSpc>
              <a:buFont typeface="Wingdings" panose="05000000000000000000" pitchFamily="2" charset="2"/>
              <a:buChar char="à"/>
            </a:pPr>
            <a:r>
              <a:rPr lang="en-US" sz="8000" dirty="0">
                <a:sym typeface="Wingdings" panose="05000000000000000000" pitchFamily="2" charset="2"/>
              </a:rPr>
              <a:t> Relating SOA and Cloud Computing, Data Center Management Tools, Service Management in Cloud Computing - Service Level Agreements(SLAs), </a:t>
            </a:r>
          </a:p>
          <a:p>
            <a:pPr algn="just">
              <a:lnSpc>
                <a:spcPct val="160000"/>
              </a:lnSpc>
              <a:buFont typeface="Wingdings" panose="05000000000000000000" pitchFamily="2" charset="2"/>
              <a:buChar char="à"/>
            </a:pPr>
            <a:r>
              <a:rPr lang="en-US" sz="8000" dirty="0">
                <a:sym typeface="Wingdings" panose="05000000000000000000" pitchFamily="2" charset="2"/>
              </a:rPr>
              <a:t>Billing &amp; Accounting - Comparing Scaling , Hardware: Traditional vs. Cloud, Economics of scaling: Benefitting enormously</a:t>
            </a:r>
            <a:r>
              <a:rPr lang="en-US" sz="4800" dirty="0">
                <a:solidFill>
                  <a:srgbClr val="C00000"/>
                </a:solidFill>
                <a:sym typeface="Wingdings" panose="05000000000000000000" pitchFamily="2" charset="2"/>
              </a:rPr>
              <a:t>		(10 </a:t>
            </a:r>
            <a:r>
              <a:rPr lang="en-US" sz="4800" dirty="0" err="1">
                <a:solidFill>
                  <a:srgbClr val="C00000"/>
                </a:solidFill>
                <a:sym typeface="Wingdings" panose="05000000000000000000" pitchFamily="2" charset="2"/>
              </a:rPr>
              <a:t>Hrs</a:t>
            </a:r>
            <a:r>
              <a:rPr lang="en-US" sz="4800" dirty="0">
                <a:solidFill>
                  <a:srgbClr val="C00000"/>
                </a:solidFill>
                <a:sym typeface="Wingdings" panose="05000000000000000000" pitchFamily="2" charset="2"/>
              </a:rPr>
              <a:t>)</a:t>
            </a:r>
          </a:p>
          <a:p>
            <a:pPr marL="0" indent="0" algn="just">
              <a:lnSpc>
                <a:spcPct val="160000"/>
              </a:lnSpc>
              <a:buNone/>
            </a:pPr>
            <a:endParaRPr lang="en-US" sz="4800" dirty="0">
              <a:sym typeface="Wingdings" panose="05000000000000000000" pitchFamily="2" charset="2"/>
            </a:endParaRPr>
          </a:p>
          <a:p>
            <a:pPr marL="0" indent="0">
              <a:lnSpc>
                <a:spcPct val="160000"/>
              </a:lnSpc>
              <a:buNone/>
            </a:pPr>
            <a:endParaRPr lang="en-US" sz="4800" dirty="0">
              <a:sym typeface="Wingdings" panose="05000000000000000000" pitchFamily="2" charset="2"/>
            </a:endParaRPr>
          </a:p>
          <a:p>
            <a:pPr marL="0" indent="0">
              <a:lnSpc>
                <a:spcPct val="160000"/>
              </a:lnSpc>
              <a:buNone/>
            </a:pPr>
            <a:endParaRPr lang="en-US" sz="3825" dirty="0">
              <a:sym typeface="Wingdings" panose="05000000000000000000" pitchFamily="2" charset="2"/>
            </a:endParaRPr>
          </a:p>
          <a:p>
            <a:pPr marL="0" indent="0">
              <a:lnSpc>
                <a:spcPct val="160000"/>
              </a:lnSpc>
              <a:buNone/>
            </a:pPr>
            <a:endParaRPr lang="en-US" dirty="0"/>
          </a:p>
        </p:txBody>
      </p:sp>
    </p:spTree>
    <p:extLst>
      <p:ext uri="{BB962C8B-B14F-4D97-AF65-F5344CB8AC3E}">
        <p14:creationId xmlns:p14="http://schemas.microsoft.com/office/powerpoint/2010/main" val="1094075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7886700" cy="534521"/>
          </a:xfrm>
        </p:spPr>
        <p:txBody>
          <a:bodyPr>
            <a:noAutofit/>
          </a:bodyPr>
          <a:lstStyle/>
          <a:p>
            <a:pPr lvl="0" algn="ctr"/>
            <a:r>
              <a:rPr lang="en-US" sz="2400" dirty="0">
                <a:solidFill>
                  <a:srgbClr val="C00000"/>
                </a:solidFill>
              </a:rPr>
              <a:t>Module 5: MANAGING DATA  AND CASE STUDIES </a:t>
            </a:r>
          </a:p>
        </p:txBody>
      </p:sp>
      <p:sp>
        <p:nvSpPr>
          <p:cNvPr id="3" name="Content Placeholder 2"/>
          <p:cNvSpPr>
            <a:spLocks noGrp="1"/>
          </p:cNvSpPr>
          <p:nvPr>
            <p:ph idx="1"/>
          </p:nvPr>
        </p:nvSpPr>
        <p:spPr>
          <a:xfrm>
            <a:off x="533400" y="845947"/>
            <a:ext cx="8488456" cy="4134971"/>
          </a:xfrm>
        </p:spPr>
        <p:txBody>
          <a:bodyPr>
            <a:normAutofit fontScale="32500" lnSpcReduction="20000"/>
          </a:bodyPr>
          <a:lstStyle/>
          <a:p>
            <a:endParaRPr lang="en-US" dirty="0"/>
          </a:p>
          <a:p>
            <a:pPr algn="just">
              <a:lnSpc>
                <a:spcPct val="160000"/>
              </a:lnSpc>
              <a:buFont typeface="Wingdings" panose="05000000000000000000" pitchFamily="2" charset="2"/>
              <a:buChar char="à"/>
            </a:pPr>
            <a:r>
              <a:rPr lang="en-US" sz="7200" dirty="0">
                <a:sym typeface="Wingdings" panose="05000000000000000000" pitchFamily="2" charset="2"/>
              </a:rPr>
              <a:t>Managing Data - Looking at Data, </a:t>
            </a:r>
          </a:p>
          <a:p>
            <a:pPr algn="just">
              <a:lnSpc>
                <a:spcPct val="160000"/>
              </a:lnSpc>
              <a:buFont typeface="Wingdings" panose="05000000000000000000" pitchFamily="2" charset="2"/>
              <a:buChar char="à"/>
            </a:pPr>
            <a:r>
              <a:rPr lang="en-US" sz="7200" dirty="0">
                <a:sym typeface="Wingdings" panose="05000000000000000000" pitchFamily="2" charset="2"/>
              </a:rPr>
              <a:t>Scalability &amp; Cloud Services, Database &amp; Data Stores in Cloud</a:t>
            </a:r>
          </a:p>
          <a:p>
            <a:pPr algn="just">
              <a:lnSpc>
                <a:spcPct val="160000"/>
              </a:lnSpc>
              <a:buFont typeface="Wingdings" panose="05000000000000000000" pitchFamily="2" charset="2"/>
              <a:buChar char="à"/>
            </a:pPr>
            <a:r>
              <a:rPr lang="en-US" sz="7200" dirty="0">
                <a:sym typeface="Wingdings" panose="05000000000000000000" pitchFamily="2" charset="2"/>
              </a:rPr>
              <a:t> - Large Scale Data Processing </a:t>
            </a:r>
          </a:p>
          <a:p>
            <a:pPr algn="just">
              <a:lnSpc>
                <a:spcPct val="160000"/>
              </a:lnSpc>
              <a:buFont typeface="Wingdings" panose="05000000000000000000" pitchFamily="2" charset="2"/>
              <a:buChar char="à"/>
            </a:pPr>
            <a:r>
              <a:rPr lang="en-US" sz="7200" dirty="0">
                <a:sym typeface="Wingdings" panose="05000000000000000000" pitchFamily="2" charset="2"/>
              </a:rPr>
              <a:t>SDL: Cloud Infrastructure market analysis and Case Studies, Security and Compliances, </a:t>
            </a:r>
          </a:p>
          <a:p>
            <a:pPr algn="just">
              <a:lnSpc>
                <a:spcPct val="160000"/>
              </a:lnSpc>
              <a:buFont typeface="Wingdings" panose="05000000000000000000" pitchFamily="2" charset="2"/>
              <a:buChar char="à"/>
            </a:pPr>
            <a:r>
              <a:rPr lang="en-US" sz="7200" dirty="0">
                <a:sym typeface="Wingdings" panose="05000000000000000000" pitchFamily="2" charset="2"/>
              </a:rPr>
              <a:t>Establishing Identity and presence </a:t>
            </a:r>
            <a:r>
              <a:rPr lang="en-US" sz="7200" dirty="0">
                <a:solidFill>
                  <a:srgbClr val="C00000"/>
                </a:solidFill>
                <a:sym typeface="Wingdings" panose="05000000000000000000" pitchFamily="2" charset="2"/>
              </a:rPr>
              <a:t>				(8 </a:t>
            </a:r>
            <a:r>
              <a:rPr lang="en-US" sz="7200" dirty="0" err="1">
                <a:solidFill>
                  <a:srgbClr val="C00000"/>
                </a:solidFill>
                <a:sym typeface="Wingdings" panose="05000000000000000000" pitchFamily="2" charset="2"/>
              </a:rPr>
              <a:t>Hrs</a:t>
            </a:r>
            <a:r>
              <a:rPr lang="en-US" sz="7200" dirty="0">
                <a:solidFill>
                  <a:srgbClr val="C00000"/>
                </a:solidFill>
                <a:sym typeface="Wingdings" panose="05000000000000000000" pitchFamily="2" charset="2"/>
              </a:rPr>
              <a:t>)</a:t>
            </a:r>
          </a:p>
          <a:p>
            <a:pPr marL="0" indent="0">
              <a:lnSpc>
                <a:spcPct val="160000"/>
              </a:lnSpc>
              <a:buNone/>
            </a:pPr>
            <a:endParaRPr lang="en-US" sz="4800" dirty="0">
              <a:sym typeface="Wingdings" panose="05000000000000000000" pitchFamily="2" charset="2"/>
            </a:endParaRPr>
          </a:p>
          <a:p>
            <a:pPr marL="0" indent="0">
              <a:lnSpc>
                <a:spcPct val="160000"/>
              </a:lnSpc>
              <a:buNone/>
            </a:pPr>
            <a:endParaRPr lang="en-US" sz="4800" dirty="0">
              <a:sym typeface="Wingdings" panose="05000000000000000000" pitchFamily="2" charset="2"/>
            </a:endParaRPr>
          </a:p>
          <a:p>
            <a:pPr marL="0" indent="0">
              <a:lnSpc>
                <a:spcPct val="160000"/>
              </a:lnSpc>
              <a:buNone/>
            </a:pPr>
            <a:endParaRPr lang="en-US" sz="4800" dirty="0">
              <a:sym typeface="Wingdings" panose="05000000000000000000" pitchFamily="2" charset="2"/>
            </a:endParaRPr>
          </a:p>
          <a:p>
            <a:pPr marL="0" indent="0">
              <a:lnSpc>
                <a:spcPct val="160000"/>
              </a:lnSpc>
              <a:buNone/>
            </a:pPr>
            <a:endParaRPr lang="en-US" sz="3825" dirty="0">
              <a:sym typeface="Wingdings" panose="05000000000000000000" pitchFamily="2" charset="2"/>
            </a:endParaRPr>
          </a:p>
          <a:p>
            <a:pPr marL="0" indent="0">
              <a:lnSpc>
                <a:spcPct val="160000"/>
              </a:lnSpc>
              <a:buNone/>
            </a:pPr>
            <a:endParaRPr lang="en-US" dirty="0"/>
          </a:p>
        </p:txBody>
      </p:sp>
    </p:spTree>
    <p:extLst>
      <p:ext uri="{BB962C8B-B14F-4D97-AF65-F5344CB8AC3E}">
        <p14:creationId xmlns:p14="http://schemas.microsoft.com/office/powerpoint/2010/main" val="24939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28600" y="1824715"/>
            <a:ext cx="8534400" cy="3518720"/>
          </a:xfrm>
          <a:prstGeom prst="rect">
            <a:avLst/>
          </a:prstGeom>
        </p:spPr>
        <p:txBody>
          <a:bodyPr wrap="square">
            <a:spAutoFit/>
          </a:bodyPr>
          <a:lstStyle/>
          <a:p>
            <a:pPr marL="63495" marR="0" lvl="0" algn="just">
              <a:lnSpc>
                <a:spcPct val="125000"/>
              </a:lnSpc>
              <a:spcBef>
                <a:spcPts val="0"/>
              </a:spcBef>
              <a:spcAft>
                <a:spcPts val="0"/>
              </a:spcAft>
            </a:pPr>
            <a:r>
              <a:rPr lang="en-US" sz="2000" b="1" dirty="0"/>
              <a:t>Course outcomes</a:t>
            </a:r>
            <a:r>
              <a:rPr lang="en-US" sz="2000" b="1" dirty="0">
                <a:solidFill>
                  <a:srgbClr val="0D0D0D"/>
                </a:solidFill>
                <a:latin typeface="Times New Roman" pitchFamily="18"/>
                <a:ea typeface="Times New Roman" pitchFamily="18"/>
                <a:cs typeface="Times New Roman" pitchFamily="18"/>
              </a:rPr>
              <a:t>: </a:t>
            </a:r>
            <a:r>
              <a:rPr lang="en-US" sz="2000" dirty="0">
                <a:solidFill>
                  <a:srgbClr val="0D0D0D"/>
                </a:solidFill>
                <a:latin typeface="Times New Roman" pitchFamily="18"/>
                <a:ea typeface="Times New Roman" pitchFamily="18"/>
                <a:cs typeface="Times New Roman" pitchFamily="18"/>
              </a:rPr>
              <a:t>This course will enable students to</a:t>
            </a:r>
            <a:endParaRPr lang="en-US" sz="2000" dirty="0">
              <a:latin typeface="Calibri" pitchFamily="34"/>
              <a:ea typeface="Calibri" pitchFamily="34"/>
              <a:cs typeface="Times New Roman" pitchFamily="18"/>
            </a:endParaRPr>
          </a:p>
          <a:p>
            <a:pPr marL="342900" marR="0" lvl="0" indent="-342900" algn="just">
              <a:lnSpc>
                <a:spcPct val="125000"/>
              </a:lnSpc>
              <a:spcBef>
                <a:spcPts val="0"/>
              </a:spcBef>
              <a:spcAft>
                <a:spcPts val="0"/>
              </a:spcAft>
              <a:buSzPct val="100000"/>
              <a:buFont typeface="Symbol" pitchFamily="18"/>
              <a:buChar char=""/>
              <a:tabLst>
                <a:tab pos="558798" algn="l"/>
              </a:tabLst>
            </a:pPr>
            <a:r>
              <a:rPr lang="en-US" sz="2000" dirty="0">
                <a:solidFill>
                  <a:srgbClr val="0D0D0D"/>
                </a:solidFill>
                <a:latin typeface="Times New Roman" pitchFamily="18"/>
                <a:ea typeface="Symbol" pitchFamily="18"/>
                <a:cs typeface="Times New Roman" pitchFamily="18"/>
              </a:rPr>
              <a:t>	To articulate the building blocks of cloud infrastructure in the current industry scenario</a:t>
            </a:r>
          </a:p>
          <a:p>
            <a:pPr marL="342900" marR="0" lvl="0" indent="-342900" algn="just">
              <a:lnSpc>
                <a:spcPct val="125000"/>
              </a:lnSpc>
              <a:spcBef>
                <a:spcPts val="0"/>
              </a:spcBef>
              <a:spcAft>
                <a:spcPts val="0"/>
              </a:spcAft>
              <a:buSzPct val="100000"/>
              <a:buFont typeface="Symbol" pitchFamily="18"/>
              <a:buChar char=""/>
              <a:tabLst>
                <a:tab pos="558798" algn="l"/>
              </a:tabLst>
            </a:pPr>
            <a:r>
              <a:rPr lang="en-US" sz="2000" dirty="0">
                <a:solidFill>
                  <a:srgbClr val="0D0D0D"/>
                </a:solidFill>
                <a:latin typeface="Times New Roman" pitchFamily="18"/>
                <a:ea typeface="Symbol" pitchFamily="18"/>
                <a:cs typeface="Times New Roman" pitchFamily="18"/>
              </a:rPr>
              <a:t>To identify the design principles of virtualization techniques in cloud resource management</a:t>
            </a:r>
          </a:p>
          <a:p>
            <a:pPr marL="342900" marR="0" lvl="0" indent="-342900" algn="just">
              <a:lnSpc>
                <a:spcPct val="125000"/>
              </a:lnSpc>
              <a:spcBef>
                <a:spcPts val="0"/>
              </a:spcBef>
              <a:spcAft>
                <a:spcPts val="0"/>
              </a:spcAft>
              <a:buSzPct val="100000"/>
              <a:buFont typeface="Symbol" pitchFamily="18"/>
              <a:buChar char=""/>
              <a:tabLst>
                <a:tab pos="558798" algn="l"/>
              </a:tabLst>
            </a:pPr>
            <a:r>
              <a:rPr lang="en-US" sz="2000" dirty="0">
                <a:solidFill>
                  <a:srgbClr val="0D0D0D"/>
                </a:solidFill>
                <a:latin typeface="Times New Roman" pitchFamily="18"/>
                <a:ea typeface="Symbol" pitchFamily="18"/>
                <a:cs typeface="Times New Roman" pitchFamily="18"/>
              </a:rPr>
              <a:t> To design the cloud infrastructure using infrastructure as code.</a:t>
            </a:r>
          </a:p>
          <a:p>
            <a:pPr marL="342900" marR="0" lvl="0" indent="-342900" algn="just">
              <a:lnSpc>
                <a:spcPct val="125000"/>
              </a:lnSpc>
              <a:spcBef>
                <a:spcPts val="0"/>
              </a:spcBef>
              <a:spcAft>
                <a:spcPts val="0"/>
              </a:spcAft>
              <a:buSzPct val="100000"/>
              <a:buFont typeface="Symbol" pitchFamily="18"/>
              <a:buChar char=""/>
              <a:tabLst>
                <a:tab pos="558798" algn="l"/>
              </a:tabLst>
            </a:pPr>
            <a:r>
              <a:rPr lang="en-US" sz="2000" dirty="0">
                <a:solidFill>
                  <a:srgbClr val="0D0D0D"/>
                </a:solidFill>
                <a:latin typeface="Times New Roman" pitchFamily="18"/>
                <a:ea typeface="Symbol" pitchFamily="18"/>
                <a:cs typeface="Times New Roman" pitchFamily="18"/>
              </a:rPr>
              <a:t>To design and development of cloud architectural solution with its detailed monitoring.</a:t>
            </a:r>
          </a:p>
          <a:p>
            <a:pPr marL="342900" marR="0" lvl="0" indent="-342900" algn="just">
              <a:lnSpc>
                <a:spcPct val="125000"/>
              </a:lnSpc>
              <a:spcBef>
                <a:spcPts val="0"/>
              </a:spcBef>
              <a:spcAft>
                <a:spcPts val="0"/>
              </a:spcAft>
              <a:buSzPct val="100000"/>
              <a:buFont typeface="Symbol" pitchFamily="18"/>
              <a:buChar char=""/>
              <a:tabLst>
                <a:tab pos="558798" algn="l"/>
              </a:tabLst>
            </a:pPr>
            <a:r>
              <a:rPr lang="en-US" sz="2000" dirty="0">
                <a:solidFill>
                  <a:srgbClr val="0D0D0D"/>
                </a:solidFill>
                <a:latin typeface="Times New Roman" pitchFamily="18"/>
                <a:ea typeface="Symbol" pitchFamily="18"/>
                <a:cs typeface="Times New Roman" pitchFamily="18"/>
              </a:rPr>
              <a:t> To identify and analyze the cloud Infrastructure Security and compliances</a:t>
            </a:r>
          </a:p>
        </p:txBody>
      </p:sp>
    </p:spTree>
    <p:extLst>
      <p:ext uri="{BB962C8B-B14F-4D97-AF65-F5344CB8AC3E}">
        <p14:creationId xmlns:p14="http://schemas.microsoft.com/office/powerpoint/2010/main" val="2712217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7886700" cy="534521"/>
          </a:xfrm>
        </p:spPr>
        <p:txBody>
          <a:bodyPr>
            <a:noAutofit/>
          </a:bodyPr>
          <a:lstStyle/>
          <a:p>
            <a:pPr lvl="0"/>
            <a:r>
              <a:rPr lang="en-US" sz="2400" dirty="0">
                <a:solidFill>
                  <a:srgbClr val="C00000"/>
                </a:solidFill>
              </a:rPr>
              <a:t>INTRODUCTION TO CLOUD COMPUTING</a:t>
            </a:r>
          </a:p>
        </p:txBody>
      </p:sp>
      <p:sp>
        <p:nvSpPr>
          <p:cNvPr id="3" name="Content Placeholder 2"/>
          <p:cNvSpPr>
            <a:spLocks noGrp="1"/>
          </p:cNvSpPr>
          <p:nvPr>
            <p:ph idx="1"/>
          </p:nvPr>
        </p:nvSpPr>
        <p:spPr>
          <a:xfrm>
            <a:off x="152400" y="686921"/>
            <a:ext cx="8839200" cy="6018679"/>
          </a:xfrm>
        </p:spPr>
        <p:txBody>
          <a:bodyPr>
            <a:normAutofit fontScale="25000" lnSpcReduction="20000"/>
          </a:bodyPr>
          <a:lstStyle/>
          <a:p>
            <a:endParaRPr lang="en-US" dirty="0"/>
          </a:p>
          <a:p>
            <a:pPr marL="0" indent="0">
              <a:lnSpc>
                <a:spcPct val="160000"/>
              </a:lnSpc>
              <a:buNone/>
            </a:pPr>
            <a:r>
              <a:rPr lang="en-US" sz="7200" dirty="0">
                <a:sym typeface="Wingdings" panose="05000000000000000000" pitchFamily="2" charset="2"/>
              </a:rPr>
              <a:t>1.1 Cloud Computing in a Nutshell </a:t>
            </a:r>
          </a:p>
          <a:p>
            <a:pPr marL="0" indent="0">
              <a:lnSpc>
                <a:spcPct val="160000"/>
              </a:lnSpc>
              <a:buNone/>
            </a:pPr>
            <a:r>
              <a:rPr lang="en-US" sz="7200" dirty="0">
                <a:sym typeface="Wingdings" panose="05000000000000000000" pitchFamily="2" charset="2"/>
              </a:rPr>
              <a:t>1.2 Roots of Cloud Computing </a:t>
            </a:r>
          </a:p>
          <a:p>
            <a:pPr marL="0" indent="0">
              <a:lnSpc>
                <a:spcPct val="160000"/>
              </a:lnSpc>
              <a:buNone/>
            </a:pPr>
            <a:r>
              <a:rPr lang="en-US" sz="7200" dirty="0">
                <a:sym typeface="Wingdings" panose="05000000000000000000" pitchFamily="2" charset="2"/>
              </a:rPr>
              <a:t>	1.2.1 Mainframe to clouds , </a:t>
            </a:r>
          </a:p>
          <a:p>
            <a:pPr marL="0" indent="0">
              <a:lnSpc>
                <a:spcPct val="160000"/>
              </a:lnSpc>
              <a:buNone/>
            </a:pPr>
            <a:r>
              <a:rPr lang="en-US" sz="7200" dirty="0">
                <a:sym typeface="Wingdings" panose="05000000000000000000" pitchFamily="2" charset="2"/>
              </a:rPr>
              <a:t>	1.2.2 SOA, Web Services, </a:t>
            </a:r>
            <a:r>
              <a:rPr lang="en-US" sz="7200" dirty="0" err="1">
                <a:sym typeface="Wingdings" panose="05000000000000000000" pitchFamily="2" charset="2"/>
              </a:rPr>
              <a:t>Mashups</a:t>
            </a:r>
            <a:endParaRPr lang="en-US" sz="7200" dirty="0">
              <a:sym typeface="Wingdings" panose="05000000000000000000" pitchFamily="2" charset="2"/>
            </a:endParaRPr>
          </a:p>
          <a:p>
            <a:pPr marL="0" indent="0">
              <a:lnSpc>
                <a:spcPct val="160000"/>
              </a:lnSpc>
              <a:buNone/>
            </a:pPr>
            <a:r>
              <a:rPr lang="en-US" sz="7200" dirty="0">
                <a:sym typeface="Wingdings" panose="05000000000000000000" pitchFamily="2" charset="2"/>
              </a:rPr>
              <a:t>	1.2.3 Grid Computing</a:t>
            </a:r>
          </a:p>
          <a:p>
            <a:pPr marL="0" indent="0">
              <a:lnSpc>
                <a:spcPct val="160000"/>
              </a:lnSpc>
              <a:buNone/>
            </a:pPr>
            <a:r>
              <a:rPr lang="en-US" sz="7200" dirty="0">
                <a:sym typeface="Wingdings" panose="05000000000000000000" pitchFamily="2" charset="2"/>
              </a:rPr>
              <a:t>	1.2.4 Utility Computing</a:t>
            </a:r>
          </a:p>
          <a:p>
            <a:pPr marL="0" indent="0">
              <a:lnSpc>
                <a:spcPct val="160000"/>
              </a:lnSpc>
              <a:buNone/>
            </a:pPr>
            <a:r>
              <a:rPr lang="en-US" sz="7200" dirty="0">
                <a:sym typeface="Wingdings" panose="05000000000000000000" pitchFamily="2" charset="2"/>
              </a:rPr>
              <a:t>	1.2.5 Hardware Virtualization</a:t>
            </a:r>
          </a:p>
          <a:p>
            <a:pPr marL="0" indent="0">
              <a:lnSpc>
                <a:spcPct val="160000"/>
              </a:lnSpc>
              <a:buNone/>
            </a:pPr>
            <a:r>
              <a:rPr lang="en-US" sz="7200" dirty="0">
                <a:sym typeface="Wingdings" panose="05000000000000000000" pitchFamily="2" charset="2"/>
              </a:rPr>
              <a:t>	1.2.7 Autonomic Computing</a:t>
            </a:r>
          </a:p>
          <a:p>
            <a:pPr marL="0" indent="0">
              <a:lnSpc>
                <a:spcPct val="160000"/>
              </a:lnSpc>
              <a:buNone/>
            </a:pPr>
            <a:r>
              <a:rPr lang="en-US" sz="7200" dirty="0">
                <a:sym typeface="Wingdings" panose="05000000000000000000" pitchFamily="2" charset="2"/>
              </a:rPr>
              <a:t>1.3Layers and Types of Clouds </a:t>
            </a:r>
          </a:p>
          <a:p>
            <a:pPr marL="0" indent="0">
              <a:lnSpc>
                <a:spcPct val="160000"/>
              </a:lnSpc>
              <a:buNone/>
            </a:pPr>
            <a:r>
              <a:rPr lang="en-US" sz="7200" dirty="0">
                <a:sym typeface="Wingdings" panose="05000000000000000000" pitchFamily="2" charset="2"/>
              </a:rPr>
              <a:t>	1.3.1 Infrastructure as Service</a:t>
            </a:r>
          </a:p>
          <a:p>
            <a:pPr marL="0" indent="0">
              <a:lnSpc>
                <a:spcPct val="160000"/>
              </a:lnSpc>
              <a:buNone/>
            </a:pPr>
            <a:r>
              <a:rPr lang="en-US" sz="7200" dirty="0">
                <a:sym typeface="Wingdings" panose="05000000000000000000" pitchFamily="2" charset="2"/>
              </a:rPr>
              <a:t>	1.3.2 Platform as a Service</a:t>
            </a:r>
          </a:p>
          <a:p>
            <a:pPr marL="0" indent="0">
              <a:lnSpc>
                <a:spcPct val="160000"/>
              </a:lnSpc>
              <a:buNone/>
            </a:pPr>
            <a:r>
              <a:rPr lang="en-US" sz="7200" dirty="0">
                <a:sym typeface="Wingdings" panose="05000000000000000000" pitchFamily="2" charset="2"/>
              </a:rPr>
              <a:t>	1.3.3 Software as Service</a:t>
            </a:r>
          </a:p>
          <a:p>
            <a:pPr marL="0" indent="0">
              <a:lnSpc>
                <a:spcPct val="160000"/>
              </a:lnSpc>
              <a:buNone/>
            </a:pPr>
            <a:r>
              <a:rPr lang="en-US" sz="7200" dirty="0">
                <a:sym typeface="Wingdings" panose="05000000000000000000" pitchFamily="2" charset="2"/>
              </a:rPr>
              <a:t>	1.3.4 Deployment Models</a:t>
            </a:r>
          </a:p>
        </p:txBody>
      </p:sp>
    </p:spTree>
    <p:extLst>
      <p:ext uri="{BB962C8B-B14F-4D97-AF65-F5344CB8AC3E}">
        <p14:creationId xmlns:p14="http://schemas.microsoft.com/office/powerpoint/2010/main" val="3782462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7886700" cy="534521"/>
          </a:xfrm>
        </p:spPr>
        <p:txBody>
          <a:bodyPr>
            <a:noAutofit/>
          </a:bodyPr>
          <a:lstStyle/>
          <a:p>
            <a:pPr lvl="0"/>
            <a:r>
              <a:rPr lang="en-US" sz="2400" dirty="0">
                <a:solidFill>
                  <a:srgbClr val="C00000"/>
                </a:solidFill>
              </a:rPr>
              <a:t>INTRODUCTION TO CLOUD COMPUTING</a:t>
            </a:r>
          </a:p>
        </p:txBody>
      </p:sp>
      <p:sp>
        <p:nvSpPr>
          <p:cNvPr id="3" name="Content Placeholder 2"/>
          <p:cNvSpPr>
            <a:spLocks noGrp="1"/>
          </p:cNvSpPr>
          <p:nvPr>
            <p:ph idx="1"/>
          </p:nvPr>
        </p:nvSpPr>
        <p:spPr>
          <a:xfrm>
            <a:off x="152400" y="686921"/>
            <a:ext cx="8839200" cy="6018679"/>
          </a:xfrm>
        </p:spPr>
        <p:txBody>
          <a:bodyPr>
            <a:normAutofit/>
          </a:bodyPr>
          <a:lstStyle/>
          <a:p>
            <a:pPr marL="0" indent="0">
              <a:lnSpc>
                <a:spcPct val="160000"/>
              </a:lnSpc>
              <a:buNone/>
            </a:pPr>
            <a:r>
              <a:rPr lang="en-US" sz="1800" dirty="0">
                <a:latin typeface="+mn-lt"/>
                <a:sym typeface="Wingdings" panose="05000000000000000000" pitchFamily="2" charset="2"/>
              </a:rPr>
              <a:t>1.4 Desired Features of a Cloud </a:t>
            </a:r>
          </a:p>
          <a:p>
            <a:pPr marL="0" indent="0">
              <a:lnSpc>
                <a:spcPct val="160000"/>
              </a:lnSpc>
              <a:buNone/>
            </a:pPr>
            <a:r>
              <a:rPr lang="en-US" sz="1800" dirty="0">
                <a:latin typeface="+mn-lt"/>
                <a:sym typeface="Wingdings" panose="05000000000000000000" pitchFamily="2" charset="2"/>
              </a:rPr>
              <a:t>	</a:t>
            </a:r>
            <a:r>
              <a:rPr lang="en-US" sz="1800" dirty="0">
                <a:sym typeface="Wingdings" panose="05000000000000000000" pitchFamily="2" charset="2"/>
              </a:rPr>
              <a:t> 1.4.1</a:t>
            </a:r>
            <a:r>
              <a:rPr lang="en-US" sz="1800" dirty="0">
                <a:latin typeface="+mn-lt"/>
                <a:sym typeface="Wingdings" panose="05000000000000000000" pitchFamily="2" charset="2"/>
              </a:rPr>
              <a:t> Self Service</a:t>
            </a:r>
          </a:p>
          <a:p>
            <a:pPr marL="0" indent="0">
              <a:lnSpc>
                <a:spcPct val="160000"/>
              </a:lnSpc>
              <a:buNone/>
            </a:pPr>
            <a:r>
              <a:rPr lang="en-US" sz="1800" dirty="0">
                <a:latin typeface="+mn-lt"/>
                <a:sym typeface="Wingdings" panose="05000000000000000000" pitchFamily="2" charset="2"/>
              </a:rPr>
              <a:t>	</a:t>
            </a:r>
            <a:r>
              <a:rPr lang="en-US" sz="1800" dirty="0">
                <a:sym typeface="Wingdings" panose="05000000000000000000" pitchFamily="2" charset="2"/>
              </a:rPr>
              <a:t> 1.4.2 </a:t>
            </a:r>
            <a:r>
              <a:rPr lang="en-US" sz="1800" dirty="0">
                <a:latin typeface="+mn-lt"/>
                <a:sym typeface="Wingdings" panose="05000000000000000000" pitchFamily="2" charset="2"/>
              </a:rPr>
              <a:t>Per Usage Metering </a:t>
            </a:r>
            <a:r>
              <a:rPr lang="en-US" sz="1800">
                <a:latin typeface="+mn-lt"/>
                <a:sym typeface="Wingdings" panose="05000000000000000000" pitchFamily="2" charset="2"/>
              </a:rPr>
              <a:t>and Billing</a:t>
            </a:r>
            <a:endParaRPr lang="en-US" sz="1800" dirty="0">
              <a:latin typeface="+mn-lt"/>
              <a:sym typeface="Wingdings" panose="05000000000000000000" pitchFamily="2" charset="2"/>
            </a:endParaRPr>
          </a:p>
          <a:p>
            <a:pPr marL="0" indent="0">
              <a:lnSpc>
                <a:spcPct val="160000"/>
              </a:lnSpc>
              <a:buNone/>
            </a:pPr>
            <a:r>
              <a:rPr lang="en-US" sz="1800" dirty="0">
                <a:latin typeface="+mn-lt"/>
                <a:sym typeface="Wingdings" panose="05000000000000000000" pitchFamily="2" charset="2"/>
              </a:rPr>
              <a:t>	1.4.3 Elasticity</a:t>
            </a:r>
          </a:p>
          <a:p>
            <a:pPr marL="0" indent="0">
              <a:lnSpc>
                <a:spcPct val="160000"/>
              </a:lnSpc>
              <a:buNone/>
            </a:pPr>
            <a:r>
              <a:rPr lang="en-US" sz="1800" dirty="0">
                <a:latin typeface="+mn-lt"/>
                <a:sym typeface="Wingdings" panose="05000000000000000000" pitchFamily="2" charset="2"/>
              </a:rPr>
              <a:t>	</a:t>
            </a:r>
            <a:r>
              <a:rPr lang="en-US" sz="1800" dirty="0">
                <a:sym typeface="Wingdings" panose="05000000000000000000" pitchFamily="2" charset="2"/>
              </a:rPr>
              <a:t>1.4.4 </a:t>
            </a:r>
            <a:r>
              <a:rPr lang="en-US" sz="1800" dirty="0">
                <a:latin typeface="+mn-lt"/>
                <a:sym typeface="Wingdings" panose="05000000000000000000" pitchFamily="2" charset="2"/>
              </a:rPr>
              <a:t>Customization</a:t>
            </a:r>
          </a:p>
          <a:p>
            <a:pPr>
              <a:lnSpc>
                <a:spcPct val="160000"/>
              </a:lnSpc>
            </a:pPr>
            <a:r>
              <a:rPr lang="en-US" sz="1800" dirty="0">
                <a:latin typeface="+mn-lt"/>
                <a:sym typeface="Wingdings" panose="05000000000000000000" pitchFamily="2" charset="2"/>
              </a:rPr>
              <a:t>Cloud Infrastructure Management </a:t>
            </a:r>
          </a:p>
          <a:p>
            <a:pPr>
              <a:lnSpc>
                <a:spcPct val="160000"/>
              </a:lnSpc>
            </a:pPr>
            <a:r>
              <a:rPr lang="en-US" sz="1800" dirty="0">
                <a:latin typeface="+mn-lt"/>
                <a:sym typeface="Wingdings" panose="05000000000000000000" pitchFamily="2" charset="2"/>
              </a:rPr>
              <a:t> Infrastructure as a Service Providers , Platform as a Service Providers ,Challenges and Risks, public clouds, private clouds, hybrid clouds.</a:t>
            </a:r>
          </a:p>
          <a:p>
            <a:endParaRPr lang="en-US" dirty="0"/>
          </a:p>
        </p:txBody>
      </p:sp>
    </p:spTree>
    <p:extLst>
      <p:ext uri="{BB962C8B-B14F-4D97-AF65-F5344CB8AC3E}">
        <p14:creationId xmlns:p14="http://schemas.microsoft.com/office/powerpoint/2010/main" val="609791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C00000"/>
                </a:solidFill>
              </a:rPr>
              <a:t>INTRODUCTION TO CLOUD COMPUTING</a:t>
            </a:r>
            <a:endParaRPr lang="en-US" sz="2800" dirty="0"/>
          </a:p>
        </p:txBody>
      </p:sp>
      <p:sp>
        <p:nvSpPr>
          <p:cNvPr id="3" name="Content Placeholder 2"/>
          <p:cNvSpPr>
            <a:spLocks noGrp="1"/>
          </p:cNvSpPr>
          <p:nvPr>
            <p:ph idx="1"/>
          </p:nvPr>
        </p:nvSpPr>
        <p:spPr/>
        <p:txBody>
          <a:bodyPr/>
          <a:lstStyle/>
          <a:p>
            <a:r>
              <a:rPr kumimoji="0" lang="en-US" sz="24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rPr>
              <a:t>What is Cloud Infrastructure Management?</a:t>
            </a:r>
            <a:endParaRPr lang="en-US" dirty="0"/>
          </a:p>
          <a:p>
            <a:r>
              <a:rPr lang="en-US" dirty="0"/>
              <a:t>What is Cloud Computing? </a:t>
            </a:r>
          </a:p>
          <a:p>
            <a:pPr lvl="1"/>
            <a:r>
              <a:rPr lang="en-US" dirty="0"/>
              <a:t>Different perspectives</a:t>
            </a:r>
          </a:p>
          <a:p>
            <a:pPr lvl="1"/>
            <a:r>
              <a:rPr lang="en-US" dirty="0"/>
              <a:t>Properties and characteristics</a:t>
            </a:r>
          </a:p>
          <a:p>
            <a:pPr lvl="1"/>
            <a:r>
              <a:rPr lang="en-US" dirty="0"/>
              <a:t>Benefits from cloud computing</a:t>
            </a:r>
          </a:p>
          <a:p>
            <a:endParaRPr lang="en-US" dirty="0"/>
          </a:p>
          <a:p>
            <a:r>
              <a:rPr lang="en-US" dirty="0"/>
              <a:t>Service and deployment models</a:t>
            </a:r>
          </a:p>
          <a:p>
            <a:pPr lvl="1"/>
            <a:r>
              <a:rPr lang="en-US" dirty="0"/>
              <a:t>Three service models</a:t>
            </a:r>
          </a:p>
          <a:p>
            <a:pPr lvl="1"/>
            <a:r>
              <a:rPr lang="en-US" dirty="0"/>
              <a:t>Four deployment models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Cloud Computing ?</a:t>
            </a:r>
          </a:p>
        </p:txBody>
      </p:sp>
      <p:sp>
        <p:nvSpPr>
          <p:cNvPr id="3" name="Text Placeholder 2"/>
          <p:cNvSpPr>
            <a:spLocks noGrp="1"/>
          </p:cNvSpPr>
          <p:nvPr>
            <p:ph type="body" idx="1"/>
          </p:nvPr>
        </p:nvSpPr>
        <p:spPr/>
        <p:txBody>
          <a:bodyPr/>
          <a:lstStyle/>
          <a:p>
            <a:endParaRPr lang="en-US" dirty="0">
              <a:solidFill>
                <a:srgbClr val="C00000"/>
              </a:solidFill>
            </a:endParaRPr>
          </a:p>
        </p:txBody>
      </p:sp>
      <p:pic>
        <p:nvPicPr>
          <p:cNvPr id="4" name="Picture 2" descr="C:\Users\Andy\AppData\Local\Microsoft\Windows\Temporary Internet Files\Content.IE5\OQIHRKSF\MPj04385260000[1].jpg"/>
          <p:cNvPicPr>
            <a:picLocks noChangeAspect="1" noChangeArrowheads="1"/>
          </p:cNvPicPr>
          <p:nvPr/>
        </p:nvPicPr>
        <p:blipFill>
          <a:blip r:embed="rId2" cstate="print"/>
          <a:srcRect/>
          <a:stretch>
            <a:fillRect/>
          </a:stretch>
        </p:blipFill>
        <p:spPr bwMode="auto">
          <a:xfrm>
            <a:off x="4000870" y="762000"/>
            <a:ext cx="4838330" cy="3230162"/>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685800"/>
            <a:ext cx="7772400" cy="5083175"/>
          </a:xfrm>
        </p:spPr>
        <p:txBody>
          <a:bodyPr>
            <a:normAutofit fontScale="90000"/>
          </a:bodyPr>
          <a:lstStyle/>
          <a:p>
            <a:pPr marL="457200" indent="-457200">
              <a:lnSpc>
                <a:spcPct val="150000"/>
              </a:lnSpc>
              <a:buFont typeface="Arial" panose="020B0604020202020204" pitchFamily="34" charset="0"/>
              <a:buChar char="•"/>
            </a:pPr>
            <a:r>
              <a:rPr lang="en-US" sz="2800" dirty="0">
                <a:solidFill>
                  <a:srgbClr val="FF0000"/>
                </a:solidFill>
              </a:rPr>
              <a:t>What is cloud computing…..</a:t>
            </a:r>
            <a:br>
              <a:rPr lang="en-US" sz="2000" dirty="0"/>
            </a:br>
            <a:br>
              <a:rPr lang="en-US" sz="2000" dirty="0"/>
            </a:br>
            <a:r>
              <a:rPr lang="en-US" sz="2400" dirty="0"/>
              <a:t>Cloud computing is the </a:t>
            </a:r>
            <a:r>
              <a:rPr lang="en-US" sz="2400" u="sng" dirty="0"/>
              <a:t>delivery of computing services</a:t>
            </a:r>
            <a:r>
              <a:rPr lang="en-US" sz="2400" dirty="0"/>
              <a:t>—servers, storage, databases, networking, software and more—over the Internet (“the cloud”). </a:t>
            </a:r>
            <a:br>
              <a:rPr lang="en-US" sz="2400" dirty="0"/>
            </a:br>
            <a:r>
              <a:rPr lang="en-US" sz="2400" dirty="0"/>
              <a:t>Companies offering these computing services are called </a:t>
            </a:r>
            <a:r>
              <a:rPr lang="en-US" sz="2400" u="sng" dirty="0"/>
              <a:t>cloud providers </a:t>
            </a:r>
            <a:r>
              <a:rPr lang="en-US" sz="2400" dirty="0"/>
              <a:t>and typically charge for cloud computing services based on usage, similar to how you are billed for water or electricity at home</a:t>
            </a:r>
            <a:r>
              <a:rPr lang="en-US" sz="2000" dirty="0"/>
              <a:t>.</a:t>
            </a:r>
          </a:p>
        </p:txBody>
      </p:sp>
    </p:spTree>
    <p:extLst>
      <p:ext uri="{BB962C8B-B14F-4D97-AF65-F5344CB8AC3E}">
        <p14:creationId xmlns:p14="http://schemas.microsoft.com/office/powerpoint/2010/main" val="1074576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標題 1"/>
          <p:cNvSpPr>
            <a:spLocks noGrp="1"/>
          </p:cNvSpPr>
          <p:nvPr>
            <p:ph type="title"/>
          </p:nvPr>
        </p:nvSpPr>
        <p:spPr>
          <a:xfrm>
            <a:off x="1219200" y="301625"/>
            <a:ext cx="7773988" cy="1143000"/>
          </a:xfrm>
        </p:spPr>
        <p:txBody>
          <a:bodyPr/>
          <a:lstStyle/>
          <a:p>
            <a:r>
              <a:rPr lang="en-US" altLang="zh-TW"/>
              <a:t>Cloud Computing In A Nutshell</a:t>
            </a:r>
            <a:endParaRPr lang="zh-TW" altLang="en-US"/>
          </a:p>
        </p:txBody>
      </p:sp>
      <p:sp>
        <p:nvSpPr>
          <p:cNvPr id="8195" name="內容版面配置區 2"/>
          <p:cNvSpPr>
            <a:spLocks noGrp="1"/>
          </p:cNvSpPr>
          <p:nvPr>
            <p:ph idx="1"/>
          </p:nvPr>
        </p:nvSpPr>
        <p:spPr/>
        <p:txBody>
          <a:bodyPr/>
          <a:lstStyle/>
          <a:p>
            <a:r>
              <a:rPr lang="en-US" altLang="zh-TW" sz="2400" dirty="0"/>
              <a:t>Virtualization means delivering useful functions while hiding how internals work</a:t>
            </a:r>
          </a:p>
          <a:p>
            <a:pPr lvl="1"/>
            <a:endParaRPr lang="en-US" altLang="zh-TW" sz="2000" dirty="0"/>
          </a:p>
          <a:p>
            <a:pPr lvl="1"/>
            <a:r>
              <a:rPr lang="en-US" altLang="zh-TW" sz="2000" dirty="0"/>
              <a:t>Cluster, grid, and now, cloud computing, have all aimed at allowing access to large amounts of computing power in a fully virtualized manner</a:t>
            </a:r>
          </a:p>
          <a:p>
            <a:pPr lvl="2"/>
            <a:r>
              <a:rPr lang="en-US" altLang="zh-TW" sz="1700" dirty="0"/>
              <a:t>By aggregating resources</a:t>
            </a:r>
          </a:p>
          <a:p>
            <a:pPr lvl="2"/>
            <a:r>
              <a:rPr lang="en-US" altLang="zh-TW" sz="1700" dirty="0"/>
              <a:t>By offering a single system view</a:t>
            </a:r>
            <a:endParaRPr lang="zh-TW" altLang="zh-TW" sz="1700" dirty="0"/>
          </a:p>
          <a:p>
            <a:pPr marL="457200" lvl="1" indent="0">
              <a:buNone/>
            </a:pPr>
            <a:endParaRPr lang="zh-TW" altLang="zh-TW" sz="2000" dirty="0"/>
          </a:p>
          <a:p>
            <a:endParaRPr lang="zh-TW" altLang="en-US" dirty="0"/>
          </a:p>
        </p:txBody>
      </p:sp>
    </p:spTree>
    <p:extLst>
      <p:ext uri="{BB962C8B-B14F-4D97-AF65-F5344CB8AC3E}">
        <p14:creationId xmlns:p14="http://schemas.microsoft.com/office/powerpoint/2010/main" val="557908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vs. Grid vs. Cluster</a:t>
            </a:r>
          </a:p>
        </p:txBody>
      </p:sp>
      <p:pic>
        <p:nvPicPr>
          <p:cNvPr id="4" name="Picture 3"/>
          <p:cNvPicPr>
            <a:picLocks noChangeAspect="1"/>
          </p:cNvPicPr>
          <p:nvPr/>
        </p:nvPicPr>
        <p:blipFill>
          <a:blip r:embed="rId3"/>
          <a:stretch>
            <a:fillRect/>
          </a:stretch>
        </p:blipFill>
        <p:spPr>
          <a:xfrm>
            <a:off x="557212" y="1143000"/>
            <a:ext cx="8129588" cy="5240235"/>
          </a:xfrm>
          <a:prstGeom prst="rect">
            <a:avLst/>
          </a:prstGeom>
        </p:spPr>
      </p:pic>
    </p:spTree>
    <p:extLst>
      <p:ext uri="{BB962C8B-B14F-4D97-AF65-F5344CB8AC3E}">
        <p14:creationId xmlns:p14="http://schemas.microsoft.com/office/powerpoint/2010/main" val="1577325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of Cloud</a:t>
            </a:r>
          </a:p>
        </p:txBody>
      </p:sp>
      <p:sp>
        <p:nvSpPr>
          <p:cNvPr id="3" name="Content Placeholder 2"/>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dirty="0"/>
              <a:t>Self Service</a:t>
            </a:r>
          </a:p>
          <a:p>
            <a:pPr algn="just"/>
            <a:r>
              <a:rPr lang="en-US" dirty="0"/>
              <a:t>Per usage metering and billing</a:t>
            </a:r>
          </a:p>
          <a:p>
            <a:pPr algn="just"/>
            <a:r>
              <a:rPr lang="en-US" dirty="0"/>
              <a:t>Elasticity</a:t>
            </a:r>
          </a:p>
          <a:p>
            <a:pPr algn="just"/>
            <a:r>
              <a:rPr lang="en-US" dirty="0"/>
              <a:t> Resources are abstracted or virtualized</a:t>
            </a:r>
          </a:p>
        </p:txBody>
      </p:sp>
    </p:spTree>
    <p:extLst>
      <p:ext uri="{BB962C8B-B14F-4D97-AF65-F5344CB8AC3E}">
        <p14:creationId xmlns:p14="http://schemas.microsoft.com/office/powerpoint/2010/main" val="3606995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內容版面配置區 2"/>
          <p:cNvSpPr>
            <a:spLocks noGrp="1"/>
          </p:cNvSpPr>
          <p:nvPr>
            <p:ph idx="1"/>
          </p:nvPr>
        </p:nvSpPr>
        <p:spPr/>
        <p:txBody>
          <a:bodyPr/>
          <a:lstStyle/>
          <a:p>
            <a:r>
              <a:rPr lang="en-US" altLang="zh-TW" sz="2400" dirty="0"/>
              <a:t>Consumers of cloud computing services expect on-demand</a:t>
            </a:r>
          </a:p>
          <a:p>
            <a:pPr lvl="1"/>
            <a:r>
              <a:rPr lang="en-US" altLang="zh-TW" sz="2000" dirty="0"/>
              <a:t>Nearly instant access to resources</a:t>
            </a:r>
          </a:p>
          <a:p>
            <a:r>
              <a:rPr lang="en-US" altLang="zh-TW" sz="2400" dirty="0"/>
              <a:t>Clouds must allow self-service access</a:t>
            </a:r>
          </a:p>
          <a:p>
            <a:pPr lvl="1"/>
            <a:r>
              <a:rPr lang="en-US" altLang="zh-TW" sz="2000" dirty="0"/>
              <a:t>Customers can request, customize, pay, and use services </a:t>
            </a:r>
            <a:r>
              <a:rPr lang="en-US" altLang="zh-TW" sz="2000" b="1" dirty="0"/>
              <a:t>without intervention of human operators</a:t>
            </a:r>
          </a:p>
        </p:txBody>
      </p:sp>
      <p:sp>
        <p:nvSpPr>
          <p:cNvPr id="106499" name="標題 1"/>
          <p:cNvSpPr>
            <a:spLocks noGrp="1"/>
          </p:cNvSpPr>
          <p:nvPr>
            <p:ph type="title"/>
          </p:nvPr>
        </p:nvSpPr>
        <p:spPr>
          <a:xfrm>
            <a:off x="1219200" y="301625"/>
            <a:ext cx="7773988" cy="1143000"/>
          </a:xfrm>
        </p:spPr>
        <p:txBody>
          <a:bodyPr/>
          <a:lstStyle/>
          <a:p>
            <a:r>
              <a:rPr lang="en-US" altLang="zh-TW"/>
              <a:t>Self-Service</a:t>
            </a:r>
            <a:endParaRPr lang="zh-TW" altLang="en-US"/>
          </a:p>
        </p:txBody>
      </p:sp>
    </p:spTree>
    <p:extLst>
      <p:ext uri="{BB962C8B-B14F-4D97-AF65-F5344CB8AC3E}">
        <p14:creationId xmlns:p14="http://schemas.microsoft.com/office/powerpoint/2010/main" val="16057151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內容版面配置區 2"/>
          <p:cNvSpPr>
            <a:spLocks noGrp="1"/>
          </p:cNvSpPr>
          <p:nvPr>
            <p:ph idx="1"/>
          </p:nvPr>
        </p:nvSpPr>
        <p:spPr/>
        <p:txBody>
          <a:bodyPr/>
          <a:lstStyle/>
          <a:p>
            <a:r>
              <a:rPr lang="en-US" altLang="zh-TW" sz="2400" dirty="0"/>
              <a:t>Cloud computing eliminates up-front commitment by users</a:t>
            </a:r>
          </a:p>
          <a:p>
            <a:pPr lvl="1"/>
            <a:r>
              <a:rPr lang="en-US" altLang="zh-TW" sz="2000" dirty="0"/>
              <a:t>Allowing them to request and use only the necessary amount </a:t>
            </a:r>
          </a:p>
          <a:p>
            <a:r>
              <a:rPr lang="en-US" altLang="zh-TW" sz="2400" dirty="0"/>
              <a:t>Services must be priced on a short-term basis, e.g., by the hour</a:t>
            </a:r>
          </a:p>
          <a:p>
            <a:pPr lvl="1"/>
            <a:r>
              <a:rPr lang="en-US" altLang="zh-TW" sz="2000" dirty="0"/>
              <a:t>Allowing users to release (and not pay for) resources as soon as they are not needed</a:t>
            </a:r>
          </a:p>
          <a:p>
            <a:r>
              <a:rPr lang="en-US" altLang="zh-TW" sz="2400" dirty="0"/>
              <a:t>Clouds must allow efficient trading of service</a:t>
            </a:r>
          </a:p>
          <a:p>
            <a:pPr lvl="1"/>
            <a:r>
              <a:rPr lang="en-US" altLang="zh-TW" sz="2000" dirty="0"/>
              <a:t>Such as pricing, accounting, and billing </a:t>
            </a:r>
          </a:p>
          <a:p>
            <a:pPr lvl="1"/>
            <a:r>
              <a:rPr lang="en-US" altLang="zh-TW" dirty="0"/>
              <a:t>Metering should be done accordingly for different types of service</a:t>
            </a:r>
          </a:p>
          <a:p>
            <a:pPr lvl="2"/>
            <a:r>
              <a:rPr lang="en-US" altLang="zh-TW" sz="1700" dirty="0"/>
              <a:t>e.g., storage, processing, and bandwidth</a:t>
            </a:r>
          </a:p>
          <a:p>
            <a:pPr lvl="1"/>
            <a:r>
              <a:rPr lang="en-US" altLang="zh-TW" dirty="0"/>
              <a:t>Usage is promptly reported</a:t>
            </a:r>
          </a:p>
          <a:p>
            <a:pPr lvl="2"/>
            <a:r>
              <a:rPr lang="en-US" altLang="zh-TW" sz="1700" dirty="0"/>
              <a:t>Thus providing greater transparency</a:t>
            </a:r>
          </a:p>
          <a:p>
            <a:pPr lvl="1"/>
            <a:endParaRPr lang="en-US" altLang="zh-TW" sz="2000" dirty="0"/>
          </a:p>
          <a:p>
            <a:endParaRPr lang="en-US" altLang="zh-TW" sz="2400" dirty="0"/>
          </a:p>
        </p:txBody>
      </p:sp>
      <p:sp>
        <p:nvSpPr>
          <p:cNvPr id="108547" name="標題 1"/>
          <p:cNvSpPr>
            <a:spLocks noGrp="1"/>
          </p:cNvSpPr>
          <p:nvPr>
            <p:ph type="title"/>
          </p:nvPr>
        </p:nvSpPr>
        <p:spPr>
          <a:xfrm>
            <a:off x="1219200" y="301625"/>
            <a:ext cx="7773988" cy="1143000"/>
          </a:xfrm>
        </p:spPr>
        <p:txBody>
          <a:bodyPr/>
          <a:lstStyle/>
          <a:p>
            <a:r>
              <a:rPr lang="en-US" altLang="zh-TW"/>
              <a:t>Per-Usage Metering and Billing</a:t>
            </a:r>
            <a:endParaRPr lang="zh-TW" altLang="en-US"/>
          </a:p>
        </p:txBody>
      </p:sp>
    </p:spTree>
    <p:extLst>
      <p:ext uri="{BB962C8B-B14F-4D97-AF65-F5344CB8AC3E}">
        <p14:creationId xmlns:p14="http://schemas.microsoft.com/office/powerpoint/2010/main" val="68081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內容版面配置區 2"/>
          <p:cNvSpPr>
            <a:spLocks noGrp="1"/>
          </p:cNvSpPr>
          <p:nvPr>
            <p:ph idx="1"/>
          </p:nvPr>
        </p:nvSpPr>
        <p:spPr/>
        <p:txBody>
          <a:bodyPr/>
          <a:lstStyle/>
          <a:p>
            <a:r>
              <a:rPr lang="en-US" altLang="zh-TW" sz="2400" dirty="0"/>
              <a:t>Cloud computing gives the illusion of infinite computing resources available on demand</a:t>
            </a:r>
          </a:p>
          <a:p>
            <a:pPr lvl="1"/>
            <a:r>
              <a:rPr lang="en-US" altLang="zh-TW" sz="2000" dirty="0"/>
              <a:t>Users expect clouds to </a:t>
            </a:r>
            <a:r>
              <a:rPr lang="en-US" altLang="zh-TW" sz="2000" b="1" dirty="0"/>
              <a:t>rapidly provide resources in any quantity at any time </a:t>
            </a:r>
          </a:p>
          <a:p>
            <a:pPr lvl="1"/>
            <a:r>
              <a:rPr lang="en-US" altLang="zh-TW" sz="2000" dirty="0"/>
              <a:t>The additional resources can be</a:t>
            </a:r>
          </a:p>
          <a:p>
            <a:pPr lvl="2"/>
            <a:r>
              <a:rPr lang="en-US" altLang="zh-TW" sz="1700" dirty="0"/>
              <a:t>Provisioned, possibly automatically, when an application load increases</a:t>
            </a:r>
          </a:p>
          <a:p>
            <a:pPr lvl="2"/>
            <a:r>
              <a:rPr lang="en-US" altLang="zh-TW" sz="1700" dirty="0"/>
              <a:t>Released when load decreases</a:t>
            </a:r>
          </a:p>
          <a:p>
            <a:pPr lvl="2"/>
            <a:r>
              <a:rPr lang="en-US" altLang="zh-TW" sz="1700" b="1" dirty="0"/>
              <a:t>Scale up and down</a:t>
            </a:r>
          </a:p>
        </p:txBody>
      </p:sp>
      <p:sp>
        <p:nvSpPr>
          <p:cNvPr id="112643" name="標題 1"/>
          <p:cNvSpPr>
            <a:spLocks noGrp="1"/>
          </p:cNvSpPr>
          <p:nvPr>
            <p:ph type="title"/>
          </p:nvPr>
        </p:nvSpPr>
        <p:spPr>
          <a:xfrm>
            <a:off x="1219200" y="301625"/>
            <a:ext cx="8763000" cy="1143000"/>
          </a:xfrm>
        </p:spPr>
        <p:txBody>
          <a:bodyPr/>
          <a:lstStyle/>
          <a:p>
            <a:pPr algn="l"/>
            <a:r>
              <a:rPr lang="en-US" altLang="zh-TW" dirty="0"/>
              <a:t>Elasticity</a:t>
            </a:r>
            <a:endParaRPr lang="zh-TW" altLang="en-US" dirty="0"/>
          </a:p>
        </p:txBody>
      </p:sp>
    </p:spTree>
    <p:extLst>
      <p:ext uri="{BB962C8B-B14F-4D97-AF65-F5344CB8AC3E}">
        <p14:creationId xmlns:p14="http://schemas.microsoft.com/office/powerpoint/2010/main" val="652505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內容版面配置區 2"/>
          <p:cNvSpPr>
            <a:spLocks noGrp="1"/>
          </p:cNvSpPr>
          <p:nvPr>
            <p:ph idx="1"/>
          </p:nvPr>
        </p:nvSpPr>
        <p:spPr>
          <a:xfrm>
            <a:off x="457200" y="1600200"/>
            <a:ext cx="8496300" cy="4525963"/>
          </a:xfrm>
        </p:spPr>
        <p:txBody>
          <a:bodyPr>
            <a:normAutofit/>
          </a:bodyPr>
          <a:lstStyle/>
          <a:p>
            <a:pPr algn="just"/>
            <a:r>
              <a:rPr lang="en-US" altLang="zh-TW" sz="2400" dirty="0"/>
              <a:t>Virtualization is a technology that can be used to create a virtual representation of servers, storage, networks, and other physical machines</a:t>
            </a:r>
          </a:p>
          <a:p>
            <a:r>
              <a:rPr lang="en-US" altLang="zh-TW" dirty="0"/>
              <a:t>VM mimics the function of a physical machine</a:t>
            </a:r>
          </a:p>
          <a:p>
            <a:pPr algn="just"/>
            <a:r>
              <a:rPr lang="en-US" altLang="zh-TW" dirty="0"/>
              <a:t> Virtualization enables multiple VMs to run on a single physical server</a:t>
            </a:r>
          </a:p>
        </p:txBody>
      </p:sp>
      <p:sp>
        <p:nvSpPr>
          <p:cNvPr id="114691" name="標題 1"/>
          <p:cNvSpPr>
            <a:spLocks noGrp="1"/>
          </p:cNvSpPr>
          <p:nvPr>
            <p:ph type="title"/>
          </p:nvPr>
        </p:nvSpPr>
        <p:spPr>
          <a:xfrm>
            <a:off x="190500" y="304800"/>
            <a:ext cx="8763000" cy="1143000"/>
          </a:xfrm>
        </p:spPr>
        <p:txBody>
          <a:bodyPr>
            <a:normAutofit fontScale="90000"/>
          </a:bodyPr>
          <a:lstStyle/>
          <a:p>
            <a:pPr algn="l"/>
            <a:r>
              <a:rPr lang="en-US" dirty="0"/>
              <a:t>Resources are abstracted or virtualized</a:t>
            </a:r>
            <a:endParaRPr lang="zh-TW" altLang="en-US" dirty="0"/>
          </a:p>
        </p:txBody>
      </p:sp>
    </p:spTree>
    <p:extLst>
      <p:ext uri="{BB962C8B-B14F-4D97-AF65-F5344CB8AC3E}">
        <p14:creationId xmlns:p14="http://schemas.microsoft.com/office/powerpoint/2010/main" val="2748658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內容版面配置區 2"/>
          <p:cNvSpPr>
            <a:spLocks noGrp="1"/>
          </p:cNvSpPr>
          <p:nvPr>
            <p:ph idx="1"/>
          </p:nvPr>
        </p:nvSpPr>
        <p:spPr/>
        <p:txBody>
          <a:bodyPr/>
          <a:lstStyle/>
          <a:p>
            <a:r>
              <a:rPr lang="en-US" altLang="zh-TW" sz="2400" dirty="0"/>
              <a:t>Delivering computing as a utility</a:t>
            </a:r>
          </a:p>
          <a:p>
            <a:pPr lvl="1"/>
            <a:r>
              <a:rPr lang="en-US" altLang="zh-TW" sz="2000" dirty="0"/>
              <a:t>A business model for </a:t>
            </a:r>
            <a:r>
              <a:rPr lang="en-US" altLang="zh-TW" sz="2000" u="sng" dirty="0"/>
              <a:t>on-demand delivery of computing power</a:t>
            </a:r>
          </a:p>
          <a:p>
            <a:pPr lvl="1"/>
            <a:r>
              <a:rPr lang="en-US" altLang="zh-TW" sz="2000" dirty="0"/>
              <a:t>Consumers pay providers based on usage</a:t>
            </a:r>
          </a:p>
          <a:p>
            <a:pPr lvl="2"/>
            <a:r>
              <a:rPr lang="en-US" altLang="zh-TW" sz="1700" dirty="0"/>
              <a:t>Pay-as-you-go</a:t>
            </a:r>
          </a:p>
          <a:p>
            <a:pPr lvl="1"/>
            <a:r>
              <a:rPr lang="en-US" altLang="zh-TW" sz="2000" dirty="0"/>
              <a:t>Similar to services from traditional public utility services</a:t>
            </a:r>
          </a:p>
          <a:p>
            <a:pPr lvl="2"/>
            <a:r>
              <a:rPr lang="en-US" altLang="zh-TW" sz="1700" dirty="0"/>
              <a:t>e.g., water, electricity, gas, and telephony</a:t>
            </a:r>
            <a:endParaRPr lang="zh-TW" altLang="zh-TW" sz="1700" dirty="0"/>
          </a:p>
          <a:p>
            <a:r>
              <a:rPr lang="en-US" altLang="zh-TW" sz="2400" dirty="0"/>
              <a:t>A category of sophisticated on-demand computing services initially offered by commercial providers</a:t>
            </a:r>
          </a:p>
          <a:p>
            <a:pPr lvl="1"/>
            <a:r>
              <a:rPr lang="en-US" altLang="zh-TW" sz="2000" dirty="0"/>
              <a:t>e.g., Amazon, Google, and Microsoft</a:t>
            </a:r>
            <a:endParaRPr lang="zh-TW" altLang="zh-TW" sz="2000" dirty="0"/>
          </a:p>
          <a:p>
            <a:endParaRPr lang="zh-TW" altLang="en-US" sz="2400" dirty="0"/>
          </a:p>
        </p:txBody>
      </p:sp>
      <p:sp>
        <p:nvSpPr>
          <p:cNvPr id="10243" name="標題 1"/>
          <p:cNvSpPr>
            <a:spLocks noGrp="1"/>
          </p:cNvSpPr>
          <p:nvPr>
            <p:ph type="title"/>
          </p:nvPr>
        </p:nvSpPr>
        <p:spPr>
          <a:xfrm>
            <a:off x="1219200" y="301625"/>
            <a:ext cx="7773988" cy="1143000"/>
          </a:xfrm>
        </p:spPr>
        <p:txBody>
          <a:bodyPr>
            <a:normAutofit fontScale="90000"/>
          </a:bodyPr>
          <a:lstStyle/>
          <a:p>
            <a:r>
              <a:rPr lang="en-US" altLang="zh-TW"/>
              <a:t>Cloud Computing In A Nutshell (cont.)</a:t>
            </a:r>
            <a:endParaRPr lang="zh-TW" altLang="en-US"/>
          </a:p>
        </p:txBody>
      </p:sp>
    </p:spTree>
    <p:extLst>
      <p:ext uri="{BB962C8B-B14F-4D97-AF65-F5344CB8AC3E}">
        <p14:creationId xmlns:p14="http://schemas.microsoft.com/office/powerpoint/2010/main" val="2969721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內容版面配置區 2"/>
          <p:cNvSpPr>
            <a:spLocks noGrp="1"/>
          </p:cNvSpPr>
          <p:nvPr>
            <p:ph idx="1"/>
          </p:nvPr>
        </p:nvSpPr>
        <p:spPr/>
        <p:txBody>
          <a:bodyPr/>
          <a:lstStyle/>
          <a:p>
            <a:r>
              <a:rPr lang="en-US" altLang="zh-TW" sz="2400" dirty="0"/>
              <a:t>Cloud computing providers usually offer a broad range of software services</a:t>
            </a:r>
          </a:p>
          <a:p>
            <a:pPr lvl="1"/>
            <a:r>
              <a:rPr lang="en-US" altLang="zh-TW" sz="2000" dirty="0"/>
              <a:t>In addition to raw computing and storage</a:t>
            </a:r>
          </a:p>
          <a:p>
            <a:pPr lvl="1"/>
            <a:r>
              <a:rPr lang="en-US" altLang="zh-TW" sz="2000" dirty="0"/>
              <a:t>Include APIs and development tools</a:t>
            </a:r>
          </a:p>
          <a:p>
            <a:pPr lvl="2"/>
            <a:r>
              <a:rPr lang="en-US" altLang="zh-TW" sz="1700" dirty="0"/>
              <a:t>Allow developers to build seamlessly scalable applications upon their services</a:t>
            </a:r>
          </a:p>
          <a:p>
            <a:pPr lvl="1"/>
            <a:r>
              <a:rPr lang="en-US" altLang="zh-TW" sz="2000" dirty="0"/>
              <a:t>Allow customers to run their everyday IT infrastructure “in the cloud”</a:t>
            </a:r>
            <a:endParaRPr lang="zh-TW" altLang="zh-TW" sz="2000" dirty="0"/>
          </a:p>
          <a:p>
            <a:r>
              <a:rPr lang="en-US" altLang="zh-TW" sz="2400" dirty="0"/>
              <a:t>Delivering computing as a utility has been realized with the advent of cloud computing</a:t>
            </a:r>
          </a:p>
          <a:p>
            <a:pPr lvl="1"/>
            <a:r>
              <a:rPr lang="en-US" altLang="zh-TW" sz="2000" dirty="0"/>
              <a:t>The main technological advancements</a:t>
            </a:r>
          </a:p>
          <a:p>
            <a:pPr lvl="2"/>
            <a:r>
              <a:rPr lang="en-US" altLang="zh-TW" sz="1700" dirty="0"/>
              <a:t>Public clouds, management tools, and development frameworks</a:t>
            </a:r>
          </a:p>
          <a:p>
            <a:endParaRPr lang="zh-TW" altLang="zh-TW" sz="2400" dirty="0"/>
          </a:p>
          <a:p>
            <a:endParaRPr lang="zh-TW" altLang="en-US" sz="2400" dirty="0"/>
          </a:p>
        </p:txBody>
      </p:sp>
      <p:sp>
        <p:nvSpPr>
          <p:cNvPr id="14339" name="標題 1"/>
          <p:cNvSpPr>
            <a:spLocks noGrp="1"/>
          </p:cNvSpPr>
          <p:nvPr>
            <p:ph type="title"/>
          </p:nvPr>
        </p:nvSpPr>
        <p:spPr>
          <a:xfrm>
            <a:off x="1219200" y="301625"/>
            <a:ext cx="7773988" cy="1143000"/>
          </a:xfrm>
        </p:spPr>
        <p:txBody>
          <a:bodyPr>
            <a:normAutofit fontScale="90000"/>
          </a:bodyPr>
          <a:lstStyle/>
          <a:p>
            <a:r>
              <a:rPr lang="en-US" altLang="zh-TW"/>
              <a:t>Cloud Computing In A Nutshell (cont.)</a:t>
            </a:r>
            <a:endParaRPr lang="zh-TW" altLang="en-US"/>
          </a:p>
        </p:txBody>
      </p:sp>
    </p:spTree>
    <p:extLst>
      <p:ext uri="{BB962C8B-B14F-4D97-AF65-F5344CB8AC3E}">
        <p14:creationId xmlns:p14="http://schemas.microsoft.com/office/powerpoint/2010/main" val="5591097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lstStyle/>
          <a:p>
            <a:r>
              <a:rPr lang="en-US" dirty="0"/>
              <a:t>So the main aim of this computing  model is offering computing, storage and software as a service.</a:t>
            </a:r>
          </a:p>
          <a:p>
            <a:endParaRPr lang="en-US" dirty="0"/>
          </a:p>
          <a:p>
            <a:endParaRPr lang="en-US" dirty="0"/>
          </a:p>
        </p:txBody>
      </p:sp>
      <p:sp>
        <p:nvSpPr>
          <p:cNvPr id="6" name="Content Placeholder 2"/>
          <p:cNvSpPr txBox="1">
            <a:spLocks/>
          </p:cNvSpPr>
          <p:nvPr/>
        </p:nvSpPr>
        <p:spPr>
          <a:xfrm>
            <a:off x="304800" y="2286000"/>
            <a:ext cx="8229600" cy="31242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kumimoji="0" lang="en-US" sz="2400" b="0" i="0" u="none" strike="noStrike" kern="1200" cap="none" spc="0" normalizeH="0" baseline="0" noProof="0" dirty="0">
                <a:ln>
                  <a:noFill/>
                </a:ln>
                <a:solidFill>
                  <a:schemeClr val="tx2">
                    <a:lumMod val="75000"/>
                  </a:schemeClr>
                </a:solidFill>
                <a:effectLst/>
                <a:uLnTx/>
                <a:uFillTx/>
                <a:latin typeface="Cambria" pitchFamily="18" charset="0"/>
                <a:ea typeface="+mn-ea"/>
                <a:cs typeface="+mn-cs"/>
              </a:rPr>
              <a:t>Definition from </a:t>
            </a:r>
            <a:r>
              <a:rPr kumimoji="0" lang="en-US" sz="2400" b="1" i="1" u="none" strike="noStrike" kern="1200" cap="none" spc="0" normalizeH="0" baseline="0" noProof="0" dirty="0" err="1">
                <a:ln>
                  <a:noFill/>
                </a:ln>
                <a:solidFill>
                  <a:schemeClr val="tx2">
                    <a:lumMod val="75000"/>
                  </a:schemeClr>
                </a:solidFill>
                <a:effectLst/>
                <a:uLnTx/>
                <a:uFillTx/>
                <a:latin typeface="Cambria" pitchFamily="18" charset="0"/>
                <a:ea typeface="+mn-ea"/>
                <a:cs typeface="+mn-cs"/>
              </a:rPr>
              <a:t>Buyya</a:t>
            </a:r>
            <a:endParaRPr kumimoji="0" lang="en-US" sz="2400" b="1" i="1" u="none" strike="noStrike" kern="1200" cap="none" spc="0" normalizeH="0" baseline="0" noProof="0" dirty="0">
              <a:ln>
                <a:noFill/>
              </a:ln>
              <a:solidFill>
                <a:schemeClr val="tx2">
                  <a:lumMod val="75000"/>
                </a:schemeClr>
              </a:solidFill>
              <a:effectLst/>
              <a:uLnTx/>
              <a:uFillTx/>
              <a:latin typeface="Cambria" pitchFamily="18" charset="0"/>
              <a:ea typeface="+mn-ea"/>
              <a:cs typeface="+mn-cs"/>
            </a:endParaRP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A Cloud is a type of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parallel and distributed system </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consisting of a collection of interconnected and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virtualized computers </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that are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dynamically provisioned </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and presented as one or more unified computing resources based on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service-level agreements </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established through negotiation between the service provider and consumers.</a:t>
            </a:r>
          </a:p>
          <a:p>
            <a:pPr marL="742950" lvl="1" indent="-285750">
              <a:spcBef>
                <a:spcPct val="20000"/>
              </a:spcBef>
              <a:buClr>
                <a:schemeClr val="accent3">
                  <a:lumMod val="50000"/>
                </a:schemeClr>
              </a:buClr>
              <a:buFont typeface="Wingdings" pitchFamily="2" charset="2"/>
              <a:buChar char="§"/>
              <a:defRPr/>
            </a:pPr>
            <a:r>
              <a:rPr lang="en-US" b="1" dirty="0">
                <a:solidFill>
                  <a:srgbClr val="6A6A6A"/>
                </a:solidFill>
                <a:latin typeface="arial" panose="020B0604020202020204" pitchFamily="34" charset="0"/>
              </a:rPr>
              <a:t>Cloud provisioning</a:t>
            </a:r>
            <a:r>
              <a:rPr lang="en-US" dirty="0">
                <a:solidFill>
                  <a:srgbClr val="545454"/>
                </a:solidFill>
                <a:latin typeface="arial" panose="020B0604020202020204" pitchFamily="34" charset="0"/>
              </a:rPr>
              <a:t> is the allocation of a </a:t>
            </a:r>
            <a:r>
              <a:rPr lang="en-US" b="1" dirty="0">
                <a:solidFill>
                  <a:srgbClr val="6A6A6A"/>
                </a:solidFill>
                <a:latin typeface="arial" panose="020B0604020202020204" pitchFamily="34" charset="0"/>
              </a:rPr>
              <a:t>cloud</a:t>
            </a:r>
            <a:r>
              <a:rPr lang="en-US" dirty="0">
                <a:solidFill>
                  <a:srgbClr val="545454"/>
                </a:solidFill>
                <a:latin typeface="arial" panose="020B0604020202020204" pitchFamily="34" charset="0"/>
              </a:rPr>
              <a:t> provider's resources to a customer</a:t>
            </a:r>
            <a:r>
              <a:rPr lang="en-US" sz="2000" dirty="0">
                <a:solidFill>
                  <a:srgbClr val="545454"/>
                </a:solidFill>
                <a:latin typeface="arial" panose="020B0604020202020204" pitchFamily="34" charset="0"/>
              </a:rPr>
              <a:t>.</a:t>
            </a:r>
            <a:endParaRPr lang="en-US" sz="2000" dirty="0"/>
          </a:p>
          <a:p>
            <a:pPr marR="0" lvl="1" algn="l" defTabSz="914400" rtl="0" eaLnBrk="1" fontAlgn="auto" latinLnBrk="0" hangingPunct="1">
              <a:lnSpc>
                <a:spcPct val="100000"/>
              </a:lnSpc>
              <a:spcBef>
                <a:spcPct val="20000"/>
              </a:spcBef>
              <a:spcAft>
                <a:spcPts val="0"/>
              </a:spcAft>
              <a:buClr>
                <a:schemeClr val="accent3">
                  <a:lumMod val="50000"/>
                </a:schemeClr>
              </a:buClr>
              <a:buSzTx/>
              <a:tabLst/>
              <a:defRPr/>
            </a:pPr>
            <a:endPar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Definitions</a:t>
            </a:r>
          </a:p>
        </p:txBody>
      </p:sp>
      <p:sp>
        <p:nvSpPr>
          <p:cNvPr id="7" name="Content Placeholder 2"/>
          <p:cNvSpPr txBox="1">
            <a:spLocks/>
          </p:cNvSpPr>
          <p:nvPr/>
        </p:nvSpPr>
        <p:spPr>
          <a:xfrm>
            <a:off x="517284" y="2074463"/>
            <a:ext cx="8229600" cy="3124200"/>
          </a:xfrm>
          <a:prstGeom prst="rect">
            <a:avLst/>
          </a:prstGeom>
        </p:spPr>
        <p:txBody>
          <a:bodyPr vert="horz" lIns="91440" tIns="45720" rIns="91440" bIns="45720" rtlCol="0">
            <a:normAutofit fontScale="92500" lnSpcReduction="10000"/>
          </a:bodyPr>
          <a:lstStyle/>
          <a:p>
            <a:pPr marL="742950" marR="0" lvl="1" indent="-285750" algn="just"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4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Cloud computing is a model for enabling convenient,</a:t>
            </a:r>
            <a:r>
              <a:rPr kumimoji="0" lang="en-US" sz="2400" b="1"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 </a:t>
            </a:r>
            <a:r>
              <a:rPr kumimoji="0" lang="en-US" sz="2400" b="1" u="none" strike="noStrike" kern="1200" cap="none" spc="0" normalizeH="0" baseline="0" noProof="0" dirty="0">
                <a:ln>
                  <a:noFill/>
                </a:ln>
                <a:solidFill>
                  <a:srgbClr val="C00000"/>
                </a:solidFill>
                <a:effectLst/>
                <a:uLnTx/>
                <a:uFillTx/>
                <a:latin typeface="Cambria" pitchFamily="18" charset="0"/>
                <a:ea typeface="+mn-ea"/>
                <a:cs typeface="+mn-cs"/>
              </a:rPr>
              <a:t>on-demand network access </a:t>
            </a:r>
            <a:r>
              <a:rPr kumimoji="0" lang="en-US" sz="24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to a </a:t>
            </a:r>
            <a:r>
              <a:rPr kumimoji="0" lang="en-US" sz="2400" b="1" i="0" u="none" strike="noStrike" kern="1200" cap="none" spc="0" normalizeH="0" baseline="0" noProof="0" dirty="0">
                <a:ln>
                  <a:noFill/>
                </a:ln>
                <a:solidFill>
                  <a:srgbClr val="C00000"/>
                </a:solidFill>
                <a:effectLst/>
                <a:uLnTx/>
                <a:uFillTx/>
                <a:latin typeface="Cambria" pitchFamily="18" charset="0"/>
                <a:ea typeface="+mn-ea"/>
                <a:cs typeface="+mn-cs"/>
              </a:rPr>
              <a:t>shared pool </a:t>
            </a:r>
            <a:r>
              <a:rPr kumimoji="0" lang="en-US" sz="24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of configurable computing resources (e.g., networks, servers, storage, applications, and services) that can be </a:t>
            </a:r>
            <a:r>
              <a:rPr kumimoji="0" lang="en-US" sz="2400" b="1" i="0" u="none" strike="noStrike" kern="1200" cap="none" spc="0" normalizeH="0" baseline="0" noProof="0" dirty="0">
                <a:ln>
                  <a:noFill/>
                </a:ln>
                <a:solidFill>
                  <a:srgbClr val="C00000"/>
                </a:solidFill>
                <a:effectLst/>
                <a:uLnTx/>
                <a:uFillTx/>
                <a:latin typeface="Cambria" pitchFamily="18" charset="0"/>
                <a:ea typeface="+mn-ea"/>
                <a:cs typeface="+mn-cs"/>
              </a:rPr>
              <a:t>rapidly provisioned and released </a:t>
            </a:r>
            <a:r>
              <a:rPr kumimoji="0" lang="en-US" sz="24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with minimal management effort or service provider interaction.</a:t>
            </a:r>
          </a:p>
          <a:p>
            <a:pPr marL="742950" marR="0" lvl="1" indent="-285750" algn="just"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4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This cloud model promotes </a:t>
            </a:r>
            <a:r>
              <a:rPr kumimoji="0" lang="en-US" sz="2400" b="1" i="0" u="none" strike="noStrike" kern="1200" cap="none" spc="0" normalizeH="0" baseline="0" noProof="0" dirty="0">
                <a:ln>
                  <a:noFill/>
                </a:ln>
                <a:solidFill>
                  <a:srgbClr val="C00000"/>
                </a:solidFill>
                <a:effectLst/>
                <a:uLnTx/>
                <a:uFillTx/>
                <a:latin typeface="Cambria" pitchFamily="18" charset="0"/>
                <a:ea typeface="+mn-ea"/>
                <a:cs typeface="+mn-cs"/>
              </a:rPr>
              <a:t>availability</a:t>
            </a:r>
            <a:r>
              <a:rPr kumimoji="0" lang="en-US" sz="24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 and is composed of </a:t>
            </a:r>
            <a:r>
              <a:rPr kumimoji="0" lang="en-US" sz="2400" b="0" i="0" u="sng" strike="noStrike" kern="1200" cap="none" spc="0" normalizeH="0" baseline="0" noProof="0" dirty="0">
                <a:ln>
                  <a:noFill/>
                </a:ln>
                <a:solidFill>
                  <a:schemeClr val="accent3">
                    <a:lumMod val="50000"/>
                  </a:schemeClr>
                </a:solidFill>
                <a:effectLst/>
                <a:uLnTx/>
                <a:uFillTx/>
                <a:latin typeface="Cambria" pitchFamily="18" charset="0"/>
                <a:ea typeface="+mn-ea"/>
                <a:cs typeface="+mn-cs"/>
              </a:rPr>
              <a:t>some essential characteristics, three service models, and four deployment models.</a:t>
            </a:r>
          </a:p>
          <a:p>
            <a:pPr marL="742950" marR="0" lvl="1" indent="-285750" algn="just"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endParaRPr kumimoji="0" lang="en-US" sz="24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endParaRP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endPar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endParaRP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endPar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endParaRPr>
          </a:p>
        </p:txBody>
      </p:sp>
      <p:sp>
        <p:nvSpPr>
          <p:cNvPr id="5" name="Rectangle 4"/>
          <p:cNvSpPr/>
          <p:nvPr/>
        </p:nvSpPr>
        <p:spPr>
          <a:xfrm>
            <a:off x="453189" y="1066800"/>
            <a:ext cx="8169322" cy="800219"/>
          </a:xfrm>
          <a:prstGeom prst="rect">
            <a:avLst/>
          </a:prstGeom>
        </p:spPr>
        <p:txBody>
          <a:bodyPr wrap="square">
            <a:spAutoFit/>
          </a:bodyPr>
          <a:lstStyle/>
          <a:p>
            <a:pPr marL="342900" lvl="0" indent="-342900">
              <a:spcBef>
                <a:spcPct val="20000"/>
              </a:spcBef>
              <a:buClr>
                <a:schemeClr val="accent1">
                  <a:lumMod val="75000"/>
                </a:schemeClr>
              </a:buClr>
              <a:buFont typeface="Arial" pitchFamily="34" charset="0"/>
              <a:buChar char="•"/>
              <a:defRPr/>
            </a:pPr>
            <a:r>
              <a:rPr lang="en-US" sz="2800" dirty="0">
                <a:solidFill>
                  <a:schemeClr val="tx2">
                    <a:lumMod val="75000"/>
                  </a:schemeClr>
                </a:solidFill>
                <a:latin typeface="Cambria" pitchFamily="18" charset="0"/>
              </a:rPr>
              <a:t>Definition from </a:t>
            </a:r>
            <a:r>
              <a:rPr lang="en-US" sz="2800" b="1" i="1" dirty="0">
                <a:solidFill>
                  <a:schemeClr val="tx2">
                    <a:lumMod val="75000"/>
                  </a:schemeClr>
                </a:solidFill>
                <a:latin typeface="Cambria" pitchFamily="18" charset="0"/>
              </a:rPr>
              <a:t>NIST</a:t>
            </a:r>
            <a:r>
              <a:rPr lang="en-US" b="1" i="1" dirty="0">
                <a:solidFill>
                  <a:schemeClr val="tx2">
                    <a:lumMod val="75000"/>
                  </a:schemeClr>
                </a:solidFill>
                <a:latin typeface="Cambria" pitchFamily="18" charset="0"/>
              </a:rPr>
              <a:t> (National Institute of Standards and Technology)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Definitions</a:t>
            </a:r>
          </a:p>
        </p:txBody>
      </p:sp>
      <p:sp>
        <p:nvSpPr>
          <p:cNvPr id="3" name="Content Placeholder 2"/>
          <p:cNvSpPr>
            <a:spLocks noGrp="1"/>
          </p:cNvSpPr>
          <p:nvPr>
            <p:ph idx="1"/>
          </p:nvPr>
        </p:nvSpPr>
        <p:spPr>
          <a:xfrm>
            <a:off x="457200" y="1600200"/>
            <a:ext cx="8229600" cy="3200400"/>
          </a:xfrm>
        </p:spPr>
        <p:txBody>
          <a:bodyPr/>
          <a:lstStyle/>
          <a:p>
            <a:r>
              <a:rPr lang="en-US" dirty="0"/>
              <a:t>Definition from </a:t>
            </a:r>
            <a:r>
              <a:rPr lang="en-US" b="1" i="1" dirty="0"/>
              <a:t>Wikipedia</a:t>
            </a:r>
          </a:p>
          <a:p>
            <a:pPr lvl="1" algn="just"/>
            <a:r>
              <a:rPr lang="en-US" sz="2400" dirty="0"/>
              <a:t>Cloud computing is </a:t>
            </a:r>
            <a:r>
              <a:rPr lang="en-US" sz="2400" b="1" dirty="0"/>
              <a:t>Internet-based computing</a:t>
            </a:r>
            <a:r>
              <a:rPr lang="en-US" sz="2400" dirty="0"/>
              <a:t>, whereby </a:t>
            </a:r>
            <a:r>
              <a:rPr lang="en-US" sz="2400" b="1" dirty="0"/>
              <a:t>shared resources</a:t>
            </a:r>
            <a:r>
              <a:rPr lang="en-US" sz="2400" dirty="0"/>
              <a:t>, software, and information are provided to computers and other devices on demand, </a:t>
            </a:r>
            <a:r>
              <a:rPr lang="en-US" sz="2400" b="1" dirty="0"/>
              <a:t>like the electricity grid.</a:t>
            </a:r>
          </a:p>
          <a:p>
            <a:pPr lvl="1" algn="just"/>
            <a:r>
              <a:rPr lang="en-US" sz="2400" dirty="0"/>
              <a:t>Cloud computing is a style of computing in which dynamically scalable and often virtualized resources are provided as a service over the Internet.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
                                            <p:txEl>
                                              <p:pRg st="2" end="2"/>
                                            </p:txEl>
                                          </p:spTgt>
                                        </p:tgtEl>
                                      </p:cBhvr>
                                    </p:animEffect>
                                    <p:set>
                                      <p:cBhvr>
                                        <p:cTn id="13" dur="1" fill="hold">
                                          <p:stCondLst>
                                            <p:cond delay="499"/>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85800"/>
            <a:ext cx="8991600" cy="6142166"/>
          </a:xfrm>
        </p:spPr>
        <p:txBody>
          <a:bodyPr>
            <a:normAutofit/>
          </a:bodyPr>
          <a:lstStyle/>
          <a:p>
            <a:pPr marL="0" indent="0">
              <a:lnSpc>
                <a:spcPct val="160000"/>
              </a:lnSpc>
              <a:buNone/>
            </a:pPr>
            <a:r>
              <a:rPr lang="en-US" dirty="0"/>
              <a:t>A report from the University of California Berkeley  summarized the key characteristics of cloud computing as: </a:t>
            </a:r>
          </a:p>
          <a:p>
            <a:pPr marL="0" indent="0">
              <a:lnSpc>
                <a:spcPct val="160000"/>
              </a:lnSpc>
              <a:buNone/>
            </a:pPr>
            <a:r>
              <a:rPr lang="en-US" dirty="0"/>
              <a:t>   (1) the illusion of infinite computing resources; </a:t>
            </a:r>
          </a:p>
          <a:p>
            <a:pPr marL="0" indent="0">
              <a:lnSpc>
                <a:spcPct val="160000"/>
              </a:lnSpc>
              <a:buNone/>
            </a:pPr>
            <a:r>
              <a:rPr lang="en-US" dirty="0"/>
              <a:t>   (2) the elimination of an up-front commitment by cloud users; </a:t>
            </a:r>
          </a:p>
          <a:p>
            <a:pPr marL="0" indent="0">
              <a:lnSpc>
                <a:spcPct val="160000"/>
              </a:lnSpc>
              <a:buNone/>
            </a:pPr>
            <a:r>
              <a:rPr lang="en-US" dirty="0"/>
              <a:t>   (3) the ability to pay for use . . . as needed . . .”</a:t>
            </a:r>
          </a:p>
          <a:p>
            <a:pPr marL="0" indent="0">
              <a:buNone/>
            </a:pPr>
            <a:endParaRPr lang="en-US" sz="2400" dirty="0"/>
          </a:p>
        </p:txBody>
      </p:sp>
      <p:sp>
        <p:nvSpPr>
          <p:cNvPr id="2" name="Title 1"/>
          <p:cNvSpPr>
            <a:spLocks noGrp="1"/>
          </p:cNvSpPr>
          <p:nvPr>
            <p:ph type="title"/>
          </p:nvPr>
        </p:nvSpPr>
        <p:spPr>
          <a:xfrm>
            <a:off x="457200" y="274638"/>
            <a:ext cx="7848600" cy="258762"/>
          </a:xfrm>
        </p:spPr>
        <p:txBody>
          <a:bodyPr>
            <a:normAutofit fontScale="90000"/>
          </a:bodyPr>
          <a:lstStyle/>
          <a:p>
            <a:r>
              <a:rPr lang="en-US" dirty="0"/>
              <a:t>Cloud Definitions</a:t>
            </a:r>
          </a:p>
        </p:txBody>
      </p:sp>
    </p:spTree>
    <p:extLst>
      <p:ext uri="{BB962C8B-B14F-4D97-AF65-F5344CB8AC3E}">
        <p14:creationId xmlns:p14="http://schemas.microsoft.com/office/powerpoint/2010/main" val="2732936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3">
                                            <p:txEl>
                                              <p:pRg st="1" end="1"/>
                                            </p:txEl>
                                          </p:spTgt>
                                        </p:tgtEl>
                                      </p:cBhvr>
                                    </p:animEffect>
                                    <p:set>
                                      <p:cBhvr>
                                        <p:cTn id="12" dur="1" fill="hold">
                                          <p:stCondLst>
                                            <p:cond delay="499"/>
                                          </p:stCondLst>
                                        </p:cTn>
                                        <p:tgtEl>
                                          <p:spTgt spid="3">
                                            <p:txEl>
                                              <p:pRg st="1" end="1"/>
                                            </p:txEl>
                                          </p:spTgt>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3">
                                            <p:txEl>
                                              <p:pRg st="2" end="2"/>
                                            </p:txEl>
                                          </p:spTgt>
                                        </p:tgtEl>
                                      </p:cBhvr>
                                    </p:animEffect>
                                    <p:set>
                                      <p:cBhvr>
                                        <p:cTn id="17" dur="1" fill="hold">
                                          <p:stCondLst>
                                            <p:cond delay="499"/>
                                          </p:stCondLst>
                                        </p:cTn>
                                        <p:tgtEl>
                                          <p:spTgt spid="3">
                                            <p:txEl>
                                              <p:pRg st="2" end="2"/>
                                            </p:txEl>
                                          </p:spTgt>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500"/>
                                        <p:tgtEl>
                                          <p:spTgt spid="3">
                                            <p:txEl>
                                              <p:pRg st="3" end="3"/>
                                            </p:txEl>
                                          </p:spTgt>
                                        </p:tgtEl>
                                      </p:cBhvr>
                                    </p:animEffect>
                                    <p:set>
                                      <p:cBhvr>
                                        <p:cTn id="22" dur="1" fill="hold">
                                          <p:stCondLst>
                                            <p:cond delay="499"/>
                                          </p:stCondLst>
                                        </p:cTn>
                                        <p:tgtEl>
                                          <p:spTgt spid="3">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1A58FFF-E8BA-A736-F6EB-628A034D317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462DC2-F66A-0AA5-D59B-2CFDAB89E54C}"/>
              </a:ext>
            </a:extLst>
          </p:cNvPr>
          <p:cNvSpPr>
            <a:spLocks noGrp="1"/>
          </p:cNvSpPr>
          <p:nvPr>
            <p:ph idx="1"/>
          </p:nvPr>
        </p:nvSpPr>
        <p:spPr>
          <a:xfrm>
            <a:off x="0" y="685800"/>
            <a:ext cx="8991600" cy="6142166"/>
          </a:xfrm>
        </p:spPr>
        <p:txBody>
          <a:bodyPr>
            <a:normAutofit/>
          </a:bodyPr>
          <a:lstStyle/>
          <a:p>
            <a:pPr algn="just"/>
            <a:r>
              <a:rPr lang="en-US" sz="2800" dirty="0"/>
              <a:t>Common characteristics among the notable cloud definition</a:t>
            </a:r>
            <a:endParaRPr lang="en-US" sz="2800" b="1" i="1" dirty="0"/>
          </a:p>
          <a:p>
            <a:pPr lvl="1"/>
            <a:r>
              <a:rPr lang="en-US" sz="2800" dirty="0"/>
              <a:t>Pay per use</a:t>
            </a:r>
          </a:p>
          <a:p>
            <a:pPr lvl="1"/>
            <a:r>
              <a:rPr lang="en-US" sz="2800" dirty="0"/>
              <a:t>Elastic capacity and the illusion of infinite resources</a:t>
            </a:r>
          </a:p>
          <a:p>
            <a:pPr lvl="1"/>
            <a:r>
              <a:rPr lang="en-US" sz="2800" dirty="0"/>
              <a:t> Self-service interface</a:t>
            </a:r>
          </a:p>
          <a:p>
            <a:pPr lvl="1"/>
            <a:r>
              <a:rPr lang="en-US" sz="2800" dirty="0"/>
              <a:t>Resources that are abstracted or virtualized</a:t>
            </a:r>
          </a:p>
        </p:txBody>
      </p:sp>
      <p:sp>
        <p:nvSpPr>
          <p:cNvPr id="2" name="Title 1">
            <a:extLst>
              <a:ext uri="{FF2B5EF4-FFF2-40B4-BE49-F238E27FC236}">
                <a16:creationId xmlns:a16="http://schemas.microsoft.com/office/drawing/2014/main" id="{D6580D10-641F-667F-0BDE-062743A41600}"/>
              </a:ext>
            </a:extLst>
          </p:cNvPr>
          <p:cNvSpPr>
            <a:spLocks noGrp="1"/>
          </p:cNvSpPr>
          <p:nvPr>
            <p:ph type="title"/>
          </p:nvPr>
        </p:nvSpPr>
        <p:spPr>
          <a:xfrm>
            <a:off x="457200" y="274638"/>
            <a:ext cx="7848600" cy="258762"/>
          </a:xfrm>
        </p:spPr>
        <p:txBody>
          <a:bodyPr>
            <a:normAutofit fontScale="90000"/>
          </a:bodyPr>
          <a:lstStyle/>
          <a:p>
            <a:r>
              <a:rPr lang="en-US" dirty="0"/>
              <a:t>Cloud Definitions</a:t>
            </a:r>
          </a:p>
        </p:txBody>
      </p:sp>
    </p:spTree>
    <p:extLst>
      <p:ext uri="{BB962C8B-B14F-4D97-AF65-F5344CB8AC3E}">
        <p14:creationId xmlns:p14="http://schemas.microsoft.com/office/powerpoint/2010/main" val="1959508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
                                            <p:txEl>
                                              <p:pRg st="2" end="2"/>
                                            </p:txEl>
                                          </p:spTgt>
                                        </p:tgtEl>
                                      </p:cBhvr>
                                    </p:animEffect>
                                    <p:set>
                                      <p:cBhvr>
                                        <p:cTn id="13" dur="1" fill="hold">
                                          <p:stCondLst>
                                            <p:cond delay="499"/>
                                          </p:stCondLst>
                                        </p:cTn>
                                        <p:tgtEl>
                                          <p:spTgt spid="3">
                                            <p:txEl>
                                              <p:pRg st="2" end="2"/>
                                            </p:txEl>
                                          </p:spTgt>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3">
                                            <p:txEl>
                                              <p:pRg st="3" end="3"/>
                                            </p:txEl>
                                          </p:spTgt>
                                        </p:tgtEl>
                                      </p:cBhvr>
                                    </p:animEffect>
                                    <p:set>
                                      <p:cBhvr>
                                        <p:cTn id="16" dur="1" fill="hold">
                                          <p:stCondLst>
                                            <p:cond delay="499"/>
                                          </p:stCondLst>
                                        </p:cTn>
                                        <p:tgtEl>
                                          <p:spTgt spid="3">
                                            <p:txEl>
                                              <p:pRg st="3" end="3"/>
                                            </p:txEl>
                                          </p:spTgt>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3">
                                            <p:txEl>
                                              <p:pRg st="4" end="4"/>
                                            </p:txEl>
                                          </p:spTgt>
                                        </p:tgtEl>
                                      </p:cBhvr>
                                    </p:animEffect>
                                    <p:set>
                                      <p:cBhvr>
                                        <p:cTn id="19" dur="1" fill="hold">
                                          <p:stCondLst>
                                            <p:cond delay="499"/>
                                          </p:stCondLst>
                                        </p:cTn>
                                        <p:tgtEl>
                                          <p:spTgt spid="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p:spPr>
        <p:txBody>
          <a:bodyPr>
            <a:normAutofit/>
          </a:bodyPr>
          <a:lstStyle/>
          <a:p>
            <a:r>
              <a:rPr lang="en-US" dirty="0"/>
              <a:t>Roots of cloud computing can be tracked by observing the advancement in technologies….</a:t>
            </a:r>
          </a:p>
          <a:p>
            <a:pPr marL="514350" indent="-514350">
              <a:buAutoNum type="arabicPeriod"/>
            </a:pPr>
            <a:r>
              <a:rPr lang="en-US" dirty="0"/>
              <a:t>hardware (virtualization, multi-core chips) </a:t>
            </a:r>
          </a:p>
          <a:p>
            <a:pPr marL="514350" indent="-514350">
              <a:buAutoNum type="arabicPeriod"/>
            </a:pPr>
            <a:r>
              <a:rPr lang="en-US" dirty="0"/>
              <a:t>Internet technologies (Web services, service-oriented architectures, Web 2.0) </a:t>
            </a:r>
          </a:p>
          <a:p>
            <a:pPr marL="514350" indent="-514350">
              <a:buAutoNum type="arabicPeriod"/>
            </a:pPr>
            <a:r>
              <a:rPr lang="en-US" dirty="0"/>
              <a:t>distributed computing (clusters, grids)</a:t>
            </a:r>
          </a:p>
          <a:p>
            <a:pPr marL="514350" indent="-514350">
              <a:buAutoNum type="arabicPeriod"/>
            </a:pPr>
            <a:r>
              <a:rPr lang="en-US" dirty="0"/>
              <a:t>systems management (autonomic computing,  data  center  automation). </a:t>
            </a:r>
          </a:p>
        </p:txBody>
      </p:sp>
      <p:sp>
        <p:nvSpPr>
          <p:cNvPr id="2" name="Title 1"/>
          <p:cNvSpPr>
            <a:spLocks noGrp="1"/>
          </p:cNvSpPr>
          <p:nvPr>
            <p:ph type="title"/>
          </p:nvPr>
        </p:nvSpPr>
        <p:spPr/>
        <p:txBody>
          <a:bodyPr/>
          <a:lstStyle/>
          <a:p>
            <a:r>
              <a:rPr lang="en-US" dirty="0"/>
              <a:t>Roots of Cloud Computing</a:t>
            </a:r>
          </a:p>
        </p:txBody>
      </p:sp>
    </p:spTree>
    <p:extLst>
      <p:ext uri="{BB962C8B-B14F-4D97-AF65-F5344CB8AC3E}">
        <p14:creationId xmlns:p14="http://schemas.microsoft.com/office/powerpoint/2010/main" val="1722443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3">
                                            <p:txEl>
                                              <p:pRg st="1" end="1"/>
                                            </p:txEl>
                                          </p:spTgt>
                                        </p:tgtEl>
                                      </p:cBhvr>
                                    </p:animEffect>
                                    <p:set>
                                      <p:cBhvr>
                                        <p:cTn id="12" dur="1" fill="hold">
                                          <p:stCondLst>
                                            <p:cond delay="499"/>
                                          </p:stCondLst>
                                        </p:cTn>
                                        <p:tgtEl>
                                          <p:spTgt spid="3">
                                            <p:txEl>
                                              <p:pRg st="1" end="1"/>
                                            </p:txEl>
                                          </p:spTgt>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3">
                                            <p:txEl>
                                              <p:pRg st="2" end="2"/>
                                            </p:txEl>
                                          </p:spTgt>
                                        </p:tgtEl>
                                      </p:cBhvr>
                                    </p:animEffect>
                                    <p:set>
                                      <p:cBhvr>
                                        <p:cTn id="17" dur="1" fill="hold">
                                          <p:stCondLst>
                                            <p:cond delay="499"/>
                                          </p:stCondLst>
                                        </p:cTn>
                                        <p:tgtEl>
                                          <p:spTgt spid="3">
                                            <p:txEl>
                                              <p:pRg st="2" end="2"/>
                                            </p:txEl>
                                          </p:spTgt>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500"/>
                                        <p:tgtEl>
                                          <p:spTgt spid="3">
                                            <p:txEl>
                                              <p:pRg st="3" end="3"/>
                                            </p:txEl>
                                          </p:spTgt>
                                        </p:tgtEl>
                                      </p:cBhvr>
                                    </p:animEffect>
                                    <p:set>
                                      <p:cBhvr>
                                        <p:cTn id="22" dur="1" fill="hold">
                                          <p:stCondLst>
                                            <p:cond delay="499"/>
                                          </p:stCondLst>
                                        </p:cTn>
                                        <p:tgtEl>
                                          <p:spTgt spid="3">
                                            <p:txEl>
                                              <p:pRg st="3" end="3"/>
                                            </p:txEl>
                                          </p:spTgt>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0" nodeType="clickEffect">
                                  <p:stCondLst>
                                    <p:cond delay="0"/>
                                  </p:stCondLst>
                                  <p:childTnLst>
                                    <p:animEffect transition="out" filter="fade">
                                      <p:cBhvr>
                                        <p:cTn id="26" dur="500"/>
                                        <p:tgtEl>
                                          <p:spTgt spid="3">
                                            <p:txEl>
                                              <p:pRg st="4" end="4"/>
                                            </p:txEl>
                                          </p:spTgt>
                                        </p:tgtEl>
                                      </p:cBhvr>
                                    </p:animEffect>
                                    <p:set>
                                      <p:cBhvr>
                                        <p:cTn id="27" dur="1" fill="hold">
                                          <p:stCondLst>
                                            <p:cond delay="499"/>
                                          </p:stCondLst>
                                        </p:cTn>
                                        <p:tgtEl>
                                          <p:spTgt spid="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標題 1"/>
          <p:cNvSpPr>
            <a:spLocks noGrp="1"/>
          </p:cNvSpPr>
          <p:nvPr>
            <p:ph type="title"/>
          </p:nvPr>
        </p:nvSpPr>
        <p:spPr>
          <a:xfrm>
            <a:off x="1219200" y="301625"/>
            <a:ext cx="7773988" cy="1143000"/>
          </a:xfrm>
        </p:spPr>
        <p:txBody>
          <a:bodyPr/>
          <a:lstStyle/>
          <a:p>
            <a:r>
              <a:rPr lang="en-US" altLang="zh-TW"/>
              <a:t>Roots Of Cloud Computing</a:t>
            </a:r>
            <a:r>
              <a:rPr lang="zh-TW" altLang="en-US"/>
              <a:t> </a:t>
            </a:r>
            <a:r>
              <a:rPr lang="en-US" altLang="zh-TW"/>
              <a:t>(cont.)</a:t>
            </a:r>
            <a:endParaRPr lang="zh-TW" altLang="en-US"/>
          </a:p>
        </p:txBody>
      </p:sp>
      <p:pic>
        <p:nvPicPr>
          <p:cNvPr id="18435" name="Picture 1"/>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a:xfrm>
            <a:off x="1905000" y="1600200"/>
            <a:ext cx="5638800" cy="5140325"/>
          </a:xfrm>
        </p:spPr>
      </p:pic>
    </p:spTree>
    <p:extLst>
      <p:ext uri="{BB962C8B-B14F-4D97-AF65-F5344CB8AC3E}">
        <p14:creationId xmlns:p14="http://schemas.microsoft.com/office/powerpoint/2010/main" val="2194011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0806" y="31845"/>
            <a:ext cx="8229600" cy="577755"/>
          </a:xfrm>
        </p:spPr>
        <p:txBody>
          <a:bodyPr>
            <a:normAutofit fontScale="90000"/>
          </a:bodyPr>
          <a:lstStyle/>
          <a:p>
            <a:pPr algn="l"/>
            <a:r>
              <a:rPr lang="en-US" sz="3200" dirty="0"/>
              <a:t>Mainframe Computers</a:t>
            </a:r>
          </a:p>
        </p:txBody>
      </p:sp>
      <p:sp>
        <p:nvSpPr>
          <p:cNvPr id="3" name="Content Placeholder 2"/>
          <p:cNvSpPr>
            <a:spLocks noGrp="1"/>
          </p:cNvSpPr>
          <p:nvPr>
            <p:ph idx="1"/>
          </p:nvPr>
        </p:nvSpPr>
        <p:spPr>
          <a:xfrm>
            <a:off x="457200" y="609600"/>
            <a:ext cx="8382000" cy="5867400"/>
          </a:xfrm>
        </p:spPr>
        <p:txBody>
          <a:bodyPr>
            <a:normAutofit lnSpcReduction="10000"/>
          </a:bodyPr>
          <a:lstStyle/>
          <a:p>
            <a:r>
              <a:rPr lang="en-US" dirty="0"/>
              <a:t>Mainframes are a type of computer that generally are known for their </a:t>
            </a:r>
            <a:r>
              <a:rPr lang="en-US" u="sng" dirty="0"/>
              <a:t>large size, amount of storage, processing power and high level of reliability.</a:t>
            </a:r>
          </a:p>
          <a:p>
            <a:pPr marL="0" indent="0">
              <a:buNone/>
            </a:pPr>
            <a:endParaRPr lang="en-US" dirty="0"/>
          </a:p>
          <a:p>
            <a:r>
              <a:rPr lang="en-US" dirty="0"/>
              <a:t>A </a:t>
            </a:r>
            <a:r>
              <a:rPr lang="en-US" u="sng" dirty="0"/>
              <a:t>single mainframe can replace</a:t>
            </a:r>
            <a:r>
              <a:rPr lang="en-US" dirty="0"/>
              <a:t> dozens or even hundreds of smaller servers.</a:t>
            </a:r>
          </a:p>
          <a:p>
            <a:pPr marL="0" indent="0">
              <a:buNone/>
            </a:pPr>
            <a:endParaRPr lang="en-US" dirty="0"/>
          </a:p>
          <a:p>
            <a:r>
              <a:rPr lang="en-US" dirty="0"/>
              <a:t>Widely used area are  </a:t>
            </a:r>
            <a:r>
              <a:rPr lang="en-US" u="sng" dirty="0"/>
              <a:t>banking, finance, health care, insurance, public utilities, government </a:t>
            </a:r>
            <a:r>
              <a:rPr lang="en-US" dirty="0" err="1"/>
              <a:t>etc</a:t>
            </a:r>
            <a:endParaRPr lang="en-US" dirty="0"/>
          </a:p>
          <a:p>
            <a:pPr marL="0" indent="0">
              <a:buNone/>
            </a:pPr>
            <a:endParaRPr lang="en-US" dirty="0"/>
          </a:p>
          <a:p>
            <a:r>
              <a:rPr lang="en-US" dirty="0"/>
              <a:t>Mainframes are able to </a:t>
            </a:r>
            <a:r>
              <a:rPr lang="en-US" u="sng" dirty="0"/>
              <a:t>handle large workloads</a:t>
            </a:r>
            <a:r>
              <a:rPr lang="en-US" dirty="0"/>
              <a:t>, and their </a:t>
            </a:r>
            <a:r>
              <a:rPr lang="en-US" u="sng" dirty="0"/>
              <a:t>reliability, scalability and performance </a:t>
            </a:r>
            <a:r>
              <a:rPr lang="en-US" dirty="0"/>
              <a:t>make them the system of choice for many organizations </a:t>
            </a:r>
            <a:r>
              <a:rPr lang="en-US" u="sng" dirty="0"/>
              <a:t>for bulk processing, handling transactions and for maintaining vital business records.</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6209479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dirty="0"/>
              <a:t>Mainframes to Clouds</a:t>
            </a:r>
          </a:p>
        </p:txBody>
      </p:sp>
      <p:sp>
        <p:nvSpPr>
          <p:cNvPr id="3" name="Content Placeholder 2"/>
          <p:cNvSpPr>
            <a:spLocks noGrp="1"/>
          </p:cNvSpPr>
          <p:nvPr>
            <p:ph idx="1"/>
          </p:nvPr>
        </p:nvSpPr>
        <p:spPr>
          <a:xfrm>
            <a:off x="457200" y="1143000"/>
            <a:ext cx="8229600" cy="4983163"/>
          </a:xfrm>
        </p:spPr>
        <p:txBody>
          <a:bodyPr>
            <a:normAutofit fontScale="92500" lnSpcReduction="10000"/>
          </a:bodyPr>
          <a:lstStyle/>
          <a:p>
            <a:pPr algn="just">
              <a:lnSpc>
                <a:spcPct val="150000"/>
              </a:lnSpc>
            </a:pPr>
            <a:r>
              <a:rPr lang="en-US" dirty="0"/>
              <a:t>Mainframes had to operate at </a:t>
            </a:r>
            <a:r>
              <a:rPr lang="en-US" u="sng" dirty="0"/>
              <a:t>very high utilization rates and were very expensive</a:t>
            </a:r>
            <a:r>
              <a:rPr lang="en-US" dirty="0"/>
              <a:t>.</a:t>
            </a:r>
          </a:p>
          <a:p>
            <a:pPr algn="just">
              <a:lnSpc>
                <a:spcPct val="150000"/>
              </a:lnSpc>
            </a:pPr>
            <a:r>
              <a:rPr lang="en-US" dirty="0"/>
              <a:t>The </a:t>
            </a:r>
            <a:r>
              <a:rPr lang="en-US" u="sng" dirty="0"/>
              <a:t>mainframe era collapsed </a:t>
            </a:r>
            <a:r>
              <a:rPr lang="en-US" dirty="0"/>
              <a:t>with the advent of fast and </a:t>
            </a:r>
            <a:r>
              <a:rPr lang="en-US" u="sng" dirty="0"/>
              <a:t>inexpensive microprocessors(multi-core processors) </a:t>
            </a:r>
            <a:r>
              <a:rPr lang="en-US" dirty="0"/>
              <a:t>.</a:t>
            </a:r>
          </a:p>
          <a:p>
            <a:pPr algn="just">
              <a:lnSpc>
                <a:spcPct val="150000"/>
              </a:lnSpc>
            </a:pPr>
            <a:r>
              <a:rPr lang="en-US" dirty="0"/>
              <a:t>Next </a:t>
            </a:r>
            <a:r>
              <a:rPr lang="en-US" u="sng" dirty="0"/>
              <a:t>Cloud Computing </a:t>
            </a:r>
            <a:r>
              <a:rPr lang="en-US" dirty="0"/>
              <a:t>have sprung up, </a:t>
            </a:r>
            <a:r>
              <a:rPr lang="en-US" b="1" dirty="0"/>
              <a:t>allowing </a:t>
            </a:r>
            <a:r>
              <a:rPr lang="en-US" b="1" u="sng" dirty="0"/>
              <a:t>applications to be run </a:t>
            </a:r>
            <a:r>
              <a:rPr lang="en-US" b="1" dirty="0"/>
              <a:t>via </a:t>
            </a:r>
            <a:r>
              <a:rPr lang="en-US" b="1" u="sng" dirty="0"/>
              <a:t>third-party infrastructure</a:t>
            </a:r>
            <a:r>
              <a:rPr lang="en-US" u="sng" dirty="0"/>
              <a:t> </a:t>
            </a:r>
            <a:r>
              <a:rPr lang="en-US" dirty="0"/>
              <a:t>that </a:t>
            </a:r>
            <a:r>
              <a:rPr lang="en-US" u="sng" dirty="0"/>
              <a:t>requires little or no hardware investment </a:t>
            </a:r>
            <a:r>
              <a:rPr lang="en-US" dirty="0"/>
              <a:t>and services to be paid for as they are needed. </a:t>
            </a:r>
          </a:p>
          <a:p>
            <a:pPr algn="just">
              <a:lnSpc>
                <a:spcPct val="150000"/>
              </a:lnSpc>
            </a:pPr>
            <a:r>
              <a:rPr lang="en-US" dirty="0"/>
              <a:t>The </a:t>
            </a:r>
            <a:r>
              <a:rPr lang="en-US" b="1" dirty="0"/>
              <a:t>advent of </a:t>
            </a:r>
            <a:r>
              <a:rPr lang="en-US" b="1" u="sng" dirty="0"/>
              <a:t>fast fiber optic networks </a:t>
            </a:r>
            <a:r>
              <a:rPr lang="en-US" b="1" dirty="0"/>
              <a:t>, helped enabling sharing of computing power over </a:t>
            </a:r>
            <a:r>
              <a:rPr lang="en-US" b="1" u="sng" dirty="0"/>
              <a:t>great distances</a:t>
            </a:r>
            <a:r>
              <a:rPr lang="en-US" u="sng" dirty="0"/>
              <a:t>.</a:t>
            </a:r>
          </a:p>
        </p:txBody>
      </p:sp>
    </p:spTree>
    <p:extLst>
      <p:ext uri="{BB962C8B-B14F-4D97-AF65-F5344CB8AC3E}">
        <p14:creationId xmlns:p14="http://schemas.microsoft.com/office/powerpoint/2010/main" val="17385290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marL="0" indent="0">
              <a:buNone/>
            </a:pPr>
            <a:r>
              <a:rPr lang="en-US" altLang="zh-TW" b="1" dirty="0"/>
              <a:t>SOA, Web Services, Web 2.0, and </a:t>
            </a:r>
            <a:r>
              <a:rPr lang="en-US" altLang="zh-TW" b="1" dirty="0" err="1"/>
              <a:t>Mashups</a:t>
            </a:r>
            <a:r>
              <a:rPr lang="zh-TW" altLang="en-US" b="1" dirty="0"/>
              <a:t> </a:t>
            </a:r>
            <a:r>
              <a:rPr lang="en-US" altLang="zh-TW" b="1" dirty="0"/>
              <a:t>:</a:t>
            </a:r>
          </a:p>
          <a:p>
            <a:pPr marL="0" indent="0">
              <a:buNone/>
            </a:pPr>
            <a:endParaRPr lang="en-US" dirty="0"/>
          </a:p>
          <a:p>
            <a:pPr marL="0" indent="0">
              <a:buNone/>
            </a:pPr>
            <a:r>
              <a:rPr lang="en-US" dirty="0"/>
              <a:t>Q1: What is web Service?</a:t>
            </a:r>
          </a:p>
          <a:p>
            <a:pPr marL="0" indent="0">
              <a:buNone/>
            </a:pPr>
            <a:r>
              <a:rPr lang="en-US" dirty="0"/>
              <a:t>Q2: What are the tasks performed by web service?</a:t>
            </a:r>
          </a:p>
          <a:p>
            <a:pPr marL="0" indent="0">
              <a:buNone/>
            </a:pPr>
            <a:r>
              <a:rPr lang="en-US" dirty="0"/>
              <a:t>Q3: What is SOA? </a:t>
            </a:r>
          </a:p>
          <a:p>
            <a:pPr marL="0" indent="0">
              <a:buNone/>
            </a:pPr>
            <a:r>
              <a:rPr lang="en-US" dirty="0"/>
              <a:t>Q4. What are the benefits of using SOA?</a:t>
            </a:r>
          </a:p>
          <a:p>
            <a:pPr marL="0" indent="0">
              <a:buNone/>
            </a:pPr>
            <a:r>
              <a:rPr lang="en-US" dirty="0"/>
              <a:t>Q5: COMPONENTS of SOA?</a:t>
            </a:r>
          </a:p>
          <a:p>
            <a:pPr marL="0" indent="0">
              <a:buNone/>
            </a:pPr>
            <a:endParaRPr lang="en-US" dirty="0"/>
          </a:p>
        </p:txBody>
      </p:sp>
    </p:spTree>
    <p:extLst>
      <p:ext uri="{BB962C8B-B14F-4D97-AF65-F5344CB8AC3E}">
        <p14:creationId xmlns:p14="http://schemas.microsoft.com/office/powerpoint/2010/main" val="1243063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F38C2-29AF-4EEF-49B2-CE924B56D95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F76041-F97D-73E0-A294-66E6D1962E89}"/>
              </a:ext>
            </a:extLst>
          </p:cNvPr>
          <p:cNvSpPr>
            <a:spLocks noGrp="1"/>
          </p:cNvSpPr>
          <p:nvPr>
            <p:ph idx="1"/>
          </p:nvPr>
        </p:nvSpPr>
        <p:spPr>
          <a:xfrm>
            <a:off x="457200" y="304800"/>
            <a:ext cx="8229600" cy="5821363"/>
          </a:xfrm>
        </p:spPr>
        <p:txBody>
          <a:bodyPr>
            <a:normAutofit/>
          </a:bodyPr>
          <a:lstStyle/>
          <a:p>
            <a:pPr marL="0" indent="0">
              <a:buNone/>
            </a:pPr>
            <a:r>
              <a:rPr lang="en-US" altLang="zh-TW" b="1" dirty="0"/>
              <a:t>SOA, Web Services, Web 2.0, and </a:t>
            </a:r>
            <a:r>
              <a:rPr lang="en-US" altLang="zh-TW" b="1" dirty="0" err="1"/>
              <a:t>Mashups</a:t>
            </a:r>
            <a:r>
              <a:rPr lang="zh-TW" altLang="en-US" b="1" dirty="0"/>
              <a:t> </a:t>
            </a:r>
            <a:r>
              <a:rPr lang="en-US" altLang="zh-TW" b="1" dirty="0"/>
              <a:t>:</a:t>
            </a:r>
          </a:p>
          <a:p>
            <a:pPr marL="0" indent="0">
              <a:buNone/>
            </a:pPr>
            <a:r>
              <a:rPr lang="en-US" b="1" dirty="0"/>
              <a:t>What is web Service?</a:t>
            </a:r>
          </a:p>
          <a:p>
            <a:pPr algn="just">
              <a:lnSpc>
                <a:spcPct val="150000"/>
              </a:lnSpc>
            </a:pPr>
            <a:r>
              <a:rPr lang="en-US" dirty="0"/>
              <a:t>Web services are applications or software that use standardized web protocols to communicate and exchange data over the internet. They can be either a service offered by one electronic device to another, or a server that listens for requests on a computer device. </a:t>
            </a:r>
          </a:p>
        </p:txBody>
      </p:sp>
      <p:pic>
        <p:nvPicPr>
          <p:cNvPr id="4" name="Picture 3">
            <a:extLst>
              <a:ext uri="{FF2B5EF4-FFF2-40B4-BE49-F238E27FC236}">
                <a16:creationId xmlns:a16="http://schemas.microsoft.com/office/drawing/2014/main" id="{B26E8DFD-D72F-3598-830C-519E61B1BC32}"/>
              </a:ext>
            </a:extLst>
          </p:cNvPr>
          <p:cNvPicPr>
            <a:picLocks noChangeAspect="1"/>
          </p:cNvPicPr>
          <p:nvPr/>
        </p:nvPicPr>
        <p:blipFill>
          <a:blip r:embed="rId3"/>
          <a:stretch>
            <a:fillRect/>
          </a:stretch>
        </p:blipFill>
        <p:spPr>
          <a:xfrm>
            <a:off x="2209800" y="4032120"/>
            <a:ext cx="6324925" cy="2521080"/>
          </a:xfrm>
          <a:prstGeom prst="rect">
            <a:avLst/>
          </a:prstGeom>
        </p:spPr>
      </p:pic>
    </p:spTree>
    <p:extLst>
      <p:ext uri="{BB962C8B-B14F-4D97-AF65-F5344CB8AC3E}">
        <p14:creationId xmlns:p14="http://schemas.microsoft.com/office/powerpoint/2010/main" val="5345160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1F699-D8CC-C904-57C4-64AA09E8898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5AD4EA-C529-3D3A-B92D-08C964FFDD2E}"/>
              </a:ext>
            </a:extLst>
          </p:cNvPr>
          <p:cNvSpPr>
            <a:spLocks noGrp="1"/>
          </p:cNvSpPr>
          <p:nvPr>
            <p:ph idx="1"/>
          </p:nvPr>
        </p:nvSpPr>
        <p:spPr>
          <a:xfrm>
            <a:off x="457200" y="304800"/>
            <a:ext cx="8229600" cy="5821363"/>
          </a:xfrm>
        </p:spPr>
        <p:txBody>
          <a:bodyPr>
            <a:normAutofit/>
          </a:bodyPr>
          <a:lstStyle/>
          <a:p>
            <a:pPr marL="0" indent="0">
              <a:buNone/>
            </a:pPr>
            <a:r>
              <a:rPr lang="en-US" altLang="zh-TW" b="1" dirty="0"/>
              <a:t>SOA, Web Services, Web 2.0, and </a:t>
            </a:r>
            <a:r>
              <a:rPr lang="en-US" altLang="zh-TW" b="1" dirty="0" err="1"/>
              <a:t>Mashups</a:t>
            </a:r>
            <a:r>
              <a:rPr lang="zh-TW" altLang="en-US" b="1" dirty="0"/>
              <a:t> </a:t>
            </a:r>
            <a:r>
              <a:rPr lang="en-US" altLang="zh-TW" b="1" dirty="0"/>
              <a:t>:</a:t>
            </a:r>
          </a:p>
          <a:p>
            <a:pPr marL="0" indent="0">
              <a:buNone/>
            </a:pPr>
            <a:r>
              <a:rPr lang="en-US" dirty="0"/>
              <a:t>Q2: What are the tasks performed by web service?</a:t>
            </a:r>
          </a:p>
          <a:p>
            <a:pPr marL="0" indent="0">
              <a:buNone/>
            </a:pPr>
            <a:endParaRPr lang="en-US" dirty="0"/>
          </a:p>
          <a:p>
            <a:pPr marL="0" indent="0">
              <a:buNone/>
            </a:pPr>
            <a:r>
              <a:rPr lang="en-US" dirty="0"/>
              <a:t>Interoperability:</a:t>
            </a:r>
          </a:p>
          <a:p>
            <a:pPr marL="0" indent="0">
              <a:buNone/>
            </a:pPr>
            <a:r>
              <a:rPr lang="en-US" dirty="0"/>
              <a:t>A2A communication: </a:t>
            </a:r>
          </a:p>
          <a:p>
            <a:pPr marL="0" indent="0">
              <a:buNone/>
            </a:pPr>
            <a:r>
              <a:rPr lang="en-US" dirty="0"/>
              <a:t>Streamlining connectivity: </a:t>
            </a:r>
          </a:p>
          <a:p>
            <a:pPr marL="0" indent="0">
              <a:buNone/>
            </a:pPr>
            <a:r>
              <a:rPr lang="en-US" dirty="0"/>
              <a:t>Minimizing development time: </a:t>
            </a:r>
          </a:p>
          <a:p>
            <a:pPr marL="0" indent="0">
              <a:buNone/>
            </a:pPr>
            <a:r>
              <a:rPr lang="en-US" dirty="0"/>
              <a:t>Efficient technology distribution: </a:t>
            </a:r>
          </a:p>
          <a:p>
            <a:pPr marL="0" indent="0">
              <a:buNone/>
            </a:pPr>
            <a:endParaRPr lang="en-US" dirty="0"/>
          </a:p>
        </p:txBody>
      </p:sp>
    </p:spTree>
    <p:extLst>
      <p:ext uri="{BB962C8B-B14F-4D97-AF65-F5344CB8AC3E}">
        <p14:creationId xmlns:p14="http://schemas.microsoft.com/office/powerpoint/2010/main" val="6998905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C982C-0F45-F339-1BC7-73ABE847A34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AC8912-8874-BC6F-6B93-D1FD1FD73420}"/>
              </a:ext>
            </a:extLst>
          </p:cNvPr>
          <p:cNvSpPr>
            <a:spLocks noGrp="1"/>
          </p:cNvSpPr>
          <p:nvPr>
            <p:ph idx="1"/>
          </p:nvPr>
        </p:nvSpPr>
        <p:spPr>
          <a:xfrm>
            <a:off x="457200" y="304800"/>
            <a:ext cx="8229600" cy="5821363"/>
          </a:xfrm>
        </p:spPr>
        <p:txBody>
          <a:bodyPr>
            <a:normAutofit/>
          </a:bodyPr>
          <a:lstStyle/>
          <a:p>
            <a:pPr marL="0" indent="0">
              <a:buNone/>
            </a:pPr>
            <a:r>
              <a:rPr lang="en-US" altLang="zh-TW" b="1" dirty="0"/>
              <a:t>SOA, Web Services, Web 2.0, and </a:t>
            </a:r>
            <a:r>
              <a:rPr lang="en-US" altLang="zh-TW" b="1" dirty="0" err="1"/>
              <a:t>Mashups</a:t>
            </a:r>
            <a:r>
              <a:rPr lang="zh-TW" altLang="en-US" b="1" dirty="0"/>
              <a:t> </a:t>
            </a:r>
            <a:r>
              <a:rPr lang="en-US" altLang="zh-TW" b="1" dirty="0"/>
              <a:t>:</a:t>
            </a:r>
          </a:p>
          <a:p>
            <a:pPr marL="0" indent="0">
              <a:buNone/>
            </a:pPr>
            <a:r>
              <a:rPr lang="en-US" dirty="0"/>
              <a:t>Q3: What is SOA? </a:t>
            </a:r>
          </a:p>
          <a:p>
            <a:pPr marL="0" indent="0">
              <a:buNone/>
            </a:pPr>
            <a:endParaRPr lang="en-US" dirty="0"/>
          </a:p>
          <a:p>
            <a:pPr marL="0" indent="0">
              <a:buNone/>
            </a:pPr>
            <a:endParaRPr lang="en-US" dirty="0"/>
          </a:p>
          <a:p>
            <a:pPr algn="just"/>
            <a:r>
              <a:rPr lang="en-US" sz="3100" dirty="0"/>
              <a:t>Service-oriented architecture (SOA) is an evolution of distributed computing based on the request/reply design paradigm for synchronous and asynchronous applications</a:t>
            </a:r>
          </a:p>
          <a:p>
            <a:pPr algn="just"/>
            <a:r>
              <a:rPr lang="en-US" sz="3100" dirty="0"/>
              <a:t>Service-oriented architecture (SOA) is a method of software development that uses software components called services to create business applications</a:t>
            </a:r>
            <a:endParaRPr lang="en-US" dirty="0"/>
          </a:p>
        </p:txBody>
      </p:sp>
    </p:spTree>
    <p:extLst>
      <p:ext uri="{BB962C8B-B14F-4D97-AF65-F5344CB8AC3E}">
        <p14:creationId xmlns:p14="http://schemas.microsoft.com/office/powerpoint/2010/main" val="12416166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內容版面配置區 2"/>
          <p:cNvSpPr>
            <a:spLocks noGrp="1"/>
          </p:cNvSpPr>
          <p:nvPr>
            <p:ph idx="1"/>
          </p:nvPr>
        </p:nvSpPr>
        <p:spPr>
          <a:xfrm>
            <a:off x="304800" y="1371600"/>
            <a:ext cx="8686800" cy="4525963"/>
          </a:xfrm>
        </p:spPr>
        <p:txBody>
          <a:bodyPr/>
          <a:lstStyle/>
          <a:p>
            <a:r>
              <a:rPr lang="en-US" dirty="0"/>
              <a:t>Q4: How does service-oriented architecture work?</a:t>
            </a:r>
          </a:p>
          <a:p>
            <a:pPr lvl="1" algn="just"/>
            <a:r>
              <a:rPr lang="en-US" sz="2400" dirty="0"/>
              <a:t>In service-oriented architecture (SOA), services function independently and provide functionality or data exchanges to their consumers. </a:t>
            </a:r>
          </a:p>
          <a:p>
            <a:pPr lvl="1" algn="just"/>
            <a:r>
              <a:rPr lang="en-US" sz="2400" dirty="0"/>
              <a:t>The consumer requests information and sends input data to the service. The service processes the data, performs the task, and sends back a response. For example, if an application uses an authorization service, it gives the service the username and password. The service verifies the username and password and returns an appropriate response.</a:t>
            </a:r>
            <a:endParaRPr lang="en-US" altLang="zh-TW" sz="2400" dirty="0"/>
          </a:p>
        </p:txBody>
      </p:sp>
      <p:sp>
        <p:nvSpPr>
          <p:cNvPr id="28675" name="標題 1"/>
          <p:cNvSpPr>
            <a:spLocks noGrp="1"/>
          </p:cNvSpPr>
          <p:nvPr>
            <p:ph type="title"/>
          </p:nvPr>
        </p:nvSpPr>
        <p:spPr>
          <a:xfrm>
            <a:off x="304800" y="228600"/>
            <a:ext cx="7773988" cy="1143000"/>
          </a:xfrm>
        </p:spPr>
        <p:txBody>
          <a:bodyPr>
            <a:noAutofit/>
          </a:bodyPr>
          <a:lstStyle/>
          <a:p>
            <a:pPr algn="l"/>
            <a:r>
              <a:rPr lang="en-US" altLang="zh-TW" sz="2800" dirty="0"/>
              <a:t>SOA, Web Services, Web 2.0, and </a:t>
            </a:r>
            <a:r>
              <a:rPr lang="en-US" altLang="zh-TW" sz="2800" dirty="0" err="1"/>
              <a:t>Mashups</a:t>
            </a:r>
            <a:endParaRPr lang="zh-TW" altLang="en-US" sz="2800" dirty="0"/>
          </a:p>
        </p:txBody>
      </p:sp>
      <p:sp>
        <p:nvSpPr>
          <p:cNvPr id="4" name="內容版面配置區 2"/>
          <p:cNvSpPr txBox="1">
            <a:spLocks/>
          </p:cNvSpPr>
          <p:nvPr/>
        </p:nvSpPr>
        <p:spPr>
          <a:xfrm>
            <a:off x="304800" y="3124200"/>
            <a:ext cx="8229600" cy="2133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chemeClr val="accent1">
                  <a:lumMod val="75000"/>
                </a:schemeClr>
              </a:buClr>
              <a:buFont typeface="Arial" pitchFamily="34" charset="0"/>
              <a:buChar char="•"/>
              <a:defRPr sz="24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0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18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TW" dirty="0"/>
          </a:p>
        </p:txBody>
      </p:sp>
    </p:spTree>
    <p:extLst>
      <p:ext uri="{BB962C8B-B14F-4D97-AF65-F5344CB8AC3E}">
        <p14:creationId xmlns:p14="http://schemas.microsoft.com/office/powerpoint/2010/main" val="37982942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C336C-B988-5060-5ED6-53BA9F757ADC}"/>
            </a:ext>
          </a:extLst>
        </p:cNvPr>
        <p:cNvGrpSpPr/>
        <p:nvPr/>
      </p:nvGrpSpPr>
      <p:grpSpPr>
        <a:xfrm>
          <a:off x="0" y="0"/>
          <a:ext cx="0" cy="0"/>
          <a:chOff x="0" y="0"/>
          <a:chExt cx="0" cy="0"/>
        </a:xfrm>
      </p:grpSpPr>
      <p:sp>
        <p:nvSpPr>
          <p:cNvPr id="28674" name="內容版面配置區 2">
            <a:extLst>
              <a:ext uri="{FF2B5EF4-FFF2-40B4-BE49-F238E27FC236}">
                <a16:creationId xmlns:a16="http://schemas.microsoft.com/office/drawing/2014/main" id="{E1A6F82B-9A0F-8FA6-D9AD-4BA64EBAEFAA}"/>
              </a:ext>
            </a:extLst>
          </p:cNvPr>
          <p:cNvSpPr>
            <a:spLocks noGrp="1"/>
          </p:cNvSpPr>
          <p:nvPr>
            <p:ph idx="1"/>
          </p:nvPr>
        </p:nvSpPr>
        <p:spPr>
          <a:xfrm>
            <a:off x="304800" y="1371600"/>
            <a:ext cx="8686800" cy="4525963"/>
          </a:xfrm>
        </p:spPr>
        <p:txBody>
          <a:bodyPr/>
          <a:lstStyle/>
          <a:p>
            <a:pPr marL="0" indent="0">
              <a:buNone/>
            </a:pPr>
            <a:r>
              <a:rPr lang="en-US" dirty="0"/>
              <a:t>Q5: COMPONENTS of SOA?</a:t>
            </a:r>
          </a:p>
          <a:p>
            <a:r>
              <a:rPr lang="en-US" dirty="0"/>
              <a:t>Service</a:t>
            </a:r>
          </a:p>
          <a:p>
            <a:r>
              <a:rPr lang="en-US" dirty="0"/>
              <a:t>Service interface</a:t>
            </a:r>
          </a:p>
          <a:p>
            <a:r>
              <a:rPr lang="en-US" dirty="0"/>
              <a:t>Service provider</a:t>
            </a:r>
          </a:p>
          <a:p>
            <a:r>
              <a:rPr lang="en-US" dirty="0"/>
              <a:t>Service Consumer</a:t>
            </a:r>
          </a:p>
          <a:p>
            <a:r>
              <a:rPr lang="en-US" dirty="0"/>
              <a:t>Service Registry</a:t>
            </a:r>
          </a:p>
          <a:p>
            <a:endParaRPr lang="en-US" dirty="0"/>
          </a:p>
          <a:p>
            <a:endParaRPr lang="en-US" dirty="0"/>
          </a:p>
        </p:txBody>
      </p:sp>
      <p:sp>
        <p:nvSpPr>
          <p:cNvPr id="28675" name="標題 1">
            <a:extLst>
              <a:ext uri="{FF2B5EF4-FFF2-40B4-BE49-F238E27FC236}">
                <a16:creationId xmlns:a16="http://schemas.microsoft.com/office/drawing/2014/main" id="{51E7D28E-B7E8-3BA7-56D7-BDA7460B8298}"/>
              </a:ext>
            </a:extLst>
          </p:cNvPr>
          <p:cNvSpPr>
            <a:spLocks noGrp="1"/>
          </p:cNvSpPr>
          <p:nvPr>
            <p:ph type="title"/>
          </p:nvPr>
        </p:nvSpPr>
        <p:spPr>
          <a:xfrm>
            <a:off x="304800" y="228600"/>
            <a:ext cx="7773988" cy="1143000"/>
          </a:xfrm>
        </p:spPr>
        <p:txBody>
          <a:bodyPr>
            <a:noAutofit/>
          </a:bodyPr>
          <a:lstStyle/>
          <a:p>
            <a:pPr algn="l"/>
            <a:r>
              <a:rPr lang="en-US" altLang="zh-TW" sz="2800" dirty="0"/>
              <a:t>SOA, Web Services, Web 2.0, and </a:t>
            </a:r>
            <a:r>
              <a:rPr lang="en-US" altLang="zh-TW" sz="2800" dirty="0" err="1"/>
              <a:t>Mashups</a:t>
            </a:r>
            <a:endParaRPr lang="zh-TW" altLang="en-US" sz="2800" dirty="0"/>
          </a:p>
        </p:txBody>
      </p:sp>
      <p:sp>
        <p:nvSpPr>
          <p:cNvPr id="4" name="內容版面配置區 2">
            <a:extLst>
              <a:ext uri="{FF2B5EF4-FFF2-40B4-BE49-F238E27FC236}">
                <a16:creationId xmlns:a16="http://schemas.microsoft.com/office/drawing/2014/main" id="{02DAD037-AC26-4D82-D92B-7EB483DE6D3A}"/>
              </a:ext>
            </a:extLst>
          </p:cNvPr>
          <p:cNvSpPr txBox="1">
            <a:spLocks/>
          </p:cNvSpPr>
          <p:nvPr/>
        </p:nvSpPr>
        <p:spPr>
          <a:xfrm>
            <a:off x="304800" y="3124200"/>
            <a:ext cx="8229600" cy="2133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chemeClr val="accent1">
                  <a:lumMod val="75000"/>
                </a:schemeClr>
              </a:buClr>
              <a:buFont typeface="Arial" pitchFamily="34" charset="0"/>
              <a:buChar char="•"/>
              <a:defRPr sz="24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0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18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TW" dirty="0"/>
          </a:p>
        </p:txBody>
      </p:sp>
    </p:spTree>
    <p:extLst>
      <p:ext uri="{BB962C8B-B14F-4D97-AF65-F5344CB8AC3E}">
        <p14:creationId xmlns:p14="http://schemas.microsoft.com/office/powerpoint/2010/main" val="16664286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內容版面配置區 2"/>
          <p:cNvSpPr>
            <a:spLocks noGrp="1"/>
          </p:cNvSpPr>
          <p:nvPr>
            <p:ph idx="1"/>
          </p:nvPr>
        </p:nvSpPr>
        <p:spPr>
          <a:xfrm>
            <a:off x="457200" y="1066800"/>
            <a:ext cx="8229600" cy="5410200"/>
          </a:xfrm>
        </p:spPr>
        <p:txBody>
          <a:bodyPr>
            <a:normAutofit fontScale="92500" lnSpcReduction="10000"/>
          </a:bodyPr>
          <a:lstStyle/>
          <a:p>
            <a:pPr marL="0" indent="0" algn="just">
              <a:lnSpc>
                <a:spcPct val="170000"/>
              </a:lnSpc>
              <a:buNone/>
            </a:pPr>
            <a:r>
              <a:rPr lang="en-US" sz="2600" dirty="0"/>
              <a:t>Q5: How does SOA work?</a:t>
            </a:r>
          </a:p>
          <a:p>
            <a:pPr marL="0" indent="0" algn="just">
              <a:lnSpc>
                <a:spcPct val="170000"/>
              </a:lnSpc>
              <a:buNone/>
            </a:pPr>
            <a:r>
              <a:rPr lang="en-US" sz="1900" dirty="0"/>
              <a:t> </a:t>
            </a:r>
          </a:p>
          <a:p>
            <a:pPr algn="just">
              <a:lnSpc>
                <a:spcPct val="170000"/>
              </a:lnSpc>
            </a:pPr>
            <a:r>
              <a:rPr lang="en-US" sz="2800" dirty="0">
                <a:effectLst/>
                <a:latin typeface="Aptos" panose="020B0004020202020204" pitchFamily="34" charset="0"/>
                <a:ea typeface="Aptos" panose="020B0004020202020204" pitchFamily="34" charset="0"/>
                <a:cs typeface="Times New Roman" panose="02020603050405020304" pitchFamily="18" charset="0"/>
              </a:rPr>
              <a:t>In service-oriented architecture (SOA), services function independently and provide functionality or data exchanges to their consumers.</a:t>
            </a:r>
          </a:p>
          <a:p>
            <a:pPr algn="just">
              <a:lnSpc>
                <a:spcPct val="170000"/>
              </a:lnSpc>
            </a:pPr>
            <a:r>
              <a:rPr lang="en-US" sz="2800" dirty="0">
                <a:effectLst/>
                <a:latin typeface="Aptos" panose="020B0004020202020204" pitchFamily="34" charset="0"/>
                <a:ea typeface="Aptos" panose="020B0004020202020204" pitchFamily="34" charset="0"/>
                <a:cs typeface="Times New Roman" panose="02020603050405020304" pitchFamily="18" charset="0"/>
              </a:rPr>
              <a:t> The consumer requests information and sends input data to the service. The service processes the data, performs the task, and sends back a response.</a:t>
            </a:r>
            <a:endParaRPr lang="en-US" altLang="zh-TW" dirty="0"/>
          </a:p>
          <a:p>
            <a:pPr algn="just">
              <a:lnSpc>
                <a:spcPct val="150000"/>
              </a:lnSpc>
            </a:pPr>
            <a:endParaRPr lang="en-US" altLang="zh-TW" sz="1800" dirty="0"/>
          </a:p>
        </p:txBody>
      </p:sp>
      <p:sp>
        <p:nvSpPr>
          <p:cNvPr id="26627" name="標題 1"/>
          <p:cNvSpPr>
            <a:spLocks noGrp="1"/>
          </p:cNvSpPr>
          <p:nvPr>
            <p:ph type="title"/>
          </p:nvPr>
        </p:nvSpPr>
        <p:spPr>
          <a:xfrm>
            <a:off x="228600" y="109537"/>
            <a:ext cx="7773988" cy="1143000"/>
          </a:xfrm>
        </p:spPr>
        <p:txBody>
          <a:bodyPr>
            <a:noAutofit/>
          </a:bodyPr>
          <a:lstStyle/>
          <a:p>
            <a:pPr algn="l"/>
            <a:r>
              <a:rPr lang="en-US" altLang="zh-TW" sz="2800" dirty="0"/>
              <a:t>SOA, Web </a:t>
            </a:r>
            <a:r>
              <a:rPr lang="en-US" altLang="zh-TW" sz="2800" dirty="0" err="1"/>
              <a:t>Serices</a:t>
            </a:r>
            <a:r>
              <a:rPr lang="en-US" altLang="zh-TW" sz="2800" dirty="0"/>
              <a:t>, Web 2.0, and Mashups</a:t>
            </a:r>
            <a:endParaRPr lang="zh-TW" altLang="en-US" sz="2800" dirty="0"/>
          </a:p>
        </p:txBody>
      </p:sp>
    </p:spTree>
    <p:extLst>
      <p:ext uri="{BB962C8B-B14F-4D97-AF65-F5344CB8AC3E}">
        <p14:creationId xmlns:p14="http://schemas.microsoft.com/office/powerpoint/2010/main" val="10842070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C0921-7677-45EE-B043-C70B79F69A4E}"/>
            </a:ext>
          </a:extLst>
        </p:cNvPr>
        <p:cNvGrpSpPr/>
        <p:nvPr/>
      </p:nvGrpSpPr>
      <p:grpSpPr>
        <a:xfrm>
          <a:off x="0" y="0"/>
          <a:ext cx="0" cy="0"/>
          <a:chOff x="0" y="0"/>
          <a:chExt cx="0" cy="0"/>
        </a:xfrm>
      </p:grpSpPr>
      <p:sp>
        <p:nvSpPr>
          <p:cNvPr id="26626" name="內容版面配置區 2">
            <a:extLst>
              <a:ext uri="{FF2B5EF4-FFF2-40B4-BE49-F238E27FC236}">
                <a16:creationId xmlns:a16="http://schemas.microsoft.com/office/drawing/2014/main" id="{0E23A35D-AA5B-669A-DEF2-21956C9A3FC2}"/>
              </a:ext>
            </a:extLst>
          </p:cNvPr>
          <p:cNvSpPr>
            <a:spLocks noGrp="1"/>
          </p:cNvSpPr>
          <p:nvPr>
            <p:ph idx="1"/>
          </p:nvPr>
        </p:nvSpPr>
        <p:spPr>
          <a:xfrm>
            <a:off x="457200" y="1066800"/>
            <a:ext cx="8229600" cy="5410200"/>
          </a:xfrm>
        </p:spPr>
        <p:txBody>
          <a:bodyPr>
            <a:normAutofit fontScale="77500" lnSpcReduction="20000"/>
          </a:bodyPr>
          <a:lstStyle/>
          <a:p>
            <a:pPr marL="0" indent="0" algn="just">
              <a:lnSpc>
                <a:spcPct val="170000"/>
              </a:lnSpc>
              <a:buNone/>
            </a:pPr>
            <a:r>
              <a:rPr lang="en-US" sz="2600" dirty="0"/>
              <a:t>Q5: How does SOA work?</a:t>
            </a:r>
          </a:p>
          <a:p>
            <a:pPr marL="0" indent="0" algn="just">
              <a:lnSpc>
                <a:spcPct val="170000"/>
              </a:lnSpc>
              <a:buNone/>
            </a:pPr>
            <a:r>
              <a:rPr lang="en-US" sz="1900" dirty="0"/>
              <a:t> </a:t>
            </a:r>
            <a:r>
              <a:rPr lang="en-US" sz="2800" dirty="0">
                <a:effectLst/>
                <a:latin typeface="Aptos" panose="020B0004020202020204" pitchFamily="34" charset="0"/>
                <a:ea typeface="Aptos" panose="020B0004020202020204" pitchFamily="34" charset="0"/>
                <a:cs typeface="Times New Roman" panose="02020603050405020304" pitchFamily="18" charset="0"/>
              </a:rPr>
              <a:t>In service-oriented architecture (SOA), services function independently and provide functionality or data exchanges to their consumers.</a:t>
            </a:r>
          </a:p>
          <a:p>
            <a:pPr algn="just">
              <a:lnSpc>
                <a:spcPct val="170000"/>
              </a:lnSpc>
            </a:pPr>
            <a:r>
              <a:rPr lang="en-US" sz="2800" dirty="0">
                <a:effectLst/>
                <a:latin typeface="Aptos" panose="020B0004020202020204" pitchFamily="34" charset="0"/>
                <a:ea typeface="Aptos" panose="020B0004020202020204" pitchFamily="34" charset="0"/>
                <a:cs typeface="Times New Roman" panose="02020603050405020304" pitchFamily="18" charset="0"/>
              </a:rPr>
              <a:t> The consumer requests information and sends input data to the service. The service processes the data, performs the task, and sends back a response.</a:t>
            </a:r>
          </a:p>
          <a:p>
            <a:pPr algn="just">
              <a:lnSpc>
                <a:spcPct val="170000"/>
              </a:lnSpc>
            </a:pPr>
            <a:r>
              <a:rPr lang="en-US" b="1" dirty="0"/>
              <a:t>REST and SOAP are two different approaches to online data transmission and application </a:t>
            </a:r>
            <a:r>
              <a:rPr lang="en-US" dirty="0"/>
              <a:t>programming interfaces (APIs) in a service-oriented architecture (SOA): </a:t>
            </a:r>
          </a:p>
          <a:p>
            <a:pPr algn="just">
              <a:lnSpc>
                <a:spcPct val="170000"/>
              </a:lnSpc>
            </a:pPr>
            <a:endParaRPr lang="en-US" altLang="zh-TW" dirty="0"/>
          </a:p>
          <a:p>
            <a:pPr algn="just">
              <a:lnSpc>
                <a:spcPct val="150000"/>
              </a:lnSpc>
            </a:pPr>
            <a:endParaRPr lang="en-US" altLang="zh-TW" sz="1800" dirty="0"/>
          </a:p>
        </p:txBody>
      </p:sp>
      <p:sp>
        <p:nvSpPr>
          <p:cNvPr id="26627" name="標題 1">
            <a:extLst>
              <a:ext uri="{FF2B5EF4-FFF2-40B4-BE49-F238E27FC236}">
                <a16:creationId xmlns:a16="http://schemas.microsoft.com/office/drawing/2014/main" id="{90766CAF-0553-36BB-D813-ECC05843BB19}"/>
              </a:ext>
            </a:extLst>
          </p:cNvPr>
          <p:cNvSpPr>
            <a:spLocks noGrp="1"/>
          </p:cNvSpPr>
          <p:nvPr>
            <p:ph type="title"/>
          </p:nvPr>
        </p:nvSpPr>
        <p:spPr>
          <a:xfrm>
            <a:off x="228600" y="109537"/>
            <a:ext cx="7773988" cy="1143000"/>
          </a:xfrm>
        </p:spPr>
        <p:txBody>
          <a:bodyPr>
            <a:noAutofit/>
          </a:bodyPr>
          <a:lstStyle/>
          <a:p>
            <a:pPr algn="l"/>
            <a:r>
              <a:rPr lang="en-US" altLang="zh-TW" sz="2800" dirty="0"/>
              <a:t>SOA, Web </a:t>
            </a:r>
            <a:r>
              <a:rPr lang="en-US" altLang="zh-TW" sz="2800" dirty="0" err="1"/>
              <a:t>Serices</a:t>
            </a:r>
            <a:r>
              <a:rPr lang="en-US" altLang="zh-TW" sz="2800" dirty="0"/>
              <a:t>, Web 2.0, and Mashups</a:t>
            </a:r>
            <a:endParaRPr lang="zh-TW" altLang="en-US" sz="2800" dirty="0"/>
          </a:p>
        </p:txBody>
      </p:sp>
    </p:spTree>
    <p:extLst>
      <p:ext uri="{BB962C8B-B14F-4D97-AF65-F5344CB8AC3E}">
        <p14:creationId xmlns:p14="http://schemas.microsoft.com/office/powerpoint/2010/main" val="32331639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B263C-2D37-A18C-0E4C-AE44AA5EECF2}"/>
            </a:ext>
          </a:extLst>
        </p:cNvPr>
        <p:cNvGrpSpPr/>
        <p:nvPr/>
      </p:nvGrpSpPr>
      <p:grpSpPr>
        <a:xfrm>
          <a:off x="0" y="0"/>
          <a:ext cx="0" cy="0"/>
          <a:chOff x="0" y="0"/>
          <a:chExt cx="0" cy="0"/>
        </a:xfrm>
      </p:grpSpPr>
      <p:sp>
        <p:nvSpPr>
          <p:cNvPr id="26626" name="內容版面配置區 2">
            <a:extLst>
              <a:ext uri="{FF2B5EF4-FFF2-40B4-BE49-F238E27FC236}">
                <a16:creationId xmlns:a16="http://schemas.microsoft.com/office/drawing/2014/main" id="{1533AFE8-4420-DEAD-A007-426B3A1157F2}"/>
              </a:ext>
            </a:extLst>
          </p:cNvPr>
          <p:cNvSpPr>
            <a:spLocks noGrp="1"/>
          </p:cNvSpPr>
          <p:nvPr>
            <p:ph idx="1"/>
          </p:nvPr>
        </p:nvSpPr>
        <p:spPr>
          <a:xfrm>
            <a:off x="457200" y="1066800"/>
            <a:ext cx="8229600" cy="5410200"/>
          </a:xfrm>
        </p:spPr>
        <p:txBody>
          <a:bodyPr>
            <a:normAutofit/>
          </a:bodyPr>
          <a:lstStyle/>
          <a:p>
            <a:pPr marL="0" indent="0" algn="just">
              <a:lnSpc>
                <a:spcPct val="170000"/>
              </a:lnSpc>
              <a:buNone/>
            </a:pPr>
            <a:r>
              <a:rPr lang="en-US" sz="2600" dirty="0"/>
              <a:t> </a:t>
            </a:r>
            <a:r>
              <a:rPr lang="en-US" sz="2600" b="1" dirty="0"/>
              <a:t>REST vs. SOAP</a:t>
            </a:r>
          </a:p>
          <a:p>
            <a:pPr marL="0" indent="0">
              <a:buNone/>
            </a:pPr>
            <a:br>
              <a:rPr lang="en-US" b="1" dirty="0">
                <a:hlinkClick r:id="rId3"/>
              </a:rPr>
            </a:br>
            <a:r>
              <a:rPr lang="en-US" b="1" dirty="0">
                <a:hlinkClick r:id="rId3"/>
              </a:rPr>
              <a:t>REST</a:t>
            </a:r>
            <a:r>
              <a:rPr lang="en-US" b="1" dirty="0"/>
              <a:t> (Representational State Transfer):</a:t>
            </a:r>
          </a:p>
          <a:p>
            <a:pPr algn="just"/>
            <a:r>
              <a:rPr lang="en-US" b="1" dirty="0"/>
              <a:t>Architectural Style:</a:t>
            </a:r>
            <a:r>
              <a:rPr lang="en-US" dirty="0"/>
              <a:t> A set of guidelines, not a strict protocol.</a:t>
            </a:r>
          </a:p>
          <a:p>
            <a:r>
              <a:rPr lang="en-US" b="1" dirty="0"/>
              <a:t>Lightweight:</a:t>
            </a:r>
            <a:r>
              <a:rPr lang="en-US" dirty="0"/>
              <a:t> Uses standard HTTP methods (GET, POST, PUT, DELETE).</a:t>
            </a:r>
          </a:p>
          <a:p>
            <a:r>
              <a:rPr lang="en-US" b="1" dirty="0"/>
              <a:t>Data Formats:</a:t>
            </a:r>
            <a:r>
              <a:rPr lang="en-US" dirty="0"/>
              <a:t> Flexible (JSON, XML, plain text, HTML).</a:t>
            </a:r>
          </a:p>
          <a:p>
            <a:r>
              <a:rPr lang="en-US" b="1" dirty="0"/>
              <a:t>Stateless:</a:t>
            </a:r>
            <a:r>
              <a:rPr lang="en-US" dirty="0"/>
              <a:t> Each request is independent, great for scalability.</a:t>
            </a:r>
          </a:p>
          <a:p>
            <a:r>
              <a:rPr lang="en-US" b="1" dirty="0"/>
              <a:t>Cloud Fit:</a:t>
            </a:r>
            <a:r>
              <a:rPr lang="en-US" dirty="0"/>
              <a:t> Ideal for web/mobile apps, microservices, and high-performance APIs.</a:t>
            </a:r>
          </a:p>
          <a:p>
            <a:pPr algn="just">
              <a:lnSpc>
                <a:spcPct val="150000"/>
              </a:lnSpc>
            </a:pPr>
            <a:endParaRPr lang="en-US" altLang="zh-TW" sz="1800" dirty="0"/>
          </a:p>
        </p:txBody>
      </p:sp>
      <p:sp>
        <p:nvSpPr>
          <p:cNvPr id="26627" name="標題 1">
            <a:extLst>
              <a:ext uri="{FF2B5EF4-FFF2-40B4-BE49-F238E27FC236}">
                <a16:creationId xmlns:a16="http://schemas.microsoft.com/office/drawing/2014/main" id="{750D2294-BDB2-875C-2FEC-175E4C27ED7F}"/>
              </a:ext>
            </a:extLst>
          </p:cNvPr>
          <p:cNvSpPr>
            <a:spLocks noGrp="1"/>
          </p:cNvSpPr>
          <p:nvPr>
            <p:ph type="title"/>
          </p:nvPr>
        </p:nvSpPr>
        <p:spPr>
          <a:xfrm>
            <a:off x="228600" y="109537"/>
            <a:ext cx="7773988" cy="1143000"/>
          </a:xfrm>
        </p:spPr>
        <p:txBody>
          <a:bodyPr>
            <a:noAutofit/>
          </a:bodyPr>
          <a:lstStyle/>
          <a:p>
            <a:pPr algn="l"/>
            <a:r>
              <a:rPr lang="en-US" altLang="zh-TW" sz="2800" dirty="0"/>
              <a:t>SOA, Web </a:t>
            </a:r>
            <a:r>
              <a:rPr lang="en-US" altLang="zh-TW" sz="2800" dirty="0" err="1"/>
              <a:t>Serices</a:t>
            </a:r>
            <a:r>
              <a:rPr lang="en-US" altLang="zh-TW" sz="2800" dirty="0"/>
              <a:t>, Web 2.0, and Mashups</a:t>
            </a:r>
            <a:endParaRPr lang="zh-TW" altLang="en-US" sz="2800" dirty="0"/>
          </a:p>
        </p:txBody>
      </p:sp>
    </p:spTree>
    <p:extLst>
      <p:ext uri="{BB962C8B-B14F-4D97-AF65-F5344CB8AC3E}">
        <p14:creationId xmlns:p14="http://schemas.microsoft.com/office/powerpoint/2010/main" val="8112322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911BB-3EF0-0CD4-ADC9-CC82511784B7}"/>
            </a:ext>
          </a:extLst>
        </p:cNvPr>
        <p:cNvGrpSpPr/>
        <p:nvPr/>
      </p:nvGrpSpPr>
      <p:grpSpPr>
        <a:xfrm>
          <a:off x="0" y="0"/>
          <a:ext cx="0" cy="0"/>
          <a:chOff x="0" y="0"/>
          <a:chExt cx="0" cy="0"/>
        </a:xfrm>
      </p:grpSpPr>
      <p:sp>
        <p:nvSpPr>
          <p:cNvPr id="26626" name="內容版面配置區 2">
            <a:extLst>
              <a:ext uri="{FF2B5EF4-FFF2-40B4-BE49-F238E27FC236}">
                <a16:creationId xmlns:a16="http://schemas.microsoft.com/office/drawing/2014/main" id="{D08FC617-F45F-5AA2-85D7-DB61BD9B1960}"/>
              </a:ext>
            </a:extLst>
          </p:cNvPr>
          <p:cNvSpPr>
            <a:spLocks noGrp="1"/>
          </p:cNvSpPr>
          <p:nvPr>
            <p:ph idx="1"/>
          </p:nvPr>
        </p:nvSpPr>
        <p:spPr>
          <a:xfrm>
            <a:off x="457200" y="1066800"/>
            <a:ext cx="8229600" cy="5410200"/>
          </a:xfrm>
        </p:spPr>
        <p:txBody>
          <a:bodyPr>
            <a:normAutofit/>
          </a:bodyPr>
          <a:lstStyle/>
          <a:p>
            <a:pPr marL="0" indent="0" algn="just">
              <a:lnSpc>
                <a:spcPct val="170000"/>
              </a:lnSpc>
              <a:buNone/>
            </a:pPr>
            <a:r>
              <a:rPr lang="en-US" sz="2600" dirty="0"/>
              <a:t> </a:t>
            </a:r>
            <a:r>
              <a:rPr lang="en-US" sz="2600" b="1" dirty="0"/>
              <a:t>REST vs. SOAP</a:t>
            </a:r>
          </a:p>
          <a:p>
            <a:pPr marL="0" indent="0">
              <a:buNone/>
            </a:pPr>
            <a:br>
              <a:rPr lang="en-US" b="1" dirty="0"/>
            </a:br>
            <a:r>
              <a:rPr lang="en-US" b="1" dirty="0"/>
              <a:t>SOAP (Simple Object Access Protocol):</a:t>
            </a:r>
          </a:p>
          <a:p>
            <a:pPr algn="just"/>
            <a:r>
              <a:rPr lang="en-US" b="1" dirty="0"/>
              <a:t>Protocol</a:t>
            </a:r>
            <a:r>
              <a:rPr lang="en-US" dirty="0"/>
              <a:t>: A standardized, complex messaging protocol.</a:t>
            </a:r>
          </a:p>
          <a:p>
            <a:pPr algn="just"/>
            <a:r>
              <a:rPr lang="en-US" b="1" dirty="0"/>
              <a:t>XML-Only</a:t>
            </a:r>
            <a:r>
              <a:rPr lang="en-US" dirty="0"/>
              <a:t>: Strictly uses XML for messages.</a:t>
            </a:r>
          </a:p>
          <a:p>
            <a:pPr algn="just"/>
            <a:r>
              <a:rPr lang="en-US" b="1" dirty="0"/>
              <a:t>Stateful/Transactional</a:t>
            </a:r>
            <a:r>
              <a:rPr lang="en-US" dirty="0"/>
              <a:t>: Supports complex transactions (ACID compliance) and WS-Security.</a:t>
            </a:r>
          </a:p>
          <a:p>
            <a:pPr algn="just"/>
            <a:r>
              <a:rPr lang="en-US" b="1" dirty="0"/>
              <a:t>Cloud Fit: </a:t>
            </a:r>
            <a:r>
              <a:rPr lang="en-US" dirty="0"/>
              <a:t>Best for enterprise-level systems needing high security, reliability (finance, healthcare). </a:t>
            </a:r>
            <a:endParaRPr lang="en-US" altLang="zh-TW" sz="1800" dirty="0"/>
          </a:p>
        </p:txBody>
      </p:sp>
      <p:sp>
        <p:nvSpPr>
          <p:cNvPr id="26627" name="標題 1">
            <a:extLst>
              <a:ext uri="{FF2B5EF4-FFF2-40B4-BE49-F238E27FC236}">
                <a16:creationId xmlns:a16="http://schemas.microsoft.com/office/drawing/2014/main" id="{E5BBD9F1-9540-C5FB-88D2-BFF027BCBEB6}"/>
              </a:ext>
            </a:extLst>
          </p:cNvPr>
          <p:cNvSpPr>
            <a:spLocks noGrp="1"/>
          </p:cNvSpPr>
          <p:nvPr>
            <p:ph type="title"/>
          </p:nvPr>
        </p:nvSpPr>
        <p:spPr>
          <a:xfrm>
            <a:off x="228600" y="109537"/>
            <a:ext cx="7773988" cy="1143000"/>
          </a:xfrm>
        </p:spPr>
        <p:txBody>
          <a:bodyPr>
            <a:noAutofit/>
          </a:bodyPr>
          <a:lstStyle/>
          <a:p>
            <a:pPr algn="l"/>
            <a:r>
              <a:rPr lang="en-US" altLang="zh-TW" sz="2800" dirty="0"/>
              <a:t>SOA, Web </a:t>
            </a:r>
            <a:r>
              <a:rPr lang="en-US" altLang="zh-TW" sz="2800" dirty="0" err="1"/>
              <a:t>Serices</a:t>
            </a:r>
            <a:r>
              <a:rPr lang="en-US" altLang="zh-TW" sz="2800" dirty="0"/>
              <a:t>, Web 2.0, and Mashups</a:t>
            </a:r>
            <a:endParaRPr lang="zh-TW" altLang="en-US" sz="2800" dirty="0"/>
          </a:p>
        </p:txBody>
      </p:sp>
    </p:spTree>
    <p:extLst>
      <p:ext uri="{BB962C8B-B14F-4D97-AF65-F5344CB8AC3E}">
        <p14:creationId xmlns:p14="http://schemas.microsoft.com/office/powerpoint/2010/main" val="2191675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內容版面配置區 2"/>
          <p:cNvSpPr>
            <a:spLocks noGrp="1"/>
          </p:cNvSpPr>
          <p:nvPr>
            <p:ph idx="1"/>
          </p:nvPr>
        </p:nvSpPr>
        <p:spPr>
          <a:xfrm>
            <a:off x="457200" y="1066800"/>
            <a:ext cx="8229600" cy="5410200"/>
          </a:xfrm>
        </p:spPr>
        <p:txBody>
          <a:bodyPr>
            <a:normAutofit fontScale="92500"/>
          </a:bodyPr>
          <a:lstStyle/>
          <a:p>
            <a:pPr algn="just">
              <a:lnSpc>
                <a:spcPct val="170000"/>
              </a:lnSpc>
            </a:pPr>
            <a:r>
              <a:rPr lang="en-US" sz="2600" b="1" dirty="0"/>
              <a:t>REST technology is generally preferred to the more robust technology</a:t>
            </a:r>
            <a:r>
              <a:rPr lang="en-US" sz="2600" dirty="0"/>
              <a:t> because REST leverages less </a:t>
            </a:r>
            <a:r>
              <a:rPr lang="en-US" sz="2600" u="sng" dirty="0">
                <a:hlinkClick r:id="rId3"/>
              </a:rPr>
              <a:t>bandwidth</a:t>
            </a:r>
            <a:r>
              <a:rPr lang="en-US" sz="2600" dirty="0"/>
              <a:t>, making it more suitable for internet usage.</a:t>
            </a:r>
          </a:p>
          <a:p>
            <a:pPr lvl="1">
              <a:lnSpc>
                <a:spcPct val="170000"/>
              </a:lnSpc>
            </a:pPr>
            <a:r>
              <a:rPr lang="en-US" altLang="zh-TW" sz="3100" dirty="0"/>
              <a:t>Many service providers make their service APIs publicly accessible using standard protocols like SOAP and REST</a:t>
            </a:r>
          </a:p>
          <a:p>
            <a:pPr lvl="2">
              <a:lnSpc>
                <a:spcPct val="170000"/>
              </a:lnSpc>
            </a:pPr>
            <a:r>
              <a:rPr lang="en-US" altLang="zh-TW" sz="2600" dirty="0"/>
              <a:t>Amazon,  Facebook, and Google</a:t>
            </a:r>
          </a:p>
          <a:p>
            <a:pPr marL="0" indent="0">
              <a:buNone/>
            </a:pPr>
            <a:endParaRPr lang="en-US" altLang="zh-TW" dirty="0"/>
          </a:p>
          <a:p>
            <a:pPr algn="just">
              <a:lnSpc>
                <a:spcPct val="150000"/>
              </a:lnSpc>
            </a:pPr>
            <a:endParaRPr lang="en-US" altLang="zh-TW" sz="1800" dirty="0"/>
          </a:p>
        </p:txBody>
      </p:sp>
      <p:sp>
        <p:nvSpPr>
          <p:cNvPr id="26627" name="標題 1"/>
          <p:cNvSpPr>
            <a:spLocks noGrp="1"/>
          </p:cNvSpPr>
          <p:nvPr>
            <p:ph type="title"/>
          </p:nvPr>
        </p:nvSpPr>
        <p:spPr>
          <a:xfrm>
            <a:off x="228600" y="109537"/>
            <a:ext cx="7773988" cy="1143000"/>
          </a:xfrm>
        </p:spPr>
        <p:txBody>
          <a:bodyPr>
            <a:noAutofit/>
          </a:bodyPr>
          <a:lstStyle/>
          <a:p>
            <a:pPr algn="l"/>
            <a:r>
              <a:rPr lang="en-US" altLang="zh-TW" sz="2800" dirty="0"/>
              <a:t>SOA, Web Services, Web 2.0, and </a:t>
            </a:r>
            <a:r>
              <a:rPr lang="en-US" altLang="zh-TW" sz="2800" dirty="0" err="1"/>
              <a:t>Mashups</a:t>
            </a:r>
            <a:endParaRPr lang="zh-TW" altLang="en-US" sz="2800" dirty="0"/>
          </a:p>
        </p:txBody>
      </p:sp>
    </p:spTree>
    <p:extLst>
      <p:ext uri="{BB962C8B-B14F-4D97-AF65-F5344CB8AC3E}">
        <p14:creationId xmlns:p14="http://schemas.microsoft.com/office/powerpoint/2010/main" val="37921808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內容版面配置區 2"/>
          <p:cNvSpPr>
            <a:spLocks noGrp="1"/>
          </p:cNvSpPr>
          <p:nvPr>
            <p:ph idx="1"/>
          </p:nvPr>
        </p:nvSpPr>
        <p:spPr>
          <a:xfrm>
            <a:off x="457200" y="1143000"/>
            <a:ext cx="8229600" cy="4983163"/>
          </a:xfrm>
        </p:spPr>
        <p:txBody>
          <a:bodyPr>
            <a:normAutofit fontScale="92500" lnSpcReduction="10000"/>
          </a:bodyPr>
          <a:lstStyle/>
          <a:p>
            <a:r>
              <a:rPr lang="en-US" altLang="zh-TW" sz="2400" b="1" dirty="0"/>
              <a:t>Mashups</a:t>
            </a:r>
          </a:p>
          <a:p>
            <a:pPr lvl="1" algn="just">
              <a:lnSpc>
                <a:spcPct val="150000"/>
              </a:lnSpc>
            </a:pPr>
            <a:r>
              <a:rPr lang="en-US" altLang="zh-TW" sz="2400" dirty="0"/>
              <a:t>Acting as building blocks of complex compositions, called </a:t>
            </a:r>
            <a:r>
              <a:rPr lang="en-US" altLang="zh-TW" sz="2400" b="1" u="sng" dirty="0"/>
              <a:t>service mashups </a:t>
            </a:r>
          </a:p>
          <a:p>
            <a:pPr lvl="1" algn="just">
              <a:lnSpc>
                <a:spcPct val="150000"/>
              </a:lnSpc>
            </a:pPr>
            <a:r>
              <a:rPr lang="en-US" b="1" dirty="0">
                <a:hlinkClick r:id="rId3"/>
              </a:rPr>
              <a:t>Mashups</a:t>
            </a:r>
            <a:r>
              <a:rPr lang="en-US" b="1" dirty="0"/>
              <a:t>:</a:t>
            </a:r>
            <a:r>
              <a:rPr lang="en-US" dirty="0"/>
              <a:t> Web applications that dynamically combine data and services from multiple sources (often cloud-based APIs) to create a new, richer application, often client-side (JavaScript) or server-side. </a:t>
            </a:r>
          </a:p>
          <a:p>
            <a:pPr lvl="1" algn="just"/>
            <a:r>
              <a:rPr lang="en-US" altLang="zh-TW" sz="2400" dirty="0"/>
              <a:t>Services like user authentication, e-mail, payroll management, and calendars are examples</a:t>
            </a:r>
          </a:p>
          <a:p>
            <a:pPr lvl="2" algn="just"/>
            <a:r>
              <a:rPr lang="en-US" altLang="zh-TW" dirty="0"/>
              <a:t>Can be reused and combined in a business solution</a:t>
            </a:r>
          </a:p>
          <a:p>
            <a:pPr lvl="1" algn="just"/>
            <a:r>
              <a:rPr lang="en-US" altLang="zh-TW" sz="2400" dirty="0"/>
              <a:t>Popular APIs are combined to produce a variety of interesting solutions</a:t>
            </a:r>
          </a:p>
          <a:p>
            <a:pPr lvl="2" algn="just"/>
            <a:r>
              <a:rPr lang="en-US" altLang="zh-TW" sz="2000" dirty="0"/>
              <a:t>Google Maps, </a:t>
            </a:r>
            <a:r>
              <a:rPr lang="en-US" altLang="zh-TW" sz="2000" dirty="0" err="1"/>
              <a:t>youtube</a:t>
            </a:r>
            <a:r>
              <a:rPr lang="en-US" altLang="zh-TW" sz="2000" dirty="0"/>
              <a:t>, Amazon ecommerce, and Twitter</a:t>
            </a:r>
          </a:p>
          <a:p>
            <a:pPr marL="457200" lvl="1" indent="0">
              <a:lnSpc>
                <a:spcPct val="150000"/>
              </a:lnSpc>
              <a:buNone/>
            </a:pPr>
            <a:endParaRPr lang="en-US" altLang="zh-TW" sz="2400" b="1" u="sng" dirty="0"/>
          </a:p>
        </p:txBody>
      </p:sp>
      <p:sp>
        <p:nvSpPr>
          <p:cNvPr id="32771" name="標題 1"/>
          <p:cNvSpPr>
            <a:spLocks noGrp="1"/>
          </p:cNvSpPr>
          <p:nvPr>
            <p:ph type="title"/>
          </p:nvPr>
        </p:nvSpPr>
        <p:spPr>
          <a:xfrm>
            <a:off x="152400" y="152400"/>
            <a:ext cx="7773988" cy="1143000"/>
          </a:xfrm>
        </p:spPr>
        <p:txBody>
          <a:bodyPr>
            <a:noAutofit/>
          </a:bodyPr>
          <a:lstStyle/>
          <a:p>
            <a:pPr algn="l"/>
            <a:r>
              <a:rPr lang="en-US" altLang="zh-TW" sz="2800" dirty="0"/>
              <a:t>SOA, Web Services, Web 2.0, and </a:t>
            </a:r>
            <a:r>
              <a:rPr lang="en-US" altLang="zh-TW" sz="2800" dirty="0" err="1"/>
              <a:t>Mashups</a:t>
            </a:r>
            <a:r>
              <a:rPr lang="zh-TW" altLang="en-US" sz="2800" dirty="0"/>
              <a:t> </a:t>
            </a:r>
            <a:r>
              <a:rPr lang="en-US" altLang="zh-TW" sz="2800" dirty="0"/>
              <a:t>:</a:t>
            </a:r>
          </a:p>
        </p:txBody>
      </p:sp>
    </p:spTree>
    <p:extLst>
      <p:ext uri="{BB962C8B-B14F-4D97-AF65-F5344CB8AC3E}">
        <p14:creationId xmlns:p14="http://schemas.microsoft.com/office/powerpoint/2010/main" val="11247921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r>
              <a:rPr lang="en-US" dirty="0"/>
              <a:t>A </a:t>
            </a:r>
            <a:r>
              <a:rPr lang="en-US" b="1" u="sng" dirty="0" err="1"/>
              <a:t>mashup</a:t>
            </a:r>
            <a:r>
              <a:rPr lang="en-US" dirty="0"/>
              <a:t> is a Web page or application that uses and </a:t>
            </a:r>
            <a:r>
              <a:rPr lang="en-US" b="1" dirty="0"/>
              <a:t>combines data, presentation or functionality from two or more sources to create new services. </a:t>
            </a:r>
          </a:p>
          <a:p>
            <a:endParaRPr lang="en-US" dirty="0"/>
          </a:p>
          <a:p>
            <a:r>
              <a:rPr lang="en-US" dirty="0"/>
              <a:t>Combination with </a:t>
            </a:r>
            <a:r>
              <a:rPr lang="en-US" dirty="0">
                <a:solidFill>
                  <a:srgbClr val="EE0000"/>
                </a:solidFill>
              </a:rPr>
              <a:t>Google Maps </a:t>
            </a:r>
            <a:r>
              <a:rPr lang="en-US" dirty="0" err="1"/>
              <a:t>HousingMaps</a:t>
            </a:r>
            <a:r>
              <a:rPr lang="en-US" dirty="0"/>
              <a:t>: </a:t>
            </a:r>
            <a:r>
              <a:rPr lang="en-US" dirty="0">
                <a:solidFill>
                  <a:srgbClr val="FF0000"/>
                </a:solidFill>
              </a:rPr>
              <a:t>combines rental listings </a:t>
            </a:r>
            <a:r>
              <a:rPr lang="en-US" dirty="0"/>
              <a:t>(American </a:t>
            </a:r>
            <a:r>
              <a:rPr lang="en-US" dirty="0">
                <a:hlinkClick r:id="rId3" tooltip="Classified advertising"/>
              </a:rPr>
              <a:t>classified advertisements</a:t>
            </a:r>
            <a:r>
              <a:rPr lang="en-US" dirty="0"/>
              <a:t> website with sections devoted to jobs, housing, </a:t>
            </a:r>
            <a:r>
              <a:rPr lang="en-US" dirty="0">
                <a:hlinkClick r:id="rId4" tooltip="Personal advertisement"/>
              </a:rPr>
              <a:t>personals</a:t>
            </a:r>
            <a:r>
              <a:rPr lang="en-US" dirty="0"/>
              <a:t>, for sale, items wanted, services, </a:t>
            </a:r>
            <a:r>
              <a:rPr lang="en-US" dirty="0">
                <a:hlinkClick r:id="rId5" tooltip="Community service"/>
              </a:rPr>
              <a:t>community</a:t>
            </a:r>
            <a:r>
              <a:rPr lang="en-US" dirty="0"/>
              <a:t>  and discussion forums.) </a:t>
            </a:r>
            <a:r>
              <a:rPr lang="en-US" dirty="0">
                <a:solidFill>
                  <a:srgbClr val="FF0000"/>
                </a:solidFill>
              </a:rPr>
              <a:t>with Google Maps for a visual representation of local apartments for rent. </a:t>
            </a:r>
          </a:p>
          <a:p>
            <a:r>
              <a:rPr lang="en-US" dirty="0"/>
              <a:t>Wikipedia vision: combines Google Map and a Wikipedia API </a:t>
            </a:r>
          </a:p>
        </p:txBody>
      </p:sp>
    </p:spTree>
    <p:extLst>
      <p:ext uri="{BB962C8B-B14F-4D97-AF65-F5344CB8AC3E}">
        <p14:creationId xmlns:p14="http://schemas.microsoft.com/office/powerpoint/2010/main" val="30724587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Grid Computing</a:t>
            </a:r>
          </a:p>
        </p:txBody>
      </p:sp>
      <p:sp>
        <p:nvSpPr>
          <p:cNvPr id="3" name="Content Placeholder 2"/>
          <p:cNvSpPr>
            <a:spLocks noGrp="1"/>
          </p:cNvSpPr>
          <p:nvPr>
            <p:ph idx="1"/>
          </p:nvPr>
        </p:nvSpPr>
        <p:spPr>
          <a:xfrm>
            <a:off x="481084" y="1318146"/>
            <a:ext cx="8229600" cy="5562600"/>
          </a:xfrm>
        </p:spPr>
        <p:txBody>
          <a:bodyPr>
            <a:noAutofit/>
          </a:bodyPr>
          <a:lstStyle/>
          <a:p>
            <a:pPr algn="just">
              <a:lnSpc>
                <a:spcPct val="150000"/>
              </a:lnSpc>
            </a:pPr>
            <a:r>
              <a:rPr lang="en-US" dirty="0"/>
              <a:t>Grid Computing enables aggregation of distributed resources .</a:t>
            </a:r>
          </a:p>
          <a:p>
            <a:pPr lvl="0" algn="just">
              <a:lnSpc>
                <a:spcPct val="150000"/>
              </a:lnSpc>
            </a:pPr>
            <a:r>
              <a:rPr lang="en-US" b="1" dirty="0">
                <a:solidFill>
                  <a:schemeClr val="tx1"/>
                </a:solidFill>
              </a:rPr>
              <a:t>It is a type of parallel and distributed system </a:t>
            </a:r>
            <a:r>
              <a:rPr lang="en-US" dirty="0">
                <a:solidFill>
                  <a:schemeClr val="tx1"/>
                </a:solidFill>
              </a:rPr>
              <a:t>that   </a:t>
            </a:r>
            <a:br>
              <a:rPr lang="en-US" dirty="0">
                <a:solidFill>
                  <a:schemeClr val="tx1"/>
                </a:solidFill>
              </a:rPr>
            </a:br>
            <a:r>
              <a:rPr lang="en-US" dirty="0">
                <a:solidFill>
                  <a:schemeClr val="tx1"/>
                </a:solidFill>
              </a:rPr>
              <a:t>enables the </a:t>
            </a:r>
            <a:r>
              <a:rPr lang="en-US" u="sng" dirty="0">
                <a:solidFill>
                  <a:schemeClr val="tx1"/>
                </a:solidFill>
              </a:rPr>
              <a:t>sharing, exchange, selection, &amp; aggregation of geographically distributed resources</a:t>
            </a:r>
            <a:r>
              <a:rPr lang="en-US" dirty="0">
                <a:solidFill>
                  <a:schemeClr val="tx1"/>
                </a:solidFill>
              </a:rPr>
              <a:t> depending on their availability, capability, cost, and user </a:t>
            </a:r>
            <a:r>
              <a:rPr lang="en-US" dirty="0" err="1">
                <a:solidFill>
                  <a:schemeClr val="tx1"/>
                </a:solidFill>
              </a:rPr>
              <a:t>QoS</a:t>
            </a:r>
            <a:r>
              <a:rPr lang="en-US" dirty="0">
                <a:solidFill>
                  <a:schemeClr val="tx1"/>
                </a:solidFill>
              </a:rPr>
              <a:t> requirements.</a:t>
            </a:r>
          </a:p>
          <a:p>
            <a:pPr lvl="0" algn="just">
              <a:lnSpc>
                <a:spcPct val="150000"/>
              </a:lnSpc>
            </a:pPr>
            <a:r>
              <a:rPr lang="en-US" u="sng" dirty="0">
                <a:solidFill>
                  <a:schemeClr val="tx1"/>
                </a:solidFill>
              </a:rPr>
              <a:t>Open Grid Service Architecture(OGSA) </a:t>
            </a:r>
            <a:r>
              <a:rPr lang="en-US" dirty="0">
                <a:solidFill>
                  <a:schemeClr val="tx1"/>
                </a:solidFill>
              </a:rPr>
              <a:t>– helps in standardization   by defining a set of core capabilities and behaviors.</a:t>
            </a:r>
          </a:p>
          <a:p>
            <a:pPr marL="0" lvl="0" indent="0">
              <a:buNone/>
            </a:pPr>
            <a:endParaRPr lang="en-US" sz="2800" dirty="0">
              <a:solidFill>
                <a:schemeClr val="tx1"/>
              </a:solidFill>
            </a:endParaRPr>
          </a:p>
          <a:p>
            <a:pPr marL="0" lvl="0" indent="0">
              <a:buNone/>
            </a:pPr>
            <a:endParaRPr lang="en-US" dirty="0">
              <a:solidFill>
                <a:schemeClr val="tx1"/>
              </a:solidFill>
            </a:endParaRPr>
          </a:p>
          <a:p>
            <a:pPr lvl="0"/>
            <a:endParaRPr lang="en-US" sz="1800" dirty="0">
              <a:solidFill>
                <a:schemeClr val="tx1"/>
              </a:solidFill>
            </a:endParaRPr>
          </a:p>
          <a:p>
            <a:endParaRPr lang="en-US" dirty="0"/>
          </a:p>
          <a:p>
            <a:endParaRPr lang="en-US" dirty="0"/>
          </a:p>
          <a:p>
            <a:endParaRPr lang="en-US" dirty="0"/>
          </a:p>
        </p:txBody>
      </p:sp>
    </p:spTree>
    <p:extLst>
      <p:ext uri="{BB962C8B-B14F-4D97-AF65-F5344CB8AC3E}">
        <p14:creationId xmlns:p14="http://schemas.microsoft.com/office/powerpoint/2010/main" val="33020005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lnSpcReduction="10000"/>
          </a:bodyPr>
          <a:lstStyle/>
          <a:p>
            <a:r>
              <a:rPr lang="en-US" dirty="0"/>
              <a:t>Issues in grid</a:t>
            </a:r>
          </a:p>
          <a:p>
            <a:pPr marL="0" indent="0">
              <a:buNone/>
            </a:pPr>
            <a:r>
              <a:rPr lang="en-US" dirty="0">
                <a:sym typeface="Wingdings" panose="05000000000000000000" pitchFamily="2" charset="2"/>
              </a:rPr>
              <a:t></a:t>
            </a:r>
            <a:r>
              <a:rPr lang="en-US" dirty="0"/>
              <a:t> Guaranteeing execution time for critical applications</a:t>
            </a:r>
          </a:p>
          <a:p>
            <a:pPr>
              <a:buFont typeface="Wingdings" panose="05000000000000000000" pitchFamily="2" charset="2"/>
              <a:buChar char="à"/>
            </a:pPr>
            <a:r>
              <a:rPr lang="en-US" dirty="0">
                <a:sym typeface="Wingdings" panose="05000000000000000000" pitchFamily="2" charset="2"/>
              </a:rPr>
              <a:t>Availability of resources with diverse configuration</a:t>
            </a:r>
          </a:p>
          <a:p>
            <a:pPr marL="0" indent="0">
              <a:buNone/>
            </a:pPr>
            <a:r>
              <a:rPr lang="en-US" dirty="0">
                <a:sym typeface="Wingdings" panose="05000000000000000000" pitchFamily="2" charset="2"/>
              </a:rPr>
              <a:t>Virtualization technology helped in finding the solution of some of the issues.</a:t>
            </a:r>
          </a:p>
          <a:p>
            <a:pPr>
              <a:lnSpc>
                <a:spcPct val="90000"/>
              </a:lnSpc>
            </a:pPr>
            <a:endParaRPr lang="en-GB" sz="2800" dirty="0"/>
          </a:p>
          <a:p>
            <a:pPr>
              <a:lnSpc>
                <a:spcPct val="90000"/>
              </a:lnSpc>
            </a:pPr>
            <a:r>
              <a:rPr lang="en-GB" sz="2800" dirty="0"/>
              <a:t>Some characteristics of Grid… </a:t>
            </a:r>
          </a:p>
          <a:p>
            <a:pPr lvl="1">
              <a:lnSpc>
                <a:spcPct val="90000"/>
              </a:lnSpc>
            </a:pPr>
            <a:r>
              <a:rPr lang="en-GB" sz="2400" dirty="0"/>
              <a:t>numerous</a:t>
            </a:r>
          </a:p>
          <a:p>
            <a:pPr lvl="1">
              <a:lnSpc>
                <a:spcPct val="90000"/>
              </a:lnSpc>
            </a:pPr>
            <a:r>
              <a:rPr lang="en-GB" sz="2400" dirty="0"/>
              <a:t>owned and managed by different, multiple organisations and individuals.</a:t>
            </a:r>
          </a:p>
          <a:p>
            <a:pPr lvl="1">
              <a:lnSpc>
                <a:spcPct val="90000"/>
              </a:lnSpc>
            </a:pPr>
            <a:r>
              <a:rPr lang="en-GB" sz="2400" dirty="0"/>
              <a:t>have different security requirements and policies</a:t>
            </a:r>
          </a:p>
          <a:p>
            <a:pPr lvl="1">
              <a:lnSpc>
                <a:spcPct val="90000"/>
              </a:lnSpc>
            </a:pPr>
            <a:r>
              <a:rPr lang="en-GB" sz="2400" dirty="0"/>
              <a:t>heterogeneous</a:t>
            </a:r>
          </a:p>
          <a:p>
            <a:pPr lvl="1">
              <a:lnSpc>
                <a:spcPct val="90000"/>
              </a:lnSpc>
            </a:pPr>
            <a:r>
              <a:rPr lang="en-GB" sz="2400" dirty="0"/>
              <a:t>connected by heterogeneous, multilevel networks</a:t>
            </a:r>
          </a:p>
          <a:p>
            <a:pPr lvl="1">
              <a:lnSpc>
                <a:spcPct val="90000"/>
              </a:lnSpc>
            </a:pPr>
            <a:r>
              <a:rPr lang="en-GB" sz="2400" dirty="0"/>
              <a:t>have different resource management policies</a:t>
            </a:r>
          </a:p>
          <a:p>
            <a:pPr lvl="1">
              <a:lnSpc>
                <a:spcPct val="90000"/>
              </a:lnSpc>
            </a:pPr>
            <a:r>
              <a:rPr lang="en-GB" sz="2400" dirty="0"/>
              <a:t>Likely to be geographically separated</a:t>
            </a:r>
          </a:p>
          <a:p>
            <a:endParaRPr lang="en-US" dirty="0"/>
          </a:p>
          <a:p>
            <a:pPr>
              <a:buFont typeface="Wingdings" panose="05000000000000000000" pitchFamily="2" charset="2"/>
              <a:buChar char="à"/>
            </a:pPr>
            <a:endParaRPr lang="en-US" dirty="0">
              <a:sym typeface="Wingdings" panose="05000000000000000000" pitchFamily="2" charset="2"/>
            </a:endParaRPr>
          </a:p>
          <a:p>
            <a:pPr>
              <a:buFont typeface="Wingdings" panose="05000000000000000000" pitchFamily="2" charset="2"/>
              <a:buChar char="à"/>
            </a:pPr>
            <a:endParaRPr lang="en-US" dirty="0">
              <a:sym typeface="Wingdings" panose="05000000000000000000" pitchFamily="2" charset="2"/>
            </a:endParaRPr>
          </a:p>
          <a:p>
            <a:pPr marL="0" indent="0">
              <a:buNone/>
            </a:pPr>
            <a:endParaRPr lang="en-US" dirty="0"/>
          </a:p>
        </p:txBody>
      </p:sp>
    </p:spTree>
    <p:extLst>
      <p:ext uri="{BB962C8B-B14F-4D97-AF65-F5344CB8AC3E}">
        <p14:creationId xmlns:p14="http://schemas.microsoft.com/office/powerpoint/2010/main" val="15497987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Utility Computing </a:t>
            </a:r>
          </a:p>
        </p:txBody>
      </p:sp>
      <p:sp>
        <p:nvSpPr>
          <p:cNvPr id="3" name="Content Placeholder 2"/>
          <p:cNvSpPr>
            <a:spLocks noGrp="1"/>
          </p:cNvSpPr>
          <p:nvPr>
            <p:ph idx="1"/>
          </p:nvPr>
        </p:nvSpPr>
        <p:spPr>
          <a:xfrm>
            <a:off x="457200" y="1600200"/>
            <a:ext cx="8382000" cy="4953000"/>
          </a:xfrm>
        </p:spPr>
        <p:txBody>
          <a:bodyPr>
            <a:normAutofit fontScale="92500"/>
          </a:bodyPr>
          <a:lstStyle/>
          <a:p>
            <a:pPr marL="0" indent="0" algn="just">
              <a:lnSpc>
                <a:spcPct val="150000"/>
              </a:lnSpc>
              <a:buNone/>
            </a:pPr>
            <a:r>
              <a:rPr lang="en-US" b="1" dirty="0"/>
              <a:t>Utility Computing</a:t>
            </a:r>
          </a:p>
          <a:p>
            <a:pPr algn="just">
              <a:lnSpc>
                <a:spcPct val="150000"/>
              </a:lnSpc>
            </a:pPr>
            <a:r>
              <a:rPr lang="en-US" b="1" dirty="0"/>
              <a:t>Large grid installation </a:t>
            </a:r>
            <a:r>
              <a:rPr lang="en-US" dirty="0"/>
              <a:t>faced new problems, </a:t>
            </a:r>
            <a:r>
              <a:rPr lang="en-US" i="1" dirty="0"/>
              <a:t>failed to ensure fair and equitable access to resources to meet the deadline </a:t>
            </a:r>
            <a:endParaRPr lang="en-US" b="1" i="1" dirty="0"/>
          </a:p>
          <a:p>
            <a:pPr algn="just">
              <a:lnSpc>
                <a:spcPct val="150000"/>
              </a:lnSpc>
            </a:pPr>
            <a:r>
              <a:rPr lang="en-US" b="1" dirty="0"/>
              <a:t>Core Idea: </a:t>
            </a:r>
            <a:r>
              <a:rPr lang="en-US" dirty="0"/>
              <a:t>On-demand access to computing resources (CPU, storage) with pay-per-consumption pricing, similar to electricity or water.</a:t>
            </a:r>
          </a:p>
          <a:p>
            <a:pPr algn="just">
              <a:lnSpc>
                <a:spcPct val="150000"/>
              </a:lnSpc>
            </a:pPr>
            <a:r>
              <a:rPr lang="en-US" dirty="0"/>
              <a:t>Focus: Primarily on infrastructure, raw power, and cost-effectiveness for basic needs.</a:t>
            </a:r>
          </a:p>
          <a:p>
            <a:pPr algn="just">
              <a:lnSpc>
                <a:spcPct val="150000"/>
              </a:lnSpc>
            </a:pPr>
            <a:r>
              <a:rPr lang="en-US" b="1" dirty="0"/>
              <a:t>Example:</a:t>
            </a:r>
            <a:r>
              <a:rPr lang="en-US" dirty="0"/>
              <a:t> Early models of renting server time. </a:t>
            </a:r>
            <a:endParaRPr lang="en-US" b="1" dirty="0"/>
          </a:p>
        </p:txBody>
      </p:sp>
    </p:spTree>
    <p:extLst>
      <p:ext uri="{BB962C8B-B14F-4D97-AF65-F5344CB8AC3E}">
        <p14:creationId xmlns:p14="http://schemas.microsoft.com/office/powerpoint/2010/main" val="41703326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64918-1590-A960-4EDF-4BEA22011D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17088-7AC2-9C65-26FF-0DF916E233A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857502E-C21A-262D-1D4A-C05ABA88117D}"/>
              </a:ext>
            </a:extLst>
          </p:cNvPr>
          <p:cNvSpPr>
            <a:spLocks noGrp="1"/>
          </p:cNvSpPr>
          <p:nvPr>
            <p:ph idx="1"/>
          </p:nvPr>
        </p:nvSpPr>
        <p:spPr>
          <a:xfrm>
            <a:off x="457200" y="1600200"/>
            <a:ext cx="8382000" cy="4953000"/>
          </a:xfrm>
        </p:spPr>
        <p:txBody>
          <a:bodyPr>
            <a:normAutofit/>
          </a:bodyPr>
          <a:lstStyle/>
          <a:p>
            <a:pPr marL="0" indent="0" algn="just">
              <a:lnSpc>
                <a:spcPct val="150000"/>
              </a:lnSpc>
              <a:buNone/>
            </a:pPr>
            <a:r>
              <a:rPr lang="en-US" b="1" dirty="0"/>
              <a:t>Cloud Computing</a:t>
            </a:r>
          </a:p>
          <a:p>
            <a:pPr marL="0" indent="0" algn="just">
              <a:lnSpc>
                <a:spcPct val="150000"/>
              </a:lnSpc>
              <a:buNone/>
            </a:pPr>
            <a:r>
              <a:rPr lang="en-US" b="1" dirty="0"/>
              <a:t>Core Idea:</a:t>
            </a:r>
            <a:r>
              <a:rPr lang="en-US" dirty="0"/>
              <a:t> Delivers a wide range of IT services (infrastructure, platforms, software, databases, AI) </a:t>
            </a:r>
            <a:r>
              <a:rPr lang="en-US" b="1" dirty="0"/>
              <a:t>over the internet</a:t>
            </a:r>
            <a:r>
              <a:rPr lang="en-US" dirty="0"/>
              <a:t>, </a:t>
            </a:r>
            <a:r>
              <a:rPr lang="en-US" b="1" i="1" dirty="0"/>
              <a:t>built on utility principles.</a:t>
            </a:r>
          </a:p>
          <a:p>
            <a:pPr marL="0" indent="0" algn="just">
              <a:lnSpc>
                <a:spcPct val="150000"/>
              </a:lnSpc>
              <a:buNone/>
            </a:pPr>
            <a:r>
              <a:rPr lang="en-US" b="1" dirty="0"/>
              <a:t>Focus:</a:t>
            </a:r>
            <a:r>
              <a:rPr lang="en-US" dirty="0"/>
              <a:t> An entire ecosystem for rapid development, scalability, and innovation, managing complexity.</a:t>
            </a:r>
          </a:p>
          <a:p>
            <a:pPr marL="0" indent="0" algn="just">
              <a:lnSpc>
                <a:spcPct val="150000"/>
              </a:lnSpc>
              <a:buNone/>
            </a:pPr>
            <a:r>
              <a:rPr lang="en-US" dirty="0"/>
              <a:t>Examples: Amazon Web Services (AWS), Microsoft Azure, Google Cloud Platform (GCP) offering IaaS, PaaS, SaaS. </a:t>
            </a:r>
          </a:p>
        </p:txBody>
      </p:sp>
    </p:spTree>
    <p:extLst>
      <p:ext uri="{BB962C8B-B14F-4D97-AF65-F5344CB8AC3E}">
        <p14:creationId xmlns:p14="http://schemas.microsoft.com/office/powerpoint/2010/main" val="4863814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44499"/>
          </a:xfrm>
        </p:spPr>
        <p:txBody>
          <a:bodyPr>
            <a:normAutofit fontScale="90000"/>
          </a:bodyPr>
          <a:lstStyle/>
          <a:p>
            <a:r>
              <a:rPr lang="en-US" dirty="0"/>
              <a:t>Hardware Virtualization </a:t>
            </a:r>
          </a:p>
        </p:txBody>
      </p:sp>
      <p:sp>
        <p:nvSpPr>
          <p:cNvPr id="3" name="Content Placeholder 2"/>
          <p:cNvSpPr>
            <a:spLocks noGrp="1"/>
          </p:cNvSpPr>
          <p:nvPr>
            <p:ph idx="1"/>
          </p:nvPr>
        </p:nvSpPr>
        <p:spPr>
          <a:xfrm>
            <a:off x="457200" y="693831"/>
            <a:ext cx="8229600" cy="2590800"/>
          </a:xfrm>
        </p:spPr>
        <p:txBody>
          <a:bodyPr>
            <a:normAutofit fontScale="25000" lnSpcReduction="20000"/>
          </a:bodyPr>
          <a:lstStyle/>
          <a:p>
            <a:pPr algn="just">
              <a:lnSpc>
                <a:spcPct val="170000"/>
              </a:lnSpc>
            </a:pPr>
            <a:r>
              <a:rPr lang="en-US" sz="7200" dirty="0"/>
              <a:t>Cloud  computing services  are usually  backed  by large-scale  data  centers composed of thousands of computers. </a:t>
            </a:r>
          </a:p>
          <a:p>
            <a:pPr algn="just">
              <a:lnSpc>
                <a:spcPct val="170000"/>
              </a:lnSpc>
            </a:pPr>
            <a:r>
              <a:rPr lang="en-US" sz="7200" dirty="0"/>
              <a:t>Such data centers are built to serve many users and host many disparate applications. </a:t>
            </a:r>
          </a:p>
          <a:p>
            <a:pPr algn="just">
              <a:lnSpc>
                <a:spcPct val="170000"/>
              </a:lnSpc>
            </a:pPr>
            <a:r>
              <a:rPr lang="en-US" sz="7200" dirty="0"/>
              <a:t>For this purpose, </a:t>
            </a:r>
            <a:r>
              <a:rPr lang="en-US" sz="7200" dirty="0">
                <a:solidFill>
                  <a:srgbClr val="FF0000"/>
                </a:solidFill>
              </a:rPr>
              <a:t>hardware virtualization can be considered </a:t>
            </a:r>
            <a:r>
              <a:rPr lang="en-US" sz="7200" dirty="0"/>
              <a:t>as a perfect fit to overcome most </a:t>
            </a:r>
            <a:r>
              <a:rPr lang="en-US" sz="7200" dirty="0">
                <a:solidFill>
                  <a:srgbClr val="FF0000"/>
                </a:solidFill>
              </a:rPr>
              <a:t>operational issues of data center building and maintenance</a:t>
            </a:r>
            <a:r>
              <a:rPr lang="en-US" sz="7200" dirty="0"/>
              <a:t>. </a:t>
            </a:r>
          </a:p>
          <a:p>
            <a:pPr algn="just">
              <a:lnSpc>
                <a:spcPct val="170000"/>
              </a:lnSpc>
            </a:pPr>
            <a:r>
              <a:rPr lang="en-US" sz="7200" dirty="0"/>
              <a:t>Virtualization enhances :sharing and utilization of computer systems </a:t>
            </a:r>
          </a:p>
          <a:p>
            <a:pPr marL="0" indent="0" algn="just">
              <a:lnSpc>
                <a:spcPct val="170000"/>
              </a:lnSpc>
              <a:buNone/>
            </a:pPr>
            <a:r>
              <a:rPr lang="en-US" sz="5600" dirty="0"/>
              <a:t> </a:t>
            </a:r>
          </a:p>
          <a:p>
            <a:pPr marL="0" indent="0">
              <a:buNone/>
            </a:pPr>
            <a:endParaRPr lang="en-US" dirty="0"/>
          </a:p>
        </p:txBody>
      </p:sp>
      <p:pic>
        <p:nvPicPr>
          <p:cNvPr id="4" name="Picture 2"/>
          <p:cNvPicPr>
            <a:picLocks noChangeAspect="1" noChangeArrowheads="1"/>
          </p:cNvPicPr>
          <p:nvPr/>
        </p:nvPicPr>
        <p:blipFill>
          <a:blip r:embed="rId3" cstate="print"/>
          <a:srcRect/>
          <a:stretch>
            <a:fillRect/>
          </a:stretch>
        </p:blipFill>
        <p:spPr bwMode="auto">
          <a:xfrm>
            <a:off x="4495800" y="4262840"/>
            <a:ext cx="3276600" cy="2578100"/>
          </a:xfrm>
          <a:prstGeom prst="rect">
            <a:avLst/>
          </a:prstGeom>
          <a:noFill/>
          <a:ln w="9525">
            <a:noFill/>
            <a:miter lim="800000"/>
            <a:headEnd/>
            <a:tailEnd/>
          </a:ln>
          <a:effectLst/>
        </p:spPr>
      </p:pic>
      <p:pic>
        <p:nvPicPr>
          <p:cNvPr id="5" name="Picture 3"/>
          <p:cNvPicPr>
            <a:picLocks noChangeAspect="1" noChangeArrowheads="1"/>
          </p:cNvPicPr>
          <p:nvPr/>
        </p:nvPicPr>
        <p:blipFill>
          <a:blip r:embed="rId4" cstate="print"/>
          <a:srcRect/>
          <a:stretch>
            <a:fillRect/>
          </a:stretch>
        </p:blipFill>
        <p:spPr bwMode="auto">
          <a:xfrm>
            <a:off x="1371600" y="4821237"/>
            <a:ext cx="2620963" cy="2036763"/>
          </a:xfrm>
          <a:prstGeom prst="rect">
            <a:avLst/>
          </a:prstGeom>
          <a:noFill/>
          <a:ln w="9525">
            <a:noFill/>
            <a:miter lim="800000"/>
            <a:headEnd/>
            <a:tailEnd/>
          </a:ln>
          <a:effectLst/>
        </p:spPr>
      </p:pic>
      <p:sp>
        <p:nvSpPr>
          <p:cNvPr id="6" name="Rounded Rectangle 5"/>
          <p:cNvSpPr/>
          <p:nvPr/>
        </p:nvSpPr>
        <p:spPr bwMode="auto">
          <a:xfrm>
            <a:off x="4495800" y="3810000"/>
            <a:ext cx="1066800" cy="1434920"/>
          </a:xfrm>
          <a:prstGeom prst="roundRect">
            <a:avLst>
              <a:gd name="adj" fmla="val 10166"/>
            </a:avLst>
          </a:prstGeom>
          <a:solidFill>
            <a:schemeClr val="lt1">
              <a:alpha val="0"/>
            </a:schemeClr>
          </a:solidFill>
          <a:ln w="38100">
            <a:solidFill>
              <a:srgbClr val="C0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rgbClr val="C00000"/>
                </a:solidFill>
                <a:effectLst/>
                <a:latin typeface="Cambria" pitchFamily="18" charset="0"/>
              </a:rPr>
              <a:t>VM1</a:t>
            </a:r>
          </a:p>
        </p:txBody>
      </p:sp>
      <p:sp>
        <p:nvSpPr>
          <p:cNvPr id="7" name="Rounded Rectangle 6"/>
          <p:cNvSpPr/>
          <p:nvPr/>
        </p:nvSpPr>
        <p:spPr bwMode="auto">
          <a:xfrm>
            <a:off x="5594260" y="3810000"/>
            <a:ext cx="1066800" cy="1434920"/>
          </a:xfrm>
          <a:prstGeom prst="roundRect">
            <a:avLst>
              <a:gd name="adj" fmla="val 10166"/>
            </a:avLst>
          </a:prstGeom>
          <a:solidFill>
            <a:schemeClr val="lt1">
              <a:alpha val="0"/>
            </a:schemeClr>
          </a:solidFill>
          <a:ln w="38100">
            <a:solidFill>
              <a:srgbClr val="C0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dirty="0">
                <a:solidFill>
                  <a:srgbClr val="C00000"/>
                </a:solidFill>
                <a:latin typeface="Cambria" pitchFamily="18" charset="0"/>
              </a:rPr>
              <a:t>VM2</a:t>
            </a:r>
          </a:p>
        </p:txBody>
      </p:sp>
      <p:sp>
        <p:nvSpPr>
          <p:cNvPr id="8" name="Rounded Rectangle 7"/>
          <p:cNvSpPr/>
          <p:nvPr/>
        </p:nvSpPr>
        <p:spPr bwMode="auto">
          <a:xfrm>
            <a:off x="6692720" y="3810000"/>
            <a:ext cx="1066800" cy="1434920"/>
          </a:xfrm>
          <a:prstGeom prst="roundRect">
            <a:avLst>
              <a:gd name="adj" fmla="val 10166"/>
            </a:avLst>
          </a:prstGeom>
          <a:solidFill>
            <a:schemeClr val="lt1">
              <a:alpha val="0"/>
            </a:schemeClr>
          </a:solidFill>
          <a:ln w="38100">
            <a:solidFill>
              <a:srgbClr val="C0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dirty="0">
                <a:solidFill>
                  <a:srgbClr val="C00000"/>
                </a:solidFill>
                <a:latin typeface="Cambria" pitchFamily="18" charset="0"/>
              </a:rPr>
              <a:t>VM3</a:t>
            </a:r>
          </a:p>
        </p:txBody>
      </p:sp>
    </p:spTree>
    <p:extLst>
      <p:ext uri="{BB962C8B-B14F-4D97-AF65-F5344CB8AC3E}">
        <p14:creationId xmlns:p14="http://schemas.microsoft.com/office/powerpoint/2010/main" val="376419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normAutofit fontScale="92500"/>
          </a:bodyPr>
          <a:lstStyle/>
          <a:p>
            <a:r>
              <a:rPr lang="en-US" dirty="0"/>
              <a:t>H/w virtualization allows running multiple OS and a s/w stacks on a single physical platform</a:t>
            </a:r>
          </a:p>
          <a:p>
            <a:pPr marL="0" indent="0">
              <a:buNone/>
            </a:pPr>
            <a:endParaRPr lang="en-US" dirty="0"/>
          </a:p>
          <a:p>
            <a:r>
              <a:rPr lang="en-US" dirty="0"/>
              <a:t>VMM (virtual machine monitor) also called hypervisor mediates access to physical hardware presenting each guest OS a VM</a:t>
            </a:r>
          </a:p>
          <a:p>
            <a:pPr marL="0" indent="0">
              <a:buNone/>
            </a:pPr>
            <a:endParaRPr lang="en-US" dirty="0"/>
          </a:p>
          <a:p>
            <a:r>
              <a:rPr lang="en-US" dirty="0"/>
              <a:t>A number of VMM platforms like VMWare, </a:t>
            </a:r>
            <a:r>
              <a:rPr lang="en-US" dirty="0" err="1"/>
              <a:t>Xen</a:t>
            </a:r>
            <a:r>
              <a:rPr lang="en-US" dirty="0"/>
              <a:t>….  that are the basis of many utility or cloud computing environments. </a:t>
            </a:r>
          </a:p>
          <a:p>
            <a:endParaRPr lang="en-US" dirty="0"/>
          </a:p>
          <a:p>
            <a:r>
              <a:rPr lang="en-US" dirty="0"/>
              <a:t>Benefits</a:t>
            </a:r>
          </a:p>
          <a:p>
            <a:pPr>
              <a:buFont typeface="Wingdings" panose="05000000000000000000" pitchFamily="2" charset="2"/>
              <a:buChar char="à"/>
            </a:pPr>
            <a:r>
              <a:rPr lang="en-US" dirty="0">
                <a:sym typeface="Wingdings" panose="05000000000000000000" pitchFamily="2" charset="2"/>
              </a:rPr>
              <a:t>Sharing and utilization</a:t>
            </a:r>
          </a:p>
          <a:p>
            <a:pPr>
              <a:buFont typeface="Wingdings" panose="05000000000000000000" pitchFamily="2" charset="2"/>
              <a:buChar char="à"/>
            </a:pPr>
            <a:r>
              <a:rPr lang="en-US" dirty="0">
                <a:sym typeface="Wingdings" panose="05000000000000000000" pitchFamily="2" charset="2"/>
              </a:rPr>
              <a:t>Better manageability</a:t>
            </a:r>
          </a:p>
          <a:p>
            <a:pPr>
              <a:buFont typeface="Wingdings" panose="05000000000000000000" pitchFamily="2" charset="2"/>
              <a:buChar char="à"/>
            </a:pPr>
            <a:r>
              <a:rPr lang="en-US" dirty="0">
                <a:sym typeface="Wingdings" panose="05000000000000000000" pitchFamily="2" charset="2"/>
              </a:rPr>
              <a:t>Higher reliability</a:t>
            </a:r>
          </a:p>
          <a:p>
            <a:pPr marL="0" indent="0">
              <a:buNone/>
            </a:pPr>
            <a:endParaRPr lang="en-US" dirty="0">
              <a:sym typeface="Wingdings" panose="05000000000000000000" pitchFamily="2" charset="2"/>
            </a:endParaRPr>
          </a:p>
          <a:p>
            <a:pPr marL="0" indent="0">
              <a:buNone/>
            </a:pPr>
            <a:endParaRPr lang="en-US" dirty="0">
              <a:sym typeface="Wingdings" panose="05000000000000000000" pitchFamily="2" charset="2"/>
            </a:endParaRPr>
          </a:p>
          <a:p>
            <a:pPr>
              <a:buFont typeface="Wingdings" panose="05000000000000000000" pitchFamily="2" charset="2"/>
              <a:buChar char="à"/>
            </a:pPr>
            <a:endParaRPr lang="en-US" dirty="0"/>
          </a:p>
        </p:txBody>
      </p:sp>
    </p:spTree>
    <p:extLst>
      <p:ext uri="{BB962C8B-B14F-4D97-AF65-F5344CB8AC3E}">
        <p14:creationId xmlns:p14="http://schemas.microsoft.com/office/powerpoint/2010/main" val="40498389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endParaRPr lang="en-US" dirty="0"/>
          </a:p>
          <a:p>
            <a:pPr marL="0" indent="0">
              <a:buNone/>
            </a:pPr>
            <a:r>
              <a:rPr lang="en-US" dirty="0"/>
              <a:t>Three basic capabilities regarding management of workload:</a:t>
            </a:r>
          </a:p>
          <a:p>
            <a:pPr marL="0" indent="0">
              <a:buNone/>
            </a:pPr>
            <a:endParaRPr lang="en-US" dirty="0"/>
          </a:p>
          <a:p>
            <a:pPr algn="just"/>
            <a:r>
              <a:rPr lang="en-US" b="1" dirty="0"/>
              <a:t>Workload isolation</a:t>
            </a:r>
            <a:r>
              <a:rPr lang="en-US" dirty="0"/>
              <a:t>-A virtual machine should not be able to read RAM that is in use by another virtual machine.  It also should not be able to access another virtual machine’s disk.</a:t>
            </a:r>
          </a:p>
          <a:p>
            <a:pPr algn="just"/>
            <a:r>
              <a:rPr lang="en-US" b="1" dirty="0"/>
              <a:t>Workload migration</a:t>
            </a:r>
            <a:r>
              <a:rPr lang="en-US" dirty="0"/>
              <a:t>  - encapsulating guest OS system state within VM and allowing it to suspend  or migrate  to different platforms and resumed immediately…( facilitates h/w maintenance, load balancing and disaster recovery).</a:t>
            </a:r>
          </a:p>
          <a:p>
            <a:pPr algn="just"/>
            <a:r>
              <a:rPr lang="en-US" b="1" dirty="0"/>
              <a:t>Workload consolidation </a:t>
            </a:r>
            <a:r>
              <a:rPr lang="en-US" dirty="0"/>
              <a:t>– Consolidation of several individual and heterogenous workloads onto a single platform leads to better system utilization.</a:t>
            </a:r>
          </a:p>
          <a:p>
            <a:endParaRPr lang="en-US" dirty="0"/>
          </a:p>
          <a:p>
            <a:pPr marL="0" indent="0">
              <a:buNone/>
            </a:pPr>
            <a:endParaRPr lang="en-US" dirty="0"/>
          </a:p>
        </p:txBody>
      </p:sp>
    </p:spTree>
    <p:extLst>
      <p:ext uri="{BB962C8B-B14F-4D97-AF65-F5344CB8AC3E}">
        <p14:creationId xmlns:p14="http://schemas.microsoft.com/office/powerpoint/2010/main" val="24188297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Autonomic Computing</a:t>
            </a:r>
          </a:p>
        </p:txBody>
      </p:sp>
      <p:sp>
        <p:nvSpPr>
          <p:cNvPr id="3" name="Content Placeholder 2"/>
          <p:cNvSpPr>
            <a:spLocks noGrp="1"/>
          </p:cNvSpPr>
          <p:nvPr>
            <p:ph idx="1"/>
          </p:nvPr>
        </p:nvSpPr>
        <p:spPr/>
        <p:txBody>
          <a:bodyPr>
            <a:normAutofit lnSpcReduction="10000"/>
          </a:bodyPr>
          <a:lstStyle/>
          <a:p>
            <a:pPr algn="just"/>
            <a:r>
              <a:rPr lang="en-US" dirty="0"/>
              <a:t>The increasing complexity of computing systems has motivated research on autonomic computing, which seeks to </a:t>
            </a:r>
            <a:r>
              <a:rPr lang="en-US" b="1" dirty="0"/>
              <a:t>improve systems by decreasing human involvement  in  their  operation.  </a:t>
            </a:r>
          </a:p>
          <a:p>
            <a:pPr algn="just"/>
            <a:r>
              <a:rPr lang="en-US" dirty="0"/>
              <a:t>In  other  words,  systems  should  manage themselves, with high-level guidance from humans </a:t>
            </a:r>
          </a:p>
          <a:p>
            <a:pPr marL="0" indent="0" algn="just">
              <a:buNone/>
            </a:pPr>
            <a:endParaRPr lang="en-US" dirty="0"/>
          </a:p>
          <a:p>
            <a:pPr algn="just"/>
            <a:r>
              <a:rPr lang="en-US" dirty="0"/>
              <a:t>Autonomic,  or  self-managing,  systems  rely  on  monitoring  probes  and gauges (</a:t>
            </a:r>
            <a:r>
              <a:rPr lang="en-US" dirty="0">
                <a:solidFill>
                  <a:srgbClr val="FF0000"/>
                </a:solidFill>
              </a:rPr>
              <a:t>sensors</a:t>
            </a:r>
            <a:r>
              <a:rPr lang="en-US" dirty="0"/>
              <a:t>), on an </a:t>
            </a:r>
            <a:r>
              <a:rPr lang="en-US" dirty="0">
                <a:solidFill>
                  <a:srgbClr val="FF0000"/>
                </a:solidFill>
              </a:rPr>
              <a:t>adaptation</a:t>
            </a:r>
            <a:r>
              <a:rPr lang="en-US" dirty="0"/>
              <a:t> engine (autonomic manager) for computing optimizations based on monitoring data, and on </a:t>
            </a:r>
            <a:r>
              <a:rPr lang="en-US" dirty="0">
                <a:solidFill>
                  <a:srgbClr val="FF0000"/>
                </a:solidFill>
              </a:rPr>
              <a:t>effectors</a:t>
            </a:r>
            <a:r>
              <a:rPr lang="en-US" dirty="0"/>
              <a:t> to carry out changes on  the  system</a:t>
            </a:r>
          </a:p>
          <a:p>
            <a:endParaRPr lang="en-US" dirty="0"/>
          </a:p>
        </p:txBody>
      </p:sp>
    </p:spTree>
    <p:extLst>
      <p:ext uri="{BB962C8B-B14F-4D97-AF65-F5344CB8AC3E}">
        <p14:creationId xmlns:p14="http://schemas.microsoft.com/office/powerpoint/2010/main" val="23403943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The large data centers of cloud computing providers must be managed in an efficient  way.  In  this  sense,  the  concepts  of  </a:t>
            </a:r>
            <a:r>
              <a:rPr lang="en-US" dirty="0">
                <a:solidFill>
                  <a:srgbClr val="FF0000"/>
                </a:solidFill>
              </a:rPr>
              <a:t>autonomic  computing  </a:t>
            </a:r>
            <a:r>
              <a:rPr lang="en-US" dirty="0"/>
              <a:t>inspire software technologies </a:t>
            </a:r>
            <a:r>
              <a:rPr lang="en-US" dirty="0">
                <a:solidFill>
                  <a:srgbClr val="FF0000"/>
                </a:solidFill>
              </a:rPr>
              <a:t>for data center automation</a:t>
            </a:r>
            <a:r>
              <a:rPr lang="en-US" dirty="0"/>
              <a:t>, which may perform tasks such as: </a:t>
            </a:r>
          </a:p>
          <a:p>
            <a:pPr marL="0" indent="0" algn="just">
              <a:buNone/>
            </a:pPr>
            <a:r>
              <a:rPr lang="en-US" dirty="0">
                <a:sym typeface="Wingdings" panose="05000000000000000000" pitchFamily="2" charset="2"/>
              </a:rPr>
              <a:t></a:t>
            </a:r>
            <a:r>
              <a:rPr lang="en-US" dirty="0"/>
              <a:t>management of service levels of running applications; </a:t>
            </a:r>
            <a:r>
              <a:rPr lang="en-US" dirty="0">
                <a:sym typeface="Wingdings" panose="05000000000000000000" pitchFamily="2" charset="2"/>
              </a:rPr>
              <a:t></a:t>
            </a:r>
            <a:r>
              <a:rPr lang="en-US" dirty="0"/>
              <a:t>management of data  center  capacity;  </a:t>
            </a:r>
          </a:p>
          <a:p>
            <a:pPr marL="0" indent="0" algn="just">
              <a:buNone/>
            </a:pPr>
            <a:r>
              <a:rPr lang="en-US" dirty="0">
                <a:sym typeface="Wingdings" panose="05000000000000000000" pitchFamily="2" charset="2"/>
              </a:rPr>
              <a:t></a:t>
            </a:r>
            <a:r>
              <a:rPr lang="en-US" dirty="0"/>
              <a:t>proactive  disaster  recovery;    </a:t>
            </a:r>
          </a:p>
          <a:p>
            <a:pPr marL="0" indent="0" algn="just">
              <a:buNone/>
            </a:pPr>
            <a:r>
              <a:rPr lang="en-US" dirty="0">
                <a:sym typeface="Wingdings" panose="05000000000000000000" pitchFamily="2" charset="2"/>
              </a:rPr>
              <a:t></a:t>
            </a:r>
            <a:r>
              <a:rPr lang="en-US" dirty="0"/>
              <a:t>automation  of  VM provisioning</a:t>
            </a:r>
          </a:p>
          <a:p>
            <a:pPr marL="0" indent="0">
              <a:buNone/>
            </a:pPr>
            <a:endParaRPr lang="en-US" dirty="0"/>
          </a:p>
        </p:txBody>
      </p:sp>
    </p:spTree>
    <p:extLst>
      <p:ext uri="{BB962C8B-B14F-4D97-AF65-F5344CB8AC3E}">
        <p14:creationId xmlns:p14="http://schemas.microsoft.com/office/powerpoint/2010/main" val="20634489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i="0" dirty="0"/>
              <a:t>What is Cloud Computing?</a:t>
            </a:r>
            <a:endParaRPr lang="en-US" dirty="0"/>
          </a:p>
        </p:txBody>
      </p:sp>
      <p:sp>
        <p:nvSpPr>
          <p:cNvPr id="3" name="Content Placeholder 2"/>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endParaRPr lang="en-US" dirty="0"/>
          </a:p>
        </p:txBody>
      </p:sp>
      <p:sp>
        <p:nvSpPr>
          <p:cNvPr id="4" name="Rectangle 3"/>
          <p:cNvSpPr/>
          <p:nvPr/>
        </p:nvSpPr>
        <p:spPr>
          <a:xfrm>
            <a:off x="228600" y="1752600"/>
            <a:ext cx="8458200" cy="5055230"/>
          </a:xfrm>
          <a:prstGeom prst="rect">
            <a:avLst/>
          </a:prstGeom>
        </p:spPr>
        <p:txBody>
          <a:bodyPr wrap="square">
            <a:spAutoFit/>
          </a:bodyPr>
          <a:lstStyle/>
          <a:p>
            <a:pPr algn="just"/>
            <a:endParaRPr lang="en-US" sz="1050" dirty="0">
              <a:solidFill>
                <a:srgbClr val="000000"/>
              </a:solidFill>
              <a:latin typeface="Calibri" panose="020F0502020204030204" pitchFamily="34" charset="0"/>
            </a:endParaRPr>
          </a:p>
          <a:p>
            <a:pPr algn="just"/>
            <a:r>
              <a:rPr lang="en-US" sz="2400" b="1" dirty="0">
                <a:solidFill>
                  <a:srgbClr val="000000"/>
                </a:solidFill>
                <a:latin typeface="Calibri" panose="020F0502020204030204" pitchFamily="34" charset="0"/>
              </a:rPr>
              <a:t>Cloud Computing </a:t>
            </a:r>
            <a:r>
              <a:rPr lang="en-US" sz="2400" dirty="0">
                <a:solidFill>
                  <a:srgbClr val="000000"/>
                </a:solidFill>
                <a:latin typeface="Calibri" panose="020F0502020204030204" pitchFamily="34" charset="0"/>
              </a:rPr>
              <a:t>is a general term used to describe a new class of network based computing that takes place over the Internet, </a:t>
            </a:r>
          </a:p>
          <a:p>
            <a:pPr algn="just"/>
            <a:r>
              <a:rPr lang="en-US" sz="2400" dirty="0">
                <a:solidFill>
                  <a:srgbClr val="000000"/>
                </a:solidFill>
                <a:latin typeface="Arial" panose="020B0604020202020204" pitchFamily="34" charset="0"/>
              </a:rPr>
              <a:t>–</a:t>
            </a:r>
            <a:r>
              <a:rPr lang="en-US" sz="2400" dirty="0">
                <a:solidFill>
                  <a:srgbClr val="000000"/>
                </a:solidFill>
                <a:latin typeface="Calibri" panose="020F0502020204030204" pitchFamily="34" charset="0"/>
              </a:rPr>
              <a:t>basically a </a:t>
            </a:r>
            <a:r>
              <a:rPr lang="en-US" sz="2400" b="1" dirty="0">
                <a:solidFill>
                  <a:srgbClr val="000000"/>
                </a:solidFill>
                <a:latin typeface="Calibri" panose="020F0502020204030204" pitchFamily="34" charset="0"/>
              </a:rPr>
              <a:t>step on from Utility Computing</a:t>
            </a:r>
          </a:p>
          <a:p>
            <a:pPr algn="just"/>
            <a:r>
              <a:rPr lang="en-US" sz="2400" dirty="0">
                <a:solidFill>
                  <a:srgbClr val="000000"/>
                </a:solidFill>
                <a:latin typeface="Arial" panose="020B0604020202020204" pitchFamily="34" charset="0"/>
              </a:rPr>
              <a:t>–</a:t>
            </a:r>
            <a:r>
              <a:rPr lang="en-US" sz="2400" dirty="0">
                <a:solidFill>
                  <a:srgbClr val="000000"/>
                </a:solidFill>
                <a:latin typeface="Calibri" panose="020F0502020204030204" pitchFamily="34" charset="0"/>
              </a:rPr>
              <a:t>a collection/group of integrated and networked hardware, software and Internet infrastructure (called a platform).</a:t>
            </a:r>
          </a:p>
          <a:p>
            <a:pPr algn="just"/>
            <a:r>
              <a:rPr lang="en-US" sz="2400" dirty="0">
                <a:solidFill>
                  <a:srgbClr val="000000"/>
                </a:solidFill>
                <a:latin typeface="Arial" panose="020B0604020202020204" pitchFamily="34" charset="0"/>
              </a:rPr>
              <a:t>–</a:t>
            </a:r>
            <a:r>
              <a:rPr lang="en-US" sz="2400" dirty="0">
                <a:solidFill>
                  <a:srgbClr val="000000"/>
                </a:solidFill>
                <a:latin typeface="Calibri" panose="020F0502020204030204" pitchFamily="34" charset="0"/>
              </a:rPr>
              <a:t>Using the Internet for communication and transport provides hardware, software and networking services to clients</a:t>
            </a:r>
          </a:p>
          <a:p>
            <a:r>
              <a:rPr lang="en-US" sz="2400" dirty="0">
                <a:solidFill>
                  <a:srgbClr val="000000"/>
                </a:solidFill>
                <a:latin typeface="Calibri" panose="020F0502020204030204" pitchFamily="34" charset="0"/>
              </a:rPr>
              <a:t>-</a:t>
            </a:r>
            <a:endParaRPr lang="en-US" dirty="0"/>
          </a:p>
          <a:p>
            <a:r>
              <a:rPr lang="en-US" sz="2400" dirty="0"/>
              <a:t>These platforms hide the complexity and details of the underlying infrastructure from users and applications by providing very simple graphical interface or API (Applications Programming Interface).</a:t>
            </a:r>
          </a:p>
          <a:p>
            <a:endParaRPr lang="en-US" sz="2400" dirty="0"/>
          </a:p>
          <a:p>
            <a:endParaRPr lang="en-US" sz="24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17847509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endParaRPr lang="en-US" dirty="0"/>
          </a:p>
        </p:txBody>
      </p:sp>
      <p:sp>
        <p:nvSpPr>
          <p:cNvPr id="4" name="Rectangle 3"/>
          <p:cNvSpPr/>
          <p:nvPr/>
        </p:nvSpPr>
        <p:spPr>
          <a:xfrm>
            <a:off x="228600" y="1752600"/>
            <a:ext cx="8458200" cy="992579"/>
          </a:xfrm>
          <a:prstGeom prst="rect">
            <a:avLst/>
          </a:prstGeom>
        </p:spPr>
        <p:txBody>
          <a:bodyPr wrap="square">
            <a:spAutoFit/>
          </a:bodyPr>
          <a:lstStyle/>
          <a:p>
            <a:pPr algn="just"/>
            <a:endParaRPr lang="en-US" sz="1050" dirty="0">
              <a:solidFill>
                <a:srgbClr val="000000"/>
              </a:solidFill>
              <a:latin typeface="Calibri" panose="020F0502020204030204" pitchFamily="34" charset="0"/>
            </a:endParaRPr>
          </a:p>
          <a:p>
            <a:endParaRPr lang="en-US" sz="2400" dirty="0"/>
          </a:p>
          <a:p>
            <a:endParaRPr lang="en-US" sz="2400" dirty="0">
              <a:solidFill>
                <a:srgbClr val="000000"/>
              </a:solidFill>
              <a:latin typeface="Calibri" panose="020F0502020204030204" pitchFamily="34" charset="0"/>
            </a:endParaRPr>
          </a:p>
        </p:txBody>
      </p:sp>
      <p:sp>
        <p:nvSpPr>
          <p:cNvPr id="5" name="Rectangle 4"/>
          <p:cNvSpPr/>
          <p:nvPr/>
        </p:nvSpPr>
        <p:spPr>
          <a:xfrm>
            <a:off x="2362200" y="476806"/>
            <a:ext cx="6553200" cy="523220"/>
          </a:xfrm>
          <a:prstGeom prst="rect">
            <a:avLst/>
          </a:prstGeom>
        </p:spPr>
        <p:txBody>
          <a:bodyPr wrap="square">
            <a:spAutoFit/>
          </a:bodyPr>
          <a:lstStyle/>
          <a:p>
            <a:r>
              <a:rPr lang="en-US" sz="2800" dirty="0"/>
              <a:t>What is Cloud Computing?</a:t>
            </a:r>
          </a:p>
        </p:txBody>
      </p:sp>
      <p:sp>
        <p:nvSpPr>
          <p:cNvPr id="6" name="Rectangle 5"/>
          <p:cNvSpPr/>
          <p:nvPr/>
        </p:nvSpPr>
        <p:spPr>
          <a:xfrm>
            <a:off x="533400" y="1600200"/>
            <a:ext cx="7848600" cy="3677930"/>
          </a:xfrm>
          <a:prstGeom prst="rect">
            <a:avLst/>
          </a:prstGeom>
        </p:spPr>
        <p:txBody>
          <a:bodyPr wrap="square">
            <a:spAutoFit/>
          </a:bodyPr>
          <a:lstStyle/>
          <a:p>
            <a:endParaRPr lang="en-US" sz="900" dirty="0">
              <a:solidFill>
                <a:srgbClr val="000000"/>
              </a:solidFill>
              <a:latin typeface="Calibri" panose="020F0502020204030204" pitchFamily="34" charset="0"/>
            </a:endParaRPr>
          </a:p>
          <a:p>
            <a:r>
              <a:rPr lang="en-US" sz="2800" dirty="0">
                <a:solidFill>
                  <a:srgbClr val="000000"/>
                </a:solidFill>
                <a:latin typeface="Calibri" panose="020F0502020204030204" pitchFamily="34" charset="0"/>
              </a:rPr>
              <a:t>In addition, the platform provides on demand services, that are always on, anywhere, anytime and any place. </a:t>
            </a:r>
          </a:p>
          <a:p>
            <a:r>
              <a:rPr lang="en-US" sz="2800" dirty="0">
                <a:solidFill>
                  <a:srgbClr val="000000"/>
                </a:solidFill>
                <a:latin typeface="Arial" panose="020B0604020202020204" pitchFamily="34" charset="0"/>
              </a:rPr>
              <a:t>•</a:t>
            </a:r>
            <a:r>
              <a:rPr lang="en-US" sz="2800" dirty="0">
                <a:solidFill>
                  <a:srgbClr val="000000"/>
                </a:solidFill>
                <a:latin typeface="Calibri" panose="020F0502020204030204" pitchFamily="34" charset="0"/>
              </a:rPr>
              <a:t>Pay for use and as needed, elastic</a:t>
            </a:r>
          </a:p>
          <a:p>
            <a:r>
              <a:rPr lang="en-US" sz="2800" dirty="0">
                <a:solidFill>
                  <a:srgbClr val="000000"/>
                </a:solidFill>
                <a:latin typeface="Arial" panose="020B0604020202020204" pitchFamily="34" charset="0"/>
              </a:rPr>
              <a:t>–</a:t>
            </a:r>
            <a:r>
              <a:rPr lang="en-US" sz="2800" dirty="0">
                <a:solidFill>
                  <a:srgbClr val="000000"/>
                </a:solidFill>
                <a:latin typeface="Calibri" panose="020F0502020204030204" pitchFamily="34" charset="0"/>
              </a:rPr>
              <a:t>scale up and down in capacity and functionalities</a:t>
            </a:r>
          </a:p>
          <a:p>
            <a:r>
              <a:rPr lang="en-US" sz="2800" dirty="0">
                <a:solidFill>
                  <a:srgbClr val="000000"/>
                </a:solidFill>
                <a:latin typeface="Arial" panose="020B0604020202020204" pitchFamily="34" charset="0"/>
              </a:rPr>
              <a:t>•</a:t>
            </a:r>
            <a:r>
              <a:rPr lang="en-US" sz="2800" dirty="0">
                <a:solidFill>
                  <a:srgbClr val="000000"/>
                </a:solidFill>
                <a:latin typeface="Calibri" panose="020F0502020204030204" pitchFamily="34" charset="0"/>
              </a:rPr>
              <a:t>The hardware and software services are available to</a:t>
            </a:r>
          </a:p>
          <a:p>
            <a:r>
              <a:rPr lang="en-US" sz="2800" dirty="0">
                <a:solidFill>
                  <a:srgbClr val="000000"/>
                </a:solidFill>
                <a:latin typeface="Arial" panose="020B0604020202020204" pitchFamily="34" charset="0"/>
              </a:rPr>
              <a:t>–</a:t>
            </a:r>
            <a:r>
              <a:rPr lang="en-US" sz="2800" dirty="0">
                <a:solidFill>
                  <a:srgbClr val="000000"/>
                </a:solidFill>
                <a:latin typeface="Calibri" panose="020F0502020204030204" pitchFamily="34" charset="0"/>
              </a:rPr>
              <a:t>general public, enterprises, corporations and businesses markets</a:t>
            </a:r>
          </a:p>
        </p:txBody>
      </p:sp>
    </p:spTree>
    <p:extLst>
      <p:ext uri="{BB962C8B-B14F-4D97-AF65-F5344CB8AC3E}">
        <p14:creationId xmlns:p14="http://schemas.microsoft.com/office/powerpoint/2010/main" val="6672167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143000"/>
          </a:xfrm>
        </p:spPr>
        <p:txBody>
          <a:bodyPr/>
          <a:lstStyle/>
          <a:p>
            <a:r>
              <a:rPr lang="en-US" b="0" i="0" dirty="0"/>
              <a:t>Cloud Summary</a:t>
            </a:r>
            <a:endParaRPr lang="en-US" dirty="0"/>
          </a:p>
        </p:txBody>
      </p:sp>
      <p:sp>
        <p:nvSpPr>
          <p:cNvPr id="3" name="Rectangle 2"/>
          <p:cNvSpPr/>
          <p:nvPr/>
        </p:nvSpPr>
        <p:spPr>
          <a:xfrm>
            <a:off x="228600" y="990600"/>
            <a:ext cx="8915400" cy="6163226"/>
          </a:xfrm>
          <a:prstGeom prst="rect">
            <a:avLst/>
          </a:prstGeom>
        </p:spPr>
        <p:txBody>
          <a:bodyPr wrap="square">
            <a:spAutoFit/>
          </a:bodyPr>
          <a:lstStyle/>
          <a:p>
            <a:endParaRPr lang="en-US" sz="1050" dirty="0">
              <a:solidFill>
                <a:srgbClr val="000000"/>
              </a:solidFill>
              <a:latin typeface="Calibri" panose="020F0502020204030204" pitchFamily="34" charset="0"/>
            </a:endParaRPr>
          </a:p>
          <a:p>
            <a:r>
              <a:rPr lang="en-US" sz="3200" dirty="0">
                <a:solidFill>
                  <a:srgbClr val="000000"/>
                </a:solidFill>
                <a:latin typeface="Calibri" panose="020F0502020204030204" pitchFamily="34" charset="0"/>
              </a:rPr>
              <a:t>Cloud computing is an umbrella term used to refer to Internet based development and services</a:t>
            </a:r>
          </a:p>
          <a:p>
            <a:r>
              <a:rPr lang="en-US" sz="3200" dirty="0">
                <a:solidFill>
                  <a:srgbClr val="000000"/>
                </a:solidFill>
                <a:latin typeface="Arial" panose="020B0604020202020204" pitchFamily="34" charset="0"/>
              </a:rPr>
              <a:t>•</a:t>
            </a:r>
            <a:r>
              <a:rPr lang="en-US" sz="3200" dirty="0">
                <a:solidFill>
                  <a:srgbClr val="000000"/>
                </a:solidFill>
                <a:latin typeface="Calibri" panose="020F0502020204030204" pitchFamily="34" charset="0"/>
              </a:rPr>
              <a:t>A number of characteristics define cloud data, applications services and infrastructure:</a:t>
            </a:r>
          </a:p>
          <a:p>
            <a:r>
              <a:rPr lang="en-US" sz="3200" dirty="0">
                <a:solidFill>
                  <a:srgbClr val="000000"/>
                </a:solidFill>
                <a:latin typeface="Arial" panose="020B0604020202020204" pitchFamily="34" charset="0"/>
              </a:rPr>
              <a:t>–</a:t>
            </a:r>
            <a:r>
              <a:rPr lang="en-US" sz="3200" b="1" dirty="0">
                <a:solidFill>
                  <a:srgbClr val="000000"/>
                </a:solidFill>
                <a:latin typeface="Calibri" panose="020F0502020204030204" pitchFamily="34" charset="0"/>
              </a:rPr>
              <a:t>Remotely hosted</a:t>
            </a:r>
            <a:r>
              <a:rPr lang="en-US" sz="3200" dirty="0">
                <a:solidFill>
                  <a:srgbClr val="000000"/>
                </a:solidFill>
                <a:latin typeface="Calibri" panose="020F0502020204030204" pitchFamily="34" charset="0"/>
              </a:rPr>
              <a:t>: Services or data are hosted on remote infrastructure. </a:t>
            </a:r>
          </a:p>
          <a:p>
            <a:r>
              <a:rPr lang="en-US" sz="3200" dirty="0">
                <a:solidFill>
                  <a:srgbClr val="000000"/>
                </a:solidFill>
                <a:latin typeface="Arial" panose="020B0604020202020204" pitchFamily="34" charset="0"/>
              </a:rPr>
              <a:t>–</a:t>
            </a:r>
            <a:r>
              <a:rPr lang="en-US" sz="3200" b="1" dirty="0">
                <a:solidFill>
                  <a:srgbClr val="000000"/>
                </a:solidFill>
                <a:latin typeface="Calibri" panose="020F0502020204030204" pitchFamily="34" charset="0"/>
              </a:rPr>
              <a:t>Ubiquitous</a:t>
            </a:r>
            <a:r>
              <a:rPr lang="en-US" sz="3200" dirty="0">
                <a:solidFill>
                  <a:srgbClr val="000000"/>
                </a:solidFill>
                <a:latin typeface="Calibri" panose="020F0502020204030204" pitchFamily="34" charset="0"/>
              </a:rPr>
              <a:t>: Services or data are available from anywhere.</a:t>
            </a:r>
          </a:p>
          <a:p>
            <a:r>
              <a:rPr lang="en-US" sz="3200" dirty="0">
                <a:solidFill>
                  <a:srgbClr val="000000"/>
                </a:solidFill>
                <a:latin typeface="Arial" panose="020B0604020202020204" pitchFamily="34" charset="0"/>
              </a:rPr>
              <a:t>–</a:t>
            </a:r>
            <a:r>
              <a:rPr lang="en-US" sz="3200" b="1" dirty="0">
                <a:solidFill>
                  <a:srgbClr val="000000"/>
                </a:solidFill>
                <a:latin typeface="Calibri" panose="020F0502020204030204" pitchFamily="34" charset="0"/>
              </a:rPr>
              <a:t>Commodified</a:t>
            </a:r>
            <a:r>
              <a:rPr lang="en-US" sz="3200" dirty="0">
                <a:solidFill>
                  <a:srgbClr val="000000"/>
                </a:solidFill>
                <a:latin typeface="Calibri" panose="020F0502020204030204" pitchFamily="34" charset="0"/>
              </a:rPr>
              <a:t>: The result is a utility computing model similar to traditional that of traditional utilities, like gas and electricity -you pay for what you would want!</a:t>
            </a:r>
          </a:p>
        </p:txBody>
      </p:sp>
    </p:spTree>
    <p:extLst>
      <p:ext uri="{BB962C8B-B14F-4D97-AF65-F5344CB8AC3E}">
        <p14:creationId xmlns:p14="http://schemas.microsoft.com/office/powerpoint/2010/main" val="10361407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533400" y="0"/>
            <a:ext cx="8229600" cy="65532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None/>
              <a:tabLst/>
              <a:defRPr/>
            </a:pPr>
            <a:r>
              <a:rPr kumimoji="0" lang="en-IN" sz="3600" b="1"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mn-cs"/>
              </a:rPr>
              <a:t>Cloud computing architecture </a:t>
            </a:r>
          </a:p>
          <a:p>
            <a:pPr marL="0" marR="0" lvl="0" indent="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None/>
              <a:tabLst/>
              <a:defRPr/>
            </a:pPr>
            <a:endParaRPr kumimoji="0" lang="en-IN" sz="3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342900" marR="0" lvl="0" indent="-34290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Char char="•"/>
              <a:tabLst/>
              <a:defRPr/>
            </a:pPr>
            <a:endParaRPr kumimoji="0" lang="en-US" sz="22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endParaRPr>
          </a:p>
          <a:p>
            <a:pPr marL="342900" marR="0" lvl="0" indent="-34290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Char char="•"/>
              <a:tabLst/>
              <a:defRPr/>
            </a:pPr>
            <a:r>
              <a:rPr kumimoji="0" lang="en-US" sz="22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rPr>
              <a:t>As we know, cloud computing technology is used by both small and large organizations to store the information in cloud and access it from anywhere at any time using the internet connection.</a:t>
            </a:r>
          </a:p>
          <a:p>
            <a:pPr marL="0" marR="0" lvl="0" indent="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None/>
              <a:tabLst/>
              <a:defRPr/>
            </a:pPr>
            <a:endParaRPr kumimoji="0" lang="en-US" sz="22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endParaRPr>
          </a:p>
          <a:p>
            <a:pPr marL="342900" marR="0" lvl="0" indent="-34290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Char char="•"/>
              <a:tabLst/>
              <a:defRPr/>
            </a:pPr>
            <a:r>
              <a:rPr kumimoji="0" lang="en-US" sz="22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rPr>
              <a:t>Cloud computing architecture is a </a:t>
            </a:r>
            <a:r>
              <a:rPr kumimoji="0" lang="en-US" sz="2200" b="1" i="0" u="none" strike="noStrike" kern="1200" cap="none" spc="0" normalizeH="0" baseline="0" noProof="0" dirty="0">
                <a:ln>
                  <a:noFill/>
                </a:ln>
                <a:solidFill>
                  <a:srgbClr val="1F497D">
                    <a:lumMod val="75000"/>
                  </a:srgbClr>
                </a:solidFill>
                <a:effectLst/>
                <a:uLnTx/>
                <a:uFillTx/>
                <a:latin typeface="Cambria" pitchFamily="18" charset="0"/>
                <a:ea typeface="+mn-ea"/>
                <a:cs typeface="+mn-cs"/>
              </a:rPr>
              <a:t>combination of service-oriented architecture and event-driven architecture</a:t>
            </a:r>
            <a:r>
              <a:rPr kumimoji="0" lang="en-US" sz="22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rPr>
              <a:t>.</a:t>
            </a:r>
          </a:p>
          <a:p>
            <a:pPr marL="0" marR="0" lvl="0" indent="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None/>
              <a:tabLst/>
              <a:defRPr/>
            </a:pPr>
            <a:r>
              <a:rPr kumimoji="0" lang="en-US" sz="22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rPr>
              <a:t>Cloud computing architecture is </a:t>
            </a:r>
            <a:r>
              <a:rPr kumimoji="0" lang="en-US" sz="2200" b="1" i="0" u="none" strike="noStrike" kern="1200" cap="none" spc="0" normalizeH="0" baseline="0" noProof="0" dirty="0">
                <a:ln>
                  <a:noFill/>
                </a:ln>
                <a:solidFill>
                  <a:srgbClr val="1F497D">
                    <a:lumMod val="75000"/>
                  </a:srgbClr>
                </a:solidFill>
                <a:effectLst/>
                <a:uLnTx/>
                <a:uFillTx/>
                <a:latin typeface="Cambria" pitchFamily="18" charset="0"/>
                <a:ea typeface="+mn-ea"/>
                <a:cs typeface="+mn-cs"/>
              </a:rPr>
              <a:t>divided into </a:t>
            </a:r>
            <a:r>
              <a:rPr kumimoji="0" lang="en-US" sz="22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rPr>
              <a:t>the following two parts –</a:t>
            </a:r>
          </a:p>
          <a:p>
            <a:pPr marL="0" marR="0" lvl="0" indent="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None/>
              <a:tabLst/>
              <a:defRPr/>
            </a:pPr>
            <a:endParaRPr kumimoji="0" lang="en-US" sz="22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endParaRPr>
          </a:p>
          <a:p>
            <a:pPr marL="0" marR="0" lvl="0" indent="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None/>
              <a:tabLst/>
              <a:defRPr/>
            </a:pPr>
            <a:r>
              <a:rPr kumimoji="0" lang="en-US" sz="2200" b="1" i="0" u="none" strike="noStrike" kern="1200" cap="none" spc="0" normalizeH="0" baseline="0" noProof="0" dirty="0">
                <a:ln>
                  <a:noFill/>
                </a:ln>
                <a:solidFill>
                  <a:srgbClr val="1F497D">
                    <a:lumMod val="75000"/>
                  </a:srgbClr>
                </a:solidFill>
                <a:effectLst/>
                <a:uLnTx/>
                <a:uFillTx/>
                <a:latin typeface="Cambria" pitchFamily="18" charset="0"/>
                <a:ea typeface="+mn-ea"/>
                <a:cs typeface="+mn-cs"/>
              </a:rPr>
              <a:t>Front End</a:t>
            </a:r>
          </a:p>
          <a:p>
            <a:pPr marL="0" marR="0" lvl="0" indent="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None/>
              <a:tabLst/>
              <a:defRPr/>
            </a:pPr>
            <a:r>
              <a:rPr kumimoji="0" lang="en-US" sz="2200" b="1" i="0" u="none" strike="noStrike" kern="1200" cap="none" spc="0" normalizeH="0" baseline="0" noProof="0" dirty="0">
                <a:ln>
                  <a:noFill/>
                </a:ln>
                <a:solidFill>
                  <a:srgbClr val="1F497D">
                    <a:lumMod val="75000"/>
                  </a:srgbClr>
                </a:solidFill>
                <a:effectLst/>
                <a:uLnTx/>
                <a:uFillTx/>
                <a:latin typeface="Cambria" pitchFamily="18" charset="0"/>
                <a:ea typeface="+mn-ea"/>
                <a:cs typeface="+mn-cs"/>
              </a:rPr>
              <a:t> Back End</a:t>
            </a:r>
          </a:p>
          <a:p>
            <a:pPr marL="0" marR="0" lvl="0" indent="0" algn="just" defTabSz="914400" rtl="0" eaLnBrk="1" fontAlgn="auto" latinLnBrk="0" hangingPunct="1">
              <a:lnSpc>
                <a:spcPct val="150000"/>
              </a:lnSpc>
              <a:spcBef>
                <a:spcPct val="20000"/>
              </a:spcBef>
              <a:spcAft>
                <a:spcPts val="0"/>
              </a:spcAft>
              <a:buClr>
                <a:srgbClr val="4F81BD">
                  <a:lumMod val="75000"/>
                </a:srgbClr>
              </a:buClr>
              <a:buSzTx/>
              <a:buFont typeface="Arial" pitchFamily="34" charset="0"/>
              <a:buNone/>
              <a:tabLst/>
              <a:defRPr/>
            </a:pPr>
            <a:endParaRPr kumimoji="0" lang="en-US" sz="2200" b="1" i="0" u="sng" strike="noStrike" kern="1200" cap="none" spc="0" normalizeH="0" baseline="0" noProof="0" dirty="0">
              <a:ln>
                <a:noFill/>
              </a:ln>
              <a:solidFill>
                <a:srgbClr val="1F497D">
                  <a:lumMod val="75000"/>
                </a:srgbClr>
              </a:solidFill>
              <a:effectLst/>
              <a:uLnTx/>
              <a:uFillTx/>
              <a:latin typeface="Cambria" pitchFamily="18" charset="0"/>
              <a:ea typeface="+mn-ea"/>
              <a:cs typeface="+mn-cs"/>
            </a:endParaRPr>
          </a:p>
          <a:p>
            <a:pPr marL="0" marR="0" lvl="0" indent="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None/>
              <a:tabLst/>
              <a:defRPr/>
            </a:pPr>
            <a:endParaRPr kumimoji="0" lang="en-US" sz="28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endParaRPr>
          </a:p>
          <a:p>
            <a:pPr marL="342900" marR="0" lvl="0" indent="-34290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Char char="•"/>
              <a:tabLst/>
              <a:defRPr/>
            </a:pPr>
            <a:endParaRPr kumimoji="0" lang="en-US" sz="28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endParaRPr>
          </a:p>
        </p:txBody>
      </p:sp>
    </p:spTree>
    <p:extLst>
      <p:ext uri="{BB962C8B-B14F-4D97-AF65-F5344CB8AC3E}">
        <p14:creationId xmlns:p14="http://schemas.microsoft.com/office/powerpoint/2010/main" val="30444230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None/>
              <a:tabLst/>
              <a:defRPr/>
            </a:pPr>
            <a:r>
              <a:rPr kumimoji="0" lang="en-IN" sz="3600" b="1"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mn-cs"/>
              </a:rPr>
              <a:t>Cloud computing architecture </a:t>
            </a:r>
          </a:p>
          <a:p>
            <a:pPr marL="0" marR="0" lvl="0" indent="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None/>
              <a:tabLst/>
              <a:defRPr/>
            </a:pPr>
            <a:endParaRPr kumimoji="0" lang="en-IN" sz="3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just" defTabSz="914400" rtl="0" eaLnBrk="1" fontAlgn="auto" latinLnBrk="0" hangingPunct="1">
              <a:lnSpc>
                <a:spcPct val="150000"/>
              </a:lnSpc>
              <a:spcBef>
                <a:spcPct val="20000"/>
              </a:spcBef>
              <a:spcAft>
                <a:spcPts val="0"/>
              </a:spcAft>
              <a:buClr>
                <a:srgbClr val="4F81BD">
                  <a:lumMod val="75000"/>
                </a:srgbClr>
              </a:buClr>
              <a:buSzTx/>
              <a:buFont typeface="Arial" pitchFamily="34" charset="0"/>
              <a:buNone/>
              <a:tabLst/>
              <a:defRPr/>
            </a:pPr>
            <a:endParaRPr kumimoji="0" lang="en-US" sz="2200" b="1" i="0" u="sng" strike="noStrike" kern="1200" cap="none" spc="0" normalizeH="0" baseline="0" noProof="0" dirty="0">
              <a:ln>
                <a:noFill/>
              </a:ln>
              <a:solidFill>
                <a:srgbClr val="1F497D">
                  <a:lumMod val="75000"/>
                </a:srgbClr>
              </a:solidFill>
              <a:effectLst/>
              <a:uLnTx/>
              <a:uFillTx/>
              <a:latin typeface="Cambria" pitchFamily="18" charset="0"/>
              <a:ea typeface="+mn-ea"/>
              <a:cs typeface="+mn-cs"/>
            </a:endParaRPr>
          </a:p>
          <a:p>
            <a:pPr marL="0" marR="0" lvl="0" indent="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None/>
              <a:tabLst/>
              <a:defRPr/>
            </a:pPr>
            <a:endParaRPr kumimoji="0" lang="en-US" sz="28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endParaRPr>
          </a:p>
          <a:p>
            <a:pPr marL="342900" marR="0" lvl="0" indent="-34290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Char char="•"/>
              <a:tabLst/>
              <a:defRPr/>
            </a:pPr>
            <a:endParaRPr kumimoji="0" lang="en-US" sz="28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endParaRPr>
          </a:p>
        </p:txBody>
      </p:sp>
      <p:pic>
        <p:nvPicPr>
          <p:cNvPr id="4" name="Picture 3" descr="Cloud Computing Architecture">
            <a:extLst>
              <a:ext uri="{FF2B5EF4-FFF2-40B4-BE49-F238E27FC236}">
                <a16:creationId xmlns:a16="http://schemas.microsoft.com/office/drawing/2014/main" id="{C4DF8DDA-41E2-4AE9-8E9C-F2F92A03422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811204" y="1189272"/>
            <a:ext cx="6723196" cy="4830528"/>
          </a:xfrm>
          <a:prstGeom prst="rect">
            <a:avLst/>
          </a:prstGeom>
          <a:noFill/>
          <a:ln>
            <a:noFill/>
          </a:ln>
        </p:spPr>
      </p:pic>
    </p:spTree>
    <p:extLst>
      <p:ext uri="{BB962C8B-B14F-4D97-AF65-F5344CB8AC3E}">
        <p14:creationId xmlns:p14="http://schemas.microsoft.com/office/powerpoint/2010/main" val="21548710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None/>
              <a:tabLst/>
              <a:defRPr/>
            </a:pPr>
            <a:r>
              <a:rPr kumimoji="0" lang="en-IN" sz="3600" b="1"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mn-cs"/>
              </a:rPr>
              <a:t>Cloud computing architecture </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kumimoji="0" lang="en-IN" sz="3600" b="1" i="0" u="sng" strike="noStrike" kern="1200" cap="none" spc="0" normalizeH="0" baseline="0" noProof="0" dirty="0">
                <a:ln>
                  <a:noFill/>
                </a:ln>
                <a:solidFill>
                  <a:srgbClr val="FF0000"/>
                </a:solidFill>
                <a:effectLst/>
                <a:uLnTx/>
                <a:uFillTx/>
                <a:latin typeface="Times New Roman" panose="02020603050405020304" pitchFamily="18" charset="0"/>
                <a:ea typeface="Times New Roman" panose="02020603050405020304" pitchFamily="18" charset="0"/>
                <a:cs typeface="+mn-cs"/>
              </a:rPr>
              <a:t>Front End</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endParaRPr kumimoji="0" lang="en-IN" sz="3600" b="0" i="0" u="sng" strike="noStrike" kern="1200" cap="none" spc="0" normalizeH="0" baseline="0" noProof="0" dirty="0">
              <a:ln>
                <a:noFill/>
              </a:ln>
              <a:solidFill>
                <a:srgbClr val="FF0000"/>
              </a:solidFill>
              <a:effectLst/>
              <a:uLnTx/>
              <a:uFillTx/>
              <a:latin typeface="Times New Roman" panose="02020603050405020304" pitchFamily="18" charset="0"/>
              <a:ea typeface="Times New Roman" panose="02020603050405020304" pitchFamily="18" charset="0"/>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pitchFamily="34" charset="0"/>
              <a:buChar char="•"/>
              <a:tabLst/>
              <a:defRPr/>
            </a:pPr>
            <a:r>
              <a:rPr kumimoji="0" lang="en-IN"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The front end is </a:t>
            </a:r>
            <a:r>
              <a:rPr kumimoji="0" lang="en-IN"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used by the client.</a:t>
            </a:r>
          </a:p>
          <a:p>
            <a:pPr marL="342900" marR="0" lvl="0" indent="-342900" algn="just" defTabSz="914400" rtl="0" eaLnBrk="1" fontAlgn="auto" latinLnBrk="0" hangingPunct="1">
              <a:lnSpc>
                <a:spcPct val="10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 It contains </a:t>
            </a:r>
            <a:r>
              <a:rPr kumimoji="0" lang="en-IN"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client-side interfaces and applications </a:t>
            </a:r>
            <a:r>
              <a:rPr kumimoji="0" lang="en-IN"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that are required to access the cloud computing platforms. </a:t>
            </a:r>
          </a:p>
          <a:p>
            <a:pPr marL="342900" marR="0" lvl="0" indent="-342900" algn="just" defTabSz="914400" rtl="0" eaLnBrk="1" fontAlgn="auto" latinLnBrk="0" hangingPunct="1">
              <a:lnSpc>
                <a:spcPct val="10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The front end includes web servers (including Chrome, Firefox, internet explorer, etc.), thin &amp; fat clients, tablets, and mobile devices.</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endParaRPr kumimoji="0" lang="en-IN" sz="2000" b="1" i="0" u="none" strike="noStrike" kern="1200" cap="none" spc="0" normalizeH="0" baseline="0" noProof="0" dirty="0">
              <a:ln>
                <a:noFill/>
              </a:ln>
              <a:solidFill>
                <a:prstClr val="black"/>
              </a:solidFill>
              <a:effectLst/>
              <a:uLnTx/>
              <a:uFillTx/>
              <a:latin typeface="Georgia" panose="02040502050405020303" pitchFamily="18" charset="0"/>
              <a:ea typeface="Times New Roman" panose="02020603050405020304" pitchFamily="18" charset="0"/>
              <a:cs typeface="+mn-cs"/>
            </a:endParaRP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kumimoji="0" lang="en-IN" sz="3600" b="1" i="0" u="sng" strike="noStrike" kern="1200" cap="none" spc="0" normalizeH="0" baseline="0" noProof="0" dirty="0">
                <a:ln>
                  <a:noFill/>
                </a:ln>
                <a:solidFill>
                  <a:srgbClr val="FF0000"/>
                </a:solidFill>
                <a:effectLst/>
                <a:uLnTx/>
                <a:uFillTx/>
                <a:latin typeface="Times New Roman" panose="02020603050405020304" pitchFamily="18" charset="0"/>
                <a:ea typeface="Times New Roman" panose="02020603050405020304" pitchFamily="18" charset="0"/>
                <a:cs typeface="+mn-cs"/>
              </a:rPr>
              <a:t>Back End</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endParaRPr kumimoji="0" lang="en-IN" sz="3600" b="0" i="0" u="sng" strike="noStrike" kern="1200" cap="none" spc="0" normalizeH="0" baseline="0" noProof="0" dirty="0">
              <a:ln>
                <a:noFill/>
              </a:ln>
              <a:solidFill>
                <a:srgbClr val="FF0000"/>
              </a:solidFill>
              <a:effectLst/>
              <a:uLnTx/>
              <a:uFillTx/>
              <a:latin typeface="Times New Roman" panose="02020603050405020304" pitchFamily="18" charset="0"/>
              <a:ea typeface="Times New Roman" panose="02020603050405020304" pitchFamily="18" charset="0"/>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pitchFamily="34" charset="0"/>
              <a:buChar char="•"/>
              <a:tabLst/>
              <a:defRPr/>
            </a:pPr>
            <a:r>
              <a:rPr kumimoji="0" lang="en-IN"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The back end is </a:t>
            </a:r>
            <a:r>
              <a:rPr kumimoji="0" lang="en-IN"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used by the service provider. </a:t>
            </a:r>
          </a:p>
          <a:p>
            <a:pPr marL="342900" marR="0" lvl="0" indent="-342900" algn="just" defTabSz="914400" rtl="0" eaLnBrk="1" fontAlgn="auto" latinLnBrk="0" hangingPunct="1">
              <a:lnSpc>
                <a:spcPct val="10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It manages all the resources that are required to provide cloud computing services. </a:t>
            </a:r>
          </a:p>
          <a:p>
            <a:pPr marL="342900" marR="0" lvl="0" indent="-342900" algn="just" defTabSz="914400" rtl="0" eaLnBrk="1" fontAlgn="auto" latinLnBrk="0" hangingPunct="1">
              <a:lnSpc>
                <a:spcPct val="10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It includes a huge amount of data storage, security mechanism, virtual machines, deploying models, servers, traffic control mechanisms, etc.</a:t>
            </a:r>
            <a:endParaRPr kumimoji="0" lang="en-IN" sz="2000" b="1" i="0" u="none" strike="noStrike" kern="1200" cap="none" spc="0" normalizeH="0" baseline="0" noProof="0" dirty="0">
              <a:ln>
                <a:noFill/>
              </a:ln>
              <a:solidFill>
                <a:prstClr val="black"/>
              </a:solidFill>
              <a:effectLst/>
              <a:uLnTx/>
              <a:uFillTx/>
              <a:latin typeface="Georgia" panose="02040502050405020303" pitchFamily="18" charset="0"/>
              <a:ea typeface="Times New Roman" panose="02020603050405020304" pitchFamily="18" charset="0"/>
              <a:cs typeface="+mn-cs"/>
            </a:endParaRPr>
          </a:p>
          <a:p>
            <a:pPr marL="0" marR="0" lvl="0" indent="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None/>
              <a:tabLst/>
              <a:defRPr/>
            </a:pPr>
            <a:endParaRPr kumimoji="0" lang="en-US" sz="28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endParaRPr>
          </a:p>
          <a:p>
            <a:pPr marL="342900" marR="0" lvl="0" indent="-34290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Char char="•"/>
              <a:tabLst/>
              <a:defRPr/>
            </a:pPr>
            <a:endParaRPr kumimoji="0" lang="en-US" sz="28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endParaRPr>
          </a:p>
        </p:txBody>
      </p:sp>
    </p:spTree>
    <p:extLst>
      <p:ext uri="{BB962C8B-B14F-4D97-AF65-F5344CB8AC3E}">
        <p14:creationId xmlns:p14="http://schemas.microsoft.com/office/powerpoint/2010/main" val="38161386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533400" y="-63062"/>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None/>
              <a:tabLst/>
              <a:defRPr/>
            </a:pPr>
            <a:r>
              <a:rPr kumimoji="0" lang="en-IN" sz="3600" b="1"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mn-cs"/>
              </a:rPr>
              <a:t>Cloud computing architecture </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kumimoji="0" lang="en-IN" sz="3600" b="1" i="0" u="sng" strike="noStrike" kern="1200" cap="none" spc="0" normalizeH="0" baseline="0" noProof="0" dirty="0">
                <a:ln>
                  <a:noFill/>
                </a:ln>
                <a:solidFill>
                  <a:srgbClr val="FF0000"/>
                </a:solidFill>
                <a:effectLst/>
                <a:uLnTx/>
                <a:uFillTx/>
                <a:latin typeface="Times New Roman" panose="02020603050405020304" pitchFamily="18" charset="0"/>
                <a:ea typeface="Times New Roman" panose="02020603050405020304" pitchFamily="18" charset="0"/>
                <a:cs typeface="+mn-cs"/>
              </a:rPr>
              <a:t>Front End</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endParaRPr kumimoji="0" lang="en-IN" sz="3600" b="0" i="0" u="sng" strike="noStrike" kern="1200" cap="none" spc="0" normalizeH="0" baseline="0" noProof="0" dirty="0">
              <a:ln>
                <a:noFill/>
              </a:ln>
              <a:solidFill>
                <a:srgbClr val="FF0000"/>
              </a:solidFill>
              <a:effectLst/>
              <a:uLnTx/>
              <a:uFillTx/>
              <a:latin typeface="Times New Roman" panose="02020603050405020304" pitchFamily="18" charset="0"/>
              <a:ea typeface="Times New Roman" panose="02020603050405020304" pitchFamily="18" charset="0"/>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Client Infrastructure – Client Infrastructure is a part of the frontend component. It contains the </a:t>
            </a:r>
            <a:r>
              <a:rPr kumimoji="0" lang="en-US"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applications and user interfaces </a:t>
            </a: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which are required to access the cloud platform.</a:t>
            </a:r>
          </a:p>
          <a:p>
            <a:pPr marL="342900" marR="0" lvl="0" indent="-342900" algn="just"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In other words, it </a:t>
            </a:r>
            <a:r>
              <a:rPr kumimoji="0" lang="en-US"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provides a GUI</a:t>
            </a: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 Graphical User Interface ) to </a:t>
            </a:r>
            <a:r>
              <a:rPr kumimoji="0" lang="en-US"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interact with the cloud</a:t>
            </a:r>
            <a:endParaRPr kumimoji="0" lang="en-IN" sz="2000" b="1" i="0" u="none" strike="noStrike" kern="1200" cap="none" spc="0" normalizeH="0" baseline="0" noProof="0" dirty="0">
              <a:ln>
                <a:noFill/>
              </a:ln>
              <a:solidFill>
                <a:prstClr val="black"/>
              </a:solidFill>
              <a:effectLst/>
              <a:uLnTx/>
              <a:uFillTx/>
              <a:latin typeface="Georgia" panose="02040502050405020303" pitchFamily="18" charset="0"/>
              <a:ea typeface="Times New Roman" panose="02020603050405020304" pitchFamily="18" charset="0"/>
              <a:cs typeface="+mn-cs"/>
            </a:endParaRPr>
          </a:p>
          <a:p>
            <a:pPr marL="0" marR="0" lvl="0" indent="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None/>
              <a:tabLst/>
              <a:defRPr/>
            </a:pPr>
            <a:endParaRPr kumimoji="0" lang="en-US" sz="28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endParaRPr>
          </a:p>
          <a:p>
            <a:pPr marL="342900" marR="0" lvl="0" indent="-34290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Char char="•"/>
              <a:tabLst/>
              <a:defRPr/>
            </a:pPr>
            <a:endParaRPr kumimoji="0" lang="en-US" sz="28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endParaRPr>
          </a:p>
        </p:txBody>
      </p:sp>
    </p:spTree>
    <p:extLst>
      <p:ext uri="{BB962C8B-B14F-4D97-AF65-F5344CB8AC3E}">
        <p14:creationId xmlns:p14="http://schemas.microsoft.com/office/powerpoint/2010/main" val="18269345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None/>
              <a:tabLst/>
              <a:defRPr/>
            </a:pPr>
            <a:r>
              <a:rPr kumimoji="0" lang="en-IN" sz="3600" b="1"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mn-cs"/>
              </a:rPr>
              <a:t>Cloud computing architecture </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kumimoji="0" lang="en-IN" sz="3600" b="1" i="0" u="sng" strike="noStrike" kern="1200" cap="none" spc="0" normalizeH="0" baseline="0" noProof="0" dirty="0">
                <a:ln>
                  <a:noFill/>
                </a:ln>
                <a:solidFill>
                  <a:srgbClr val="FF0000"/>
                </a:solidFill>
                <a:effectLst/>
                <a:uLnTx/>
                <a:uFillTx/>
                <a:latin typeface="Times New Roman" panose="02020603050405020304" pitchFamily="18" charset="0"/>
                <a:ea typeface="Times New Roman" panose="02020603050405020304" pitchFamily="18" charset="0"/>
                <a:cs typeface="+mn-cs"/>
              </a:rPr>
              <a:t>Back End</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endParaRPr kumimoji="0" lang="en-IN" sz="3600" b="0" i="0" u="sng" strike="noStrike" kern="1200" cap="none" spc="0" normalizeH="0" baseline="0" noProof="0" dirty="0">
              <a:ln>
                <a:noFill/>
              </a:ln>
              <a:solidFill>
                <a:srgbClr val="FF0000"/>
              </a:solidFill>
              <a:effectLst/>
              <a:uLnTx/>
              <a:uFillTx/>
              <a:latin typeface="Times New Roman" panose="02020603050405020304" pitchFamily="18" charset="0"/>
              <a:ea typeface="Times New Roman" panose="02020603050405020304" pitchFamily="18" charset="0"/>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Backend </a:t>
            </a:r>
            <a:r>
              <a:rPr kumimoji="0" lang="en-US"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refers</a:t>
            </a: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 to the </a:t>
            </a:r>
            <a:r>
              <a:rPr kumimoji="0" lang="en-US"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cloud itself </a:t>
            </a: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which is </a:t>
            </a:r>
            <a:r>
              <a:rPr kumimoji="0" lang="en-US"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used by the service provider</a:t>
            </a: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 It </a:t>
            </a:r>
            <a:r>
              <a:rPr kumimoji="0" lang="en-US"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contains the resources </a:t>
            </a: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as well as manages the resources and provides security mechanisms. They are</a:t>
            </a: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Application –</a:t>
            </a: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Service –</a:t>
            </a: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Runtime Cloud-</a:t>
            </a: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Storage –</a:t>
            </a: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tabLst/>
              <a:defRPr/>
            </a:pPr>
            <a:endPar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endParaRP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Infrastructure –</a:t>
            </a:r>
          </a:p>
          <a:p>
            <a:pPr marL="342900" marR="0" lvl="0" indent="-342900" algn="just"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28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endParaRPr>
          </a:p>
        </p:txBody>
      </p:sp>
    </p:spTree>
    <p:extLst>
      <p:ext uri="{BB962C8B-B14F-4D97-AF65-F5344CB8AC3E}">
        <p14:creationId xmlns:p14="http://schemas.microsoft.com/office/powerpoint/2010/main" val="12446137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None/>
              <a:tabLst/>
              <a:defRPr/>
            </a:pPr>
            <a:r>
              <a:rPr kumimoji="0" lang="en-IN" sz="3600" b="1"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mn-cs"/>
              </a:rPr>
              <a:t>Cloud computing architecture </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kumimoji="0" lang="en-IN" sz="3600" b="1" i="0" u="sng" strike="noStrike" kern="1200" cap="none" spc="0" normalizeH="0" baseline="0" noProof="0" dirty="0">
                <a:ln>
                  <a:noFill/>
                </a:ln>
                <a:solidFill>
                  <a:srgbClr val="FF0000"/>
                </a:solidFill>
                <a:effectLst/>
                <a:uLnTx/>
                <a:uFillTx/>
                <a:latin typeface="Times New Roman" panose="02020603050405020304" pitchFamily="18" charset="0"/>
                <a:ea typeface="Times New Roman" panose="02020603050405020304" pitchFamily="18" charset="0"/>
                <a:cs typeface="+mn-cs"/>
              </a:rPr>
              <a:t>Back End</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endParaRPr kumimoji="0" lang="en-IN" sz="3600" b="0" i="0" u="sng" strike="noStrike" kern="1200" cap="none" spc="0" normalizeH="0" baseline="0" noProof="0" dirty="0">
              <a:ln>
                <a:noFill/>
              </a:ln>
              <a:solidFill>
                <a:srgbClr val="FF0000"/>
              </a:solidFill>
              <a:effectLst/>
              <a:uLnTx/>
              <a:uFillTx/>
              <a:latin typeface="Times New Roman" panose="02020603050405020304" pitchFamily="18" charset="0"/>
              <a:ea typeface="Times New Roman" panose="02020603050405020304" pitchFamily="18" charset="0"/>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Backend </a:t>
            </a:r>
            <a:r>
              <a:rPr kumimoji="0" lang="en-US"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refers</a:t>
            </a: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 to the </a:t>
            </a:r>
            <a:r>
              <a:rPr kumimoji="0" lang="en-US"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cloud itself </a:t>
            </a: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which is </a:t>
            </a:r>
            <a:r>
              <a:rPr kumimoji="0" lang="en-US"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used by the service provider</a:t>
            </a: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 It </a:t>
            </a:r>
            <a:r>
              <a:rPr kumimoji="0" lang="en-US"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contains the resources </a:t>
            </a: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as well as manages the resources and provides security mechanisms. They are</a:t>
            </a: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Application –</a:t>
            </a: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Service –</a:t>
            </a: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Runtime Cloud-</a:t>
            </a: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Storage –</a:t>
            </a: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tabLst/>
              <a:defRPr/>
            </a:pPr>
            <a:endPar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endParaRP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Infrastructure –</a:t>
            </a:r>
          </a:p>
          <a:p>
            <a:pPr marL="342900" marR="0" lvl="0" indent="-342900" algn="just"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28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endParaRPr>
          </a:p>
        </p:txBody>
      </p:sp>
    </p:spTree>
    <p:extLst>
      <p:ext uri="{BB962C8B-B14F-4D97-AF65-F5344CB8AC3E}">
        <p14:creationId xmlns:p14="http://schemas.microsoft.com/office/powerpoint/2010/main" val="5524303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ct val="20000"/>
              </a:spcBef>
              <a:spcAft>
                <a:spcPts val="0"/>
              </a:spcAft>
              <a:buClr>
                <a:srgbClr val="4F81BD">
                  <a:lumMod val="75000"/>
                </a:srgbClr>
              </a:buClr>
              <a:buSzTx/>
              <a:buFont typeface="Arial" pitchFamily="34" charset="0"/>
              <a:buNone/>
              <a:tabLst/>
              <a:defRPr/>
            </a:pPr>
            <a:r>
              <a:rPr kumimoji="0" lang="en-IN" sz="3600" b="1"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mn-cs"/>
              </a:rPr>
              <a:t>Cloud computing architecture </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kumimoji="0" lang="en-IN" sz="3600" b="1" i="0" u="sng" strike="noStrike" kern="1200" cap="none" spc="0" normalizeH="0" baseline="0" noProof="0" dirty="0">
                <a:ln>
                  <a:noFill/>
                </a:ln>
                <a:solidFill>
                  <a:srgbClr val="FF0000"/>
                </a:solidFill>
                <a:effectLst/>
                <a:uLnTx/>
                <a:uFillTx/>
                <a:latin typeface="Times New Roman" panose="02020603050405020304" pitchFamily="18" charset="0"/>
                <a:ea typeface="Times New Roman" panose="02020603050405020304" pitchFamily="18" charset="0"/>
                <a:cs typeface="+mn-cs"/>
              </a:rPr>
              <a:t>Back End resources</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endParaRPr kumimoji="0" lang="en-IN" sz="3600" b="0" i="0" u="sng" strike="noStrike" kern="1200" cap="none" spc="0" normalizeH="0" baseline="0" noProof="0" dirty="0">
              <a:ln>
                <a:noFill/>
              </a:ln>
              <a:solidFill>
                <a:srgbClr val="FF0000"/>
              </a:solidFill>
              <a:effectLst/>
              <a:uLnTx/>
              <a:uFillTx/>
              <a:latin typeface="Times New Roman" panose="02020603050405020304" pitchFamily="18" charset="0"/>
              <a:ea typeface="Times New Roman" panose="02020603050405020304" pitchFamily="18" charset="0"/>
              <a:cs typeface="+mn-cs"/>
            </a:endParaRP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6. </a:t>
            </a:r>
            <a:r>
              <a:rPr kumimoji="0" lang="en-US" sz="2800" b="1" i="0" u="none" strike="noStrike" kern="1200" cap="none" spc="0" normalizeH="0" baseline="0" noProof="0" dirty="0">
                <a:ln>
                  <a:noFill/>
                </a:ln>
                <a:solidFill>
                  <a:srgbClr val="1F497D">
                    <a:lumMod val="75000"/>
                  </a:srgbClr>
                </a:solidFill>
                <a:effectLst/>
                <a:uLnTx/>
                <a:uFillTx/>
                <a:latin typeface="Cambria" pitchFamily="18" charset="0"/>
                <a:ea typeface="+mn-ea"/>
                <a:cs typeface="+mn-cs"/>
              </a:rPr>
              <a:t>Management</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kumimoji="0" lang="en-US"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7. </a:t>
            </a:r>
            <a:r>
              <a:rPr kumimoji="0" lang="en-US" sz="2800" b="1" i="0" u="none" strike="noStrike" kern="1200" cap="none" spc="0" normalizeH="0" baseline="0" noProof="0" dirty="0">
                <a:ln>
                  <a:noFill/>
                </a:ln>
                <a:solidFill>
                  <a:srgbClr val="1F497D">
                    <a:lumMod val="75000"/>
                  </a:srgbClr>
                </a:solidFill>
                <a:effectLst/>
                <a:uLnTx/>
                <a:uFillTx/>
                <a:latin typeface="Cambria" pitchFamily="18" charset="0"/>
                <a:ea typeface="+mn-ea"/>
                <a:cs typeface="+mn-cs"/>
              </a:rPr>
              <a:t>Security</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kumimoji="0" lang="en-US"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8. </a:t>
            </a:r>
            <a:r>
              <a:rPr kumimoji="0" lang="en-US" sz="2800" b="1" i="0" u="none" strike="noStrike" kern="1200" cap="none" spc="0" normalizeH="0" baseline="0" noProof="0" dirty="0">
                <a:ln>
                  <a:noFill/>
                </a:ln>
                <a:solidFill>
                  <a:srgbClr val="1F497D">
                    <a:lumMod val="75000"/>
                  </a:srgbClr>
                </a:solidFill>
                <a:effectLst/>
                <a:uLnTx/>
                <a:uFillTx/>
                <a:latin typeface="Cambria" pitchFamily="18" charset="0"/>
                <a:ea typeface="+mn-ea"/>
                <a:cs typeface="+mn-cs"/>
              </a:rPr>
              <a:t>Internet</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kumimoji="0" lang="en-US"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9. </a:t>
            </a:r>
            <a:r>
              <a:rPr kumimoji="0" lang="en-US" sz="2800" b="1" i="0" u="none" strike="noStrike" kern="1200" cap="none" spc="0" normalizeH="0" baseline="0" noProof="0" dirty="0">
                <a:ln>
                  <a:noFill/>
                </a:ln>
                <a:solidFill>
                  <a:srgbClr val="1F497D">
                    <a:lumMod val="75000"/>
                  </a:srgbClr>
                </a:solidFill>
                <a:effectLst/>
                <a:uLnTx/>
                <a:uFillTx/>
                <a:latin typeface="Cambria" pitchFamily="18" charset="0"/>
                <a:ea typeface="+mn-ea"/>
                <a:cs typeface="+mn-cs"/>
              </a:rPr>
              <a:t>Database</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kumimoji="0" lang="en-US"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10. </a:t>
            </a:r>
            <a:r>
              <a:rPr kumimoji="0" lang="en-US" sz="2800" b="1" i="0" u="none" strike="noStrike" kern="1200" cap="none" spc="0" normalizeH="0" baseline="0" noProof="0" dirty="0">
                <a:ln>
                  <a:noFill/>
                </a:ln>
                <a:solidFill>
                  <a:srgbClr val="1F497D">
                    <a:lumMod val="75000"/>
                  </a:srgbClr>
                </a:solidFill>
                <a:effectLst/>
                <a:uLnTx/>
                <a:uFillTx/>
                <a:latin typeface="Cambria" pitchFamily="18" charset="0"/>
                <a:ea typeface="+mn-ea"/>
                <a:cs typeface="+mn-cs"/>
              </a:rPr>
              <a:t>Networking</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kumimoji="0" lang="en-US" sz="2000" b="1"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rPr>
              <a:t>11. </a:t>
            </a:r>
            <a:r>
              <a:rPr kumimoji="0" lang="en-US" sz="2800" b="1" i="0" u="none" strike="noStrike" kern="1200" cap="none" spc="0" normalizeH="0" baseline="0" noProof="0" dirty="0">
                <a:ln>
                  <a:noFill/>
                </a:ln>
                <a:solidFill>
                  <a:srgbClr val="1F497D">
                    <a:lumMod val="75000"/>
                  </a:srgbClr>
                </a:solidFill>
                <a:effectLst/>
                <a:uLnTx/>
                <a:uFillTx/>
                <a:latin typeface="Cambria" pitchFamily="18" charset="0"/>
                <a:ea typeface="+mn-ea"/>
                <a:cs typeface="+mn-cs"/>
              </a:rPr>
              <a:t>Analytics</a:t>
            </a:r>
            <a:endParaRPr kumimoji="0" lang="en-US" sz="2000" b="0" i="0" u="none" strike="noStrike" kern="1200" cap="none" spc="0" normalizeH="0" baseline="0" noProof="0" dirty="0">
              <a:ln>
                <a:noFill/>
              </a:ln>
              <a:solidFill>
                <a:srgbClr val="000000"/>
              </a:solidFill>
              <a:effectLst/>
              <a:uLnTx/>
              <a:uFillTx/>
              <a:latin typeface="Georgia" panose="02040502050405020303" pitchFamily="18" charset="0"/>
              <a:ea typeface="Times New Roman" panose="02020603050405020304" pitchFamily="18" charset="0"/>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2800" b="0" i="0" u="none" strike="noStrike" kern="1200" cap="none" spc="0" normalizeH="0" baseline="0" noProof="0" dirty="0">
              <a:ln>
                <a:noFill/>
              </a:ln>
              <a:solidFill>
                <a:srgbClr val="1F497D">
                  <a:lumMod val="75000"/>
                </a:srgbClr>
              </a:solidFill>
              <a:effectLst/>
              <a:uLnTx/>
              <a:uFillTx/>
              <a:latin typeface="Cambria" pitchFamily="18" charset="0"/>
              <a:ea typeface="+mn-ea"/>
              <a:cs typeface="+mn-cs"/>
            </a:endParaRPr>
          </a:p>
        </p:txBody>
      </p:sp>
    </p:spTree>
    <p:extLst>
      <p:ext uri="{BB962C8B-B14F-4D97-AF65-F5344CB8AC3E}">
        <p14:creationId xmlns:p14="http://schemas.microsoft.com/office/powerpoint/2010/main" val="8931245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a:t>
            </a:r>
          </a:p>
        </p:txBody>
      </p:sp>
      <p:sp>
        <p:nvSpPr>
          <p:cNvPr id="3" name="Text Placeholder 2"/>
          <p:cNvSpPr>
            <a:spLocks noGrp="1"/>
          </p:cNvSpPr>
          <p:nvPr>
            <p:ph type="body" idx="1"/>
          </p:nvPr>
        </p:nvSpPr>
        <p:spPr/>
        <p:txBody>
          <a:bodyPr/>
          <a:lstStyle/>
          <a:p>
            <a:r>
              <a:rPr lang="en-US" dirty="0">
                <a:solidFill>
                  <a:srgbClr val="C00000"/>
                </a:solidFill>
              </a:rPr>
              <a:t>Choose the service you need.</a:t>
            </a:r>
          </a:p>
        </p:txBody>
      </p:sp>
      <p:pic>
        <p:nvPicPr>
          <p:cNvPr id="84996" name="Picture 4" descr="http://www.wexla.com/images/service_concierge.jpg"/>
          <p:cNvPicPr>
            <a:picLocks noChangeAspect="1" noChangeArrowheads="1"/>
          </p:cNvPicPr>
          <p:nvPr/>
        </p:nvPicPr>
        <p:blipFill>
          <a:blip r:embed="rId2" cstate="print"/>
          <a:srcRect r="7570"/>
          <a:stretch>
            <a:fillRect/>
          </a:stretch>
        </p:blipFill>
        <p:spPr bwMode="auto">
          <a:xfrm flipH="1">
            <a:off x="2598754" y="381000"/>
            <a:ext cx="6164246" cy="3124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8" descr="C:\Users\Andy\AppData\Local\Microsoft\Windows\Temporary Internet Files\Content.IE5\IBKPY4TO\MPj04422330000[1].jpg"/>
          <p:cNvPicPr>
            <a:picLocks noChangeAspect="1" noChangeArrowheads="1"/>
          </p:cNvPicPr>
          <p:nvPr/>
        </p:nvPicPr>
        <p:blipFill>
          <a:blip r:embed="rId2" cstate="print"/>
          <a:srcRect r="6587" b="6666"/>
          <a:stretch>
            <a:fillRect/>
          </a:stretch>
        </p:blipFill>
        <p:spPr bwMode="auto">
          <a:xfrm>
            <a:off x="5105400" y="1371600"/>
            <a:ext cx="3733800" cy="5341408"/>
          </a:xfrm>
          <a:prstGeom prst="roundRect">
            <a:avLst>
              <a:gd name="adj" fmla="val 6030"/>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 name="Rectangle 3"/>
          <p:cNvSpPr/>
          <p:nvPr/>
        </p:nvSpPr>
        <p:spPr>
          <a:xfrm>
            <a:off x="1971769" y="228600"/>
            <a:ext cx="5200463"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 Simple Analogy</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5" name="Rectangle 4"/>
          <p:cNvSpPr/>
          <p:nvPr/>
        </p:nvSpPr>
        <p:spPr>
          <a:xfrm>
            <a:off x="457200" y="2360474"/>
            <a:ext cx="5791200" cy="1754326"/>
          </a:xfrm>
          <a:prstGeom prst="rect">
            <a:avLst/>
          </a:prstGeom>
          <a:noFill/>
        </p:spPr>
        <p:txBody>
          <a:bodyPr wrap="square" lIns="91440" tIns="45720" rIns="91440" bIns="45720">
            <a:spAutoFit/>
          </a:bodyPr>
          <a:lstStyle/>
          <a:p>
            <a:r>
              <a:rPr 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rPr>
              <a:t>Say, you just moved to a city and you are looking for a place to live.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C:\Users\Andy\AppData\Local\Microsoft\Windows\Temporary Internet Files\Content.IE5\T087QNPU\MPj04225340000[1].jpg"/>
          <p:cNvPicPr>
            <a:picLocks noChangeAspect="1" noChangeArrowheads="1"/>
          </p:cNvPicPr>
          <p:nvPr/>
        </p:nvPicPr>
        <p:blipFill>
          <a:blip r:embed="rId2" cstate="print"/>
          <a:srcRect b="6836"/>
          <a:stretch>
            <a:fillRect/>
          </a:stretch>
        </p:blipFill>
        <p:spPr bwMode="auto">
          <a:xfrm>
            <a:off x="1828800" y="1219200"/>
            <a:ext cx="6908799" cy="5181600"/>
          </a:xfrm>
          <a:prstGeom prst="roundRect">
            <a:avLst>
              <a:gd name="adj" fmla="val 5016"/>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 name="Rectangle 2"/>
          <p:cNvSpPr/>
          <p:nvPr/>
        </p:nvSpPr>
        <p:spPr>
          <a:xfrm>
            <a:off x="1417647" y="228600"/>
            <a:ext cx="6308715"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What is your choice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 name="Rectangle 3"/>
          <p:cNvSpPr/>
          <p:nvPr/>
        </p:nvSpPr>
        <p:spPr>
          <a:xfrm>
            <a:off x="639076" y="4113074"/>
            <a:ext cx="4409990" cy="1754326"/>
          </a:xfrm>
          <a:prstGeom prst="rect">
            <a:avLst/>
          </a:prstGeom>
          <a:noFill/>
        </p:spPr>
        <p:txBody>
          <a:bodyPr wrap="none" lIns="91440" tIns="45720" rIns="91440" bIns="45720">
            <a:spAutoFit/>
          </a:bodyPr>
          <a:lstStyle/>
          <a:p>
            <a:r>
              <a:rPr lang="en-US" sz="3600" b="1" dirty="0">
                <a:ln w="18415" cmpd="sng">
                  <a:solidFill>
                    <a:srgbClr val="FFFFFF"/>
                  </a:solidFill>
                  <a:prstDash val="solid"/>
                </a:ln>
                <a:effectLst>
                  <a:outerShdw blurRad="63500" dir="3600000" algn="tl" rotWithShape="0">
                    <a:srgbClr val="000000">
                      <a:alpha val="70000"/>
                    </a:srgbClr>
                  </a:outerShdw>
                </a:effectLst>
              </a:rPr>
              <a:t>Build a new house ?</a:t>
            </a:r>
          </a:p>
          <a:p>
            <a:r>
              <a:rPr lang="en-US" sz="3600" b="1" dirty="0">
                <a:ln w="18415" cmpd="sng">
                  <a:solidFill>
                    <a:srgbClr val="FFFFFF"/>
                  </a:solidFill>
                  <a:prstDash val="solid"/>
                </a:ln>
                <a:effectLst>
                  <a:outerShdw blurRad="63500" dir="3600000" algn="tl" rotWithShape="0">
                    <a:srgbClr val="000000">
                      <a:alpha val="70000"/>
                    </a:srgbClr>
                  </a:outerShdw>
                </a:effectLst>
              </a:rPr>
              <a:t>Buy an empty house ?</a:t>
            </a:r>
          </a:p>
          <a:p>
            <a:r>
              <a:rPr lang="en-US" sz="3600" b="1" dirty="0">
                <a:ln w="18415" cmpd="sng">
                  <a:solidFill>
                    <a:srgbClr val="FFFFFF"/>
                  </a:solidFill>
                  <a:prstDash val="solid"/>
                </a:ln>
                <a:effectLst>
                  <a:outerShdw blurRad="63500" dir="3600000" algn="tl" rotWithShape="0">
                    <a:srgbClr val="000000">
                      <a:alpha val="70000"/>
                    </a:srgbClr>
                  </a:outerShdw>
                </a:effectLst>
              </a:rPr>
              <a:t>Live in a hotel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1406" y="228600"/>
            <a:ext cx="7501221"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Let’s build a new house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3" name="Picture 2" descr="C:\Users\Andy\AppData\Local\Microsoft\Windows\Temporary Internet Files\Content.IE5\PQCBMZKS\MPj04393130000[1].jpg"/>
          <p:cNvPicPr>
            <a:picLocks noChangeAspect="1" noChangeArrowheads="1"/>
          </p:cNvPicPr>
          <p:nvPr/>
        </p:nvPicPr>
        <p:blipFill>
          <a:blip r:embed="rId2" cstate="print"/>
          <a:srcRect/>
          <a:stretch>
            <a:fillRect/>
          </a:stretch>
        </p:blipFill>
        <p:spPr bwMode="auto">
          <a:xfrm>
            <a:off x="3581400" y="2647950"/>
            <a:ext cx="5312664" cy="3984498"/>
          </a:xfrm>
          <a:prstGeom prst="roundRect">
            <a:avLst>
              <a:gd name="adj" fmla="val 4018"/>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 name="Rectangle 3"/>
          <p:cNvSpPr/>
          <p:nvPr/>
        </p:nvSpPr>
        <p:spPr>
          <a:xfrm>
            <a:off x="762000" y="1371600"/>
            <a:ext cx="7696200" cy="1754326"/>
          </a:xfrm>
          <a:prstGeom prst="rect">
            <a:avLst/>
          </a:prstGeom>
          <a:noFill/>
        </p:spPr>
        <p:txBody>
          <a:bodyPr wrap="square" lIns="91440" tIns="45720" rIns="91440" bIns="45720">
            <a:spAutoFit/>
          </a:bodyPr>
          <a:lstStyle/>
          <a:p>
            <a:r>
              <a:rPr 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rPr>
              <a:t>You can fully control everything you like your new house to have. But that is a hard work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1" descr="C:\Users\Andy\AppData\Local\Microsoft\Windows\Temporary Internet Files\Content.IE5\T087QNPU\MPj04410350000[1].jpg"/>
          <p:cNvPicPr>
            <a:picLocks noChangeAspect="1" noChangeArrowheads="1"/>
          </p:cNvPicPr>
          <p:nvPr/>
        </p:nvPicPr>
        <p:blipFill>
          <a:blip r:embed="rId2" cstate="print"/>
          <a:srcRect b="16246"/>
          <a:stretch>
            <a:fillRect/>
          </a:stretch>
        </p:blipFill>
        <p:spPr bwMode="auto">
          <a:xfrm>
            <a:off x="1115568" y="1295400"/>
            <a:ext cx="6912864" cy="4343400"/>
          </a:xfrm>
          <a:prstGeom prst="roundRect">
            <a:avLst>
              <a:gd name="adj" fmla="val 5803"/>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 name="Rectangle 2"/>
          <p:cNvSpPr/>
          <p:nvPr/>
        </p:nvSpPr>
        <p:spPr>
          <a:xfrm>
            <a:off x="426744" y="228600"/>
            <a:ext cx="829053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If you buy an empty house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 name="Rectangle 3"/>
          <p:cNvSpPr/>
          <p:nvPr/>
        </p:nvSpPr>
        <p:spPr>
          <a:xfrm>
            <a:off x="1447800" y="4494074"/>
            <a:ext cx="6172200" cy="1754326"/>
          </a:xfrm>
          <a:prstGeom prst="rect">
            <a:avLst/>
          </a:prstGeom>
          <a:noFill/>
        </p:spPr>
        <p:txBody>
          <a:bodyPr wrap="square" lIns="91440" tIns="45720" rIns="91440" bIns="45720">
            <a:spAutoFit/>
          </a:bodyPr>
          <a:lstStyle/>
          <a:p>
            <a:r>
              <a:rPr lang="en-US" sz="3600" b="1" dirty="0">
                <a:ln w="18415" cmpd="sng">
                  <a:solidFill>
                    <a:srgbClr val="FFFFFF"/>
                  </a:solidFill>
                  <a:prstDash val="solid"/>
                </a:ln>
                <a:effectLst>
                  <a:outerShdw blurRad="63500" dir="3600000" algn="tl" rotWithShape="0">
                    <a:srgbClr val="000000">
                      <a:alpha val="70000"/>
                    </a:srgbClr>
                  </a:outerShdw>
                </a:effectLst>
              </a:rPr>
              <a:t>You can customize some part of your house. But never change the original architecture.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4591" y="228600"/>
            <a:ext cx="7854843"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How about live in a hotel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3" name="Picture 2" descr="C:\Users\Andy\AppData\Local\Microsoft\Windows\Temporary Internet Files\Content.IE5\01OK34JN\MPj04424560000[1].jpg"/>
          <p:cNvPicPr>
            <a:picLocks noChangeAspect="1" noChangeArrowheads="1"/>
          </p:cNvPicPr>
          <p:nvPr/>
        </p:nvPicPr>
        <p:blipFill>
          <a:blip r:embed="rId2" cstate="print"/>
          <a:srcRect/>
          <a:stretch>
            <a:fillRect/>
          </a:stretch>
        </p:blipFill>
        <p:spPr bwMode="auto">
          <a:xfrm>
            <a:off x="1115568" y="2971800"/>
            <a:ext cx="6912864" cy="3631919"/>
          </a:xfrm>
          <a:prstGeom prst="roundRect">
            <a:avLst>
              <a:gd name="adj" fmla="val 547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 name="Rectangle 3"/>
          <p:cNvSpPr/>
          <p:nvPr/>
        </p:nvSpPr>
        <p:spPr>
          <a:xfrm>
            <a:off x="762000" y="1219200"/>
            <a:ext cx="7696200" cy="2308324"/>
          </a:xfrm>
          <a:prstGeom prst="rect">
            <a:avLst/>
          </a:prstGeom>
          <a:noFill/>
        </p:spPr>
        <p:txBody>
          <a:bodyPr wrap="square" lIns="91440" tIns="45720" rIns="91440" bIns="45720">
            <a:spAutoFit/>
          </a:bodyPr>
          <a:lstStyle/>
          <a:p>
            <a:r>
              <a:rPr 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rPr>
              <a:t>Live in a hotel will be a good idea if the only thing you care is enjoy your life!! There is nothing you can do with the house except living in it.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92052" y="2551837"/>
            <a:ext cx="5759910" cy="175432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Let’s translate to</a:t>
            </a:r>
            <a:b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Cloud Computing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 Overview</a:t>
            </a:r>
          </a:p>
        </p:txBody>
      </p:sp>
      <p:sp>
        <p:nvSpPr>
          <p:cNvPr id="3" name="Content Placeholder 2"/>
          <p:cNvSpPr>
            <a:spLocks noGrp="1"/>
          </p:cNvSpPr>
          <p:nvPr>
            <p:ph idx="1"/>
          </p:nvPr>
        </p:nvSpPr>
        <p:spPr>
          <a:xfrm>
            <a:off x="457200" y="1600200"/>
            <a:ext cx="7924800" cy="4876800"/>
          </a:xfrm>
        </p:spPr>
        <p:txBody>
          <a:bodyPr>
            <a:normAutofit/>
          </a:bodyPr>
          <a:lstStyle/>
          <a:p>
            <a:r>
              <a:rPr lang="en-US" dirty="0"/>
              <a:t>What if you want to have an IT department ?</a:t>
            </a:r>
          </a:p>
          <a:p>
            <a:pPr lvl="1"/>
            <a:r>
              <a:rPr lang="en-US" dirty="0"/>
              <a:t>Similar to </a:t>
            </a:r>
            <a:r>
              <a:rPr lang="en-US" b="1" i="1" dirty="0"/>
              <a:t>build a new house </a:t>
            </a:r>
            <a:r>
              <a:rPr lang="en-US" dirty="0"/>
              <a:t>in previous analogy</a:t>
            </a:r>
          </a:p>
          <a:p>
            <a:pPr lvl="2"/>
            <a:r>
              <a:rPr lang="en-US" dirty="0"/>
              <a:t>You can </a:t>
            </a:r>
            <a:r>
              <a:rPr lang="en-US" u="sng" dirty="0"/>
              <a:t>rent some virtualized infrastructure </a:t>
            </a:r>
            <a:r>
              <a:rPr lang="en-US" dirty="0"/>
              <a:t>and build up your own IT system among those resources, which may be fully controlled.</a:t>
            </a:r>
          </a:p>
          <a:p>
            <a:pPr lvl="2"/>
            <a:r>
              <a:rPr lang="en-US" dirty="0"/>
              <a:t>Technical speaking, use the </a:t>
            </a:r>
            <a:r>
              <a:rPr lang="en-US" b="1" i="1" dirty="0"/>
              <a:t>Infrastructure as a Service (</a:t>
            </a:r>
            <a:r>
              <a:rPr lang="en-US" b="1" i="1" dirty="0" err="1"/>
              <a:t>IaaS</a:t>
            </a:r>
            <a:r>
              <a:rPr lang="en-US" b="1" i="1" dirty="0"/>
              <a:t>)</a:t>
            </a:r>
            <a:r>
              <a:rPr lang="en-US" dirty="0"/>
              <a:t> solution.</a:t>
            </a:r>
          </a:p>
          <a:p>
            <a:pPr lvl="1"/>
            <a:r>
              <a:rPr lang="en-US" dirty="0"/>
              <a:t>Similar to </a:t>
            </a:r>
            <a:r>
              <a:rPr lang="en-US" b="1" i="1" dirty="0"/>
              <a:t>buy an empty house </a:t>
            </a:r>
            <a:r>
              <a:rPr lang="en-US" dirty="0"/>
              <a:t>in previous analogy</a:t>
            </a:r>
          </a:p>
          <a:p>
            <a:pPr lvl="2"/>
            <a:r>
              <a:rPr lang="en-US" dirty="0"/>
              <a:t>You can </a:t>
            </a:r>
            <a:r>
              <a:rPr lang="en-US" u="sng" dirty="0"/>
              <a:t>directly develop your IT system through one cloud platform</a:t>
            </a:r>
            <a:r>
              <a:rPr lang="en-US" dirty="0"/>
              <a:t>, and do not care about any lower level resource management.</a:t>
            </a:r>
          </a:p>
          <a:p>
            <a:pPr lvl="2"/>
            <a:r>
              <a:rPr lang="en-US" dirty="0"/>
              <a:t>Technical speaking, use the </a:t>
            </a:r>
            <a:r>
              <a:rPr lang="en-US" b="1" i="1" dirty="0"/>
              <a:t>Platform as a Service (</a:t>
            </a:r>
            <a:r>
              <a:rPr lang="en-US" b="1" i="1" dirty="0" err="1"/>
              <a:t>PaaS</a:t>
            </a:r>
            <a:r>
              <a:rPr lang="en-US" b="1" i="1" dirty="0"/>
              <a:t>)</a:t>
            </a:r>
            <a:r>
              <a:rPr lang="en-US" dirty="0"/>
              <a:t> solution.</a:t>
            </a:r>
          </a:p>
          <a:p>
            <a:pPr lvl="1"/>
            <a:r>
              <a:rPr lang="en-US" dirty="0"/>
              <a:t>Similar to </a:t>
            </a:r>
            <a:r>
              <a:rPr lang="en-US" b="1" i="1" dirty="0"/>
              <a:t>live in a hotel </a:t>
            </a:r>
            <a:r>
              <a:rPr lang="en-US" dirty="0"/>
              <a:t>in previous analogy</a:t>
            </a:r>
          </a:p>
          <a:p>
            <a:pPr lvl="2"/>
            <a:r>
              <a:rPr lang="en-US" dirty="0"/>
              <a:t>You can directly </a:t>
            </a:r>
            <a:r>
              <a:rPr lang="en-US" u="sng" dirty="0"/>
              <a:t>use some existing IT system solutions, which were provided by some cloud application service provider</a:t>
            </a:r>
            <a:r>
              <a:rPr lang="en-US" dirty="0"/>
              <a:t>, without knowing any detail technique about how these service was achieved.</a:t>
            </a:r>
          </a:p>
          <a:p>
            <a:pPr lvl="2"/>
            <a:r>
              <a:rPr lang="en-US" dirty="0"/>
              <a:t>Technical speaking, use the </a:t>
            </a:r>
            <a:r>
              <a:rPr lang="en-US" b="1" i="1" dirty="0"/>
              <a:t>Software as a Service (</a:t>
            </a:r>
            <a:r>
              <a:rPr lang="en-US" b="1" i="1" dirty="0" err="1"/>
              <a:t>SaaS</a:t>
            </a:r>
            <a:r>
              <a:rPr lang="en-US" b="1" i="1" dirty="0"/>
              <a:t>)</a:t>
            </a:r>
            <a:r>
              <a:rPr lang="en-US" dirty="0"/>
              <a:t> solution.</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77200" cy="715962"/>
          </a:xfrm>
        </p:spPr>
        <p:txBody>
          <a:bodyPr>
            <a:normAutofit fontScale="90000"/>
          </a:bodyPr>
          <a:lstStyle/>
          <a:p>
            <a:r>
              <a:rPr lang="en-US" b="0" i="0" dirty="0"/>
              <a:t>From Pizza Perspective</a:t>
            </a:r>
            <a:br>
              <a:rPr lang="en-US" b="0" i="0" dirty="0"/>
            </a:br>
            <a:r>
              <a:rPr lang="en-US" b="0" i="0" dirty="0"/>
              <a:t> </a:t>
            </a:r>
            <a:endParaRPr lang="en-US" dirty="0"/>
          </a:p>
        </p:txBody>
      </p:sp>
      <p:pic>
        <p:nvPicPr>
          <p:cNvPr id="3" name="Picture 2"/>
          <p:cNvPicPr>
            <a:picLocks noChangeAspect="1"/>
          </p:cNvPicPr>
          <p:nvPr/>
        </p:nvPicPr>
        <p:blipFill>
          <a:blip r:embed="rId3"/>
          <a:stretch>
            <a:fillRect/>
          </a:stretch>
        </p:blipFill>
        <p:spPr>
          <a:xfrm>
            <a:off x="762000" y="1170538"/>
            <a:ext cx="7772399" cy="5416237"/>
          </a:xfrm>
          <a:prstGeom prst="rect">
            <a:avLst/>
          </a:prstGeom>
        </p:spPr>
      </p:pic>
    </p:spTree>
    <p:extLst>
      <p:ext uri="{BB962C8B-B14F-4D97-AF65-F5344CB8AC3E}">
        <p14:creationId xmlns:p14="http://schemas.microsoft.com/office/powerpoint/2010/main" val="9291855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0" i="0" dirty="0"/>
              <a:t>From Cloud Computing Perspective</a:t>
            </a:r>
            <a:br>
              <a:rPr lang="en-US" b="0" i="0" dirty="0"/>
            </a:br>
            <a:r>
              <a:rPr lang="en-US" b="0" i="0" dirty="0"/>
              <a:t> </a:t>
            </a:r>
            <a:endParaRPr lang="en-US" dirty="0"/>
          </a:p>
        </p:txBody>
      </p:sp>
      <p:pic>
        <p:nvPicPr>
          <p:cNvPr id="3" name="Picture 2"/>
          <p:cNvPicPr>
            <a:picLocks noChangeAspect="1"/>
          </p:cNvPicPr>
          <p:nvPr/>
        </p:nvPicPr>
        <p:blipFill>
          <a:blip r:embed="rId3"/>
          <a:stretch>
            <a:fillRect/>
          </a:stretch>
        </p:blipFill>
        <p:spPr>
          <a:xfrm>
            <a:off x="740120" y="1219200"/>
            <a:ext cx="8192296" cy="4724400"/>
          </a:xfrm>
          <a:prstGeom prst="rect">
            <a:avLst/>
          </a:prstGeom>
        </p:spPr>
      </p:pic>
    </p:spTree>
    <p:extLst>
      <p:ext uri="{BB962C8B-B14F-4D97-AF65-F5344CB8AC3E}">
        <p14:creationId xmlns:p14="http://schemas.microsoft.com/office/powerpoint/2010/main" val="9250001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894"/>
            <a:ext cx="8229600" cy="1143000"/>
          </a:xfrm>
        </p:spPr>
        <p:txBody>
          <a:bodyPr/>
          <a:lstStyle/>
          <a:p>
            <a:r>
              <a:rPr lang="en-US" b="0" i="0" dirty="0"/>
              <a:t>From Usage Perspective</a:t>
            </a:r>
            <a:endParaRPr lang="en-US" dirty="0"/>
          </a:p>
        </p:txBody>
      </p:sp>
      <p:pic>
        <p:nvPicPr>
          <p:cNvPr id="3" name="Picture 2"/>
          <p:cNvPicPr>
            <a:picLocks noChangeAspect="1"/>
          </p:cNvPicPr>
          <p:nvPr/>
        </p:nvPicPr>
        <p:blipFill>
          <a:blip r:embed="rId2"/>
          <a:stretch>
            <a:fillRect/>
          </a:stretch>
        </p:blipFill>
        <p:spPr>
          <a:xfrm>
            <a:off x="300154" y="990600"/>
            <a:ext cx="8543692" cy="5671937"/>
          </a:xfrm>
          <a:prstGeom prst="rect">
            <a:avLst/>
          </a:prstGeom>
        </p:spPr>
      </p:pic>
    </p:spTree>
    <p:extLst>
      <p:ext uri="{BB962C8B-B14F-4D97-AF65-F5344CB8AC3E}">
        <p14:creationId xmlns:p14="http://schemas.microsoft.com/office/powerpoint/2010/main" val="1881650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0" i="0" dirty="0"/>
              <a:t>Availability in the Market</a:t>
            </a:r>
            <a:br>
              <a:rPr lang="en-US" b="0" i="0" dirty="0"/>
            </a:br>
            <a:r>
              <a:rPr lang="en-US" b="0" i="0" dirty="0"/>
              <a:t> </a:t>
            </a:r>
            <a:endParaRPr lang="en-US" dirty="0"/>
          </a:p>
        </p:txBody>
      </p:sp>
      <p:pic>
        <p:nvPicPr>
          <p:cNvPr id="3" name="Picture 2"/>
          <p:cNvPicPr>
            <a:picLocks noChangeAspect="1"/>
          </p:cNvPicPr>
          <p:nvPr/>
        </p:nvPicPr>
        <p:blipFill>
          <a:blip r:embed="rId2"/>
          <a:stretch>
            <a:fillRect/>
          </a:stretch>
        </p:blipFill>
        <p:spPr>
          <a:xfrm>
            <a:off x="1314605" y="1665210"/>
            <a:ext cx="7760672" cy="4202189"/>
          </a:xfrm>
          <a:prstGeom prst="rect">
            <a:avLst/>
          </a:prstGeom>
        </p:spPr>
      </p:pic>
    </p:spTree>
    <p:extLst>
      <p:ext uri="{BB962C8B-B14F-4D97-AF65-F5344CB8AC3E}">
        <p14:creationId xmlns:p14="http://schemas.microsoft.com/office/powerpoint/2010/main" val="20569032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0" i="0" dirty="0"/>
              <a:t>Cloud Service Models</a:t>
            </a:r>
            <a:br>
              <a:rPr lang="en-US" b="0" i="0" dirty="0"/>
            </a:br>
            <a:r>
              <a:rPr lang="en-US" b="0" i="0" dirty="0"/>
              <a:t> </a:t>
            </a:r>
            <a:br>
              <a:rPr lang="en-US" b="0" i="0" dirty="0"/>
            </a:br>
            <a:r>
              <a:rPr lang="en-US" b="0" i="0" dirty="0"/>
              <a:t> </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1512" y="995362"/>
            <a:ext cx="8297124" cy="5176838"/>
          </a:xfrm>
          <a:prstGeom prst="rect">
            <a:avLst/>
          </a:prstGeom>
        </p:spPr>
      </p:pic>
    </p:spTree>
    <p:extLst>
      <p:ext uri="{BB962C8B-B14F-4D97-AF65-F5344CB8AC3E}">
        <p14:creationId xmlns:p14="http://schemas.microsoft.com/office/powerpoint/2010/main" val="9349144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a:t>
            </a:r>
          </a:p>
        </p:txBody>
      </p:sp>
      <p:sp>
        <p:nvSpPr>
          <p:cNvPr id="3" name="Content Placeholder 2"/>
          <p:cNvSpPr>
            <a:spLocks noGrp="1"/>
          </p:cNvSpPr>
          <p:nvPr>
            <p:ph idx="1"/>
          </p:nvPr>
        </p:nvSpPr>
        <p:spPr/>
        <p:txBody>
          <a:bodyPr/>
          <a:lstStyle/>
          <a:p>
            <a:r>
              <a:rPr lang="en-US" dirty="0"/>
              <a:t>Infrastructure as a Service (</a:t>
            </a:r>
            <a:r>
              <a:rPr lang="en-US" dirty="0" err="1"/>
              <a:t>IaaS</a:t>
            </a:r>
            <a:r>
              <a:rPr lang="en-US" dirty="0"/>
              <a:t>): hardware is provided by an external provider and managed for the customers</a:t>
            </a:r>
          </a:p>
          <a:p>
            <a:endParaRPr lang="en-US" dirty="0"/>
          </a:p>
          <a:p>
            <a:r>
              <a:rPr lang="en-US" dirty="0"/>
              <a:t>Platform as a Service (</a:t>
            </a:r>
            <a:r>
              <a:rPr lang="en-US" dirty="0" err="1"/>
              <a:t>PaaS</a:t>
            </a:r>
            <a:r>
              <a:rPr lang="en-US" dirty="0"/>
              <a:t>): in addition to hardware, your operating system layer is managed …..</a:t>
            </a:r>
          </a:p>
          <a:p>
            <a:endParaRPr lang="en-US" dirty="0"/>
          </a:p>
          <a:p>
            <a:r>
              <a:rPr lang="en-US" dirty="0"/>
              <a:t>Software as a Service (</a:t>
            </a:r>
            <a:r>
              <a:rPr lang="en-US" dirty="0" err="1"/>
              <a:t>SaaS</a:t>
            </a:r>
            <a:r>
              <a:rPr lang="en-US" dirty="0"/>
              <a:t>): further to the above, an application layer is provided and managed for you</a:t>
            </a:r>
          </a:p>
        </p:txBody>
      </p:sp>
    </p:spTree>
    <p:extLst>
      <p:ext uri="{BB962C8B-B14F-4D97-AF65-F5344CB8AC3E}">
        <p14:creationId xmlns:p14="http://schemas.microsoft.com/office/powerpoint/2010/main" val="26078531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a:t>
            </a:r>
          </a:p>
        </p:txBody>
      </p:sp>
      <p:sp>
        <p:nvSpPr>
          <p:cNvPr id="3" name="Text Placeholder 2"/>
          <p:cNvSpPr>
            <a:spLocks noGrp="1"/>
          </p:cNvSpPr>
          <p:nvPr>
            <p:ph type="body" idx="1"/>
          </p:nvPr>
        </p:nvSpPr>
        <p:spPr/>
        <p:txBody>
          <a:bodyPr/>
          <a:lstStyle/>
          <a:p>
            <a:r>
              <a:rPr lang="en-US" dirty="0">
                <a:solidFill>
                  <a:srgbClr val="C00000"/>
                </a:solidFill>
              </a:rPr>
              <a:t>Infrastructure as a Service</a:t>
            </a:r>
          </a:p>
          <a:p>
            <a:r>
              <a:rPr lang="en-US" dirty="0"/>
              <a:t>Platform as a Service</a:t>
            </a:r>
          </a:p>
          <a:p>
            <a:r>
              <a:rPr lang="en-US" dirty="0"/>
              <a:t>Software as a Service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8229600" cy="868362"/>
          </a:xfrm>
        </p:spPr>
        <p:txBody>
          <a:bodyPr/>
          <a:lstStyle/>
          <a:p>
            <a:r>
              <a:rPr lang="en-US" dirty="0"/>
              <a:t>Infrastructure  as a Service</a:t>
            </a:r>
          </a:p>
        </p:txBody>
      </p:sp>
      <p:sp>
        <p:nvSpPr>
          <p:cNvPr id="3" name="Content Placeholder 2"/>
          <p:cNvSpPr>
            <a:spLocks noGrp="1"/>
          </p:cNvSpPr>
          <p:nvPr>
            <p:ph idx="1"/>
          </p:nvPr>
        </p:nvSpPr>
        <p:spPr>
          <a:xfrm>
            <a:off x="381000" y="762000"/>
            <a:ext cx="8229600" cy="6096000"/>
          </a:xfrm>
        </p:spPr>
        <p:txBody>
          <a:bodyPr>
            <a:noAutofit/>
          </a:bodyPr>
          <a:lstStyle/>
          <a:p>
            <a:r>
              <a:rPr lang="en-US" dirty="0"/>
              <a:t>Infrastructure as a Service – </a:t>
            </a:r>
            <a:r>
              <a:rPr lang="en-US" dirty="0" err="1"/>
              <a:t>IaaS</a:t>
            </a:r>
            <a:endParaRPr lang="en-US" dirty="0"/>
          </a:p>
          <a:p>
            <a:pPr lvl="1" algn="just">
              <a:lnSpc>
                <a:spcPct val="150000"/>
              </a:lnSpc>
            </a:pPr>
            <a:r>
              <a:rPr lang="en-US" dirty="0"/>
              <a:t>The capability provided to the consumer is to provision </a:t>
            </a:r>
            <a:r>
              <a:rPr lang="en-US" dirty="0">
                <a:solidFill>
                  <a:srgbClr val="FF0000"/>
                </a:solidFill>
              </a:rPr>
              <a:t>processing</a:t>
            </a:r>
            <a:r>
              <a:rPr lang="en-US" dirty="0"/>
              <a:t>, </a:t>
            </a:r>
            <a:r>
              <a:rPr lang="en-US" dirty="0">
                <a:solidFill>
                  <a:srgbClr val="FF0000"/>
                </a:solidFill>
              </a:rPr>
              <a:t>storage, networks, and other fundamental computing resources </a:t>
            </a:r>
            <a:r>
              <a:rPr lang="en-US" dirty="0"/>
              <a:t>where the consumer is able to deploy and run arbitrary software, which can include operating systems and applications.</a:t>
            </a:r>
          </a:p>
          <a:p>
            <a:pPr lvl="1" algn="just">
              <a:lnSpc>
                <a:spcPct val="150000"/>
              </a:lnSpc>
            </a:pPr>
            <a:r>
              <a:rPr lang="en-US" dirty="0"/>
              <a:t>The </a:t>
            </a:r>
            <a:r>
              <a:rPr lang="en-US" dirty="0">
                <a:highlight>
                  <a:srgbClr val="FFFF00"/>
                </a:highlight>
              </a:rPr>
              <a:t>consumer </a:t>
            </a:r>
            <a:r>
              <a:rPr lang="en-US" dirty="0">
                <a:solidFill>
                  <a:srgbClr val="FF0000"/>
                </a:solidFill>
                <a:highlight>
                  <a:srgbClr val="FFFF00"/>
                </a:highlight>
              </a:rPr>
              <a:t>does not manage or control the underlying cloud infrastructure </a:t>
            </a:r>
            <a:r>
              <a:rPr lang="en-US" dirty="0">
                <a:highlight>
                  <a:srgbClr val="FFFF00"/>
                </a:highlight>
              </a:rPr>
              <a:t>but has </a:t>
            </a:r>
            <a:r>
              <a:rPr lang="en-US" dirty="0">
                <a:solidFill>
                  <a:srgbClr val="FF0000"/>
                </a:solidFill>
                <a:highlight>
                  <a:srgbClr val="FFFF00"/>
                </a:highlight>
              </a:rPr>
              <a:t>control over operating systems and  deployed applications</a:t>
            </a:r>
            <a:r>
              <a:rPr lang="en-US" dirty="0">
                <a:highlight>
                  <a:srgbClr val="FFFF00"/>
                </a:highlight>
              </a:rPr>
              <a:t>, and possibly limited control of </a:t>
            </a:r>
            <a:r>
              <a:rPr lang="en-US" dirty="0">
                <a:solidFill>
                  <a:srgbClr val="FF0000"/>
                </a:solidFill>
                <a:highlight>
                  <a:srgbClr val="FFFF00"/>
                </a:highlight>
              </a:rPr>
              <a:t>networking components </a:t>
            </a:r>
            <a:r>
              <a:rPr lang="en-US" dirty="0">
                <a:highlight>
                  <a:srgbClr val="FFFF00"/>
                </a:highlight>
              </a:rPr>
              <a:t>.</a:t>
            </a:r>
          </a:p>
          <a:p>
            <a:pPr lvl="1" algn="just">
              <a:lnSpc>
                <a:spcPct val="150000"/>
              </a:lnSpc>
            </a:pPr>
            <a:r>
              <a:rPr lang="en-US" dirty="0">
                <a:solidFill>
                  <a:schemeClr val="tx1"/>
                </a:solidFill>
              </a:rPr>
              <a:t>The </a:t>
            </a:r>
            <a:r>
              <a:rPr lang="en-US" dirty="0">
                <a:solidFill>
                  <a:schemeClr val="tx1"/>
                </a:solidFill>
                <a:hlinkClick r:id="rId3"/>
              </a:rPr>
              <a:t>cloud computing service provider</a:t>
            </a:r>
            <a:r>
              <a:rPr lang="en-US" dirty="0">
                <a:solidFill>
                  <a:schemeClr val="tx1"/>
                </a:solidFill>
              </a:rPr>
              <a:t> manages the infrastructure, - customers - install, configure and manage their own software like —operating systems, middleware and applications</a:t>
            </a: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lnSpcReduction="10000"/>
          </a:bodyPr>
          <a:lstStyle/>
          <a:p>
            <a:pPr marL="0" indent="0">
              <a:buNone/>
            </a:pPr>
            <a:r>
              <a:rPr lang="en-US" dirty="0"/>
              <a:t>Examples :</a:t>
            </a:r>
          </a:p>
          <a:p>
            <a:pPr algn="just">
              <a:lnSpc>
                <a:spcPct val="150000"/>
              </a:lnSpc>
            </a:pPr>
            <a:r>
              <a:rPr lang="en-US" dirty="0"/>
              <a:t>Amazon EC2 - Amazon Elastic Compute Cloud (EC2) - allowing users to rent virtual computers on which to run their own computer applications.</a:t>
            </a:r>
          </a:p>
          <a:p>
            <a:pPr algn="just">
              <a:lnSpc>
                <a:spcPct val="150000"/>
              </a:lnSpc>
            </a:pPr>
            <a:r>
              <a:rPr lang="en-US" dirty="0" err="1"/>
              <a:t>OpenNebula</a:t>
            </a:r>
            <a:r>
              <a:rPr lang="en-US" dirty="0"/>
              <a:t> - </a:t>
            </a:r>
            <a:r>
              <a:rPr lang="en-US" dirty="0" err="1"/>
              <a:t>OpenNebula</a:t>
            </a:r>
            <a:r>
              <a:rPr lang="en-US" dirty="0"/>
              <a:t> is a cloud computing platform for managing heterogeneous distributed data center infrastructures</a:t>
            </a:r>
          </a:p>
          <a:p>
            <a:pPr algn="just">
              <a:lnSpc>
                <a:spcPct val="150000"/>
              </a:lnSpc>
            </a:pPr>
            <a:r>
              <a:rPr lang="en-US" dirty="0"/>
              <a:t> Amazon Web Services (AWS) and </a:t>
            </a:r>
          </a:p>
          <a:p>
            <a:pPr algn="just">
              <a:lnSpc>
                <a:spcPct val="150000"/>
              </a:lnSpc>
            </a:pPr>
            <a:r>
              <a:rPr lang="en-US" dirty="0"/>
              <a:t>Google Cloud Platform (GCP) are examples of independent IaaS providers</a:t>
            </a:r>
          </a:p>
          <a:p>
            <a:pPr algn="just"/>
            <a:endParaRPr lang="en-US" dirty="0"/>
          </a:p>
        </p:txBody>
      </p:sp>
    </p:spTree>
    <p:extLst>
      <p:ext uri="{BB962C8B-B14F-4D97-AF65-F5344CB8AC3E}">
        <p14:creationId xmlns:p14="http://schemas.microsoft.com/office/powerpoint/2010/main" val="92576059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a:t>
            </a:r>
          </a:p>
        </p:txBody>
      </p:sp>
      <p:sp>
        <p:nvSpPr>
          <p:cNvPr id="3" name="Text Placeholder 2"/>
          <p:cNvSpPr>
            <a:spLocks noGrp="1"/>
          </p:cNvSpPr>
          <p:nvPr>
            <p:ph type="body" idx="1"/>
          </p:nvPr>
        </p:nvSpPr>
        <p:spPr/>
        <p:txBody>
          <a:bodyPr/>
          <a:lstStyle/>
          <a:p>
            <a:r>
              <a:rPr lang="en-US" dirty="0"/>
              <a:t>Infrastructure as a Service</a:t>
            </a:r>
          </a:p>
          <a:p>
            <a:r>
              <a:rPr lang="en-US" dirty="0">
                <a:solidFill>
                  <a:srgbClr val="C00000"/>
                </a:solidFill>
              </a:rPr>
              <a:t>Platform as a Service</a:t>
            </a:r>
          </a:p>
          <a:p>
            <a:r>
              <a:rPr lang="en-US" dirty="0"/>
              <a:t>Software as a Service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5570" y="11502"/>
            <a:ext cx="8229600" cy="868362"/>
          </a:xfrm>
        </p:spPr>
        <p:txBody>
          <a:bodyPr/>
          <a:lstStyle/>
          <a:p>
            <a:r>
              <a:rPr lang="en-US" dirty="0"/>
              <a:t>Platform as a Service</a:t>
            </a:r>
          </a:p>
        </p:txBody>
      </p:sp>
      <p:sp>
        <p:nvSpPr>
          <p:cNvPr id="3" name="Content Placeholder 2"/>
          <p:cNvSpPr>
            <a:spLocks noGrp="1"/>
          </p:cNvSpPr>
          <p:nvPr>
            <p:ph idx="1"/>
          </p:nvPr>
        </p:nvSpPr>
        <p:spPr>
          <a:xfrm>
            <a:off x="457200" y="838200"/>
            <a:ext cx="8229600" cy="5867400"/>
          </a:xfrm>
        </p:spPr>
        <p:txBody>
          <a:bodyPr>
            <a:noAutofit/>
          </a:bodyPr>
          <a:lstStyle/>
          <a:p>
            <a:r>
              <a:rPr lang="en-US" dirty="0"/>
              <a:t>Platform as a Service - </a:t>
            </a:r>
            <a:r>
              <a:rPr lang="en-US" dirty="0" err="1"/>
              <a:t>PaaS</a:t>
            </a:r>
            <a:endParaRPr lang="en-US" dirty="0"/>
          </a:p>
          <a:p>
            <a:pPr lvl="1" algn="just">
              <a:lnSpc>
                <a:spcPct val="150000"/>
              </a:lnSpc>
            </a:pPr>
            <a:r>
              <a:rPr lang="en-US" dirty="0">
                <a:highlight>
                  <a:srgbClr val="FFFF00"/>
                </a:highlight>
              </a:rPr>
              <a:t>The consumer </a:t>
            </a:r>
            <a:r>
              <a:rPr lang="en-US" dirty="0">
                <a:solidFill>
                  <a:srgbClr val="FF0000"/>
                </a:solidFill>
                <a:highlight>
                  <a:srgbClr val="FFFF00"/>
                </a:highlight>
              </a:rPr>
              <a:t>does not manage or control the underlying cloud infrastructure including network, servers, operating systems, or storage,</a:t>
            </a:r>
            <a:r>
              <a:rPr lang="en-US" dirty="0">
                <a:highlight>
                  <a:srgbClr val="FFFF00"/>
                </a:highlight>
              </a:rPr>
              <a:t> but has </a:t>
            </a:r>
            <a:r>
              <a:rPr lang="en-US" dirty="0">
                <a:solidFill>
                  <a:srgbClr val="FF0000"/>
                </a:solidFill>
                <a:highlight>
                  <a:srgbClr val="FFFF00"/>
                </a:highlight>
              </a:rPr>
              <a:t>control over the deployed applications.</a:t>
            </a:r>
          </a:p>
          <a:p>
            <a:pPr marL="457200" lvl="1" indent="0" algn="just">
              <a:lnSpc>
                <a:spcPct val="150000"/>
              </a:lnSpc>
              <a:buNone/>
            </a:pPr>
            <a:endParaRPr lang="en-US" dirty="0">
              <a:solidFill>
                <a:srgbClr val="FF0000"/>
              </a:solidFill>
            </a:endParaRPr>
          </a:p>
          <a:p>
            <a:pPr lvl="1" algn="just">
              <a:lnSpc>
                <a:spcPct val="150000"/>
              </a:lnSpc>
            </a:pPr>
            <a:r>
              <a:rPr lang="en-US" dirty="0"/>
              <a:t> Apart from servers, storage and networking—it also includes </a:t>
            </a:r>
            <a:r>
              <a:rPr lang="en-US" dirty="0">
                <a:solidFill>
                  <a:srgbClr val="FF0000"/>
                </a:solidFill>
              </a:rPr>
              <a:t>middleware, development tools, business intelligence (BI) services, database management systems </a:t>
            </a:r>
            <a:r>
              <a:rPr lang="en-US" dirty="0"/>
              <a:t>and more…</a:t>
            </a:r>
          </a:p>
          <a:p>
            <a:pPr lvl="1" algn="just">
              <a:lnSpc>
                <a:spcPct val="150000"/>
              </a:lnSpc>
            </a:pPr>
            <a:endParaRPr lang="en-US" dirty="0"/>
          </a:p>
          <a:p>
            <a:pPr lvl="1" algn="just">
              <a:lnSpc>
                <a:spcPct val="150000"/>
              </a:lnSpc>
            </a:pPr>
            <a:r>
              <a:rPr lang="en-US" b="1" dirty="0"/>
              <a:t>Can avoid the expense and complexity of buying software licenses</a:t>
            </a:r>
            <a:r>
              <a:rPr lang="en-US" dirty="0"/>
              <a:t>, and managing the underlying application infrastructure and middleware or the development tools and other resources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a:bodyPr>
          <a:lstStyle/>
          <a:p>
            <a:pPr marL="0" indent="0">
              <a:buNone/>
            </a:pPr>
            <a:r>
              <a:rPr lang="en-US" sz="3500" dirty="0"/>
              <a:t>Examples :</a:t>
            </a:r>
          </a:p>
          <a:p>
            <a:pPr lvl="1" algn="just">
              <a:lnSpc>
                <a:spcPct val="150000"/>
              </a:lnSpc>
            </a:pPr>
            <a:r>
              <a:rPr lang="en-US" sz="2400" dirty="0"/>
              <a:t>Microsoft Windows Azure - </a:t>
            </a:r>
            <a:r>
              <a:rPr lang="en-US" sz="1800" b="1" dirty="0"/>
              <a:t>Microsoft Azure</a:t>
            </a:r>
            <a:r>
              <a:rPr lang="en-US" sz="1800" dirty="0"/>
              <a:t> is a growing collection of cloud services for building, deploying and managing applications through global network of </a:t>
            </a:r>
            <a:r>
              <a:rPr lang="en-US" sz="1800" dirty="0" err="1"/>
              <a:t>datacentres</a:t>
            </a:r>
            <a:r>
              <a:rPr lang="en-US" sz="1800" dirty="0"/>
              <a:t>.</a:t>
            </a:r>
          </a:p>
          <a:p>
            <a:pPr lvl="1" algn="just">
              <a:lnSpc>
                <a:spcPct val="150000"/>
              </a:lnSpc>
            </a:pPr>
            <a:r>
              <a:rPr lang="en-US" sz="2400" dirty="0"/>
              <a:t>Google App Engine- </a:t>
            </a:r>
            <a:r>
              <a:rPr lang="en-US" b="1" dirty="0"/>
              <a:t>Google App Engine</a:t>
            </a:r>
            <a:r>
              <a:rPr lang="en-US" dirty="0"/>
              <a:t> is a fully managed platform that completely abstracts away infrastructure so user can  focus only on code.</a:t>
            </a:r>
          </a:p>
          <a:p>
            <a:pPr lvl="1" algn="just">
              <a:lnSpc>
                <a:spcPct val="150000"/>
              </a:lnSpc>
            </a:pPr>
            <a:r>
              <a:rPr lang="en-US" sz="2400" dirty="0" err="1"/>
              <a:t>Hadoop</a:t>
            </a:r>
            <a:r>
              <a:rPr lang="en-US" sz="2400" dirty="0"/>
              <a:t>- </a:t>
            </a:r>
            <a:r>
              <a:rPr lang="en-US" b="1" dirty="0" err="1"/>
              <a:t>Hadoop</a:t>
            </a:r>
            <a:r>
              <a:rPr lang="en-US" dirty="0"/>
              <a:t> is an open source, Java-based programming framework that supports the processing and storage of extremely large data sets in a distributed computing environment.</a:t>
            </a:r>
          </a:p>
          <a:p>
            <a:pPr>
              <a:lnSpc>
                <a:spcPct val="150000"/>
              </a:lnSpc>
            </a:pPr>
            <a:endParaRPr lang="en-US" sz="2800" dirty="0"/>
          </a:p>
        </p:txBody>
      </p:sp>
    </p:spTree>
    <p:extLst>
      <p:ext uri="{BB962C8B-B14F-4D97-AF65-F5344CB8AC3E}">
        <p14:creationId xmlns:p14="http://schemas.microsoft.com/office/powerpoint/2010/main" val="36463918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a:t>
            </a:r>
          </a:p>
        </p:txBody>
      </p:sp>
      <p:sp>
        <p:nvSpPr>
          <p:cNvPr id="3" name="Text Placeholder 2"/>
          <p:cNvSpPr>
            <a:spLocks noGrp="1"/>
          </p:cNvSpPr>
          <p:nvPr>
            <p:ph type="body" idx="1"/>
          </p:nvPr>
        </p:nvSpPr>
        <p:spPr/>
        <p:txBody>
          <a:bodyPr/>
          <a:lstStyle/>
          <a:p>
            <a:r>
              <a:rPr lang="en-US" dirty="0"/>
              <a:t>Infrastructure as a Service</a:t>
            </a:r>
          </a:p>
          <a:p>
            <a:r>
              <a:rPr lang="en-US" dirty="0"/>
              <a:t>Platform as a Service</a:t>
            </a:r>
          </a:p>
          <a:p>
            <a:r>
              <a:rPr lang="en-US" dirty="0">
                <a:solidFill>
                  <a:srgbClr val="C00000"/>
                </a:solidFill>
              </a:rPr>
              <a:t>Software as a Service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460" y="-35913"/>
            <a:ext cx="8229600" cy="868362"/>
          </a:xfrm>
        </p:spPr>
        <p:txBody>
          <a:bodyPr/>
          <a:lstStyle/>
          <a:p>
            <a:r>
              <a:rPr lang="en-US" dirty="0"/>
              <a:t>Software as a Service</a:t>
            </a:r>
          </a:p>
        </p:txBody>
      </p:sp>
      <p:sp>
        <p:nvSpPr>
          <p:cNvPr id="3" name="Content Placeholder 2"/>
          <p:cNvSpPr>
            <a:spLocks noGrp="1"/>
          </p:cNvSpPr>
          <p:nvPr>
            <p:ph idx="1"/>
          </p:nvPr>
        </p:nvSpPr>
        <p:spPr>
          <a:xfrm>
            <a:off x="457200" y="685800"/>
            <a:ext cx="8229600" cy="5638800"/>
          </a:xfrm>
        </p:spPr>
        <p:txBody>
          <a:bodyPr>
            <a:noAutofit/>
          </a:bodyPr>
          <a:lstStyle/>
          <a:p>
            <a:pPr marL="0" indent="0" fontAlgn="base">
              <a:buNone/>
            </a:pPr>
            <a:r>
              <a:rPr lang="en-US" dirty="0"/>
              <a:t>A layer on top on PAAS</a:t>
            </a:r>
          </a:p>
          <a:p>
            <a:pPr algn="just" fontAlgn="base">
              <a:lnSpc>
                <a:spcPct val="150000"/>
              </a:lnSpc>
            </a:pPr>
            <a:r>
              <a:rPr lang="en-US" dirty="0"/>
              <a:t>The capability provided to the consumer is </a:t>
            </a:r>
            <a:r>
              <a:rPr lang="en-US" dirty="0">
                <a:solidFill>
                  <a:srgbClr val="FF0000"/>
                </a:solidFill>
              </a:rPr>
              <a:t>to use the provider’s applications running on a cloud infrastructure</a:t>
            </a:r>
            <a:r>
              <a:rPr lang="en-US" dirty="0"/>
              <a:t>. The applications are accessible from various client devices through a thin client interface such as a web browser (e.g., web-based email). </a:t>
            </a:r>
          </a:p>
          <a:p>
            <a:pPr algn="just" fontAlgn="base">
              <a:lnSpc>
                <a:spcPct val="150000"/>
              </a:lnSpc>
            </a:pPr>
            <a:r>
              <a:rPr lang="en-US" dirty="0"/>
              <a:t>Often referred to as "on-demand software".  </a:t>
            </a:r>
          </a:p>
          <a:p>
            <a:pPr algn="just" fontAlgn="base">
              <a:lnSpc>
                <a:spcPct val="150000"/>
              </a:lnSpc>
            </a:pPr>
            <a:r>
              <a:rPr lang="en-US" dirty="0">
                <a:highlight>
                  <a:srgbClr val="FFFF00"/>
                </a:highlight>
              </a:rPr>
              <a:t>Don’t want to worry about the installation, setup and running of the application. Service provider will do that.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just">
              <a:lnSpc>
                <a:spcPct val="150000"/>
              </a:lnSpc>
              <a:buNone/>
            </a:pPr>
            <a:r>
              <a:rPr lang="en-US" dirty="0"/>
              <a:t>Examples :</a:t>
            </a:r>
          </a:p>
          <a:p>
            <a:pPr lvl="1" algn="just">
              <a:lnSpc>
                <a:spcPct val="150000"/>
              </a:lnSpc>
            </a:pPr>
            <a:r>
              <a:rPr lang="en-US" dirty="0"/>
              <a:t>Google Apps (e.g., Gmail, Google Docs, Google sites, …</a:t>
            </a:r>
            <a:r>
              <a:rPr lang="en-US" dirty="0" err="1"/>
              <a:t>etc</a:t>
            </a:r>
            <a:r>
              <a:rPr lang="en-US" dirty="0"/>
              <a:t>)</a:t>
            </a:r>
          </a:p>
          <a:p>
            <a:pPr lvl="1" algn="just">
              <a:lnSpc>
                <a:spcPct val="150000"/>
              </a:lnSpc>
            </a:pPr>
            <a:r>
              <a:rPr lang="en-US" dirty="0"/>
              <a:t>Google Apps, Microsoft Office 365. </a:t>
            </a:r>
          </a:p>
          <a:p>
            <a:pPr lvl="1" algn="just">
              <a:lnSpc>
                <a:spcPct val="150000"/>
              </a:lnSpc>
            </a:pPr>
            <a:r>
              <a:rPr lang="en-US" sz="2400" dirty="0"/>
              <a:t>Applications like email (Gmail, Yahoo mail </a:t>
            </a:r>
            <a:r>
              <a:rPr lang="en-US" sz="2400" dirty="0" err="1"/>
              <a:t>etc</a:t>
            </a:r>
            <a:r>
              <a:rPr lang="en-US" sz="2400" dirty="0"/>
              <a:t>), Social Networking sites (Facebook </a:t>
            </a:r>
            <a:r>
              <a:rPr lang="en-US" sz="2400" dirty="0" err="1"/>
              <a:t>etc</a:t>
            </a:r>
            <a:r>
              <a:rPr lang="en-US" sz="2400" dirty="0"/>
              <a:t>)</a:t>
            </a:r>
          </a:p>
          <a:p>
            <a:pPr lvl="1"/>
            <a:endParaRPr lang="en-US" sz="2400" dirty="0"/>
          </a:p>
          <a:p>
            <a:pPr marL="457200" lvl="1" indent="0">
              <a:buNone/>
            </a:pPr>
            <a:endParaRPr lang="en-US" sz="2400" dirty="0"/>
          </a:p>
          <a:p>
            <a:endParaRPr lang="en-US" dirty="0"/>
          </a:p>
        </p:txBody>
      </p:sp>
    </p:spTree>
    <p:extLst>
      <p:ext uri="{BB962C8B-B14F-4D97-AF65-F5344CB8AC3E}">
        <p14:creationId xmlns:p14="http://schemas.microsoft.com/office/powerpoint/2010/main" val="149325291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Deployment models</a:t>
            </a:r>
          </a:p>
        </p:txBody>
      </p:sp>
      <p:sp>
        <p:nvSpPr>
          <p:cNvPr id="3" name="Text Placeholder 2"/>
          <p:cNvSpPr>
            <a:spLocks noGrp="1"/>
          </p:cNvSpPr>
          <p:nvPr>
            <p:ph type="body" idx="1"/>
          </p:nvPr>
        </p:nvSpPr>
        <p:spPr/>
        <p:txBody>
          <a:bodyPr/>
          <a:lstStyle/>
          <a:p>
            <a:r>
              <a:rPr lang="en-US" dirty="0">
                <a:solidFill>
                  <a:srgbClr val="C00000"/>
                </a:solidFill>
              </a:rPr>
              <a:t>How to deploy a cloud system ?</a:t>
            </a:r>
          </a:p>
        </p:txBody>
      </p:sp>
      <p:pic>
        <p:nvPicPr>
          <p:cNvPr id="4" name="Picture 6" descr="C:\Users\Andy\AppData\Local\Microsoft\Windows\Temporary Internet Files\Content.IE5\OHTRCXWF\MPj04308910000[1].jpg"/>
          <p:cNvPicPr>
            <a:picLocks noChangeAspect="1" noChangeArrowheads="1"/>
          </p:cNvPicPr>
          <p:nvPr/>
        </p:nvPicPr>
        <p:blipFill>
          <a:blip r:embed="rId2" cstate="print"/>
          <a:srcRect/>
          <a:stretch>
            <a:fillRect/>
          </a:stretch>
        </p:blipFill>
        <p:spPr bwMode="auto">
          <a:xfrm>
            <a:off x="5729957" y="228600"/>
            <a:ext cx="3185442" cy="4343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Deployment Model</a:t>
            </a:r>
          </a:p>
        </p:txBody>
      </p:sp>
      <p:sp>
        <p:nvSpPr>
          <p:cNvPr id="3" name="Content Placeholder 2"/>
          <p:cNvSpPr>
            <a:spLocks noGrp="1"/>
          </p:cNvSpPr>
          <p:nvPr>
            <p:ph idx="1"/>
          </p:nvPr>
        </p:nvSpPr>
        <p:spPr/>
        <p:txBody>
          <a:bodyPr/>
          <a:lstStyle/>
          <a:p>
            <a:r>
              <a:rPr lang="en-US" dirty="0"/>
              <a:t>There are four primary cloud deployment models :</a:t>
            </a:r>
          </a:p>
          <a:p>
            <a:pPr lvl="1"/>
            <a:r>
              <a:rPr lang="en-US" dirty="0"/>
              <a:t>Public Cloud</a:t>
            </a:r>
          </a:p>
          <a:p>
            <a:pPr lvl="1"/>
            <a:r>
              <a:rPr lang="en-US" dirty="0"/>
              <a:t>Private Cloud</a:t>
            </a:r>
          </a:p>
          <a:p>
            <a:pPr lvl="1"/>
            <a:r>
              <a:rPr lang="en-US" dirty="0"/>
              <a:t>Community Cloud</a:t>
            </a:r>
          </a:p>
          <a:p>
            <a:pPr lvl="1"/>
            <a:r>
              <a:rPr lang="en-US" dirty="0"/>
              <a:t>Hybrid Cloud</a:t>
            </a:r>
            <a:br>
              <a:rPr lang="en-US" dirty="0"/>
            </a:br>
            <a:endParaRPr lang="en-US" dirty="0"/>
          </a:p>
          <a:p>
            <a:pPr marL="0" indent="0">
              <a:buNone/>
            </a:pPr>
            <a:endParaRPr lang="en-US" dirty="0"/>
          </a:p>
        </p:txBody>
      </p:sp>
      <p:pic>
        <p:nvPicPr>
          <p:cNvPr id="4" name="Picture 3"/>
          <p:cNvPicPr>
            <a:picLocks noChangeAspect="1"/>
          </p:cNvPicPr>
          <p:nvPr/>
        </p:nvPicPr>
        <p:blipFill>
          <a:blip r:embed="rId2"/>
          <a:stretch>
            <a:fillRect/>
          </a:stretch>
        </p:blipFill>
        <p:spPr>
          <a:xfrm>
            <a:off x="3581400" y="3101843"/>
            <a:ext cx="5105400" cy="282747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Cloud</a:t>
            </a:r>
          </a:p>
        </p:txBody>
      </p:sp>
      <p:sp>
        <p:nvSpPr>
          <p:cNvPr id="3" name="Content Placeholder 2"/>
          <p:cNvSpPr>
            <a:spLocks noGrp="1"/>
          </p:cNvSpPr>
          <p:nvPr>
            <p:ph idx="1"/>
          </p:nvPr>
        </p:nvSpPr>
        <p:spPr>
          <a:xfrm>
            <a:off x="457200" y="1600200"/>
            <a:ext cx="8382000" cy="4525963"/>
          </a:xfrm>
        </p:spPr>
        <p:txBody>
          <a:bodyPr/>
          <a:lstStyle/>
          <a:p>
            <a:r>
              <a:rPr lang="en-US" dirty="0"/>
              <a:t>Public cloud definition</a:t>
            </a:r>
          </a:p>
          <a:p>
            <a:pPr lvl="1"/>
            <a:r>
              <a:rPr lang="en-US" dirty="0"/>
              <a:t>The cloud infrastructure is </a:t>
            </a:r>
            <a:r>
              <a:rPr lang="en-US" b="1" dirty="0"/>
              <a:t>made available to the general public or a large industry group and is owned by an organization selling cloud services.</a:t>
            </a:r>
          </a:p>
          <a:p>
            <a:pPr lvl="1"/>
            <a:r>
              <a:rPr lang="en-US" dirty="0"/>
              <a:t>Also known as external cloud or multi-tenant cloud, this model essentially represents a cloud environment that is openly accessible.</a:t>
            </a:r>
          </a:p>
          <a:p>
            <a:pPr lvl="1"/>
            <a:r>
              <a:rPr lang="en-US" dirty="0"/>
              <a:t>Basic characteristics :</a:t>
            </a:r>
          </a:p>
          <a:p>
            <a:pPr lvl="2"/>
            <a:r>
              <a:rPr lang="en-US" dirty="0"/>
              <a:t>Homogeneous infrastructure</a:t>
            </a:r>
          </a:p>
          <a:p>
            <a:pPr lvl="2"/>
            <a:r>
              <a:rPr lang="en-US" dirty="0"/>
              <a:t>Common policies</a:t>
            </a:r>
          </a:p>
          <a:p>
            <a:pPr lvl="2"/>
            <a:r>
              <a:rPr lang="en-US" dirty="0"/>
              <a:t>Shared resources and multi-tenant</a:t>
            </a:r>
          </a:p>
          <a:p>
            <a:pPr lvl="2"/>
            <a:r>
              <a:rPr lang="en-US" dirty="0"/>
              <a:t>Leased or rented infrastructure</a:t>
            </a:r>
          </a:p>
          <a:p>
            <a:pPr lvl="2"/>
            <a:r>
              <a:rPr lang="en-US" dirty="0"/>
              <a:t>Economies of scale - because infrastructure costs are spread across all users, thus allowing each individual client to operate on a low-cost</a:t>
            </a:r>
          </a:p>
        </p:txBody>
      </p:sp>
      <p:pic>
        <p:nvPicPr>
          <p:cNvPr id="1026" name="Picture 2"/>
          <p:cNvPicPr>
            <a:picLocks noChangeAspect="1" noChangeArrowheads="1"/>
          </p:cNvPicPr>
          <p:nvPr/>
        </p:nvPicPr>
        <p:blipFill>
          <a:blip r:embed="rId3" cstate="print"/>
          <a:srcRect/>
          <a:stretch>
            <a:fillRect/>
          </a:stretch>
        </p:blipFill>
        <p:spPr bwMode="auto">
          <a:xfrm>
            <a:off x="6248400" y="3581400"/>
            <a:ext cx="2013044" cy="1917738"/>
          </a:xfrm>
          <a:prstGeom prst="rect">
            <a:avLst/>
          </a:prstGeom>
          <a:noFill/>
          <a:ln w="9525">
            <a:noFill/>
            <a:miter lim="800000"/>
            <a:headEnd/>
            <a:tailEnd/>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pPr marL="0" indent="0">
              <a:buNone/>
            </a:pPr>
            <a:r>
              <a:rPr lang="en-US" b="1" dirty="0"/>
              <a:t>Examples </a:t>
            </a:r>
            <a:r>
              <a:rPr lang="en-US" dirty="0"/>
              <a:t>of public clouds include </a:t>
            </a:r>
          </a:p>
          <a:p>
            <a:r>
              <a:rPr lang="en-US" dirty="0"/>
              <a:t>Amazon Elastic Compute Cloud (EC2), </a:t>
            </a:r>
          </a:p>
          <a:p>
            <a:r>
              <a:rPr lang="en-US" dirty="0"/>
              <a:t>IBM’s Blue Cloud, </a:t>
            </a:r>
          </a:p>
          <a:p>
            <a:r>
              <a:rPr lang="en-US" dirty="0"/>
              <a:t>Sun Cloud, </a:t>
            </a:r>
          </a:p>
          <a:p>
            <a:r>
              <a:rPr lang="en-US" dirty="0"/>
              <a:t>Google </a:t>
            </a:r>
            <a:r>
              <a:rPr lang="en-US" dirty="0" err="1"/>
              <a:t>AppEngine</a:t>
            </a:r>
            <a:r>
              <a:rPr lang="en-US" dirty="0"/>
              <a:t> and </a:t>
            </a:r>
          </a:p>
          <a:p>
            <a:r>
              <a:rPr lang="en-US" dirty="0"/>
              <a:t>Windows Azure Services Platform.</a:t>
            </a:r>
          </a:p>
          <a:p>
            <a:r>
              <a:rPr lang="en-US" dirty="0"/>
              <a:t>Most of the </a:t>
            </a:r>
            <a:r>
              <a:rPr lang="en-US" dirty="0" err="1"/>
              <a:t>google</a:t>
            </a:r>
            <a:r>
              <a:rPr lang="en-US" dirty="0"/>
              <a:t> services</a:t>
            </a:r>
          </a:p>
          <a:p>
            <a:r>
              <a:rPr lang="en-US" dirty="0"/>
              <a:t>Gmail, Google Doc, Spreadsheet </a:t>
            </a:r>
          </a:p>
          <a:p>
            <a:pPr marL="0" indent="0" algn="just">
              <a:lnSpc>
                <a:spcPct val="150000"/>
              </a:lnSpc>
              <a:buNone/>
            </a:pPr>
            <a:r>
              <a:rPr lang="en-US" dirty="0"/>
              <a:t>A</a:t>
            </a:r>
            <a:r>
              <a:rPr lang="en-US" sz="2000" dirty="0"/>
              <a:t> </a:t>
            </a:r>
            <a:r>
              <a:rPr lang="en-US" sz="2000" b="1" dirty="0"/>
              <a:t>public cloud</a:t>
            </a:r>
            <a:r>
              <a:rPr lang="en-US" sz="2000" dirty="0"/>
              <a:t> is one based on the standard </a:t>
            </a:r>
            <a:r>
              <a:rPr lang="en-US" sz="2000" dirty="0">
                <a:hlinkClick r:id="rId3"/>
              </a:rPr>
              <a:t>cloud computing</a:t>
            </a:r>
            <a:r>
              <a:rPr lang="en-US" sz="2000" dirty="0"/>
              <a:t> model, in which a service provider makes resources, such as virtual machines (VMs), applications or storage, available to the general public over the internet. Public cloud services </a:t>
            </a:r>
            <a:r>
              <a:rPr lang="en-US" sz="2000" b="1" dirty="0"/>
              <a:t>may be free or offered on a pay-per-usage model.</a:t>
            </a:r>
          </a:p>
        </p:txBody>
      </p:sp>
    </p:spTree>
    <p:extLst>
      <p:ext uri="{BB962C8B-B14F-4D97-AF65-F5344CB8AC3E}">
        <p14:creationId xmlns:p14="http://schemas.microsoft.com/office/powerpoint/2010/main" val="289929265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Private Cloud</a:t>
            </a:r>
          </a:p>
        </p:txBody>
      </p:sp>
      <p:sp>
        <p:nvSpPr>
          <p:cNvPr id="3" name="Content Placeholder 2"/>
          <p:cNvSpPr>
            <a:spLocks noGrp="1"/>
          </p:cNvSpPr>
          <p:nvPr>
            <p:ph idx="1"/>
          </p:nvPr>
        </p:nvSpPr>
        <p:spPr>
          <a:xfrm>
            <a:off x="457200" y="1295400"/>
            <a:ext cx="8229600" cy="4800600"/>
          </a:xfrm>
        </p:spPr>
        <p:txBody>
          <a:bodyPr>
            <a:noAutofit/>
          </a:bodyPr>
          <a:lstStyle/>
          <a:p>
            <a:r>
              <a:rPr lang="en-US" dirty="0"/>
              <a:t>Private cloud definition</a:t>
            </a:r>
          </a:p>
          <a:p>
            <a:pPr lvl="1"/>
            <a:r>
              <a:rPr lang="en-US" dirty="0"/>
              <a:t>The cloud infrastructure is </a:t>
            </a:r>
            <a:r>
              <a:rPr lang="en-US" b="1" dirty="0"/>
              <a:t>operated solely for an organization</a:t>
            </a:r>
            <a:r>
              <a:rPr lang="en-US" dirty="0"/>
              <a:t>. It may be </a:t>
            </a:r>
            <a:r>
              <a:rPr lang="en-US" b="1" dirty="0"/>
              <a:t>managed by the organization or a third party and may exist on premise or off premise.</a:t>
            </a:r>
          </a:p>
          <a:p>
            <a:pPr lvl="1"/>
            <a:r>
              <a:rPr lang="en-US" dirty="0"/>
              <a:t>Also referred to as internal cloud or on-premise cloud, a private cloud intentionally limits access to its </a:t>
            </a:r>
            <a:r>
              <a:rPr lang="en-US" b="1" dirty="0"/>
              <a:t>resources to service consumers that belong to the same organization that owns the cloud.</a:t>
            </a:r>
          </a:p>
          <a:p>
            <a:pPr lvl="1"/>
            <a:r>
              <a:rPr lang="en-US" dirty="0"/>
              <a:t>Basic characteristics :</a:t>
            </a:r>
          </a:p>
          <a:p>
            <a:pPr lvl="2"/>
            <a:r>
              <a:rPr lang="en-US" dirty="0"/>
              <a:t>Heterogeneous infrastructure</a:t>
            </a:r>
          </a:p>
          <a:p>
            <a:pPr lvl="2"/>
            <a:r>
              <a:rPr lang="en-US" dirty="0"/>
              <a:t>Customized and tailored policies</a:t>
            </a:r>
          </a:p>
          <a:p>
            <a:pPr lvl="2"/>
            <a:r>
              <a:rPr lang="en-US" dirty="0"/>
              <a:t>Dedicated resources</a:t>
            </a:r>
          </a:p>
          <a:p>
            <a:pPr lvl="2"/>
            <a:r>
              <a:rPr lang="en-US" dirty="0"/>
              <a:t>In-house infrastructure</a:t>
            </a:r>
          </a:p>
          <a:p>
            <a:pPr lvl="2"/>
            <a:r>
              <a:rPr lang="en-US" dirty="0"/>
              <a:t>End-to-end control </a:t>
            </a:r>
          </a:p>
        </p:txBody>
      </p:sp>
      <p:pic>
        <p:nvPicPr>
          <p:cNvPr id="2050" name="Picture 2"/>
          <p:cNvPicPr>
            <a:picLocks noChangeAspect="1" noChangeArrowheads="1"/>
          </p:cNvPicPr>
          <p:nvPr/>
        </p:nvPicPr>
        <p:blipFill>
          <a:blip r:embed="rId3" cstate="print"/>
          <a:srcRect/>
          <a:stretch>
            <a:fillRect/>
          </a:stretch>
        </p:blipFill>
        <p:spPr bwMode="auto">
          <a:xfrm>
            <a:off x="5724600" y="3810000"/>
            <a:ext cx="3120776" cy="2886808"/>
          </a:xfrm>
          <a:prstGeom prst="rect">
            <a:avLst/>
          </a:prstGeom>
          <a:noFill/>
          <a:ln w="9525">
            <a:noFill/>
            <a:miter lim="800000"/>
            <a:headEnd/>
            <a:tailEnd/>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Community Cloud</a:t>
            </a:r>
          </a:p>
        </p:txBody>
      </p:sp>
      <p:sp>
        <p:nvSpPr>
          <p:cNvPr id="3" name="Content Placeholder 2"/>
          <p:cNvSpPr>
            <a:spLocks noGrp="1"/>
          </p:cNvSpPr>
          <p:nvPr>
            <p:ph idx="1"/>
          </p:nvPr>
        </p:nvSpPr>
        <p:spPr/>
        <p:txBody>
          <a:bodyPr/>
          <a:lstStyle/>
          <a:p>
            <a:r>
              <a:rPr lang="en-US" dirty="0"/>
              <a:t>Community cloud definition</a:t>
            </a:r>
          </a:p>
          <a:p>
            <a:pPr lvl="1"/>
            <a:r>
              <a:rPr lang="en-US" dirty="0"/>
              <a:t>The cloud infrastructure is </a:t>
            </a:r>
            <a:r>
              <a:rPr lang="en-US" b="1" dirty="0"/>
              <a:t>shared by several organizations and supports a specific community</a:t>
            </a:r>
            <a:r>
              <a:rPr lang="en-US" dirty="0"/>
              <a:t> that has shared concerns (e.g., mission, security requirements, policy, and compliance considerations). </a:t>
            </a:r>
          </a:p>
        </p:txBody>
      </p:sp>
      <p:pic>
        <p:nvPicPr>
          <p:cNvPr id="10244" name="Picture 4" descr="[14.PNG]"/>
          <p:cNvPicPr>
            <a:picLocks noChangeAspect="1" noChangeArrowheads="1"/>
          </p:cNvPicPr>
          <p:nvPr/>
        </p:nvPicPr>
        <p:blipFill>
          <a:blip r:embed="rId3" cstate="print"/>
          <a:srcRect/>
          <a:stretch>
            <a:fillRect/>
          </a:stretch>
        </p:blipFill>
        <p:spPr bwMode="auto">
          <a:xfrm>
            <a:off x="3733800" y="3200400"/>
            <a:ext cx="5295992" cy="3657600"/>
          </a:xfrm>
          <a:prstGeom prst="rect">
            <a:avLst/>
          </a:prstGeom>
          <a:noFill/>
        </p:spPr>
      </p:pic>
      <p:sp>
        <p:nvSpPr>
          <p:cNvPr id="4" name="Rectangle 3"/>
          <p:cNvSpPr/>
          <p:nvPr/>
        </p:nvSpPr>
        <p:spPr>
          <a:xfrm>
            <a:off x="114208" y="3860593"/>
            <a:ext cx="3009992" cy="3139321"/>
          </a:xfrm>
          <a:prstGeom prst="rect">
            <a:avLst/>
          </a:prstGeom>
        </p:spPr>
        <p:txBody>
          <a:bodyPr wrap="square">
            <a:spAutoFit/>
          </a:bodyPr>
          <a:lstStyle/>
          <a:p>
            <a:pPr algn="just"/>
            <a:r>
              <a:rPr lang="en-US" dirty="0">
                <a:solidFill>
                  <a:srgbClr val="333333"/>
                </a:solidFill>
                <a:latin typeface="Open-sans"/>
              </a:rPr>
              <a:t>Community clouds are often designed for businesses and </a:t>
            </a:r>
            <a:r>
              <a:rPr lang="en-US" b="1" dirty="0">
                <a:solidFill>
                  <a:srgbClr val="333333"/>
                </a:solidFill>
                <a:latin typeface="Open-sans"/>
              </a:rPr>
              <a:t>organizations working on joint projects</a:t>
            </a:r>
            <a:r>
              <a:rPr lang="en-US" dirty="0">
                <a:solidFill>
                  <a:srgbClr val="333333"/>
                </a:solidFill>
                <a:latin typeface="Open-sans"/>
              </a:rPr>
              <a:t>, applications, or research, </a:t>
            </a:r>
            <a:r>
              <a:rPr lang="en-US" b="1" dirty="0">
                <a:solidFill>
                  <a:srgbClr val="333333"/>
                </a:solidFill>
                <a:latin typeface="Open-sans"/>
              </a:rPr>
              <a:t>which requires a central cloud computing facility for building, managing and executing such projects</a:t>
            </a:r>
            <a:r>
              <a:rPr lang="en-US" dirty="0">
                <a:solidFill>
                  <a:srgbClr val="333333"/>
                </a:solidFill>
                <a:latin typeface="Open-sans"/>
              </a:rPr>
              <a:t>.</a:t>
            </a:r>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D28A2-5BB5-23C0-6E4E-EED9789B5A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2F0AA-05EF-F916-72E7-73AB0D5C12E6}"/>
              </a:ext>
            </a:extLst>
          </p:cNvPr>
          <p:cNvSpPr>
            <a:spLocks noGrp="1"/>
          </p:cNvSpPr>
          <p:nvPr>
            <p:ph type="title"/>
          </p:nvPr>
        </p:nvSpPr>
        <p:spPr/>
        <p:txBody>
          <a:bodyPr>
            <a:normAutofit/>
          </a:bodyPr>
          <a:lstStyle/>
          <a:p>
            <a:r>
              <a:rPr lang="en-US" dirty="0"/>
              <a:t>Community Cloud</a:t>
            </a:r>
          </a:p>
        </p:txBody>
      </p:sp>
      <p:sp>
        <p:nvSpPr>
          <p:cNvPr id="6" name="Content Placeholder 5">
            <a:extLst>
              <a:ext uri="{FF2B5EF4-FFF2-40B4-BE49-F238E27FC236}">
                <a16:creationId xmlns:a16="http://schemas.microsoft.com/office/drawing/2014/main" id="{5EC53FEC-8C75-EEDF-5F6D-BF5DF7F0EB03}"/>
              </a:ext>
            </a:extLst>
          </p:cNvPr>
          <p:cNvSpPr>
            <a:spLocks noGrp="1"/>
          </p:cNvSpPr>
          <p:nvPr>
            <p:ph idx="1"/>
          </p:nvPr>
        </p:nvSpPr>
        <p:spPr/>
        <p:txBody>
          <a:bodyPr/>
          <a:lstStyle/>
          <a:p>
            <a:pPr marL="0" indent="0">
              <a:buNone/>
            </a:pPr>
            <a:r>
              <a:rPr lang="en-US" dirty="0"/>
              <a:t>(i) Healthcare Sector</a:t>
            </a:r>
          </a:p>
          <a:p>
            <a:r>
              <a:rPr lang="en-US" dirty="0"/>
              <a:t>Shared Patient Records: A consortium of hospitals and labs uses a community cloud to securely exchange patient data, ensuring HIPAA compliance, which is crucial for research and coordinated care. </a:t>
            </a:r>
          </a:p>
          <a:p>
            <a:pPr marL="0" indent="0">
              <a:buNone/>
            </a:pPr>
            <a:r>
              <a:rPr lang="en-US" dirty="0"/>
              <a:t>(ii) Education Sector</a:t>
            </a:r>
          </a:p>
          <a:p>
            <a:r>
              <a:rPr lang="en-US" dirty="0"/>
              <a:t>Resource Sharing: Multiple universities or school districts use a shared platform for e-learning, administrative tasks, and sharing educational content, reducing individual IT costs and improving collaboration between institutions. </a:t>
            </a:r>
          </a:p>
        </p:txBody>
      </p:sp>
    </p:spTree>
    <p:extLst>
      <p:ext uri="{BB962C8B-B14F-4D97-AF65-F5344CB8AC3E}">
        <p14:creationId xmlns:p14="http://schemas.microsoft.com/office/powerpoint/2010/main" val="134349567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Hybrid Cloud</a:t>
            </a:r>
          </a:p>
        </p:txBody>
      </p:sp>
      <p:sp>
        <p:nvSpPr>
          <p:cNvPr id="3" name="Content Placeholder 2"/>
          <p:cNvSpPr>
            <a:spLocks noGrp="1"/>
          </p:cNvSpPr>
          <p:nvPr>
            <p:ph idx="1"/>
          </p:nvPr>
        </p:nvSpPr>
        <p:spPr>
          <a:xfrm>
            <a:off x="457200" y="1143000"/>
            <a:ext cx="8229600" cy="4983163"/>
          </a:xfrm>
        </p:spPr>
        <p:txBody>
          <a:bodyPr/>
          <a:lstStyle/>
          <a:p>
            <a:r>
              <a:rPr lang="en-US" dirty="0"/>
              <a:t>Hybrid cloud definition</a:t>
            </a:r>
          </a:p>
          <a:p>
            <a:pPr lvl="1"/>
            <a:r>
              <a:rPr lang="en-US" dirty="0"/>
              <a:t>The cloud infrastructure is a composition of two or more clouds (private, community, or public) that remain unique entities but are bound together by standardized or proprietary technology that enables data and application</a:t>
            </a:r>
            <a:br>
              <a:rPr lang="en-US" dirty="0"/>
            </a:br>
            <a:r>
              <a:rPr lang="en-US" dirty="0"/>
              <a:t>portability (e.g., cloud bursting</a:t>
            </a:r>
            <a:br>
              <a:rPr lang="en-US" dirty="0"/>
            </a:br>
            <a:r>
              <a:rPr lang="en-US" dirty="0"/>
              <a:t>for load-balancing between</a:t>
            </a:r>
            <a:br>
              <a:rPr lang="en-US" dirty="0"/>
            </a:br>
            <a:r>
              <a:rPr lang="en-US" dirty="0"/>
              <a:t>clouds).</a:t>
            </a:r>
          </a:p>
        </p:txBody>
      </p:sp>
      <p:pic>
        <p:nvPicPr>
          <p:cNvPr id="11268" name="Picture 4" descr="[13.PNG]"/>
          <p:cNvPicPr>
            <a:picLocks noChangeAspect="1" noChangeArrowheads="1"/>
          </p:cNvPicPr>
          <p:nvPr/>
        </p:nvPicPr>
        <p:blipFill>
          <a:blip r:embed="rId3" cstate="print"/>
          <a:srcRect/>
          <a:stretch>
            <a:fillRect/>
          </a:stretch>
        </p:blipFill>
        <p:spPr bwMode="auto">
          <a:xfrm>
            <a:off x="5029200" y="3048000"/>
            <a:ext cx="3929763" cy="3657600"/>
          </a:xfrm>
          <a:prstGeom prst="rect">
            <a:avLst/>
          </a:prstGeom>
          <a:noFill/>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85ACE-DF20-5378-E7E4-4E73F993D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A39B86-2BE4-4F2F-13A1-ED218CF14F81}"/>
              </a:ext>
            </a:extLst>
          </p:cNvPr>
          <p:cNvSpPr>
            <a:spLocks noGrp="1"/>
          </p:cNvSpPr>
          <p:nvPr>
            <p:ph type="title"/>
          </p:nvPr>
        </p:nvSpPr>
        <p:spPr/>
        <p:txBody>
          <a:bodyPr/>
          <a:lstStyle/>
          <a:p>
            <a:r>
              <a:rPr lang="en-US" dirty="0"/>
              <a:t>Hybrid Cloud</a:t>
            </a:r>
          </a:p>
        </p:txBody>
      </p:sp>
      <p:sp>
        <p:nvSpPr>
          <p:cNvPr id="3" name="Content Placeholder 2">
            <a:extLst>
              <a:ext uri="{FF2B5EF4-FFF2-40B4-BE49-F238E27FC236}">
                <a16:creationId xmlns:a16="http://schemas.microsoft.com/office/drawing/2014/main" id="{EF7F2583-63D4-111E-BA71-F53A058C1F1D}"/>
              </a:ext>
            </a:extLst>
          </p:cNvPr>
          <p:cNvSpPr>
            <a:spLocks noGrp="1"/>
          </p:cNvSpPr>
          <p:nvPr>
            <p:ph idx="1"/>
          </p:nvPr>
        </p:nvSpPr>
        <p:spPr>
          <a:xfrm>
            <a:off x="457200" y="1143000"/>
            <a:ext cx="8229600" cy="4983163"/>
          </a:xfrm>
        </p:spPr>
        <p:txBody>
          <a:bodyPr>
            <a:normAutofit fontScale="92500"/>
          </a:bodyPr>
          <a:lstStyle/>
          <a:p>
            <a:r>
              <a:rPr lang="en-US" dirty="0"/>
              <a:t>An example of a hybrid cloud solution is an organization that wants to keep confidential information secured on their private cloud, but make more general, customer-facing content on a public cloud.</a:t>
            </a:r>
          </a:p>
          <a:p>
            <a:r>
              <a:rPr lang="en-US" dirty="0">
                <a:solidFill>
                  <a:srgbClr val="6C6C6C"/>
                </a:solidFill>
                <a:latin typeface="Arial" panose="020B0604020202020204" pitchFamily="34" charset="0"/>
              </a:rPr>
              <a:t>Cloud bursting is an application deployment model in which an application runs in a private cloud and burst into a public cloud when the demand for computing capacity spikes.</a:t>
            </a:r>
          </a:p>
          <a:p>
            <a:r>
              <a:rPr lang="en-US" b="1" dirty="0"/>
              <a:t>Cloud bursting in a hybrid cloud is a dynamic setup </a:t>
            </a:r>
            <a:r>
              <a:rPr lang="en-US" dirty="0"/>
              <a:t>where an application runs in a private cloud (or on-premise) and automatically "bursts" into a public cloud to use extra resources when demand spikes, preventing performance issues, then scales back down, offering cost-efficiency by only paying for public cloud resources when needed</a:t>
            </a:r>
          </a:p>
          <a:p>
            <a:endParaRPr lang="en-US" dirty="0"/>
          </a:p>
          <a:p>
            <a:endParaRPr lang="en-US" dirty="0"/>
          </a:p>
        </p:txBody>
      </p:sp>
    </p:spTree>
    <p:extLst>
      <p:ext uri="{BB962C8B-B14F-4D97-AF65-F5344CB8AC3E}">
        <p14:creationId xmlns:p14="http://schemas.microsoft.com/office/powerpoint/2010/main" val="169816757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752600"/>
            <a:ext cx="8534400" cy="1143000"/>
          </a:xfrm>
        </p:spPr>
        <p:txBody>
          <a:bodyPr>
            <a:normAutofit fontScale="90000"/>
          </a:bodyPr>
          <a:lstStyle/>
          <a:p>
            <a:pPr algn="l"/>
            <a:r>
              <a:rPr lang="en-US" dirty="0"/>
              <a:t>Role of Virtualization in Cloud-based Services</a:t>
            </a:r>
            <a:br>
              <a:rPr lang="en-US" dirty="0"/>
            </a:br>
            <a:br>
              <a:rPr lang="en-US" dirty="0"/>
            </a:br>
            <a:br>
              <a:rPr lang="en-US" dirty="0"/>
            </a:br>
            <a:br>
              <a:rPr lang="en-US" dirty="0"/>
            </a:br>
            <a:br>
              <a:rPr lang="en-US" dirty="0"/>
            </a:br>
            <a:endParaRPr lang="en-US" dirty="0"/>
          </a:p>
        </p:txBody>
      </p:sp>
      <p:sp>
        <p:nvSpPr>
          <p:cNvPr id="3" name="Content Placeholder 2"/>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dirty="0"/>
              <a:t>What is Virtualization?</a:t>
            </a:r>
          </a:p>
          <a:p>
            <a:pPr marL="0" indent="0" algn="just">
              <a:buNone/>
            </a:pPr>
            <a:r>
              <a:rPr lang="en-US" dirty="0">
                <a:solidFill>
                  <a:schemeClr val="tx1"/>
                </a:solidFill>
              </a:rPr>
              <a:t>The basic concept of </a:t>
            </a:r>
            <a:r>
              <a:rPr lang="en-US" dirty="0">
                <a:solidFill>
                  <a:schemeClr val="tx1"/>
                </a:solidFill>
                <a:hlinkClick r:id="rId3"/>
              </a:rPr>
              <a:t>virtualization</a:t>
            </a:r>
            <a:r>
              <a:rPr lang="en-US" dirty="0">
                <a:solidFill>
                  <a:schemeClr val="tx1"/>
                </a:solidFill>
              </a:rPr>
              <a:t> is that a piece of software will function as a physical object, that is, it will “look” and “behave” like hardware</a:t>
            </a:r>
          </a:p>
          <a:p>
            <a:pPr marL="0" indent="0" algn="just">
              <a:buNone/>
            </a:pPr>
            <a:r>
              <a:rPr lang="en-US" dirty="0"/>
              <a:t>Virtualization is a key element of the cloud computing concept because it is the only way to</a:t>
            </a:r>
          </a:p>
          <a:p>
            <a:pPr marL="0" indent="0" algn="just">
              <a:buNone/>
            </a:pPr>
            <a:r>
              <a:rPr lang="en-US" dirty="0"/>
              <a:t>build a truly efficient Cloud</a:t>
            </a:r>
          </a:p>
        </p:txBody>
      </p:sp>
      <p:sp>
        <p:nvSpPr>
          <p:cNvPr id="4" name="Rectangle 3"/>
          <p:cNvSpPr/>
          <p:nvPr/>
        </p:nvSpPr>
        <p:spPr>
          <a:xfrm>
            <a:off x="228600" y="1752600"/>
            <a:ext cx="8458200" cy="992579"/>
          </a:xfrm>
          <a:prstGeom prst="rect">
            <a:avLst/>
          </a:prstGeom>
        </p:spPr>
        <p:txBody>
          <a:bodyPr wrap="square">
            <a:spAutoFit/>
          </a:bodyPr>
          <a:lstStyle/>
          <a:p>
            <a:pPr algn="just"/>
            <a:endParaRPr lang="en-US" sz="1050" dirty="0">
              <a:solidFill>
                <a:srgbClr val="000000"/>
              </a:solidFill>
              <a:latin typeface="Calibri" panose="020F0502020204030204" pitchFamily="34" charset="0"/>
            </a:endParaRPr>
          </a:p>
          <a:p>
            <a:endParaRPr lang="en-US" sz="2400" dirty="0"/>
          </a:p>
          <a:p>
            <a:endParaRPr lang="en-US" sz="24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267568867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752600"/>
            <a:ext cx="8534400" cy="1143000"/>
          </a:xfrm>
        </p:spPr>
        <p:txBody>
          <a:bodyPr>
            <a:normAutofit fontScale="90000"/>
          </a:bodyPr>
          <a:lstStyle/>
          <a:p>
            <a:pPr algn="l"/>
            <a:r>
              <a:rPr lang="en-US" dirty="0"/>
              <a:t>Role of Virtualization in Cloud-based Services</a:t>
            </a:r>
            <a:br>
              <a:rPr lang="en-US" dirty="0"/>
            </a:br>
            <a:br>
              <a:rPr lang="en-US" dirty="0"/>
            </a:br>
            <a:br>
              <a:rPr lang="en-US" dirty="0"/>
            </a:br>
            <a:br>
              <a:rPr lang="en-US" dirty="0"/>
            </a:br>
            <a:br>
              <a:rPr lang="en-US" dirty="0"/>
            </a:br>
            <a:endParaRPr lang="en-US" dirty="0"/>
          </a:p>
        </p:txBody>
      </p:sp>
      <p:sp>
        <p:nvSpPr>
          <p:cNvPr id="3" name="Content Placeholder 2"/>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dirty="0"/>
              <a:t>How Virtualization is Different from Cloud Computing?</a:t>
            </a:r>
          </a:p>
          <a:p>
            <a:pPr marL="0" indent="0" algn="just">
              <a:buNone/>
            </a:pPr>
            <a:r>
              <a:rPr lang="en-US" dirty="0"/>
              <a:t>Virtualization software allows </a:t>
            </a:r>
            <a:r>
              <a:rPr lang="en-US" b="1" dirty="0"/>
              <a:t>multiple operating systems and applications to run on the same server at the same time, </a:t>
            </a:r>
            <a:r>
              <a:rPr lang="en-US" dirty="0"/>
              <a:t>and, as a result, lowers costs and increases efficiency of a company’s existing hardware.</a:t>
            </a:r>
          </a:p>
          <a:p>
            <a:pPr algn="just"/>
            <a:endParaRPr lang="en-US" dirty="0"/>
          </a:p>
        </p:txBody>
      </p:sp>
      <p:sp>
        <p:nvSpPr>
          <p:cNvPr id="4" name="Rectangle 3"/>
          <p:cNvSpPr/>
          <p:nvPr/>
        </p:nvSpPr>
        <p:spPr>
          <a:xfrm>
            <a:off x="228600" y="1752600"/>
            <a:ext cx="8458200" cy="992579"/>
          </a:xfrm>
          <a:prstGeom prst="rect">
            <a:avLst/>
          </a:prstGeom>
        </p:spPr>
        <p:txBody>
          <a:bodyPr wrap="square">
            <a:spAutoFit/>
          </a:bodyPr>
          <a:lstStyle/>
          <a:p>
            <a:pPr algn="just"/>
            <a:endParaRPr lang="en-US" sz="1050" dirty="0">
              <a:solidFill>
                <a:srgbClr val="000000"/>
              </a:solidFill>
              <a:latin typeface="Calibri" panose="020F0502020204030204" pitchFamily="34" charset="0"/>
            </a:endParaRPr>
          </a:p>
          <a:p>
            <a:endParaRPr lang="en-US" sz="2400" dirty="0"/>
          </a:p>
          <a:p>
            <a:endParaRPr lang="en-US" sz="24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412305858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 virtualization</a:t>
            </a:r>
          </a:p>
        </p:txBody>
      </p:sp>
      <p:sp>
        <p:nvSpPr>
          <p:cNvPr id="3" name="Content Placeholder 2"/>
          <p:cNvSpPr txBox="1">
            <a:spLocks/>
          </p:cNvSpPr>
          <p:nvPr/>
        </p:nvSpPr>
        <p:spPr>
          <a:xfrm>
            <a:off x="0" y="1600200"/>
            <a:ext cx="8991600" cy="4525963"/>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b="1" dirty="0"/>
              <a:t>Server virtualization is a process that creates and abstracts multiple virtual instances on a single server. </a:t>
            </a:r>
          </a:p>
          <a:p>
            <a:pPr algn="just"/>
            <a:r>
              <a:rPr lang="en-US" dirty="0"/>
              <a:t>Server space is conserved by </a:t>
            </a:r>
            <a:r>
              <a:rPr lang="en-US" b="1" dirty="0"/>
              <a:t>consolidating multiple machines </a:t>
            </a:r>
            <a:r>
              <a:rPr lang="en-US" dirty="0"/>
              <a:t>into a single server that then runs several virtual environments.</a:t>
            </a:r>
          </a:p>
          <a:p>
            <a:pPr marL="0" indent="0" algn="just">
              <a:buNone/>
            </a:pPr>
            <a:endParaRPr lang="en-US" dirty="0"/>
          </a:p>
        </p:txBody>
      </p:sp>
      <p:sp>
        <p:nvSpPr>
          <p:cNvPr id="4" name="Rectangle 3"/>
          <p:cNvSpPr/>
          <p:nvPr/>
        </p:nvSpPr>
        <p:spPr>
          <a:xfrm>
            <a:off x="228600" y="1752600"/>
            <a:ext cx="8458200" cy="992579"/>
          </a:xfrm>
          <a:prstGeom prst="rect">
            <a:avLst/>
          </a:prstGeom>
        </p:spPr>
        <p:txBody>
          <a:bodyPr wrap="square">
            <a:spAutoFit/>
          </a:bodyPr>
          <a:lstStyle/>
          <a:p>
            <a:pPr algn="just"/>
            <a:endParaRPr lang="en-US" sz="1050" dirty="0">
              <a:solidFill>
                <a:srgbClr val="000000"/>
              </a:solidFill>
              <a:latin typeface="Calibri" panose="020F0502020204030204" pitchFamily="34" charset="0"/>
            </a:endParaRPr>
          </a:p>
          <a:p>
            <a:endParaRPr lang="en-US" sz="2400" dirty="0"/>
          </a:p>
          <a:p>
            <a:endParaRPr lang="en-US" sz="24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177789909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 virtualization</a:t>
            </a:r>
          </a:p>
        </p:txBody>
      </p:sp>
      <p:sp>
        <p:nvSpPr>
          <p:cNvPr id="3" name="Content Placeholder 2"/>
          <p:cNvSpPr txBox="1">
            <a:spLocks/>
          </p:cNvSpPr>
          <p:nvPr/>
        </p:nvSpPr>
        <p:spPr>
          <a:xfrm>
            <a:off x="0" y="1600200"/>
            <a:ext cx="8991600" cy="4525963"/>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dirty="0"/>
              <a:t>Server virtualization is a </a:t>
            </a:r>
            <a:r>
              <a:rPr lang="en-US" b="1" dirty="0"/>
              <a:t>cost-effective way to provide web hosting services</a:t>
            </a:r>
            <a:r>
              <a:rPr lang="en-US" dirty="0"/>
              <a:t> and effectively utilize existing resources in IT infrastructure. Without server virtualization, servers only use a small part of their processing power</a:t>
            </a:r>
          </a:p>
          <a:p>
            <a:pPr marL="0" indent="0" algn="just">
              <a:buNone/>
            </a:pPr>
            <a:endParaRPr lang="en-US" dirty="0"/>
          </a:p>
        </p:txBody>
      </p:sp>
      <p:sp>
        <p:nvSpPr>
          <p:cNvPr id="4" name="Rectangle 3"/>
          <p:cNvSpPr/>
          <p:nvPr/>
        </p:nvSpPr>
        <p:spPr>
          <a:xfrm>
            <a:off x="228600" y="1752600"/>
            <a:ext cx="8458200" cy="992579"/>
          </a:xfrm>
          <a:prstGeom prst="rect">
            <a:avLst/>
          </a:prstGeom>
        </p:spPr>
        <p:txBody>
          <a:bodyPr wrap="square">
            <a:spAutoFit/>
          </a:bodyPr>
          <a:lstStyle/>
          <a:p>
            <a:pPr algn="just"/>
            <a:endParaRPr lang="en-US" sz="1050" dirty="0">
              <a:solidFill>
                <a:srgbClr val="000000"/>
              </a:solidFill>
              <a:latin typeface="Calibri" panose="020F0502020204030204" pitchFamily="34" charset="0"/>
            </a:endParaRPr>
          </a:p>
          <a:p>
            <a:endParaRPr lang="en-US" sz="2400" dirty="0"/>
          </a:p>
          <a:p>
            <a:endParaRPr lang="en-US" sz="24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385638411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76200"/>
            <a:ext cx="8229600" cy="1143000"/>
          </a:xfrm>
        </p:spPr>
        <p:txBody>
          <a:bodyPr/>
          <a:lstStyle/>
          <a:p>
            <a:r>
              <a:rPr lang="en-US" dirty="0"/>
              <a:t>Storage virtualization</a:t>
            </a:r>
          </a:p>
        </p:txBody>
      </p:sp>
      <p:sp>
        <p:nvSpPr>
          <p:cNvPr id="3" name="Content Placeholder 2"/>
          <p:cNvSpPr txBox="1">
            <a:spLocks/>
          </p:cNvSpPr>
          <p:nvPr/>
        </p:nvSpPr>
        <p:spPr>
          <a:xfrm>
            <a:off x="0" y="838200"/>
            <a:ext cx="9034220" cy="4906963"/>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dirty="0"/>
              <a:t>Disk storage used to be a simple matter. If a business needed more, it simply purchased a larger disk drive.</a:t>
            </a:r>
          </a:p>
          <a:p>
            <a:pPr algn="just"/>
            <a:r>
              <a:rPr lang="en-US" dirty="0"/>
              <a:t> While storages </a:t>
            </a:r>
            <a:r>
              <a:rPr lang="en-US" b="1" dirty="0"/>
              <a:t>continue to grow</a:t>
            </a:r>
            <a:r>
              <a:rPr lang="en-US" dirty="0"/>
              <a:t> to handle all the data, they becomes much harder to manage. Virtualization technology is a great answer to the overwhelming amount of data businesses accumulate today. </a:t>
            </a:r>
          </a:p>
          <a:p>
            <a:pPr algn="just"/>
            <a:r>
              <a:rPr lang="en-US" b="1" dirty="0"/>
              <a:t>It adds an additional layer of software between systems and servers,</a:t>
            </a:r>
            <a:r>
              <a:rPr lang="en-US" dirty="0"/>
              <a:t> and applications no longer need to know where specific data resides. It is managed as if it is a single resource. </a:t>
            </a:r>
          </a:p>
          <a:p>
            <a:pPr algn="just"/>
            <a:r>
              <a:rPr lang="en-US" dirty="0"/>
              <a:t>Servers will see the virtualization layer as one single storage device and each individual storage device sees the layer as its only server.</a:t>
            </a:r>
          </a:p>
          <a:p>
            <a:pPr algn="just"/>
            <a:endParaRPr lang="en-US" dirty="0"/>
          </a:p>
        </p:txBody>
      </p:sp>
      <p:sp>
        <p:nvSpPr>
          <p:cNvPr id="4" name="Rectangle 3"/>
          <p:cNvSpPr/>
          <p:nvPr/>
        </p:nvSpPr>
        <p:spPr>
          <a:xfrm>
            <a:off x="228600" y="1752600"/>
            <a:ext cx="8458200" cy="992579"/>
          </a:xfrm>
          <a:prstGeom prst="rect">
            <a:avLst/>
          </a:prstGeom>
        </p:spPr>
        <p:txBody>
          <a:bodyPr wrap="square">
            <a:spAutoFit/>
          </a:bodyPr>
          <a:lstStyle/>
          <a:p>
            <a:pPr algn="just"/>
            <a:endParaRPr lang="en-US" sz="1050" dirty="0">
              <a:solidFill>
                <a:srgbClr val="000000"/>
              </a:solidFill>
              <a:latin typeface="Calibri" panose="020F0502020204030204" pitchFamily="34" charset="0"/>
            </a:endParaRPr>
          </a:p>
          <a:p>
            <a:endParaRPr lang="en-US" sz="2400" dirty="0"/>
          </a:p>
          <a:p>
            <a:endParaRPr lang="en-US" sz="24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308760101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US" dirty="0"/>
              <a:t>Network virtualization</a:t>
            </a:r>
          </a:p>
        </p:txBody>
      </p:sp>
      <p:sp>
        <p:nvSpPr>
          <p:cNvPr id="3" name="Content Placeholder 2"/>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allows management and monitoring of an entire network as a single entity. </a:t>
            </a:r>
          </a:p>
          <a:p>
            <a:pPr algn="just"/>
            <a:r>
              <a:rPr lang="en-US" dirty="0"/>
              <a:t>Primarily, it is designed to automate administrative tasks, disguising the complexity of the network. </a:t>
            </a:r>
          </a:p>
          <a:p>
            <a:pPr algn="just"/>
            <a:r>
              <a:rPr lang="en-US" dirty="0"/>
              <a:t>Each server (and service) is considered a part of one pool of resources to be used without worry about its physical components.</a:t>
            </a:r>
          </a:p>
          <a:p>
            <a:pPr marL="0" indent="0" algn="just">
              <a:buNone/>
            </a:pPr>
            <a:endParaRPr lang="en-US" dirty="0"/>
          </a:p>
        </p:txBody>
      </p:sp>
      <p:sp>
        <p:nvSpPr>
          <p:cNvPr id="4" name="Rectangle 3"/>
          <p:cNvSpPr/>
          <p:nvPr/>
        </p:nvSpPr>
        <p:spPr>
          <a:xfrm>
            <a:off x="228600" y="1752600"/>
            <a:ext cx="8458200" cy="992579"/>
          </a:xfrm>
          <a:prstGeom prst="rect">
            <a:avLst/>
          </a:prstGeom>
        </p:spPr>
        <p:txBody>
          <a:bodyPr wrap="square">
            <a:spAutoFit/>
          </a:bodyPr>
          <a:lstStyle/>
          <a:p>
            <a:pPr algn="just"/>
            <a:endParaRPr lang="en-US" sz="1050" dirty="0">
              <a:solidFill>
                <a:srgbClr val="000000"/>
              </a:solidFill>
              <a:latin typeface="Calibri" panose="020F0502020204030204" pitchFamily="34" charset="0"/>
            </a:endParaRPr>
          </a:p>
          <a:p>
            <a:endParaRPr lang="en-US" sz="2400" dirty="0"/>
          </a:p>
          <a:p>
            <a:endParaRPr lang="en-US" sz="24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9700474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Understanding the Advantages of Virtualization</a:t>
            </a:r>
          </a:p>
        </p:txBody>
      </p:sp>
      <p:sp>
        <p:nvSpPr>
          <p:cNvPr id="3" name="Content Placeholder 2"/>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dirty="0"/>
              <a:t>The best way to think about the role of virtualization is to </a:t>
            </a:r>
            <a:r>
              <a:rPr lang="en-US" u="sng" dirty="0">
                <a:hlinkClick r:id="rId3"/>
              </a:rPr>
              <a:t>understand the difference between private and public clouds.</a:t>
            </a:r>
            <a:endParaRPr lang="en-US" u="sng" dirty="0"/>
          </a:p>
          <a:p>
            <a:pPr algn="just"/>
            <a:r>
              <a:rPr lang="en-US" dirty="0"/>
              <a:t>in a private cloud environment, a business owns or leases both the hardware and the software that provides the service consumption. </a:t>
            </a:r>
          </a:p>
          <a:p>
            <a:pPr algn="just"/>
            <a:r>
              <a:rPr lang="en-US" dirty="0"/>
              <a:t>This is </a:t>
            </a:r>
            <a:r>
              <a:rPr lang="en-US" b="1" dirty="0"/>
              <a:t>in-house virtualization</a:t>
            </a:r>
            <a:r>
              <a:rPr lang="en-US" dirty="0"/>
              <a:t>, and the business maintains full management and control.</a:t>
            </a:r>
          </a:p>
          <a:p>
            <a:pPr algn="just"/>
            <a:endParaRPr lang="en-US" u="sng" dirty="0"/>
          </a:p>
          <a:p>
            <a:pPr algn="just"/>
            <a:endParaRPr lang="en-US" dirty="0"/>
          </a:p>
        </p:txBody>
      </p:sp>
      <p:sp>
        <p:nvSpPr>
          <p:cNvPr id="4" name="Rectangle 3"/>
          <p:cNvSpPr/>
          <p:nvPr/>
        </p:nvSpPr>
        <p:spPr>
          <a:xfrm>
            <a:off x="228600" y="1752600"/>
            <a:ext cx="8458200" cy="992579"/>
          </a:xfrm>
          <a:prstGeom prst="rect">
            <a:avLst/>
          </a:prstGeom>
        </p:spPr>
        <p:txBody>
          <a:bodyPr wrap="square">
            <a:spAutoFit/>
          </a:bodyPr>
          <a:lstStyle/>
          <a:p>
            <a:pPr algn="just"/>
            <a:endParaRPr lang="en-US" sz="1050" dirty="0">
              <a:solidFill>
                <a:srgbClr val="000000"/>
              </a:solidFill>
              <a:latin typeface="Calibri" panose="020F0502020204030204" pitchFamily="34" charset="0"/>
            </a:endParaRPr>
          </a:p>
          <a:p>
            <a:endParaRPr lang="en-US" sz="2400" dirty="0"/>
          </a:p>
          <a:p>
            <a:endParaRPr lang="en-US" sz="24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358936588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Understanding the Advantages of Virtualization</a:t>
            </a:r>
          </a:p>
        </p:txBody>
      </p:sp>
      <p:sp>
        <p:nvSpPr>
          <p:cNvPr id="3" name="Content Placeholder 2"/>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dirty="0"/>
              <a:t>The public cloud environment is one in which all of the </a:t>
            </a:r>
            <a:r>
              <a:rPr lang="en-US" b="1" dirty="0"/>
              <a:t>virtualization is housed somewhere else,</a:t>
            </a:r>
            <a:r>
              <a:rPr lang="en-US" dirty="0"/>
              <a:t> and a </a:t>
            </a:r>
            <a:r>
              <a:rPr lang="en-US" b="1" dirty="0"/>
              <a:t>vendor provides the service to clients on a fee basis. </a:t>
            </a:r>
          </a:p>
          <a:p>
            <a:pPr algn="just"/>
            <a:r>
              <a:rPr lang="en-US" dirty="0"/>
              <a:t>In the public cloud, </a:t>
            </a:r>
            <a:r>
              <a:rPr lang="en-US" b="1" dirty="0"/>
              <a:t>there are “co-tenants</a:t>
            </a:r>
            <a:r>
              <a:rPr lang="en-US" dirty="0"/>
              <a:t>” in the same cloud, and clients pay for the specific services they use, as they use them.</a:t>
            </a:r>
            <a:endParaRPr lang="en-US" u="sng" dirty="0"/>
          </a:p>
          <a:p>
            <a:pPr algn="just"/>
            <a:endParaRPr lang="en-US" dirty="0"/>
          </a:p>
        </p:txBody>
      </p:sp>
      <p:sp>
        <p:nvSpPr>
          <p:cNvPr id="4" name="Rectangle 3"/>
          <p:cNvSpPr/>
          <p:nvPr/>
        </p:nvSpPr>
        <p:spPr>
          <a:xfrm>
            <a:off x="228600" y="1752600"/>
            <a:ext cx="8458200" cy="992579"/>
          </a:xfrm>
          <a:prstGeom prst="rect">
            <a:avLst/>
          </a:prstGeom>
        </p:spPr>
        <p:txBody>
          <a:bodyPr wrap="square">
            <a:spAutoFit/>
          </a:bodyPr>
          <a:lstStyle/>
          <a:p>
            <a:pPr algn="just"/>
            <a:endParaRPr lang="en-US" sz="1050" dirty="0">
              <a:solidFill>
                <a:srgbClr val="000000"/>
              </a:solidFill>
              <a:latin typeface="Calibri" panose="020F0502020204030204" pitchFamily="34" charset="0"/>
            </a:endParaRPr>
          </a:p>
          <a:p>
            <a:endParaRPr lang="en-US" sz="2400" dirty="0"/>
          </a:p>
          <a:p>
            <a:endParaRPr lang="en-US" sz="24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265432678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Virtualization in Private Cloud perspective</a:t>
            </a:r>
          </a:p>
        </p:txBody>
      </p:sp>
      <p:sp>
        <p:nvSpPr>
          <p:cNvPr id="3" name="Content Placeholder 2"/>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dirty="0"/>
              <a:t>A private cloud is thus its own virtualized world. </a:t>
            </a:r>
          </a:p>
          <a:p>
            <a:pPr algn="just"/>
            <a:r>
              <a:rPr lang="en-US" dirty="0"/>
              <a:t>It gives customers more control, along with flexibility to manage their own systems, on top of every other benefit of the cloud.</a:t>
            </a:r>
          </a:p>
          <a:p>
            <a:pPr algn="just"/>
            <a:r>
              <a:rPr lang="en-US" dirty="0"/>
              <a:t> Plus, the </a:t>
            </a:r>
            <a:r>
              <a:rPr lang="en-US" b="1" dirty="0"/>
              <a:t>owner does not have to worry about coexisting with “bad neighbors</a:t>
            </a:r>
            <a:r>
              <a:rPr lang="en-US" dirty="0"/>
              <a:t>” or possible slowdowns in performance</a:t>
            </a:r>
          </a:p>
        </p:txBody>
      </p:sp>
      <p:sp>
        <p:nvSpPr>
          <p:cNvPr id="4" name="Rectangle 3"/>
          <p:cNvSpPr/>
          <p:nvPr/>
        </p:nvSpPr>
        <p:spPr>
          <a:xfrm>
            <a:off x="228600" y="1752600"/>
            <a:ext cx="8458200" cy="992579"/>
          </a:xfrm>
          <a:prstGeom prst="rect">
            <a:avLst/>
          </a:prstGeom>
        </p:spPr>
        <p:txBody>
          <a:bodyPr wrap="square">
            <a:spAutoFit/>
          </a:bodyPr>
          <a:lstStyle/>
          <a:p>
            <a:pPr algn="just"/>
            <a:endParaRPr lang="en-US" sz="1050" dirty="0">
              <a:solidFill>
                <a:srgbClr val="000000"/>
              </a:solidFill>
              <a:latin typeface="Calibri" panose="020F0502020204030204" pitchFamily="34" charset="0"/>
            </a:endParaRPr>
          </a:p>
          <a:p>
            <a:endParaRPr lang="en-US" sz="2400" dirty="0"/>
          </a:p>
          <a:p>
            <a:endParaRPr lang="en-US" sz="24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100177287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Virtualization in Private Cloud perspective</a:t>
            </a:r>
          </a:p>
        </p:txBody>
      </p:sp>
      <p:sp>
        <p:nvSpPr>
          <p:cNvPr id="3" name="Content Placeholder 2"/>
          <p:cNvSpPr txBox="1">
            <a:spLocks/>
          </p:cNvSpPr>
          <p:nvPr/>
        </p:nvSpPr>
        <p:spPr>
          <a:xfrm>
            <a:off x="457200" y="1600200"/>
            <a:ext cx="8534400" cy="4525963"/>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t>benefits of  private virtualization</a:t>
            </a:r>
            <a:r>
              <a:rPr lang="en-US" dirty="0"/>
              <a:t> include the following:</a:t>
            </a:r>
          </a:p>
          <a:p>
            <a:pPr lvl="0"/>
            <a:r>
              <a:rPr lang="en-US" b="1" dirty="0"/>
              <a:t>Maximizing existing resources</a:t>
            </a:r>
            <a:r>
              <a:rPr lang="en-US" dirty="0"/>
              <a:t>: Virtualization tools will allow a user to keep physical systems to a minimum, getting greater value out of existing servers.</a:t>
            </a:r>
          </a:p>
          <a:p>
            <a:pPr lvl="0"/>
            <a:r>
              <a:rPr lang="en-US" b="1" dirty="0"/>
              <a:t>Running </a:t>
            </a:r>
            <a:r>
              <a:rPr lang="en-US" b="1" u="sng" dirty="0">
                <a:hlinkClick r:id="rId3"/>
              </a:rPr>
              <a:t>multiple applications</a:t>
            </a:r>
            <a:r>
              <a:rPr lang="en-US" dirty="0"/>
              <a:t> and their operating systems on the same hardware.</a:t>
            </a:r>
          </a:p>
          <a:p>
            <a:pPr lvl="0" algn="just"/>
            <a:r>
              <a:rPr lang="en-US" b="1" dirty="0"/>
              <a:t>Costs are direct but are fixed.</a:t>
            </a:r>
            <a:r>
              <a:rPr lang="en-US" dirty="0"/>
              <a:t> All costs for  management, administration, and other requirements are within the in-house IT budget.</a:t>
            </a:r>
          </a:p>
        </p:txBody>
      </p:sp>
      <p:sp>
        <p:nvSpPr>
          <p:cNvPr id="4" name="Rectangle 3"/>
          <p:cNvSpPr/>
          <p:nvPr/>
        </p:nvSpPr>
        <p:spPr>
          <a:xfrm>
            <a:off x="228600" y="1752600"/>
            <a:ext cx="8458200" cy="992579"/>
          </a:xfrm>
          <a:prstGeom prst="rect">
            <a:avLst/>
          </a:prstGeom>
        </p:spPr>
        <p:txBody>
          <a:bodyPr wrap="square">
            <a:spAutoFit/>
          </a:bodyPr>
          <a:lstStyle/>
          <a:p>
            <a:pPr algn="just"/>
            <a:endParaRPr lang="en-US" sz="1050" dirty="0">
              <a:solidFill>
                <a:srgbClr val="000000"/>
              </a:solidFill>
              <a:latin typeface="Calibri" panose="020F0502020204030204" pitchFamily="34" charset="0"/>
            </a:endParaRPr>
          </a:p>
          <a:p>
            <a:endParaRPr lang="en-US" sz="2400" dirty="0"/>
          </a:p>
          <a:p>
            <a:endParaRPr lang="en-US" sz="24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78408990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Virtualization in Public Cloud perspective</a:t>
            </a:r>
          </a:p>
        </p:txBody>
      </p:sp>
      <p:sp>
        <p:nvSpPr>
          <p:cNvPr id="3" name="Content Placeholder 2"/>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dirty="0"/>
              <a:t>Virtualized services through a public cloud environment are usually preferable for </a:t>
            </a:r>
            <a:r>
              <a:rPr lang="en-US" b="1" dirty="0"/>
              <a:t>businesses that have</a:t>
            </a:r>
            <a:r>
              <a:rPr lang="en-US" dirty="0"/>
              <a:t> </a:t>
            </a:r>
            <a:r>
              <a:rPr lang="en-US" b="1" dirty="0"/>
              <a:t>smaller IT staffs </a:t>
            </a:r>
            <a:r>
              <a:rPr lang="en-US" dirty="0"/>
              <a:t>and that tend to have </a:t>
            </a:r>
            <a:r>
              <a:rPr lang="en-US" b="1" dirty="0"/>
              <a:t>fewer security concerns</a:t>
            </a:r>
            <a:r>
              <a:rPr lang="en-US" dirty="0"/>
              <a:t>.</a:t>
            </a:r>
          </a:p>
        </p:txBody>
      </p:sp>
      <p:sp>
        <p:nvSpPr>
          <p:cNvPr id="4" name="Rectangle 3"/>
          <p:cNvSpPr/>
          <p:nvPr/>
        </p:nvSpPr>
        <p:spPr>
          <a:xfrm>
            <a:off x="228600" y="1752600"/>
            <a:ext cx="8458200" cy="992579"/>
          </a:xfrm>
          <a:prstGeom prst="rect">
            <a:avLst/>
          </a:prstGeom>
        </p:spPr>
        <p:txBody>
          <a:bodyPr wrap="square">
            <a:spAutoFit/>
          </a:bodyPr>
          <a:lstStyle/>
          <a:p>
            <a:pPr algn="just"/>
            <a:endParaRPr lang="en-US" sz="1050" dirty="0">
              <a:solidFill>
                <a:srgbClr val="000000"/>
              </a:solidFill>
              <a:latin typeface="Calibri" panose="020F0502020204030204" pitchFamily="34" charset="0"/>
            </a:endParaRPr>
          </a:p>
          <a:p>
            <a:endParaRPr lang="en-US" sz="2400" dirty="0"/>
          </a:p>
          <a:p>
            <a:endParaRPr lang="en-US" sz="24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139657937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Virtualization in Public Cloud perspective</a:t>
            </a:r>
          </a:p>
        </p:txBody>
      </p:sp>
      <p:sp>
        <p:nvSpPr>
          <p:cNvPr id="3" name="Content Placeholder 2"/>
          <p:cNvSpPr txBox="1">
            <a:spLocks/>
          </p:cNvSpPr>
          <p:nvPr/>
        </p:nvSpPr>
        <p:spPr>
          <a:xfrm>
            <a:off x="0" y="1417638"/>
            <a:ext cx="8991600" cy="4525963"/>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just"/>
            <a:r>
              <a:rPr lang="en-US" b="1" dirty="0"/>
              <a:t>IT is delegated to a reliable partner.</a:t>
            </a:r>
            <a:r>
              <a:rPr lang="en-US" dirty="0"/>
              <a:t> Because there is a service provider, administration and </a:t>
            </a:r>
            <a:r>
              <a:rPr lang="en-US" b="1" dirty="0"/>
              <a:t>supportive services are taken care of elsewhere</a:t>
            </a:r>
            <a:r>
              <a:rPr lang="en-US" dirty="0"/>
              <a:t>. In-house IT staff remain available for other business purposes. </a:t>
            </a:r>
          </a:p>
          <a:p>
            <a:pPr lvl="0" algn="just"/>
            <a:r>
              <a:rPr lang="en-US" b="1" dirty="0"/>
              <a:t>Setup is easy and fast.</a:t>
            </a:r>
            <a:r>
              <a:rPr lang="en-US" dirty="0"/>
              <a:t> And servers, hardware, and software license expenditures are eliminated.</a:t>
            </a:r>
          </a:p>
          <a:p>
            <a:pPr lvl="0" algn="just"/>
            <a:r>
              <a:rPr lang="en-US" b="1" dirty="0"/>
              <a:t>Pay-as-you-use.</a:t>
            </a:r>
            <a:r>
              <a:rPr lang="en-US" dirty="0"/>
              <a:t> Cloud-based services are charged based upon scope of use, </a:t>
            </a:r>
          </a:p>
          <a:p>
            <a:pPr lvl="0" algn="just"/>
            <a:r>
              <a:rPr lang="en-US" b="1" dirty="0"/>
              <a:t>Scalability.</a:t>
            </a:r>
            <a:r>
              <a:rPr lang="en-US" dirty="0"/>
              <a:t> Cloud services allow both permanent and temporary scaling. Thus, a business can off-load high-demand requirements at any time, even on a temporary basis, and pay only for the time of that off-load.</a:t>
            </a:r>
          </a:p>
        </p:txBody>
      </p:sp>
      <p:sp>
        <p:nvSpPr>
          <p:cNvPr id="4" name="Rectangle 3"/>
          <p:cNvSpPr/>
          <p:nvPr/>
        </p:nvSpPr>
        <p:spPr>
          <a:xfrm>
            <a:off x="228600" y="1752600"/>
            <a:ext cx="8458200" cy="992579"/>
          </a:xfrm>
          <a:prstGeom prst="rect">
            <a:avLst/>
          </a:prstGeom>
        </p:spPr>
        <p:txBody>
          <a:bodyPr wrap="square">
            <a:spAutoFit/>
          </a:bodyPr>
          <a:lstStyle/>
          <a:p>
            <a:pPr algn="just"/>
            <a:endParaRPr lang="en-US" sz="1050" dirty="0">
              <a:solidFill>
                <a:srgbClr val="000000"/>
              </a:solidFill>
              <a:latin typeface="Calibri" panose="020F0502020204030204" pitchFamily="34" charset="0"/>
            </a:endParaRPr>
          </a:p>
          <a:p>
            <a:endParaRPr lang="en-US" sz="2400" dirty="0"/>
          </a:p>
          <a:p>
            <a:endParaRPr lang="en-US" sz="24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63070599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Autofit/>
          </a:bodyPr>
          <a:lstStyle/>
          <a:p>
            <a:r>
              <a:rPr lang="en-US" sz="3600" dirty="0"/>
              <a:t>Cloud Infrastructure  Management</a:t>
            </a:r>
          </a:p>
        </p:txBody>
      </p:sp>
      <p:sp>
        <p:nvSpPr>
          <p:cNvPr id="3" name="Content Placeholder 2"/>
          <p:cNvSpPr txBox="1">
            <a:spLocks/>
          </p:cNvSpPr>
          <p:nvPr/>
        </p:nvSpPr>
        <p:spPr>
          <a:xfrm>
            <a:off x="452651" y="672152"/>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dirty="0"/>
              <a:t>Features available in Virtual Infrastructure Manager(VIM):</a:t>
            </a:r>
          </a:p>
          <a:p>
            <a:pPr algn="just">
              <a:lnSpc>
                <a:spcPct val="150000"/>
              </a:lnSpc>
            </a:pPr>
            <a:r>
              <a:rPr lang="en-US" sz="2200" dirty="0"/>
              <a:t>Virtualization Support</a:t>
            </a:r>
          </a:p>
          <a:p>
            <a:pPr algn="just">
              <a:lnSpc>
                <a:spcPct val="150000"/>
              </a:lnSpc>
            </a:pPr>
            <a:r>
              <a:rPr lang="en-US" sz="2200" dirty="0"/>
              <a:t>Self Service, On Demand Resource Provisioning</a:t>
            </a:r>
          </a:p>
          <a:p>
            <a:pPr algn="just">
              <a:lnSpc>
                <a:spcPct val="150000"/>
              </a:lnSpc>
            </a:pPr>
            <a:r>
              <a:rPr lang="en-US" sz="2200" dirty="0"/>
              <a:t>Multiple backend hypervisors</a:t>
            </a:r>
          </a:p>
          <a:p>
            <a:pPr algn="just">
              <a:lnSpc>
                <a:spcPct val="150000"/>
              </a:lnSpc>
            </a:pPr>
            <a:r>
              <a:rPr lang="en-US" sz="2200" dirty="0"/>
              <a:t>Storage Virtualization</a:t>
            </a:r>
          </a:p>
          <a:p>
            <a:pPr algn="just">
              <a:lnSpc>
                <a:spcPct val="150000"/>
              </a:lnSpc>
            </a:pPr>
            <a:r>
              <a:rPr lang="en-US" sz="2200" dirty="0"/>
              <a:t>Interface to public clouds</a:t>
            </a:r>
          </a:p>
          <a:p>
            <a:pPr algn="just">
              <a:lnSpc>
                <a:spcPct val="150000"/>
              </a:lnSpc>
            </a:pPr>
            <a:r>
              <a:rPr lang="en-US" sz="2200" dirty="0"/>
              <a:t>Virtual Networking</a:t>
            </a:r>
          </a:p>
          <a:p>
            <a:pPr algn="just">
              <a:lnSpc>
                <a:spcPct val="150000"/>
              </a:lnSpc>
            </a:pPr>
            <a:r>
              <a:rPr lang="en-US" sz="2200" dirty="0"/>
              <a:t>Dynamic Resource allocation</a:t>
            </a:r>
          </a:p>
          <a:p>
            <a:pPr algn="just">
              <a:lnSpc>
                <a:spcPct val="150000"/>
              </a:lnSpc>
            </a:pPr>
            <a:r>
              <a:rPr lang="en-US" sz="2200" dirty="0"/>
              <a:t>Virtual Clusters</a:t>
            </a:r>
          </a:p>
          <a:p>
            <a:pPr algn="just">
              <a:lnSpc>
                <a:spcPct val="150000"/>
              </a:lnSpc>
            </a:pPr>
            <a:r>
              <a:rPr lang="en-US" sz="2200" dirty="0"/>
              <a:t>Reservation and negotiation mechanism</a:t>
            </a:r>
          </a:p>
          <a:p>
            <a:pPr algn="just">
              <a:lnSpc>
                <a:spcPct val="150000"/>
              </a:lnSpc>
            </a:pPr>
            <a:r>
              <a:rPr lang="en-US" sz="2200" dirty="0"/>
              <a:t>High availability and Data Recovery</a:t>
            </a:r>
          </a:p>
          <a:p>
            <a:pPr algn="just"/>
            <a:endParaRPr lang="en-US" dirty="0"/>
          </a:p>
          <a:p>
            <a:pPr algn="just"/>
            <a:endParaRPr lang="en-US" dirty="0"/>
          </a:p>
        </p:txBody>
      </p:sp>
    </p:spTree>
    <p:extLst>
      <p:ext uri="{BB962C8B-B14F-4D97-AF65-F5344CB8AC3E}">
        <p14:creationId xmlns:p14="http://schemas.microsoft.com/office/powerpoint/2010/main" val="221833517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452651" y="672152"/>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en-US" sz="2200" b="1" dirty="0"/>
              <a:t>Challenges and Risk:</a:t>
            </a:r>
          </a:p>
          <a:p>
            <a:pPr algn="just">
              <a:lnSpc>
                <a:spcPct val="150000"/>
              </a:lnSpc>
              <a:buFont typeface="Wingdings" panose="05000000000000000000" pitchFamily="2" charset="2"/>
              <a:buChar char="à"/>
            </a:pPr>
            <a:r>
              <a:rPr lang="en-US" sz="2200" dirty="0">
                <a:sym typeface="Wingdings" panose="05000000000000000000" pitchFamily="2" charset="2"/>
              </a:rPr>
              <a:t>Security , Privacy and Trust</a:t>
            </a:r>
          </a:p>
          <a:p>
            <a:pPr algn="just">
              <a:lnSpc>
                <a:spcPct val="150000"/>
              </a:lnSpc>
              <a:buFont typeface="Wingdings" panose="05000000000000000000" pitchFamily="2" charset="2"/>
              <a:buChar char="à"/>
            </a:pPr>
            <a:r>
              <a:rPr lang="en-US" sz="2200" dirty="0">
                <a:sym typeface="Wingdings" panose="05000000000000000000" pitchFamily="2" charset="2"/>
              </a:rPr>
              <a:t>Data Lock in and standardization</a:t>
            </a:r>
          </a:p>
          <a:p>
            <a:pPr algn="just">
              <a:lnSpc>
                <a:spcPct val="150000"/>
              </a:lnSpc>
              <a:buFont typeface="Wingdings" panose="05000000000000000000" pitchFamily="2" charset="2"/>
              <a:buChar char="à"/>
            </a:pPr>
            <a:r>
              <a:rPr lang="en-US" sz="2200" dirty="0">
                <a:sym typeface="Wingdings" panose="05000000000000000000" pitchFamily="2" charset="2"/>
              </a:rPr>
              <a:t>Availability , Fault Tolerance and Disaster Recovery</a:t>
            </a:r>
          </a:p>
          <a:p>
            <a:pPr algn="just">
              <a:lnSpc>
                <a:spcPct val="150000"/>
              </a:lnSpc>
              <a:buFont typeface="Wingdings" panose="05000000000000000000" pitchFamily="2" charset="2"/>
              <a:buChar char="à"/>
            </a:pPr>
            <a:r>
              <a:rPr lang="en-US" sz="2200" dirty="0">
                <a:sym typeface="Wingdings" panose="05000000000000000000" pitchFamily="2" charset="2"/>
              </a:rPr>
              <a:t>Resource Management and Energy</a:t>
            </a:r>
            <a:endParaRPr lang="en-US" sz="2200" dirty="0"/>
          </a:p>
          <a:p>
            <a:pPr algn="just"/>
            <a:endParaRPr lang="en-US" dirty="0"/>
          </a:p>
          <a:p>
            <a:pPr algn="just"/>
            <a:endParaRPr lang="en-US" dirty="0"/>
          </a:p>
        </p:txBody>
      </p:sp>
    </p:spTree>
    <p:extLst>
      <p:ext uri="{BB962C8B-B14F-4D97-AF65-F5344CB8AC3E}">
        <p14:creationId xmlns:p14="http://schemas.microsoft.com/office/powerpoint/2010/main" val="398735987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內容版面配置區 2"/>
          <p:cNvSpPr>
            <a:spLocks noGrp="1"/>
          </p:cNvSpPr>
          <p:nvPr>
            <p:ph idx="1"/>
          </p:nvPr>
        </p:nvSpPr>
        <p:spPr/>
        <p:txBody>
          <a:bodyPr>
            <a:normAutofit/>
          </a:bodyPr>
          <a:lstStyle/>
          <a:p>
            <a:r>
              <a:rPr lang="en-US" altLang="zh-TW" sz="2800" dirty="0"/>
              <a:t>A signiﬁcant number of challenges and risks are inherent to cloud computing</a:t>
            </a:r>
          </a:p>
          <a:p>
            <a:pPr lvl="1"/>
            <a:r>
              <a:rPr lang="en-US" altLang="zh-TW" sz="2400" dirty="0"/>
              <a:t>User privacy, data security</a:t>
            </a:r>
          </a:p>
          <a:p>
            <a:pPr lvl="1"/>
            <a:r>
              <a:rPr lang="en-US" altLang="zh-TW" sz="2400" dirty="0"/>
              <a:t>Data Lock-In and Standardization</a:t>
            </a:r>
          </a:p>
          <a:p>
            <a:pPr lvl="1"/>
            <a:r>
              <a:rPr lang="en-US" altLang="zh-TW" sz="2400" dirty="0"/>
              <a:t>Availability of service, disaster recovery</a:t>
            </a:r>
          </a:p>
          <a:p>
            <a:pPr lvl="1"/>
            <a:r>
              <a:rPr lang="en-US" altLang="zh-TW" sz="2400" dirty="0"/>
              <a:t>Resource Management and Energy-Efﬁciency</a:t>
            </a:r>
          </a:p>
        </p:txBody>
      </p:sp>
      <p:sp>
        <p:nvSpPr>
          <p:cNvPr id="180227" name="標題 1"/>
          <p:cNvSpPr>
            <a:spLocks noGrp="1"/>
          </p:cNvSpPr>
          <p:nvPr>
            <p:ph type="title"/>
          </p:nvPr>
        </p:nvSpPr>
        <p:spPr>
          <a:xfrm>
            <a:off x="1219200" y="301625"/>
            <a:ext cx="7772400" cy="1143000"/>
          </a:xfrm>
        </p:spPr>
        <p:txBody>
          <a:bodyPr/>
          <a:lstStyle/>
          <a:p>
            <a:r>
              <a:rPr lang="en-US" altLang="zh-TW"/>
              <a:t>Challenges And Risks</a:t>
            </a:r>
            <a:endParaRPr lang="zh-TW" altLang="zh-TW"/>
          </a:p>
        </p:txBody>
      </p:sp>
    </p:spTree>
    <p:extLst>
      <p:ext uri="{BB962C8B-B14F-4D97-AF65-F5344CB8AC3E}">
        <p14:creationId xmlns:p14="http://schemas.microsoft.com/office/powerpoint/2010/main" val="226813149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內容版面配置區 2"/>
          <p:cNvSpPr>
            <a:spLocks noGrp="1"/>
          </p:cNvSpPr>
          <p:nvPr>
            <p:ph idx="1"/>
          </p:nvPr>
        </p:nvSpPr>
        <p:spPr/>
        <p:txBody>
          <a:bodyPr>
            <a:normAutofit/>
          </a:bodyPr>
          <a:lstStyle/>
          <a:p>
            <a:r>
              <a:rPr lang="en-US" altLang="zh-TW" sz="2800" dirty="0"/>
              <a:t>Information security is a main issue</a:t>
            </a:r>
          </a:p>
          <a:p>
            <a:pPr lvl="1"/>
            <a:r>
              <a:rPr lang="en-US" altLang="zh-TW" sz="2800" dirty="0"/>
              <a:t>Current cloud offerings are essentially public</a:t>
            </a:r>
          </a:p>
          <a:p>
            <a:pPr lvl="2"/>
            <a:r>
              <a:rPr lang="en-US" altLang="zh-TW" sz="2000" dirty="0"/>
              <a:t>Exposing the system to more attacks</a:t>
            </a:r>
          </a:p>
          <a:p>
            <a:pPr lvl="1"/>
            <a:r>
              <a:rPr lang="en-US" altLang="zh-TW" sz="2800" dirty="0"/>
              <a:t>Need to make cloud computing environments as secure as in-house IT systems</a:t>
            </a:r>
          </a:p>
          <a:p>
            <a:pPr lvl="2"/>
            <a:r>
              <a:rPr lang="en-US" altLang="zh-TW" sz="2000" dirty="0"/>
              <a:t>e.g., data encryption, VLANs, and ﬁrewalls</a:t>
            </a:r>
          </a:p>
          <a:p>
            <a:pPr lvl="1"/>
            <a:r>
              <a:rPr lang="en-US" altLang="zh-TW" sz="2400" dirty="0"/>
              <a:t>The trust toward providers is fundamental</a:t>
            </a:r>
          </a:p>
          <a:p>
            <a:pPr lvl="2"/>
            <a:r>
              <a:rPr lang="en-US" altLang="zh-TW" dirty="0"/>
              <a:t>To ensure the desired level of privacy for applications hosted in the cloud</a:t>
            </a:r>
          </a:p>
          <a:p>
            <a:pPr lvl="2"/>
            <a:endParaRPr lang="en-US" altLang="zh-TW" dirty="0"/>
          </a:p>
        </p:txBody>
      </p:sp>
      <p:sp>
        <p:nvSpPr>
          <p:cNvPr id="182275" name="標題 1"/>
          <p:cNvSpPr>
            <a:spLocks noGrp="1"/>
          </p:cNvSpPr>
          <p:nvPr>
            <p:ph type="title"/>
          </p:nvPr>
        </p:nvSpPr>
        <p:spPr>
          <a:xfrm>
            <a:off x="1219200" y="301625"/>
            <a:ext cx="7772400" cy="1143000"/>
          </a:xfrm>
        </p:spPr>
        <p:txBody>
          <a:bodyPr/>
          <a:lstStyle/>
          <a:p>
            <a:r>
              <a:rPr lang="en-US" altLang="zh-TW"/>
              <a:t>Security, Privacy, and Trust</a:t>
            </a:r>
            <a:endParaRPr lang="zh-TW" altLang="en-US"/>
          </a:p>
        </p:txBody>
      </p:sp>
    </p:spTree>
    <p:extLst>
      <p:ext uri="{BB962C8B-B14F-4D97-AF65-F5344CB8AC3E}">
        <p14:creationId xmlns:p14="http://schemas.microsoft.com/office/powerpoint/2010/main" val="176505723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內容版面配置區 2"/>
          <p:cNvSpPr>
            <a:spLocks noGrp="1"/>
          </p:cNvSpPr>
          <p:nvPr>
            <p:ph idx="1"/>
          </p:nvPr>
        </p:nvSpPr>
        <p:spPr/>
        <p:txBody>
          <a:bodyPr/>
          <a:lstStyle/>
          <a:p>
            <a:r>
              <a:rPr lang="en-US" altLang="zh-TW" sz="2800" dirty="0"/>
              <a:t>Legal and regulatory issues also need attention</a:t>
            </a:r>
          </a:p>
          <a:p>
            <a:pPr lvl="1"/>
            <a:r>
              <a:rPr lang="en-US" altLang="zh-TW" sz="2400" dirty="0"/>
              <a:t>Providers may choose to locate data anywhere </a:t>
            </a:r>
          </a:p>
          <a:p>
            <a:pPr lvl="2"/>
            <a:r>
              <a:rPr lang="en-US" altLang="zh-TW" dirty="0"/>
              <a:t>The physical location of data centers determines the set of laws applied to the management of data </a:t>
            </a:r>
          </a:p>
          <a:p>
            <a:pPr lvl="1">
              <a:buFont typeface="Wingdings" panose="05000000000000000000" pitchFamily="2" charset="2"/>
              <a:buChar char="Ø"/>
            </a:pPr>
            <a:r>
              <a:rPr lang="en-US" altLang="zh-TW" sz="2400" dirty="0"/>
              <a:t>Speciﬁc cryptography techniques can not be used</a:t>
            </a:r>
          </a:p>
          <a:p>
            <a:pPr lvl="2">
              <a:buFont typeface="Wingdings" panose="05000000000000000000" pitchFamily="2" charset="2"/>
              <a:buChar char="Ø"/>
            </a:pPr>
            <a:r>
              <a:rPr lang="en-US" altLang="zh-TW" dirty="0"/>
              <a:t>They are not allowed in some countries</a:t>
            </a:r>
          </a:p>
          <a:p>
            <a:pPr lvl="1">
              <a:buFont typeface="Wingdings" panose="05000000000000000000" pitchFamily="2" charset="2"/>
              <a:buChar char="Ø"/>
            </a:pPr>
            <a:r>
              <a:rPr lang="en-US" altLang="zh-TW" sz="2400" dirty="0"/>
              <a:t>Country laws can impose that sensitive data are to be stored within national borders</a:t>
            </a:r>
          </a:p>
          <a:p>
            <a:pPr lvl="2">
              <a:buFont typeface="Wingdings" panose="05000000000000000000" pitchFamily="2" charset="2"/>
              <a:buChar char="Ø"/>
            </a:pPr>
            <a:r>
              <a:rPr lang="en-US" altLang="zh-TW" dirty="0"/>
              <a:t>e.g., patient health records</a:t>
            </a:r>
          </a:p>
          <a:p>
            <a:pPr marL="914400" lvl="2" indent="0">
              <a:buNone/>
            </a:pPr>
            <a:endParaRPr lang="en-US" altLang="zh-TW" dirty="0"/>
          </a:p>
          <a:p>
            <a:endParaRPr lang="en-US" altLang="zh-TW" sz="2400" dirty="0"/>
          </a:p>
          <a:p>
            <a:endParaRPr lang="en-US" altLang="zh-TW" sz="2400" dirty="0"/>
          </a:p>
        </p:txBody>
      </p:sp>
      <p:sp>
        <p:nvSpPr>
          <p:cNvPr id="184323" name="標題 1"/>
          <p:cNvSpPr>
            <a:spLocks noGrp="1"/>
          </p:cNvSpPr>
          <p:nvPr>
            <p:ph type="title"/>
          </p:nvPr>
        </p:nvSpPr>
        <p:spPr>
          <a:xfrm>
            <a:off x="1219200" y="301625"/>
            <a:ext cx="7772400" cy="1143000"/>
          </a:xfrm>
        </p:spPr>
        <p:txBody>
          <a:bodyPr>
            <a:normAutofit fontScale="90000"/>
          </a:bodyPr>
          <a:lstStyle/>
          <a:p>
            <a:r>
              <a:rPr lang="en-US" altLang="zh-TW"/>
              <a:t>Security, Privacy, and Trust (cont.)</a:t>
            </a:r>
            <a:endParaRPr lang="zh-TW" altLang="en-US"/>
          </a:p>
        </p:txBody>
      </p:sp>
    </p:spTree>
    <p:extLst>
      <p:ext uri="{BB962C8B-B14F-4D97-AF65-F5344CB8AC3E}">
        <p14:creationId xmlns:p14="http://schemas.microsoft.com/office/powerpoint/2010/main" val="361210435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內容版面配置區 2"/>
          <p:cNvSpPr>
            <a:spLocks noGrp="1"/>
          </p:cNvSpPr>
          <p:nvPr>
            <p:ph idx="1"/>
          </p:nvPr>
        </p:nvSpPr>
        <p:spPr/>
        <p:txBody>
          <a:bodyPr>
            <a:normAutofit fontScale="92500"/>
          </a:bodyPr>
          <a:lstStyle/>
          <a:p>
            <a:r>
              <a:rPr lang="en-US" altLang="zh-TW" sz="3200" dirty="0"/>
              <a:t>A major concern of cloud computing users</a:t>
            </a:r>
          </a:p>
          <a:p>
            <a:pPr lvl="1"/>
            <a:r>
              <a:rPr lang="en-US" altLang="zh-TW" sz="2800" dirty="0"/>
              <a:t>Having their data locked-in by a certain provider </a:t>
            </a:r>
          </a:p>
          <a:p>
            <a:pPr lvl="2"/>
            <a:r>
              <a:rPr lang="en-US" altLang="zh-TW" sz="2000" dirty="0"/>
              <a:t>Users may want to move data and applications out from a provider that does not meet their requirements</a:t>
            </a:r>
          </a:p>
          <a:p>
            <a:pPr lvl="2"/>
            <a:r>
              <a:rPr lang="en-US" altLang="zh-TW" sz="2000" dirty="0"/>
              <a:t>Cloud computing infrastructures and platforms do not employ standard methods of storing user data and applications.</a:t>
            </a:r>
          </a:p>
          <a:p>
            <a:pPr lvl="2"/>
            <a:r>
              <a:rPr lang="en-US" altLang="zh-TW" sz="2000" dirty="0"/>
              <a:t>User data are not portable</a:t>
            </a:r>
          </a:p>
          <a:p>
            <a:pPr marL="742950" marR="0" lvl="1" indent="-285750" algn="l" defTabSz="914400" rtl="0" eaLnBrk="1" fontAlgn="auto" latinLnBrk="0" hangingPunct="1">
              <a:lnSpc>
                <a:spcPct val="100000"/>
              </a:lnSpc>
              <a:spcBef>
                <a:spcPct val="20000"/>
              </a:spcBef>
              <a:spcAft>
                <a:spcPts val="0"/>
              </a:spcAft>
              <a:buClr>
                <a:srgbClr val="9BBB59">
                  <a:lumMod val="50000"/>
                </a:srgbClr>
              </a:buClr>
              <a:buSzTx/>
              <a:buFont typeface="Wingdings" pitchFamily="2" charset="2"/>
              <a:buChar char="§"/>
              <a:tabLst/>
              <a:defRPr/>
            </a:pPr>
            <a:r>
              <a:rPr kumimoji="0" lang="en-US" altLang="zh-TW" sz="2800" b="0" i="0" u="none" strike="noStrike" kern="1200" cap="none" spc="0" normalizeH="0" baseline="0" noProof="0" dirty="0">
                <a:ln>
                  <a:noFill/>
                </a:ln>
                <a:solidFill>
                  <a:srgbClr val="9BBB59">
                    <a:lumMod val="50000"/>
                  </a:srgbClr>
                </a:solidFill>
                <a:effectLst/>
                <a:uLnTx/>
                <a:uFillTx/>
                <a:latin typeface="Cambria" pitchFamily="18" charset="0"/>
                <a:ea typeface="新細明體" panose="02020500000000000000" pitchFamily="18" charset="-120"/>
                <a:cs typeface="+mn-cs"/>
              </a:rPr>
              <a:t>CCIF (CC Interoperability Forum) was formed to work together, and they created UCI (unified cloud interface) to create a standard platform  for cloud infrastructure</a:t>
            </a:r>
          </a:p>
          <a:p>
            <a:pPr marL="914400" lvl="2" indent="0">
              <a:buNone/>
            </a:pPr>
            <a:endParaRPr lang="en-US" altLang="zh-TW" sz="2000" dirty="0"/>
          </a:p>
        </p:txBody>
      </p:sp>
      <p:sp>
        <p:nvSpPr>
          <p:cNvPr id="186371" name="標題 1"/>
          <p:cNvSpPr>
            <a:spLocks noGrp="1"/>
          </p:cNvSpPr>
          <p:nvPr>
            <p:ph type="title"/>
          </p:nvPr>
        </p:nvSpPr>
        <p:spPr>
          <a:xfrm>
            <a:off x="1219200" y="301625"/>
            <a:ext cx="7772400" cy="1143000"/>
          </a:xfrm>
        </p:spPr>
        <p:txBody>
          <a:bodyPr>
            <a:normAutofit fontScale="90000"/>
          </a:bodyPr>
          <a:lstStyle/>
          <a:p>
            <a:r>
              <a:rPr lang="en-US" altLang="zh-TW" dirty="0"/>
              <a:t>Data Lock-In and Standardization</a:t>
            </a:r>
            <a:endParaRPr lang="zh-TW" altLang="en-US" dirty="0"/>
          </a:p>
        </p:txBody>
      </p:sp>
    </p:spTree>
    <p:extLst>
      <p:ext uri="{BB962C8B-B14F-4D97-AF65-F5344CB8AC3E}">
        <p14:creationId xmlns:p14="http://schemas.microsoft.com/office/powerpoint/2010/main" val="375238858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內容版面配置區 2"/>
          <p:cNvSpPr>
            <a:spLocks noGrp="1"/>
          </p:cNvSpPr>
          <p:nvPr>
            <p:ph idx="1"/>
          </p:nvPr>
        </p:nvSpPr>
        <p:spPr>
          <a:xfrm>
            <a:off x="457200" y="1295400"/>
            <a:ext cx="8229600" cy="4830763"/>
          </a:xfrm>
        </p:spPr>
        <p:txBody>
          <a:bodyPr>
            <a:normAutofit/>
          </a:bodyPr>
          <a:lstStyle/>
          <a:p>
            <a:pPr marL="0" indent="0">
              <a:buNone/>
            </a:pPr>
            <a:r>
              <a:rPr lang="en-US" altLang="zh-TW" sz="2800" dirty="0"/>
              <a:t>Open Virtual Format (OVF)</a:t>
            </a:r>
          </a:p>
          <a:p>
            <a:r>
              <a:rPr lang="en-US" sz="2800" dirty="0"/>
              <a:t>OVF is a specification that describes an open-standard, secure, efficient, portable and extensible format for packaging and distributing software for virtual machines. </a:t>
            </a:r>
            <a:endParaRPr lang="en-US" altLang="zh-TW" sz="2800" dirty="0"/>
          </a:p>
          <a:p>
            <a:pPr lvl="1"/>
            <a:r>
              <a:rPr lang="en-US" altLang="zh-TW" sz="2400" dirty="0"/>
              <a:t>Hardware virtualization</a:t>
            </a:r>
          </a:p>
          <a:p>
            <a:pPr lvl="1"/>
            <a:r>
              <a:rPr lang="en-US" altLang="zh-TW" sz="2400" dirty="0"/>
              <a:t>Aims at facilitating packing and distribution of software to be run on VMs</a:t>
            </a:r>
          </a:p>
          <a:p>
            <a:pPr lvl="2"/>
            <a:r>
              <a:rPr lang="en-US" altLang="zh-TW" dirty="0"/>
              <a:t>Virtual appliances can be made portable</a:t>
            </a:r>
          </a:p>
          <a:p>
            <a:pPr lvl="2"/>
            <a:r>
              <a:rPr lang="en-US" altLang="zh-TW" dirty="0"/>
              <a:t>Seamlessly run on hypervisor of different vendors</a:t>
            </a:r>
          </a:p>
          <a:p>
            <a:pPr lvl="2"/>
            <a:r>
              <a:rPr lang="en-US" dirty="0"/>
              <a:t>The OVF standard is independent of any particular hypervisor or processor architecture. </a:t>
            </a:r>
            <a:endParaRPr lang="en-US" altLang="zh-TW" dirty="0"/>
          </a:p>
        </p:txBody>
      </p:sp>
      <p:sp>
        <p:nvSpPr>
          <p:cNvPr id="188419" name="標題 1"/>
          <p:cNvSpPr>
            <a:spLocks noGrp="1"/>
          </p:cNvSpPr>
          <p:nvPr>
            <p:ph type="title"/>
          </p:nvPr>
        </p:nvSpPr>
        <p:spPr>
          <a:xfrm>
            <a:off x="1219200" y="301625"/>
            <a:ext cx="7772400" cy="1143000"/>
          </a:xfrm>
        </p:spPr>
        <p:txBody>
          <a:bodyPr>
            <a:normAutofit fontScale="90000"/>
          </a:bodyPr>
          <a:lstStyle/>
          <a:p>
            <a:r>
              <a:rPr lang="en-US" altLang="zh-TW"/>
              <a:t>Data Lock-In and Standardization (cont.)</a:t>
            </a:r>
            <a:endParaRPr lang="zh-TW" altLang="en-US"/>
          </a:p>
        </p:txBody>
      </p:sp>
    </p:spTree>
    <p:extLst>
      <p:ext uri="{BB962C8B-B14F-4D97-AF65-F5344CB8AC3E}">
        <p14:creationId xmlns:p14="http://schemas.microsoft.com/office/powerpoint/2010/main" val="22711013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內容版面配置區 2"/>
          <p:cNvSpPr>
            <a:spLocks noGrp="1"/>
          </p:cNvSpPr>
          <p:nvPr>
            <p:ph idx="1"/>
          </p:nvPr>
        </p:nvSpPr>
        <p:spPr/>
        <p:txBody>
          <a:bodyPr/>
          <a:lstStyle/>
          <a:p>
            <a:r>
              <a:rPr lang="en-US" altLang="zh-TW" sz="2400" dirty="0"/>
              <a:t>Users will have certain expectations about the service level to be provided</a:t>
            </a:r>
          </a:p>
          <a:p>
            <a:pPr lvl="1"/>
            <a:r>
              <a:rPr lang="en-US" altLang="zh-TW" sz="2000" dirty="0"/>
              <a:t>Once their applications are moved to the cloud </a:t>
            </a:r>
          </a:p>
          <a:p>
            <a:pPr lvl="1"/>
            <a:r>
              <a:rPr lang="en-US" altLang="zh-TW" sz="2000" dirty="0"/>
              <a:t>Availability of the service, its overall performance</a:t>
            </a:r>
          </a:p>
          <a:p>
            <a:pPr lvl="1"/>
            <a:r>
              <a:rPr lang="en-US" altLang="zh-TW" sz="2000" dirty="0">
                <a:highlight>
                  <a:srgbClr val="FFFF00"/>
                </a:highlight>
              </a:rPr>
              <a:t>What measures are to be taken when something goes wrong in the system or its components </a:t>
            </a:r>
          </a:p>
          <a:p>
            <a:pPr lvl="1"/>
            <a:r>
              <a:rPr lang="en-US" altLang="zh-TW" sz="2000" dirty="0">
                <a:highlight>
                  <a:srgbClr val="FFFF00"/>
                </a:highlight>
              </a:rPr>
              <a:t>Users seek for a warranty before they can comfortably move their business to the cloud</a:t>
            </a:r>
          </a:p>
          <a:p>
            <a:r>
              <a:rPr lang="en-US" altLang="zh-TW" sz="2400" dirty="0">
                <a:highlight>
                  <a:srgbClr val="FFFF00"/>
                </a:highlight>
              </a:rPr>
              <a:t>SLAs must be ideally set up between customers and cloud computing providers</a:t>
            </a:r>
          </a:p>
          <a:p>
            <a:pPr lvl="1"/>
            <a:r>
              <a:rPr lang="en-US" altLang="zh-TW" sz="2000" dirty="0"/>
              <a:t>To act as warranty</a:t>
            </a:r>
          </a:p>
        </p:txBody>
      </p:sp>
      <p:sp>
        <p:nvSpPr>
          <p:cNvPr id="190467" name="標題 1"/>
          <p:cNvSpPr>
            <a:spLocks noGrp="1"/>
          </p:cNvSpPr>
          <p:nvPr>
            <p:ph type="title"/>
          </p:nvPr>
        </p:nvSpPr>
        <p:spPr>
          <a:xfrm>
            <a:off x="1219200" y="301625"/>
            <a:ext cx="7772400" cy="1143000"/>
          </a:xfrm>
        </p:spPr>
        <p:txBody>
          <a:bodyPr>
            <a:normAutofit fontScale="90000"/>
          </a:bodyPr>
          <a:lstStyle/>
          <a:p>
            <a:r>
              <a:rPr lang="en-US" altLang="zh-TW" dirty="0"/>
              <a:t>Availability, Fault-Tolerance, and Disaster Recovery</a:t>
            </a:r>
            <a:endParaRPr lang="zh-TW" altLang="en-US" dirty="0"/>
          </a:p>
        </p:txBody>
      </p:sp>
    </p:spTree>
    <p:extLst>
      <p:ext uri="{BB962C8B-B14F-4D97-AF65-F5344CB8AC3E}">
        <p14:creationId xmlns:p14="http://schemas.microsoft.com/office/powerpoint/2010/main" val="159819607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內容版面配置區 2"/>
          <p:cNvSpPr>
            <a:spLocks noGrp="1"/>
          </p:cNvSpPr>
          <p:nvPr>
            <p:ph idx="1"/>
          </p:nvPr>
        </p:nvSpPr>
        <p:spPr/>
        <p:txBody>
          <a:bodyPr/>
          <a:lstStyle/>
          <a:p>
            <a:pPr lvl="1"/>
            <a:r>
              <a:rPr lang="en-US" altLang="zh-TW" sz="2000" dirty="0"/>
              <a:t>Including QoS requirements must be set between CSPs and Consumers</a:t>
            </a:r>
          </a:p>
          <a:p>
            <a:pPr lvl="1"/>
            <a:r>
              <a:rPr lang="en-US" altLang="zh-TW" sz="2000" dirty="0"/>
              <a:t>Speciﬁes the details of the service to be provided</a:t>
            </a:r>
          </a:p>
          <a:p>
            <a:pPr lvl="2"/>
            <a:r>
              <a:rPr lang="en-US" altLang="zh-TW" sz="1700" dirty="0"/>
              <a:t>Including availability and performance guarantees </a:t>
            </a:r>
          </a:p>
          <a:p>
            <a:pPr lvl="1"/>
            <a:r>
              <a:rPr lang="en-US" altLang="zh-TW" sz="2000" dirty="0"/>
              <a:t>Metrics must be agreed upon by all parties</a:t>
            </a:r>
          </a:p>
          <a:p>
            <a:pPr lvl="1"/>
            <a:r>
              <a:rPr lang="en-US" altLang="zh-TW" sz="2000" dirty="0">
                <a:highlight>
                  <a:srgbClr val="FFFF00"/>
                </a:highlight>
              </a:rPr>
              <a:t>Penalties for violating the expectations must also be approved</a:t>
            </a:r>
          </a:p>
        </p:txBody>
      </p:sp>
      <p:sp>
        <p:nvSpPr>
          <p:cNvPr id="192515" name="標題 1"/>
          <p:cNvSpPr>
            <a:spLocks noGrp="1"/>
          </p:cNvSpPr>
          <p:nvPr>
            <p:ph type="title"/>
          </p:nvPr>
        </p:nvSpPr>
        <p:spPr>
          <a:xfrm>
            <a:off x="1219200" y="301625"/>
            <a:ext cx="7772400" cy="1143000"/>
          </a:xfrm>
        </p:spPr>
        <p:txBody>
          <a:bodyPr>
            <a:normAutofit fontScale="90000"/>
          </a:bodyPr>
          <a:lstStyle/>
          <a:p>
            <a:r>
              <a:rPr lang="en-US" altLang="zh-TW"/>
              <a:t>Availability, Fault-Tolerance, and Disaster Recovery (cont.)</a:t>
            </a:r>
            <a:endParaRPr lang="zh-TW" altLang="en-US"/>
          </a:p>
        </p:txBody>
      </p:sp>
    </p:spTree>
    <p:extLst>
      <p:ext uri="{BB962C8B-B14F-4D97-AF65-F5344CB8AC3E}">
        <p14:creationId xmlns:p14="http://schemas.microsoft.com/office/powerpoint/2010/main" val="185542629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內容版面配置區 2"/>
          <p:cNvSpPr>
            <a:spLocks noGrp="1"/>
          </p:cNvSpPr>
          <p:nvPr>
            <p:ph idx="1"/>
          </p:nvPr>
        </p:nvSpPr>
        <p:spPr/>
        <p:txBody>
          <a:bodyPr/>
          <a:lstStyle/>
          <a:p>
            <a:r>
              <a:rPr lang="en-US" altLang="zh-TW" sz="2400" dirty="0"/>
              <a:t>One important challenge is the efﬁcient management of virtualized resource pools</a:t>
            </a:r>
          </a:p>
          <a:p>
            <a:pPr lvl="1" algn="just"/>
            <a:r>
              <a:rPr lang="en-US" altLang="zh-TW" sz="2400" b="1" dirty="0"/>
              <a:t>Physical resources like CPU cores</a:t>
            </a:r>
            <a:r>
              <a:rPr lang="en-US" altLang="zh-TW" sz="2400" dirty="0"/>
              <a:t>, disk space, and network bandwidth must be </a:t>
            </a:r>
            <a:r>
              <a:rPr lang="en-US" altLang="zh-TW" sz="2400" b="1" dirty="0"/>
              <a:t>sliced and shared among virtual machines</a:t>
            </a:r>
          </a:p>
          <a:p>
            <a:pPr lvl="2" algn="just"/>
            <a:r>
              <a:rPr lang="en-US" altLang="zh-TW" dirty="0"/>
              <a:t>Running potentially heterogeneous workloads</a:t>
            </a:r>
          </a:p>
          <a:p>
            <a:pPr lvl="1" algn="just"/>
            <a:r>
              <a:rPr lang="en-US" altLang="zh-TW" sz="2400" dirty="0"/>
              <a:t>Dimensions to be considered include</a:t>
            </a:r>
          </a:p>
          <a:p>
            <a:pPr lvl="2" algn="just"/>
            <a:r>
              <a:rPr lang="en-US" altLang="zh-TW" dirty="0">
                <a:highlight>
                  <a:srgbClr val="FFFF00"/>
                </a:highlight>
              </a:rPr>
              <a:t>Number of CPUs, amount of memory, size of virtual disks, and network bandwidth</a:t>
            </a:r>
            <a:endParaRPr lang="en-US" altLang="zh-TW" sz="2100" dirty="0">
              <a:highlight>
                <a:srgbClr val="FFFF00"/>
              </a:highlight>
            </a:endParaRPr>
          </a:p>
        </p:txBody>
      </p:sp>
      <p:sp>
        <p:nvSpPr>
          <p:cNvPr id="194563" name="標題 1"/>
          <p:cNvSpPr>
            <a:spLocks noGrp="1"/>
          </p:cNvSpPr>
          <p:nvPr>
            <p:ph type="title"/>
          </p:nvPr>
        </p:nvSpPr>
        <p:spPr>
          <a:xfrm>
            <a:off x="1219200" y="301625"/>
            <a:ext cx="7772400" cy="1143000"/>
          </a:xfrm>
        </p:spPr>
        <p:txBody>
          <a:bodyPr>
            <a:normAutofit fontScale="90000"/>
          </a:bodyPr>
          <a:lstStyle/>
          <a:p>
            <a:r>
              <a:rPr lang="en-US" altLang="zh-TW" dirty="0"/>
              <a:t>Resource Management and Energy-Efﬁciency</a:t>
            </a:r>
            <a:endParaRPr lang="zh-TW" altLang="en-US" dirty="0"/>
          </a:p>
        </p:txBody>
      </p:sp>
    </p:spTree>
    <p:extLst>
      <p:ext uri="{BB962C8B-B14F-4D97-AF65-F5344CB8AC3E}">
        <p14:creationId xmlns:p14="http://schemas.microsoft.com/office/powerpoint/2010/main" val="307117459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內容版面配置區 2"/>
          <p:cNvSpPr>
            <a:spLocks noGrp="1"/>
          </p:cNvSpPr>
          <p:nvPr>
            <p:ph idx="1"/>
          </p:nvPr>
        </p:nvSpPr>
        <p:spPr/>
        <p:txBody>
          <a:bodyPr/>
          <a:lstStyle/>
          <a:p>
            <a:r>
              <a:rPr lang="en-US" altLang="zh-TW" sz="2400" dirty="0"/>
              <a:t>Data centers consume large amounts of electricity </a:t>
            </a:r>
          </a:p>
          <a:p>
            <a:pPr lvl="1"/>
            <a:r>
              <a:rPr lang="en-US" altLang="zh-TW" sz="2000" dirty="0"/>
              <a:t>100 server racks can consume 1.3 MW of power</a:t>
            </a:r>
          </a:p>
          <a:p>
            <a:pPr lvl="1"/>
            <a:r>
              <a:rPr lang="en-US" altLang="zh-TW" sz="2000" dirty="0"/>
              <a:t>Another 1.3 MW are required by the cooling system</a:t>
            </a:r>
          </a:p>
          <a:p>
            <a:pPr lvl="2"/>
            <a:r>
              <a:rPr lang="en-US" altLang="zh-TW" sz="1700" dirty="0"/>
              <a:t>Costing USD 2.6 million per year</a:t>
            </a:r>
          </a:p>
          <a:p>
            <a:pPr lvl="1"/>
            <a:r>
              <a:rPr lang="en-US" altLang="zh-TW" sz="2000" dirty="0"/>
              <a:t> Besides monetary cost, </a:t>
            </a:r>
            <a:r>
              <a:rPr lang="en-US" altLang="zh-TW" sz="2000" dirty="0">
                <a:highlight>
                  <a:srgbClr val="FFFF00"/>
                </a:highlight>
              </a:rPr>
              <a:t>Data centers signiﬁcantly impact the environment</a:t>
            </a:r>
          </a:p>
          <a:p>
            <a:pPr lvl="2"/>
            <a:r>
              <a:rPr lang="en-US" altLang="zh-TW" sz="1700" dirty="0"/>
              <a:t>In terms of CO2 emissions from the cooling systems</a:t>
            </a:r>
          </a:p>
        </p:txBody>
      </p:sp>
      <p:sp>
        <p:nvSpPr>
          <p:cNvPr id="200707" name="標題 1"/>
          <p:cNvSpPr>
            <a:spLocks noGrp="1"/>
          </p:cNvSpPr>
          <p:nvPr>
            <p:ph type="title"/>
          </p:nvPr>
        </p:nvSpPr>
        <p:spPr>
          <a:xfrm>
            <a:off x="1219200" y="301625"/>
            <a:ext cx="7772400" cy="1143000"/>
          </a:xfrm>
        </p:spPr>
        <p:txBody>
          <a:bodyPr>
            <a:normAutofit fontScale="90000"/>
          </a:bodyPr>
          <a:lstStyle/>
          <a:p>
            <a:r>
              <a:rPr lang="en-US" altLang="zh-TW"/>
              <a:t>Resource Management and Energy-Efﬁciency (cont.)</a:t>
            </a:r>
            <a:endParaRPr lang="zh-TW" altLang="en-US"/>
          </a:p>
        </p:txBody>
      </p:sp>
    </p:spTree>
    <p:extLst>
      <p:ext uri="{BB962C8B-B14F-4D97-AF65-F5344CB8AC3E}">
        <p14:creationId xmlns:p14="http://schemas.microsoft.com/office/powerpoint/2010/main" val="271731536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IN" sz="3600" b="1" dirty="0">
                <a:solidFill>
                  <a:srgbClr val="000000"/>
                </a:solidFill>
                <a:latin typeface="Times New Roman" panose="02020603050405020304" pitchFamily="18" charset="0"/>
                <a:ea typeface="Times New Roman" panose="02020603050405020304" pitchFamily="18" charset="0"/>
              </a:rPr>
              <a:t>Benefits of Cloud computing architecture </a:t>
            </a:r>
          </a:p>
          <a:p>
            <a:pPr marL="0" lvl="0" indent="0" algn="just">
              <a:spcBef>
                <a:spcPts val="0"/>
              </a:spcBef>
              <a:buClrTx/>
              <a:buNone/>
            </a:pPr>
            <a:endParaRPr lang="en-IN" sz="3600" u="sng" dirty="0">
              <a:solidFill>
                <a:srgbClr val="FF0000"/>
              </a:solidFill>
              <a:latin typeface="Times New Roman" panose="02020603050405020304" pitchFamily="18" charset="0"/>
              <a:ea typeface="Times New Roman" panose="02020603050405020304" pitchFamily="18" charset="0"/>
            </a:endParaRPr>
          </a:p>
          <a:p>
            <a:pPr fontAlgn="base"/>
            <a:r>
              <a:rPr lang="en-US" dirty="0"/>
              <a:t>Makes overall cloud computing system simpler.</a:t>
            </a:r>
          </a:p>
          <a:p>
            <a:pPr fontAlgn="base"/>
            <a:r>
              <a:rPr lang="en-US" dirty="0"/>
              <a:t>Improves data processing requirements.</a:t>
            </a:r>
          </a:p>
          <a:p>
            <a:pPr fontAlgn="base"/>
            <a:r>
              <a:rPr lang="en-US" dirty="0"/>
              <a:t>Helps in providing high security.</a:t>
            </a:r>
          </a:p>
          <a:p>
            <a:pPr fontAlgn="base"/>
            <a:r>
              <a:rPr lang="en-US" dirty="0"/>
              <a:t>Makes it more modularized.</a:t>
            </a:r>
          </a:p>
          <a:p>
            <a:pPr fontAlgn="base"/>
            <a:r>
              <a:rPr lang="en-US" dirty="0"/>
              <a:t>Results in better disaster recovery.</a:t>
            </a:r>
          </a:p>
          <a:p>
            <a:pPr fontAlgn="base"/>
            <a:r>
              <a:rPr lang="en-US" dirty="0"/>
              <a:t>Gives good user accessibility.</a:t>
            </a:r>
          </a:p>
          <a:p>
            <a:pPr fontAlgn="base"/>
            <a:r>
              <a:rPr lang="en-US" dirty="0"/>
              <a:t>Reduces IT operating costs.</a:t>
            </a:r>
          </a:p>
          <a:p>
            <a:pPr fontAlgn="base"/>
            <a:r>
              <a:rPr lang="en-US" dirty="0"/>
              <a:t>Provides high level reliability.</a:t>
            </a:r>
          </a:p>
          <a:p>
            <a:pPr fontAlgn="base"/>
            <a:r>
              <a:rPr lang="en-US" dirty="0"/>
              <a:t>Scalability.</a:t>
            </a:r>
          </a:p>
          <a:p>
            <a:pPr algn="just">
              <a:spcBef>
                <a:spcPts val="0"/>
              </a:spcBef>
              <a:buClrTx/>
            </a:pPr>
            <a:endParaRPr lang="en-US" dirty="0"/>
          </a:p>
        </p:txBody>
      </p:sp>
    </p:spTree>
    <p:extLst>
      <p:ext uri="{BB962C8B-B14F-4D97-AF65-F5344CB8AC3E}">
        <p14:creationId xmlns:p14="http://schemas.microsoft.com/office/powerpoint/2010/main" val="127771933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3600" b="1" dirty="0">
                <a:solidFill>
                  <a:srgbClr val="000000"/>
                </a:solidFill>
                <a:latin typeface="Times New Roman" panose="02020603050405020304" pitchFamily="18" charset="0"/>
                <a:ea typeface="Times New Roman" panose="02020603050405020304" pitchFamily="18" charset="0"/>
              </a:rPr>
              <a:t>Business Agility: Benefits and challenges to Cloud architecture</a:t>
            </a:r>
          </a:p>
          <a:p>
            <a:pPr marL="0" indent="0" algn="just">
              <a:buNone/>
            </a:pPr>
            <a:endParaRPr lang="en-IN" sz="3600" u="sng" dirty="0">
              <a:solidFill>
                <a:srgbClr val="FF0000"/>
              </a:solidFill>
              <a:latin typeface="Times New Roman" panose="02020603050405020304" pitchFamily="18" charset="0"/>
              <a:ea typeface="Times New Roman" panose="02020603050405020304" pitchFamily="18" charset="0"/>
            </a:endParaRPr>
          </a:p>
          <a:p>
            <a:pPr algn="just">
              <a:spcBef>
                <a:spcPts val="0"/>
              </a:spcBef>
              <a:buClrTx/>
            </a:pPr>
            <a:endParaRPr lang="en-US" dirty="0"/>
          </a:p>
          <a:p>
            <a:pPr algn="just">
              <a:spcBef>
                <a:spcPts val="0"/>
              </a:spcBef>
              <a:buClrTx/>
            </a:pPr>
            <a:r>
              <a:rPr lang="en-US" dirty="0"/>
              <a:t>What is business agility?</a:t>
            </a:r>
          </a:p>
          <a:p>
            <a:pPr algn="just">
              <a:spcBef>
                <a:spcPts val="0"/>
              </a:spcBef>
              <a:buClrTx/>
            </a:pPr>
            <a:r>
              <a:rPr lang="en-US" dirty="0"/>
              <a:t>What Is an Example of Agility in the Cloud</a:t>
            </a:r>
            <a:r>
              <a:rPr lang="en-US" b="1" dirty="0"/>
              <a:t>?</a:t>
            </a:r>
            <a:endParaRPr lang="en-US" dirty="0"/>
          </a:p>
          <a:p>
            <a:pPr algn="just">
              <a:spcBef>
                <a:spcPts val="0"/>
              </a:spcBef>
              <a:buClrTx/>
            </a:pPr>
            <a:endParaRPr lang="en-US" b="1" dirty="0"/>
          </a:p>
          <a:p>
            <a:pPr algn="just">
              <a:spcBef>
                <a:spcPts val="0"/>
              </a:spcBef>
              <a:buClrTx/>
            </a:pPr>
            <a:endParaRPr lang="en-US" dirty="0"/>
          </a:p>
          <a:p>
            <a:pPr algn="just">
              <a:spcBef>
                <a:spcPts val="0"/>
              </a:spcBef>
              <a:buClrTx/>
            </a:pPr>
            <a:endParaRPr lang="en-US" dirty="0"/>
          </a:p>
          <a:p>
            <a:pPr algn="just">
              <a:spcBef>
                <a:spcPts val="0"/>
              </a:spcBef>
              <a:buClrTx/>
            </a:pPr>
            <a:endParaRPr lang="en-US" dirty="0"/>
          </a:p>
          <a:p>
            <a:pPr algn="just">
              <a:spcBef>
                <a:spcPts val="0"/>
              </a:spcBef>
              <a:buClrTx/>
            </a:pPr>
            <a:endParaRPr lang="en-US" dirty="0"/>
          </a:p>
        </p:txBody>
      </p:sp>
    </p:spTree>
    <p:extLst>
      <p:ext uri="{BB962C8B-B14F-4D97-AF65-F5344CB8AC3E}">
        <p14:creationId xmlns:p14="http://schemas.microsoft.com/office/powerpoint/2010/main" val="205202806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3600" b="1" dirty="0">
                <a:solidFill>
                  <a:srgbClr val="000000"/>
                </a:solidFill>
                <a:latin typeface="Times New Roman" panose="02020603050405020304" pitchFamily="18" charset="0"/>
                <a:ea typeface="Times New Roman" panose="02020603050405020304" pitchFamily="18" charset="0"/>
              </a:rPr>
              <a:t>Business Agility: Benefits and challenges to Cloud architecture</a:t>
            </a:r>
            <a:endParaRPr lang="en-IN" sz="3600" u="sng" dirty="0">
              <a:solidFill>
                <a:srgbClr val="FF0000"/>
              </a:solidFill>
              <a:latin typeface="Times New Roman" panose="02020603050405020304" pitchFamily="18" charset="0"/>
              <a:ea typeface="Times New Roman" panose="02020603050405020304" pitchFamily="18" charset="0"/>
            </a:endParaRPr>
          </a:p>
          <a:p>
            <a:pPr marL="514350" indent="-514350" algn="just">
              <a:spcBef>
                <a:spcPts val="0"/>
              </a:spcBef>
              <a:buClrTx/>
              <a:buAutoNum type="arabicPeriod"/>
            </a:pPr>
            <a:endParaRPr lang="en-US" dirty="0"/>
          </a:p>
          <a:p>
            <a:pPr algn="just">
              <a:spcBef>
                <a:spcPts val="0"/>
              </a:spcBef>
              <a:buClrTx/>
            </a:pPr>
            <a:endParaRPr lang="en-US" dirty="0"/>
          </a:p>
          <a:p>
            <a:pPr algn="just">
              <a:spcBef>
                <a:spcPts val="0"/>
              </a:spcBef>
              <a:buClrTx/>
            </a:pPr>
            <a:r>
              <a:rPr lang="en-US" dirty="0"/>
              <a:t>What is Cloud Agility?</a:t>
            </a:r>
          </a:p>
          <a:p>
            <a:pPr algn="just">
              <a:spcBef>
                <a:spcPts val="0"/>
              </a:spcBef>
              <a:buClrTx/>
            </a:pPr>
            <a:r>
              <a:rPr lang="en-US" dirty="0"/>
              <a:t>Why is Cloud Agility Important for Businesses?</a:t>
            </a:r>
          </a:p>
          <a:p>
            <a:pPr algn="just">
              <a:spcBef>
                <a:spcPts val="0"/>
              </a:spcBef>
              <a:buClrTx/>
            </a:pPr>
            <a:endParaRPr lang="en-US" dirty="0"/>
          </a:p>
          <a:p>
            <a:pPr algn="just">
              <a:spcBef>
                <a:spcPts val="0"/>
              </a:spcBef>
              <a:buClrTx/>
            </a:pPr>
            <a:endParaRPr lang="en-US" dirty="0"/>
          </a:p>
          <a:p>
            <a:pPr marL="0" indent="0" algn="just">
              <a:spcBef>
                <a:spcPts val="0"/>
              </a:spcBef>
              <a:buClrTx/>
              <a:buNone/>
            </a:pPr>
            <a:endParaRPr lang="en-US" dirty="0"/>
          </a:p>
          <a:p>
            <a:pPr algn="just">
              <a:spcBef>
                <a:spcPts val="0"/>
              </a:spcBef>
              <a:buClrTx/>
            </a:pPr>
            <a:endParaRPr lang="en-US" dirty="0"/>
          </a:p>
        </p:txBody>
      </p:sp>
    </p:spTree>
    <p:extLst>
      <p:ext uri="{BB962C8B-B14F-4D97-AF65-F5344CB8AC3E}">
        <p14:creationId xmlns:p14="http://schemas.microsoft.com/office/powerpoint/2010/main" val="55470633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3600" b="1" dirty="0">
                <a:solidFill>
                  <a:srgbClr val="000000"/>
                </a:solidFill>
                <a:latin typeface="Times New Roman" panose="02020603050405020304" pitchFamily="18" charset="0"/>
                <a:ea typeface="Times New Roman" panose="02020603050405020304" pitchFamily="18" charset="0"/>
              </a:rPr>
              <a:t>Business Agility: Benefits and challenges to Cloud architecture</a:t>
            </a:r>
            <a:endParaRPr lang="en-IN" sz="3600" u="sng" dirty="0">
              <a:solidFill>
                <a:srgbClr val="FF0000"/>
              </a:solidFill>
              <a:latin typeface="Times New Roman" panose="02020603050405020304" pitchFamily="18" charset="0"/>
              <a:ea typeface="Times New Roman" panose="02020603050405020304" pitchFamily="18" charset="0"/>
            </a:endParaRPr>
          </a:p>
          <a:p>
            <a:pPr marL="0" indent="0">
              <a:buNone/>
            </a:pPr>
            <a:r>
              <a:rPr lang="en-US" b="1" dirty="0"/>
              <a:t>Benefits of Achieving Cloud Agility</a:t>
            </a:r>
          </a:p>
          <a:p>
            <a:pPr algn="just"/>
            <a:r>
              <a:rPr lang="en-US" dirty="0"/>
              <a:t>Achieving cloud agility offers several business-friendly benefits, including accelerating the time to market, increasing flexibility, and enhancing organizational value.</a:t>
            </a:r>
          </a:p>
          <a:p>
            <a:pPr marL="0" indent="0">
              <a:buNone/>
            </a:pPr>
            <a:endParaRPr lang="en-US" dirty="0"/>
          </a:p>
        </p:txBody>
      </p:sp>
    </p:spTree>
    <p:extLst>
      <p:ext uri="{BB962C8B-B14F-4D97-AF65-F5344CB8AC3E}">
        <p14:creationId xmlns:p14="http://schemas.microsoft.com/office/powerpoint/2010/main" val="274149026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2C555-37C3-809E-9DF6-1D7F31C9501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7ADD27-7F1F-DCE5-2E99-20B358128CF6}"/>
              </a:ext>
            </a:extLst>
          </p:cNvPr>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3600" b="1" dirty="0">
                <a:solidFill>
                  <a:srgbClr val="000000"/>
                </a:solidFill>
                <a:latin typeface="Times New Roman" panose="02020603050405020304" pitchFamily="18" charset="0"/>
                <a:ea typeface="Times New Roman" panose="02020603050405020304" pitchFamily="18" charset="0"/>
              </a:rPr>
              <a:t>Business Agility: Benefits and challenges to Cloud architecture</a:t>
            </a:r>
            <a:endParaRPr lang="en-IN" sz="3600" u="sng" dirty="0">
              <a:solidFill>
                <a:srgbClr val="FF0000"/>
              </a:solidFill>
              <a:latin typeface="Times New Roman" panose="02020603050405020304" pitchFamily="18" charset="0"/>
              <a:ea typeface="Times New Roman" panose="02020603050405020304" pitchFamily="18" charset="0"/>
            </a:endParaRPr>
          </a:p>
          <a:p>
            <a:pPr marL="0" indent="0">
              <a:buNone/>
            </a:pPr>
            <a:r>
              <a:rPr lang="en-US" b="1" dirty="0"/>
              <a:t>Benefits of Achieving Cloud Agility</a:t>
            </a:r>
          </a:p>
          <a:p>
            <a:pPr marL="0" indent="0">
              <a:buNone/>
            </a:pPr>
            <a:endParaRPr lang="en-US" dirty="0"/>
          </a:p>
        </p:txBody>
      </p:sp>
      <p:pic>
        <p:nvPicPr>
          <p:cNvPr id="2" name="Picture 1">
            <a:extLst>
              <a:ext uri="{FF2B5EF4-FFF2-40B4-BE49-F238E27FC236}">
                <a16:creationId xmlns:a16="http://schemas.microsoft.com/office/drawing/2014/main" id="{50D856DD-B6B3-BA25-0CF1-A01903AC5F2F}"/>
              </a:ext>
            </a:extLst>
          </p:cNvPr>
          <p:cNvPicPr>
            <a:picLocks noChangeAspect="1"/>
          </p:cNvPicPr>
          <p:nvPr/>
        </p:nvPicPr>
        <p:blipFill>
          <a:blip r:embed="rId3"/>
          <a:stretch>
            <a:fillRect/>
          </a:stretch>
        </p:blipFill>
        <p:spPr>
          <a:xfrm>
            <a:off x="3199885" y="1828800"/>
            <a:ext cx="5944115" cy="5249111"/>
          </a:xfrm>
          <a:prstGeom prst="rect">
            <a:avLst/>
          </a:prstGeom>
        </p:spPr>
      </p:pic>
    </p:spTree>
    <p:extLst>
      <p:ext uri="{BB962C8B-B14F-4D97-AF65-F5344CB8AC3E}">
        <p14:creationId xmlns:p14="http://schemas.microsoft.com/office/powerpoint/2010/main" val="39254205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D88BE-393F-E223-75B3-9B4C0ABBA7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1CABC7-5434-8F36-4817-A0B85E71B9FC}"/>
              </a:ext>
            </a:extLst>
          </p:cNvPr>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3600" b="1" dirty="0">
                <a:solidFill>
                  <a:srgbClr val="000000"/>
                </a:solidFill>
                <a:latin typeface="Times New Roman" panose="02020603050405020304" pitchFamily="18" charset="0"/>
                <a:ea typeface="Times New Roman" panose="02020603050405020304" pitchFamily="18" charset="0"/>
              </a:rPr>
              <a:t>Business Agility: Benefits and challenges to Cloud architecture</a:t>
            </a:r>
            <a:endParaRPr lang="en-IN" sz="3600" u="sng" dirty="0">
              <a:solidFill>
                <a:srgbClr val="FF0000"/>
              </a:solidFill>
              <a:latin typeface="Times New Roman" panose="02020603050405020304" pitchFamily="18" charset="0"/>
              <a:ea typeface="Times New Roman" panose="02020603050405020304" pitchFamily="18" charset="0"/>
            </a:endParaRPr>
          </a:p>
          <a:p>
            <a:pPr marL="0" indent="0">
              <a:buNone/>
            </a:pPr>
            <a:r>
              <a:rPr lang="en-US" b="1" dirty="0"/>
              <a:t>Benefits of Achieving Cloud Agility</a:t>
            </a:r>
          </a:p>
          <a:p>
            <a:pPr marL="0" indent="0">
              <a:buNone/>
            </a:pPr>
            <a:endParaRPr lang="en-US" b="1" dirty="0"/>
          </a:p>
          <a:p>
            <a:pPr marL="514350" indent="-514350">
              <a:buFont typeface="+mj-lt"/>
              <a:buAutoNum type="arabicPeriod"/>
            </a:pPr>
            <a:r>
              <a:rPr lang="en-US" dirty="0"/>
              <a:t>Faster Time-to-Market</a:t>
            </a:r>
          </a:p>
          <a:p>
            <a:pPr marL="514350" indent="-514350">
              <a:buFont typeface="+mj-lt"/>
              <a:buAutoNum type="arabicPeriod"/>
            </a:pPr>
            <a:r>
              <a:rPr lang="en-US" dirty="0"/>
              <a:t>Automation</a:t>
            </a:r>
          </a:p>
          <a:p>
            <a:pPr marL="514350" indent="-514350">
              <a:buFont typeface="+mj-lt"/>
              <a:buAutoNum type="arabicPeriod"/>
            </a:pPr>
            <a:r>
              <a:rPr lang="en-US" dirty="0"/>
              <a:t>Flexibility and Scalability</a:t>
            </a:r>
          </a:p>
          <a:p>
            <a:pPr marL="514350" indent="-514350">
              <a:buFont typeface="+mj-lt"/>
              <a:buAutoNum type="arabicPeriod"/>
            </a:pPr>
            <a:r>
              <a:rPr lang="en-US" dirty="0"/>
              <a:t>Elasticity</a:t>
            </a:r>
          </a:p>
          <a:p>
            <a:pPr marL="514350" indent="-514350">
              <a:buFont typeface="+mj-lt"/>
              <a:buAutoNum type="arabicPeriod"/>
            </a:pPr>
            <a:endParaRPr lang="en-US" dirty="0"/>
          </a:p>
          <a:p>
            <a:pPr marL="514350" indent="-514350">
              <a:buFont typeface="+mj-lt"/>
              <a:buAutoNum type="arabicPeriod"/>
            </a:pPr>
            <a:endParaRPr lang="en-US" b="1" dirty="0"/>
          </a:p>
          <a:p>
            <a:pPr marL="0" indent="0">
              <a:buNone/>
            </a:pPr>
            <a:endParaRPr lang="en-US" dirty="0"/>
          </a:p>
        </p:txBody>
      </p:sp>
    </p:spTree>
    <p:extLst>
      <p:ext uri="{BB962C8B-B14F-4D97-AF65-F5344CB8AC3E}">
        <p14:creationId xmlns:p14="http://schemas.microsoft.com/office/powerpoint/2010/main" val="268636594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5D0B6-9DBE-1670-94F8-F400FFB4F0D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786A09-86BB-8043-8FD4-F1FC26818DA4}"/>
              </a:ext>
            </a:extLst>
          </p:cNvPr>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3600" b="1" dirty="0">
                <a:solidFill>
                  <a:srgbClr val="000000"/>
                </a:solidFill>
                <a:latin typeface="Times New Roman" panose="02020603050405020304" pitchFamily="18" charset="0"/>
                <a:ea typeface="Times New Roman" panose="02020603050405020304" pitchFamily="18" charset="0"/>
              </a:rPr>
              <a:t>Business Agility: Benefits and challenges to Cloud architecture</a:t>
            </a:r>
            <a:endParaRPr lang="en-IN" sz="3600" u="sng" dirty="0">
              <a:solidFill>
                <a:srgbClr val="FF0000"/>
              </a:solidFill>
              <a:latin typeface="Times New Roman" panose="02020603050405020304" pitchFamily="18" charset="0"/>
              <a:ea typeface="Times New Roman" panose="02020603050405020304" pitchFamily="18" charset="0"/>
            </a:endParaRPr>
          </a:p>
          <a:p>
            <a:pPr marL="0" indent="0">
              <a:buNone/>
            </a:pPr>
            <a:r>
              <a:rPr lang="en-US" b="1" dirty="0"/>
              <a:t>Benefits of Achieving Cloud Agility</a:t>
            </a:r>
          </a:p>
          <a:p>
            <a:pPr marL="0" indent="0">
              <a:buNone/>
            </a:pPr>
            <a:endParaRPr lang="en-US" b="1" dirty="0"/>
          </a:p>
          <a:p>
            <a:pPr marL="0" indent="0">
              <a:buNone/>
            </a:pPr>
            <a:r>
              <a:rPr lang="en-US" dirty="0"/>
              <a:t>5. Speedier Innovation</a:t>
            </a:r>
          </a:p>
          <a:p>
            <a:pPr marL="0" indent="0">
              <a:buNone/>
            </a:pPr>
            <a:r>
              <a:rPr lang="en-US" dirty="0"/>
              <a:t>6. Pay-As-You-Go Model</a:t>
            </a:r>
          </a:p>
          <a:p>
            <a:pPr marL="0" indent="0">
              <a:buNone/>
            </a:pPr>
            <a:r>
              <a:rPr lang="en-US" dirty="0"/>
              <a:t>7. Disaster Recovery</a:t>
            </a:r>
          </a:p>
          <a:p>
            <a:pPr marL="0" indent="0">
              <a:buNone/>
            </a:pPr>
            <a:endParaRPr lang="en-US" dirty="0"/>
          </a:p>
          <a:p>
            <a:pPr marL="0" indent="0">
              <a:buNone/>
            </a:pPr>
            <a:endParaRPr lang="en-US" dirty="0"/>
          </a:p>
          <a:p>
            <a:pPr marL="0" indent="0">
              <a:buNone/>
            </a:pPr>
            <a:endParaRPr lang="en-US" dirty="0"/>
          </a:p>
          <a:p>
            <a:pPr marL="514350" indent="-514350">
              <a:buFont typeface="+mj-lt"/>
              <a:buAutoNum type="arabicPeriod"/>
            </a:pPr>
            <a:endParaRPr lang="en-US" dirty="0"/>
          </a:p>
          <a:p>
            <a:pPr marL="514350" indent="-514350">
              <a:buFont typeface="+mj-lt"/>
              <a:buAutoNum type="arabicPeriod"/>
            </a:pPr>
            <a:endParaRPr lang="en-US" b="1" dirty="0"/>
          </a:p>
          <a:p>
            <a:pPr marL="0" indent="0">
              <a:buNone/>
            </a:pPr>
            <a:endParaRPr lang="en-US" dirty="0"/>
          </a:p>
        </p:txBody>
      </p:sp>
    </p:spTree>
    <p:extLst>
      <p:ext uri="{BB962C8B-B14F-4D97-AF65-F5344CB8AC3E}">
        <p14:creationId xmlns:p14="http://schemas.microsoft.com/office/powerpoint/2010/main" val="235423701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791A7-3258-8FC9-63B4-5E16A3AB59F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8B2E3-4671-330E-76AB-ED5DCB434821}"/>
              </a:ext>
            </a:extLst>
          </p:cNvPr>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3600" b="1" dirty="0">
                <a:solidFill>
                  <a:srgbClr val="000000"/>
                </a:solidFill>
                <a:latin typeface="Times New Roman" panose="02020603050405020304" pitchFamily="18" charset="0"/>
                <a:ea typeface="Times New Roman" panose="02020603050405020304" pitchFamily="18" charset="0"/>
              </a:rPr>
              <a:t>Business Agility: Benefits and challenges to Cloud architecture</a:t>
            </a:r>
            <a:endParaRPr lang="en-IN" sz="3600" u="sng" dirty="0">
              <a:solidFill>
                <a:srgbClr val="FF0000"/>
              </a:solidFill>
              <a:latin typeface="Times New Roman" panose="02020603050405020304" pitchFamily="18" charset="0"/>
              <a:ea typeface="Times New Roman" panose="02020603050405020304" pitchFamily="18" charset="0"/>
            </a:endParaRPr>
          </a:p>
          <a:p>
            <a:pPr marL="0" indent="0" algn="just">
              <a:buNone/>
            </a:pPr>
            <a:r>
              <a:rPr lang="en-US" b="1" dirty="0"/>
              <a:t>How to Build Cloud Agility in Your Cloud Environment?</a:t>
            </a:r>
          </a:p>
          <a:p>
            <a:r>
              <a:rPr lang="en-US" dirty="0"/>
              <a:t>You can incorporate cloud agility into your environment by utilizing the following:</a:t>
            </a:r>
          </a:p>
          <a:p>
            <a:pPr>
              <a:buFont typeface="Wingdings" panose="05000000000000000000" pitchFamily="2" charset="2"/>
              <a:buChar char="Ø"/>
            </a:pPr>
            <a:r>
              <a:rPr lang="en-US" dirty="0"/>
              <a:t> Mult-cloud Strategy</a:t>
            </a:r>
          </a:p>
          <a:p>
            <a:pPr>
              <a:buFont typeface="Wingdings" panose="05000000000000000000" pitchFamily="2" charset="2"/>
              <a:buChar char="Ø"/>
            </a:pPr>
            <a:r>
              <a:rPr lang="en-US" dirty="0"/>
              <a:t>Serverless Computing</a:t>
            </a:r>
          </a:p>
          <a:p>
            <a:pPr>
              <a:buFont typeface="Wingdings" panose="05000000000000000000" pitchFamily="2" charset="2"/>
              <a:buChar char="Ø"/>
            </a:pPr>
            <a:r>
              <a:rPr lang="en-US" dirty="0"/>
              <a:t>CI/CD pipeline</a:t>
            </a:r>
          </a:p>
          <a:p>
            <a:pPr>
              <a:buFont typeface="Wingdings" panose="05000000000000000000" pitchFamily="2" charset="2"/>
              <a:buChar char="Ø"/>
            </a:pPr>
            <a:endParaRPr lang="en-US" dirty="0"/>
          </a:p>
          <a:p>
            <a:pPr marL="0" indent="0">
              <a:buNone/>
            </a:pPr>
            <a:endParaRPr lang="en-US" dirty="0"/>
          </a:p>
          <a:p>
            <a:pPr marL="514350" indent="-514350">
              <a:buFont typeface="+mj-lt"/>
              <a:buAutoNum type="arabicPeriod"/>
            </a:pPr>
            <a:endParaRPr lang="en-US" b="1" dirty="0"/>
          </a:p>
          <a:p>
            <a:pPr marL="0" indent="0">
              <a:buNone/>
            </a:pPr>
            <a:endParaRPr lang="en-US" dirty="0"/>
          </a:p>
        </p:txBody>
      </p:sp>
    </p:spTree>
    <p:extLst>
      <p:ext uri="{BB962C8B-B14F-4D97-AF65-F5344CB8AC3E}">
        <p14:creationId xmlns:p14="http://schemas.microsoft.com/office/powerpoint/2010/main" val="398017527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162C3-6F76-E34C-0B7E-A934B09DAD9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682869-515A-A3F0-0474-891BBA371871}"/>
              </a:ext>
            </a:extLst>
          </p:cNvPr>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t>CI/CD pipeline</a:t>
            </a:r>
          </a:p>
          <a:p>
            <a:r>
              <a:rPr lang="en-US" b="1" dirty="0"/>
              <a:t>What is CI/CD?</a:t>
            </a:r>
          </a:p>
          <a:p>
            <a:endParaRPr lang="en-US" b="1" dirty="0"/>
          </a:p>
          <a:p>
            <a:pPr>
              <a:buFont typeface="Wingdings" panose="05000000000000000000" pitchFamily="2" charset="2"/>
              <a:buChar char="Ø"/>
            </a:pPr>
            <a:endParaRPr lang="en-US" b="1" dirty="0"/>
          </a:p>
          <a:p>
            <a:pPr marL="0" indent="0">
              <a:buNone/>
            </a:pPr>
            <a:endParaRPr lang="en-US" dirty="0"/>
          </a:p>
          <a:p>
            <a:pPr marL="514350" indent="-514350">
              <a:buFont typeface="+mj-lt"/>
              <a:buAutoNum type="arabicPeriod"/>
            </a:pPr>
            <a:endParaRPr lang="en-US" b="1" dirty="0"/>
          </a:p>
          <a:p>
            <a:pPr marL="0" indent="0">
              <a:buNone/>
            </a:pPr>
            <a:endParaRPr lang="en-US" dirty="0"/>
          </a:p>
        </p:txBody>
      </p:sp>
      <p:pic>
        <p:nvPicPr>
          <p:cNvPr id="2" name="Picture 1">
            <a:extLst>
              <a:ext uri="{FF2B5EF4-FFF2-40B4-BE49-F238E27FC236}">
                <a16:creationId xmlns:a16="http://schemas.microsoft.com/office/drawing/2014/main" id="{17001121-B3CE-EC73-4781-6FFAAD80196E}"/>
              </a:ext>
            </a:extLst>
          </p:cNvPr>
          <p:cNvPicPr>
            <a:picLocks noChangeAspect="1"/>
          </p:cNvPicPr>
          <p:nvPr/>
        </p:nvPicPr>
        <p:blipFill>
          <a:blip r:embed="rId3"/>
          <a:stretch>
            <a:fillRect/>
          </a:stretch>
        </p:blipFill>
        <p:spPr>
          <a:xfrm>
            <a:off x="762000" y="1524000"/>
            <a:ext cx="7620000" cy="3810000"/>
          </a:xfrm>
          <a:prstGeom prst="rect">
            <a:avLst/>
          </a:prstGeom>
        </p:spPr>
      </p:pic>
      <p:sp>
        <p:nvSpPr>
          <p:cNvPr id="5" name="TextBox 4">
            <a:extLst>
              <a:ext uri="{FF2B5EF4-FFF2-40B4-BE49-F238E27FC236}">
                <a16:creationId xmlns:a16="http://schemas.microsoft.com/office/drawing/2014/main" id="{DA9ED94B-71DA-2124-1CA6-5FC8B6CE5E10}"/>
              </a:ext>
            </a:extLst>
          </p:cNvPr>
          <p:cNvSpPr txBox="1"/>
          <p:nvPr/>
        </p:nvSpPr>
        <p:spPr>
          <a:xfrm>
            <a:off x="2362200" y="5606534"/>
            <a:ext cx="4572000" cy="369332"/>
          </a:xfrm>
          <a:prstGeom prst="rect">
            <a:avLst/>
          </a:prstGeom>
          <a:noFill/>
        </p:spPr>
        <p:txBody>
          <a:bodyPr wrap="square">
            <a:spAutoFit/>
          </a:bodyPr>
          <a:lstStyle/>
          <a:p>
            <a:r>
              <a:rPr lang="en-US" sz="1800" b="0" i="0" kern="1200" dirty="0">
                <a:solidFill>
                  <a:schemeClr val="tx1"/>
                </a:solidFill>
                <a:effectLst/>
                <a:latin typeface="+mn-lt"/>
                <a:ea typeface="+mn-ea"/>
                <a:cs typeface="+mn-cs"/>
              </a:rPr>
              <a:t>Fig: Before CI/CD </a:t>
            </a:r>
            <a:endParaRPr lang="en-US" dirty="0"/>
          </a:p>
        </p:txBody>
      </p:sp>
    </p:spTree>
    <p:extLst>
      <p:ext uri="{BB962C8B-B14F-4D97-AF65-F5344CB8AC3E}">
        <p14:creationId xmlns:p14="http://schemas.microsoft.com/office/powerpoint/2010/main" val="298640258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0230A-E13E-3764-C225-320890631E6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23AE7A-9378-4DA5-DEA9-E8B13D9EE5DA}"/>
              </a:ext>
            </a:extLst>
          </p:cNvPr>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t>CI/CD pipeline</a:t>
            </a:r>
          </a:p>
          <a:p>
            <a:r>
              <a:rPr lang="en-US" b="1" dirty="0"/>
              <a:t>What is CI/CD?</a:t>
            </a:r>
          </a:p>
          <a:p>
            <a:endParaRPr lang="en-US" b="1" dirty="0"/>
          </a:p>
          <a:p>
            <a:pPr>
              <a:buFont typeface="Wingdings" panose="05000000000000000000" pitchFamily="2" charset="2"/>
              <a:buChar char="Ø"/>
            </a:pPr>
            <a:endParaRPr lang="en-US" b="1" dirty="0"/>
          </a:p>
          <a:p>
            <a:pPr marL="0" indent="0">
              <a:buNone/>
            </a:pPr>
            <a:endParaRPr lang="en-US" dirty="0"/>
          </a:p>
          <a:p>
            <a:pPr marL="514350" indent="-514350">
              <a:buFont typeface="+mj-lt"/>
              <a:buAutoNum type="arabicPeriod"/>
            </a:pPr>
            <a:endParaRPr lang="en-US" b="1" dirty="0"/>
          </a:p>
          <a:p>
            <a:pPr marL="0" indent="0">
              <a:buNone/>
            </a:pPr>
            <a:endParaRPr lang="en-US" dirty="0"/>
          </a:p>
        </p:txBody>
      </p:sp>
      <p:sp>
        <p:nvSpPr>
          <p:cNvPr id="5" name="TextBox 4">
            <a:extLst>
              <a:ext uri="{FF2B5EF4-FFF2-40B4-BE49-F238E27FC236}">
                <a16:creationId xmlns:a16="http://schemas.microsoft.com/office/drawing/2014/main" id="{06D810F9-DEAB-D435-09DE-58E8A13A44CE}"/>
              </a:ext>
            </a:extLst>
          </p:cNvPr>
          <p:cNvSpPr txBox="1"/>
          <p:nvPr/>
        </p:nvSpPr>
        <p:spPr>
          <a:xfrm>
            <a:off x="2362200" y="5606534"/>
            <a:ext cx="4572000" cy="369332"/>
          </a:xfrm>
          <a:prstGeom prst="rect">
            <a:avLst/>
          </a:prstGeom>
          <a:noFill/>
        </p:spPr>
        <p:txBody>
          <a:bodyPr wrap="square">
            <a:spAutoFit/>
          </a:bodyPr>
          <a:lstStyle/>
          <a:p>
            <a:r>
              <a:rPr lang="en-US" sz="1800" b="0" i="0" kern="1200" dirty="0">
                <a:solidFill>
                  <a:schemeClr val="tx1"/>
                </a:solidFill>
                <a:effectLst/>
                <a:latin typeface="+mn-lt"/>
                <a:ea typeface="+mn-ea"/>
                <a:cs typeface="+mn-cs"/>
              </a:rPr>
              <a:t>Fig: After  CI/CD </a:t>
            </a:r>
            <a:endParaRPr lang="en-US" dirty="0"/>
          </a:p>
        </p:txBody>
      </p:sp>
      <p:pic>
        <p:nvPicPr>
          <p:cNvPr id="4" name="Picture 3">
            <a:extLst>
              <a:ext uri="{FF2B5EF4-FFF2-40B4-BE49-F238E27FC236}">
                <a16:creationId xmlns:a16="http://schemas.microsoft.com/office/drawing/2014/main" id="{AED82BAC-774E-0BF6-B95A-4E0F67DA6139}"/>
              </a:ext>
            </a:extLst>
          </p:cNvPr>
          <p:cNvPicPr>
            <a:picLocks noChangeAspect="1"/>
          </p:cNvPicPr>
          <p:nvPr/>
        </p:nvPicPr>
        <p:blipFill>
          <a:blip r:embed="rId3"/>
          <a:stretch>
            <a:fillRect/>
          </a:stretch>
        </p:blipFill>
        <p:spPr>
          <a:xfrm>
            <a:off x="762000" y="1524000"/>
            <a:ext cx="7620000" cy="3810000"/>
          </a:xfrm>
          <a:prstGeom prst="rect">
            <a:avLst/>
          </a:prstGeom>
        </p:spPr>
      </p:pic>
    </p:spTree>
    <p:extLst>
      <p:ext uri="{BB962C8B-B14F-4D97-AF65-F5344CB8AC3E}">
        <p14:creationId xmlns:p14="http://schemas.microsoft.com/office/powerpoint/2010/main" val="111247583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8766F-92EB-3225-5E57-CA187DF789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B608E1-DEC9-F390-7E25-F3F100A368D3}"/>
              </a:ext>
            </a:extLst>
          </p:cNvPr>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t>CI/CD pipeline</a:t>
            </a:r>
          </a:p>
          <a:p>
            <a:r>
              <a:rPr lang="en-US" b="1" dirty="0"/>
              <a:t>What is CI/CD?</a:t>
            </a:r>
          </a:p>
          <a:p>
            <a:r>
              <a:rPr lang="en-US" dirty="0">
                <a:solidFill>
                  <a:schemeClr val="tx1"/>
                </a:solidFill>
              </a:rPr>
              <a:t>Tools like </a:t>
            </a:r>
            <a:r>
              <a:rPr lang="en-US" b="1" dirty="0">
                <a:solidFill>
                  <a:schemeClr val="tx1"/>
                </a:solidFill>
              </a:rPr>
              <a:t>Git, Jenkins, Docker, and Kubernetes automate everything from building to deployment, </a:t>
            </a:r>
            <a:r>
              <a:rPr lang="en-US" dirty="0">
                <a:solidFill>
                  <a:schemeClr val="tx1"/>
                </a:solidFill>
              </a:rPr>
              <a:t>making the workflow transparent and collaborative. Bugs are fixed quickly, rollbacks are easier, and overall software delivery happens in hours instead of days</a:t>
            </a:r>
          </a:p>
          <a:p>
            <a:endParaRPr lang="en-US" b="1" dirty="0"/>
          </a:p>
          <a:p>
            <a:endParaRPr lang="en-US" b="1" dirty="0"/>
          </a:p>
          <a:p>
            <a:pPr>
              <a:buFont typeface="Wingdings" panose="05000000000000000000" pitchFamily="2" charset="2"/>
              <a:buChar char="Ø"/>
            </a:pPr>
            <a:endParaRPr lang="en-US" b="1" dirty="0"/>
          </a:p>
          <a:p>
            <a:pPr marL="0" indent="0">
              <a:buNone/>
            </a:pPr>
            <a:endParaRPr lang="en-US" dirty="0"/>
          </a:p>
          <a:p>
            <a:pPr marL="514350" indent="-514350">
              <a:buFont typeface="+mj-lt"/>
              <a:buAutoNum type="arabicPeriod"/>
            </a:pPr>
            <a:endParaRPr lang="en-US" b="1" dirty="0"/>
          </a:p>
          <a:p>
            <a:pPr marL="0" indent="0">
              <a:buNone/>
            </a:pPr>
            <a:endParaRPr lang="en-US" dirty="0"/>
          </a:p>
        </p:txBody>
      </p:sp>
    </p:spTree>
    <p:extLst>
      <p:ext uri="{BB962C8B-B14F-4D97-AF65-F5344CB8AC3E}">
        <p14:creationId xmlns:p14="http://schemas.microsoft.com/office/powerpoint/2010/main" val="221523185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b="1" u="sng" dirty="0">
                <a:hlinkClick r:id="rId3"/>
              </a:rPr>
              <a:t>Disaster recovery</a:t>
            </a:r>
            <a:endParaRPr lang="en-US" b="1" u="sng" dirty="0"/>
          </a:p>
          <a:p>
            <a:pPr algn="just"/>
            <a:r>
              <a:rPr lang="en-US" dirty="0"/>
              <a:t>Disasters can be natural, such as floods, hurricanes, and earthquakes, or man-made, such as cyber-attacks and power outages.</a:t>
            </a:r>
          </a:p>
          <a:p>
            <a:pPr algn="just"/>
            <a:r>
              <a:rPr lang="en-US" dirty="0"/>
              <a:t>Cloud disaster recovery is a set of strategies and services that leverage cloud computing to protect data, applications, and other IT resources from disasters and hardware failures.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0923598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ts val="0"/>
              </a:spcBef>
              <a:buClrTx/>
            </a:pPr>
            <a:r>
              <a:rPr lang="en-US" b="1" dirty="0"/>
              <a:t>How Does Cloud-Based Disaster Recovery Work?</a:t>
            </a:r>
          </a:p>
          <a:p>
            <a:pPr marL="0" indent="0" algn="just">
              <a:spcBef>
                <a:spcPts val="0"/>
              </a:spcBef>
              <a:buClrTx/>
              <a:buNone/>
            </a:pPr>
            <a:endParaRPr lang="en-US" dirty="0"/>
          </a:p>
          <a:p>
            <a:pPr marL="0" indent="0" algn="just">
              <a:spcBef>
                <a:spcPts val="0"/>
              </a:spcBef>
              <a:buClrTx/>
              <a:buNone/>
            </a:pPr>
            <a:r>
              <a:rPr lang="en-US" dirty="0"/>
              <a:t>Cloud disaster recovery works by replicating data and apps in a cloud-based environment using three primary strategies.:</a:t>
            </a:r>
          </a:p>
          <a:p>
            <a:pPr marL="0" indent="0" algn="just">
              <a:spcBef>
                <a:spcPts val="0"/>
              </a:spcBef>
              <a:buClrTx/>
              <a:buNone/>
            </a:pPr>
            <a:endParaRPr lang="en-US" dirty="0"/>
          </a:p>
          <a:p>
            <a:r>
              <a:rPr lang="en-US" b="1" dirty="0"/>
              <a:t>Cold Disaster Recovery (Cold DR)</a:t>
            </a:r>
          </a:p>
          <a:p>
            <a:r>
              <a:rPr lang="en-US" b="1" dirty="0"/>
              <a:t>Warm Disaster Recovery (Warm DR)</a:t>
            </a:r>
          </a:p>
          <a:p>
            <a:r>
              <a:rPr lang="en-US" b="1" dirty="0"/>
              <a:t>Hot Disaster Recovery (Hot DR)</a:t>
            </a:r>
            <a:endParaRPr lang="en-US" dirty="0"/>
          </a:p>
          <a:p>
            <a:endParaRPr lang="en-US" dirty="0"/>
          </a:p>
          <a:p>
            <a:endParaRPr lang="en-US" dirty="0"/>
          </a:p>
          <a:p>
            <a:pPr marL="0" indent="0" algn="just">
              <a:spcBef>
                <a:spcPts val="0"/>
              </a:spcBef>
              <a:buClrTx/>
              <a:buNone/>
            </a:pPr>
            <a:endParaRPr lang="en-US" dirty="0"/>
          </a:p>
        </p:txBody>
      </p:sp>
    </p:spTree>
    <p:extLst>
      <p:ext uri="{BB962C8B-B14F-4D97-AF65-F5344CB8AC3E}">
        <p14:creationId xmlns:p14="http://schemas.microsoft.com/office/powerpoint/2010/main" val="234254652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b="1" u="sng" dirty="0">
                <a:hlinkClick r:id="rId3"/>
              </a:rPr>
              <a:t>Disaster recovery</a:t>
            </a:r>
            <a:endParaRPr lang="en-US" b="1" u="sng" dirty="0"/>
          </a:p>
          <a:p>
            <a:r>
              <a:rPr lang="en-US" b="1" dirty="0"/>
              <a:t>What Is Cloud Disaster Recovery (Cloud DR)?</a:t>
            </a:r>
          </a:p>
          <a:p>
            <a:endParaRPr lang="en-US" dirty="0"/>
          </a:p>
          <a:p>
            <a:endParaRPr lang="en-US" dirty="0"/>
          </a:p>
          <a:p>
            <a:pPr marL="0" indent="0" algn="just">
              <a:buNone/>
            </a:pPr>
            <a:r>
              <a:rPr lang="en-US" dirty="0">
                <a:solidFill>
                  <a:schemeClr val="tx1"/>
                </a:solidFill>
              </a:rPr>
              <a:t>Cloud disaster recovery is a set of strategies and services that leverage cloud computing to protect data, </a:t>
            </a:r>
            <a:r>
              <a:rPr lang="en-US" dirty="0">
                <a:solidFill>
                  <a:schemeClr val="tx1"/>
                </a:solidFill>
                <a:hlinkClick r:id="rId4"/>
              </a:rPr>
              <a:t>applications</a:t>
            </a:r>
            <a:r>
              <a:rPr lang="en-US" dirty="0">
                <a:solidFill>
                  <a:schemeClr val="tx1"/>
                </a:solidFill>
              </a:rPr>
              <a:t>, and other IT resources from disasters and </a:t>
            </a:r>
            <a:r>
              <a:rPr lang="en-US" dirty="0">
                <a:solidFill>
                  <a:schemeClr val="tx1"/>
                </a:solidFill>
                <a:hlinkClick r:id="rId5"/>
              </a:rPr>
              <a:t>hardware</a:t>
            </a:r>
            <a:r>
              <a:rPr lang="en-US" dirty="0">
                <a:solidFill>
                  <a:schemeClr val="tx1"/>
                </a:solidFill>
              </a:rPr>
              <a:t> failures.</a:t>
            </a:r>
          </a:p>
          <a:p>
            <a:pPr marL="0" indent="0" algn="just">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74612062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b="1" u="sng" dirty="0">
                <a:hlinkClick r:id="rId3"/>
              </a:rPr>
              <a:t>Disaster recovery</a:t>
            </a:r>
            <a:endParaRPr lang="en-US" b="1" u="sng" dirty="0"/>
          </a:p>
          <a:p>
            <a:r>
              <a:rPr lang="en-US" b="1" dirty="0"/>
              <a:t>Why Is Cloud Disaster Recovery Important?</a:t>
            </a:r>
          </a:p>
          <a:p>
            <a:r>
              <a:rPr lang="en-US" dirty="0"/>
              <a:t>Cloud disaster recovery </a:t>
            </a:r>
            <a:r>
              <a:rPr lang="en-US" b="1" dirty="0"/>
              <a:t>quickly restores IT systems' functions</a:t>
            </a:r>
            <a:r>
              <a:rPr lang="en-US" dirty="0"/>
              <a:t>, minimizing </a:t>
            </a:r>
            <a:r>
              <a:rPr lang="en-US" u="sng" dirty="0">
                <a:hlinkClick r:id="rId4"/>
              </a:rPr>
              <a:t>downtime</a:t>
            </a:r>
            <a:r>
              <a:rPr lang="en-US" dirty="0"/>
              <a:t> and disruption to business operations</a:t>
            </a:r>
          </a:p>
          <a:p>
            <a:r>
              <a:rPr lang="en-US" dirty="0"/>
              <a:t>Maintaining operational resilience is vital, as </a:t>
            </a:r>
            <a:r>
              <a:rPr lang="en-US" b="1" u="sng" dirty="0">
                <a:hlinkClick r:id="rId5"/>
              </a:rPr>
              <a:t>60%</a:t>
            </a:r>
            <a:r>
              <a:rPr lang="en-US" b="1" dirty="0"/>
              <a:t> of small businesses close within six months of experiencing a cyber-attack</a:t>
            </a:r>
            <a:r>
              <a:rPr lang="en-US" dirty="0"/>
              <a:t>, and </a:t>
            </a:r>
            <a:r>
              <a:rPr lang="en-US" b="1" u="sng" dirty="0">
                <a:hlinkClick r:id="rId6"/>
              </a:rPr>
              <a:t>25%</a:t>
            </a:r>
            <a:r>
              <a:rPr lang="en-US" b="1" dirty="0"/>
              <a:t> never reopen after a disaster</a:t>
            </a:r>
            <a:r>
              <a:rPr lang="en-US" dirty="0"/>
              <a:t>.</a:t>
            </a:r>
          </a:p>
          <a:p>
            <a:r>
              <a:rPr lang="en-US" dirty="0"/>
              <a:t>Despite these statistics, only </a:t>
            </a:r>
            <a:r>
              <a:rPr lang="en-US" u="sng" dirty="0">
                <a:hlinkClick r:id="rId7"/>
              </a:rPr>
              <a:t>54%</a:t>
            </a:r>
            <a:r>
              <a:rPr lang="en-US" dirty="0"/>
              <a:t> of organizations have an established </a:t>
            </a:r>
            <a:r>
              <a:rPr lang="en-US" u="sng" dirty="0">
                <a:hlinkClick r:id="rId8"/>
              </a:rPr>
              <a:t>disaster recovery plan</a:t>
            </a:r>
            <a:r>
              <a:rPr lang="en-US" dirty="0"/>
              <a:t>. Although 57% of surveyed companies have a second </a:t>
            </a:r>
            <a:r>
              <a:rPr lang="en-US" u="sng" dirty="0">
                <a:hlinkClick r:id="rId9"/>
              </a:rPr>
              <a:t>on-</a:t>
            </a:r>
            <a:r>
              <a:rPr lang="en-US" u="sng" dirty="0" err="1">
                <a:hlinkClick r:id="rId9"/>
              </a:rPr>
              <a:t>prem</a:t>
            </a:r>
            <a:r>
              <a:rPr lang="en-US" dirty="0"/>
              <a:t> data center dedicated to disaster recovery, this approach can be expensive and complex.</a:t>
            </a:r>
          </a:p>
          <a:p>
            <a:endParaRPr lang="en-US" dirty="0"/>
          </a:p>
          <a:p>
            <a:pPr marL="0" indent="0" algn="just">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05217108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b="1" u="sng" dirty="0">
                <a:hlinkClick r:id="rId3"/>
              </a:rPr>
              <a:t>Disaster recovery</a:t>
            </a:r>
            <a:endParaRPr lang="en-US" b="1" u="sng" dirty="0"/>
          </a:p>
          <a:p>
            <a:r>
              <a:rPr lang="en-US" b="1" dirty="0"/>
              <a:t>How Does Cloud-Based Disaster Recovery Work?</a:t>
            </a:r>
            <a:endParaRPr lang="en-US" dirty="0"/>
          </a:p>
          <a:p>
            <a:r>
              <a:rPr lang="en-US" dirty="0"/>
              <a:t>Cold DR is the most </a:t>
            </a:r>
            <a:r>
              <a:rPr lang="en-US" b="1" dirty="0"/>
              <a:t>straightforward and cost-effective disaster recovery </a:t>
            </a:r>
            <a:r>
              <a:rPr lang="en-US" dirty="0"/>
              <a:t>approach but has the longest recovery time.</a:t>
            </a:r>
          </a:p>
          <a:p>
            <a:r>
              <a:rPr lang="en-US" dirty="0"/>
              <a:t>Cold DR involves storing data or </a:t>
            </a:r>
            <a:r>
              <a:rPr lang="en-US" u="sng" dirty="0">
                <a:hlinkClick r:id="rId4"/>
              </a:rPr>
              <a:t>virtual machine (VM)</a:t>
            </a:r>
            <a:r>
              <a:rPr lang="en-US" dirty="0"/>
              <a:t> images in the cloud. However, they are not </a:t>
            </a:r>
            <a:r>
              <a:rPr lang="en-US" b="1" dirty="0"/>
              <a:t>readily usable </a:t>
            </a:r>
            <a:r>
              <a:rPr lang="en-US" dirty="0"/>
              <a:t>and </a:t>
            </a:r>
            <a:r>
              <a:rPr lang="en-US" b="1" dirty="0"/>
              <a:t>require additional restoring step</a:t>
            </a:r>
            <a:r>
              <a:rPr lang="en-US" dirty="0"/>
              <a:t>s, such as downloading up-to-date data or </a:t>
            </a:r>
            <a:r>
              <a:rPr lang="en-US" b="1" dirty="0"/>
              <a:t>loading VM images.</a:t>
            </a:r>
          </a:p>
          <a:p>
            <a:endParaRPr lang="en-US" dirty="0"/>
          </a:p>
          <a:p>
            <a:endParaRPr lang="en-US" dirty="0"/>
          </a:p>
          <a:p>
            <a:pPr marL="0" indent="0" algn="just">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04972061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b="1" u="sng" dirty="0">
                <a:hlinkClick r:id="rId3"/>
              </a:rPr>
              <a:t>Disaster recovery</a:t>
            </a:r>
            <a:endParaRPr lang="en-US" b="1" u="sng" dirty="0"/>
          </a:p>
          <a:p>
            <a:r>
              <a:rPr lang="en-US" b="1" dirty="0"/>
              <a:t>How Does Cloud-Based Disaster Recovery Work?</a:t>
            </a:r>
            <a:endParaRPr lang="en-US" dirty="0"/>
          </a:p>
          <a:p>
            <a:r>
              <a:rPr lang="en-US" dirty="0"/>
              <a:t>Warm DR is a standby system that </a:t>
            </a:r>
            <a:r>
              <a:rPr lang="en-US" b="1" dirty="0"/>
              <a:t>maintains up-to-date duplicates of data and apps in the cloud.</a:t>
            </a:r>
          </a:p>
          <a:p>
            <a:pPr algn="just"/>
            <a:r>
              <a:rPr lang="en-US" b="1" dirty="0"/>
              <a:t> </a:t>
            </a:r>
            <a:r>
              <a:rPr lang="en-US" dirty="0"/>
              <a:t>These duplicate resources </a:t>
            </a:r>
            <a:r>
              <a:rPr lang="en-US" b="1" dirty="0"/>
              <a:t>are not actively processing data,</a:t>
            </a:r>
            <a:r>
              <a:rPr lang="en-US" dirty="0"/>
              <a:t> but you can quickly activate them in a disaster. </a:t>
            </a:r>
          </a:p>
          <a:p>
            <a:r>
              <a:rPr lang="en-US" dirty="0"/>
              <a:t>Warm </a:t>
            </a:r>
            <a:r>
              <a:rPr lang="en-US" b="1" dirty="0"/>
              <a:t>DR recovery is relatively fast</a:t>
            </a:r>
            <a:r>
              <a:rPr lang="en-US" dirty="0"/>
              <a:t>, but there is still some downtime for the protected workloads.</a:t>
            </a:r>
          </a:p>
          <a:p>
            <a:endParaRPr lang="en-US" dirty="0"/>
          </a:p>
          <a:p>
            <a:endParaRPr lang="en-US" dirty="0"/>
          </a:p>
          <a:p>
            <a:pPr marL="0" indent="0" algn="just">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53576856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5FC98-DF6D-8396-BC06-CDB23C61BDF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A807F0-1186-71C1-307E-18A7647678B5}"/>
              </a:ext>
            </a:extLst>
          </p:cNvPr>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b="1" u="sng" dirty="0">
                <a:hlinkClick r:id="rId3"/>
              </a:rPr>
              <a:t>Disaster recovery</a:t>
            </a:r>
            <a:endParaRPr lang="en-US" b="1" u="sng" dirty="0"/>
          </a:p>
          <a:p>
            <a:r>
              <a:rPr lang="en-US" b="1" dirty="0"/>
              <a:t>How Does Cloud-Based Disaster Recovery Work?</a:t>
            </a:r>
            <a:endParaRPr lang="en-US" dirty="0"/>
          </a:p>
          <a:p>
            <a:pPr algn="just"/>
            <a:r>
              <a:rPr lang="en-US" b="1" dirty="0"/>
              <a:t>Hot DR </a:t>
            </a:r>
            <a:r>
              <a:rPr lang="en-US" dirty="0"/>
              <a:t>is the </a:t>
            </a:r>
            <a:r>
              <a:rPr lang="en-US" b="1" dirty="0"/>
              <a:t>most expensive and intricate disaster recovery approach</a:t>
            </a:r>
            <a:r>
              <a:rPr lang="en-US" dirty="0"/>
              <a:t>, offering the fastest recovery time with zero downtime. </a:t>
            </a:r>
          </a:p>
          <a:p>
            <a:pPr algn="just"/>
            <a:r>
              <a:rPr lang="en-US" dirty="0"/>
              <a:t>Hot DR operates with a live parallel deployment, where data and workloads run concurrently in both the primary </a:t>
            </a:r>
            <a:r>
              <a:rPr lang="en-US" dirty="0">
                <a:hlinkClick r:id="rId4"/>
              </a:rPr>
              <a:t>data center</a:t>
            </a:r>
            <a:r>
              <a:rPr lang="en-US" dirty="0"/>
              <a:t> and the DR site.</a:t>
            </a:r>
          </a:p>
          <a:p>
            <a:pPr algn="just"/>
            <a:r>
              <a:rPr lang="en-US" b="1" dirty="0"/>
              <a:t>Both sites share the same workload</a:t>
            </a:r>
            <a:r>
              <a:rPr lang="en-US" dirty="0"/>
              <a:t>, </a:t>
            </a:r>
            <a:r>
              <a:rPr lang="en-US" b="1" dirty="0"/>
              <a:t>staying synchronized</a:t>
            </a:r>
            <a:r>
              <a:rPr lang="en-US" dirty="0"/>
              <a:t> and splitting the app traffic. </a:t>
            </a:r>
          </a:p>
          <a:p>
            <a:pPr algn="just"/>
            <a:r>
              <a:rPr lang="en-US" dirty="0"/>
              <a:t>If disaster strikes one site, the other seamlessly continues operations without interruption.</a:t>
            </a:r>
          </a:p>
          <a:p>
            <a:pPr algn="just"/>
            <a:endParaRPr lang="en-US" dirty="0"/>
          </a:p>
          <a:p>
            <a:endParaRPr lang="en-US" dirty="0"/>
          </a:p>
          <a:p>
            <a:endParaRPr lang="en-US" dirty="0"/>
          </a:p>
          <a:p>
            <a:pPr marL="0" indent="0" algn="just">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36509659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533400" y="0"/>
            <a:ext cx="8229600" cy="5638800"/>
          </a:xfrm>
          <a:prstGeom prst="rect">
            <a:avLst/>
          </a:prstGeom>
        </p:spPr>
        <p:txBody>
          <a:bodyPr/>
          <a:lst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b="1" u="sng" dirty="0">
                <a:hlinkClick r:id="rId3"/>
              </a:rPr>
              <a:t>Disaster recovery</a:t>
            </a:r>
            <a:endParaRPr lang="en-US" b="1" u="sng" dirty="0"/>
          </a:p>
          <a:p>
            <a:pPr marL="0" indent="0">
              <a:buNone/>
            </a:pPr>
            <a:r>
              <a:rPr lang="en-US" b="1" dirty="0"/>
              <a:t>Challenges of Cloud DR:</a:t>
            </a:r>
          </a:p>
          <a:p>
            <a:pPr lvl="0"/>
            <a:r>
              <a:rPr lang="en-US" dirty="0"/>
              <a:t>Migration costs. </a:t>
            </a:r>
          </a:p>
          <a:p>
            <a:pPr lvl="0"/>
            <a:r>
              <a:rPr lang="en-US" dirty="0"/>
              <a:t>Complex implementation.</a:t>
            </a:r>
          </a:p>
          <a:p>
            <a:pPr lvl="0"/>
            <a:r>
              <a:rPr lang="en-US" dirty="0"/>
              <a:t>Consistent connectivity. </a:t>
            </a:r>
          </a:p>
          <a:p>
            <a:pPr lvl="0"/>
            <a:r>
              <a:rPr lang="en-US" dirty="0"/>
              <a:t>Vendor lock-in. </a:t>
            </a:r>
          </a:p>
          <a:p>
            <a:pPr lvl="0"/>
            <a:r>
              <a:rPr lang="en-US" dirty="0"/>
              <a:t>Dependence on third-party providers. </a:t>
            </a:r>
          </a:p>
          <a:p>
            <a:pPr marL="0" indent="0" algn="just">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404434049"/>
      </p:ext>
    </p:extLst>
  </p:cSld>
  <p:clrMapOvr>
    <a:masterClrMapping/>
  </p:clrMapOvr>
</p:sld>
</file>

<file path=ppt/theme/theme1.xml><?xml version="1.0" encoding="utf-8"?>
<a:theme xmlns:a="http://schemas.openxmlformats.org/drawingml/2006/main" name="Sk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urse Them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E0AB2BC5732E498C82E0889B56EE47" ma:contentTypeVersion="3" ma:contentTypeDescription="Create a new document." ma:contentTypeScope="" ma:versionID="5892355f9cb8f4d06364f44765d348e8">
  <xsd:schema xmlns:xsd="http://www.w3.org/2001/XMLSchema" xmlns:xs="http://www.w3.org/2001/XMLSchema" xmlns:p="http://schemas.microsoft.com/office/2006/metadata/properties" xmlns:ns2="edc90921-6836-4a7a-a96f-40c69ed4e8a8" targetNamespace="http://schemas.microsoft.com/office/2006/metadata/properties" ma:root="true" ma:fieldsID="c6d809e1cabde9448b78a3f00d14449d" ns2:_="">
    <xsd:import namespace="edc90921-6836-4a7a-a96f-40c69ed4e8a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c90921-6836-4a7a-a96f-40c69ed4e8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B892E0C-9723-47D6-AAE7-4E35F214AB31}"/>
</file>

<file path=customXml/itemProps2.xml><?xml version="1.0" encoding="utf-8"?>
<ds:datastoreItem xmlns:ds="http://schemas.openxmlformats.org/officeDocument/2006/customXml" ds:itemID="{8C9DA666-1FB8-4A21-9CB6-FC9291034AEC}"/>
</file>

<file path=customXml/itemProps3.xml><?xml version="1.0" encoding="utf-8"?>
<ds:datastoreItem xmlns:ds="http://schemas.openxmlformats.org/officeDocument/2006/customXml" ds:itemID="{ECEF4376-3B8C-4870-A0A9-80572213B475}"/>
</file>

<file path=docProps/app.xml><?xml version="1.0" encoding="utf-8"?>
<Properties xmlns="http://schemas.openxmlformats.org/officeDocument/2006/extended-properties" xmlns:vt="http://schemas.openxmlformats.org/officeDocument/2006/docPropsVTypes">
  <Template>Sky</Template>
  <TotalTime>49988</TotalTime>
  <Words>8160</Words>
  <Application>Microsoft Office PowerPoint</Application>
  <PresentationFormat>On-screen Show (4:3)</PresentationFormat>
  <Paragraphs>977</Paragraphs>
  <Slides>137</Slides>
  <Notes>100</Notes>
  <HiddenSlides>8</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137</vt:i4>
      </vt:variant>
    </vt:vector>
  </HeadingPairs>
  <TitlesOfParts>
    <vt:vector size="150" baseType="lpstr">
      <vt:lpstr>Aptos</vt:lpstr>
      <vt:lpstr>Arial</vt:lpstr>
      <vt:lpstr>Arial</vt:lpstr>
      <vt:lpstr>Calibri</vt:lpstr>
      <vt:lpstr>Cambria</vt:lpstr>
      <vt:lpstr>Georgia</vt:lpstr>
      <vt:lpstr>Google Sans</vt:lpstr>
      <vt:lpstr>Open-sans</vt:lpstr>
      <vt:lpstr>Symbol</vt:lpstr>
      <vt:lpstr>Times New Roman</vt:lpstr>
      <vt:lpstr>Wingdings</vt:lpstr>
      <vt:lpstr>Sky</vt:lpstr>
      <vt:lpstr>Course Themes</vt:lpstr>
      <vt:lpstr>        Cloud Infrastructure Management CSE 5213</vt:lpstr>
      <vt:lpstr>PowerPoint Presentation</vt:lpstr>
      <vt:lpstr>Module 1: INTRODUCTION TO CLOUD COMPUTING</vt:lpstr>
      <vt:lpstr>Module 2: VIRTUALIZATION AND EXPLORING PLATFORM</vt:lpstr>
      <vt:lpstr>Module 3: EXPLORING CLOUD INFRASTRUCTURE:</vt:lpstr>
      <vt:lpstr>Module 4: UNDERSTANDING SERVICES AND APPLICATIONS</vt:lpstr>
      <vt:lpstr>Module 5: MANAGING DATA  AND CASE STUDIES </vt:lpstr>
      <vt:lpstr>PowerPoint Presentation</vt:lpstr>
      <vt:lpstr>INTRODUCTION TO CLOUD COMPUTING</vt:lpstr>
      <vt:lpstr>INTRODUCTION TO CLOUD COMPUTING</vt:lpstr>
      <vt:lpstr>INTRODUCTION TO CLOUD COMPUTING</vt:lpstr>
      <vt:lpstr>What is Cloud Computing ?</vt:lpstr>
      <vt:lpstr>What is cloud computing…..  Cloud computing is the delivery of computing services—servers, storage, databases, networking, software and more—over the Internet (“the cloud”).  Companies offering these computing services are called cloud providers and typically charge for cloud computing services based on usage, similar to how you are billed for water or electricity at home.</vt:lpstr>
      <vt:lpstr>Cloud Computing In A Nutshell</vt:lpstr>
      <vt:lpstr>Cloud vs. Grid vs. Cluster</vt:lpstr>
      <vt:lpstr>Features of Cloud</vt:lpstr>
      <vt:lpstr>Self-Service</vt:lpstr>
      <vt:lpstr>Per-Usage Metering and Billing</vt:lpstr>
      <vt:lpstr>Elasticity</vt:lpstr>
      <vt:lpstr>Resources are abstracted or virtualized</vt:lpstr>
      <vt:lpstr>Cloud Computing In A Nutshell (cont.)</vt:lpstr>
      <vt:lpstr>Cloud Computing In A Nutshell (cont.)</vt:lpstr>
      <vt:lpstr>PowerPoint Presentation</vt:lpstr>
      <vt:lpstr>Cloud Definitions</vt:lpstr>
      <vt:lpstr>Cloud Definitions</vt:lpstr>
      <vt:lpstr>Cloud Definitions</vt:lpstr>
      <vt:lpstr>Cloud Definitions</vt:lpstr>
      <vt:lpstr>Roots of Cloud Computing</vt:lpstr>
      <vt:lpstr>Roots Of Cloud Computing (cont.)</vt:lpstr>
      <vt:lpstr>Mainframe Computers</vt:lpstr>
      <vt:lpstr>Mainframes to Clouds</vt:lpstr>
      <vt:lpstr>PowerPoint Presentation</vt:lpstr>
      <vt:lpstr>PowerPoint Presentation</vt:lpstr>
      <vt:lpstr>PowerPoint Presentation</vt:lpstr>
      <vt:lpstr>PowerPoint Presentation</vt:lpstr>
      <vt:lpstr>SOA, Web Services, Web 2.0, and Mashups</vt:lpstr>
      <vt:lpstr>SOA, Web Services, Web 2.0, and Mashups</vt:lpstr>
      <vt:lpstr>SOA, Web Serices, Web 2.0, and Mashups</vt:lpstr>
      <vt:lpstr>SOA, Web Serices, Web 2.0, and Mashups</vt:lpstr>
      <vt:lpstr>SOA, Web Serices, Web 2.0, and Mashups</vt:lpstr>
      <vt:lpstr>SOA, Web Serices, Web 2.0, and Mashups</vt:lpstr>
      <vt:lpstr>SOA, Web Services, Web 2.0, and Mashups</vt:lpstr>
      <vt:lpstr>SOA, Web Services, Web 2.0, and Mashups :</vt:lpstr>
      <vt:lpstr>PowerPoint Presentation</vt:lpstr>
      <vt:lpstr>Grid Computing</vt:lpstr>
      <vt:lpstr>PowerPoint Presentation</vt:lpstr>
      <vt:lpstr>Utility Computing </vt:lpstr>
      <vt:lpstr>PowerPoint Presentation</vt:lpstr>
      <vt:lpstr>Hardware Virtualization </vt:lpstr>
      <vt:lpstr>PowerPoint Presentation</vt:lpstr>
      <vt:lpstr>PowerPoint Presentation</vt:lpstr>
      <vt:lpstr>Autonomic Computing</vt:lpstr>
      <vt:lpstr>PowerPoint Presentation</vt:lpstr>
      <vt:lpstr>What is Cloud Computing?</vt:lpstr>
      <vt:lpstr>PowerPoint Presentation</vt:lpstr>
      <vt:lpstr>Cloud 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Service Models</vt:lpstr>
      <vt:lpstr>PowerPoint Presentation</vt:lpstr>
      <vt:lpstr>PowerPoint Presentation</vt:lpstr>
      <vt:lpstr>PowerPoint Presentation</vt:lpstr>
      <vt:lpstr>PowerPoint Presentation</vt:lpstr>
      <vt:lpstr>PowerPoint Presentation</vt:lpstr>
      <vt:lpstr>PowerPoint Presentation</vt:lpstr>
      <vt:lpstr>Service Models Overview</vt:lpstr>
      <vt:lpstr>From Pizza Perspective  </vt:lpstr>
      <vt:lpstr>From Cloud Computing Perspective  </vt:lpstr>
      <vt:lpstr>From Usage Perspective</vt:lpstr>
      <vt:lpstr>Availability in the Market  </vt:lpstr>
      <vt:lpstr>Cloud Service Models    </vt:lpstr>
      <vt:lpstr>Continued…..</vt:lpstr>
      <vt:lpstr>Service Models</vt:lpstr>
      <vt:lpstr>Infrastructure  as a Service</vt:lpstr>
      <vt:lpstr>PowerPoint Presentation</vt:lpstr>
      <vt:lpstr>Service Models</vt:lpstr>
      <vt:lpstr>Platform as a Service</vt:lpstr>
      <vt:lpstr>PowerPoint Presentation</vt:lpstr>
      <vt:lpstr>Service Models</vt:lpstr>
      <vt:lpstr>Software as a Service</vt:lpstr>
      <vt:lpstr>PowerPoint Presentation</vt:lpstr>
      <vt:lpstr>Deployment models</vt:lpstr>
      <vt:lpstr>Deployment Model</vt:lpstr>
      <vt:lpstr>Public Cloud</vt:lpstr>
      <vt:lpstr>PowerPoint Presentation</vt:lpstr>
      <vt:lpstr>Private Cloud</vt:lpstr>
      <vt:lpstr>Community Cloud</vt:lpstr>
      <vt:lpstr>Community Cloud</vt:lpstr>
      <vt:lpstr>Hybrid Cloud</vt:lpstr>
      <vt:lpstr>Hybrid Cloud</vt:lpstr>
      <vt:lpstr>Role of Virtualization in Cloud-based Services     </vt:lpstr>
      <vt:lpstr>Role of Virtualization in Cloud-based Services     </vt:lpstr>
      <vt:lpstr>Server virtualization</vt:lpstr>
      <vt:lpstr>Server virtualization</vt:lpstr>
      <vt:lpstr>Storage virtualization</vt:lpstr>
      <vt:lpstr>Network virtualization</vt:lpstr>
      <vt:lpstr>Understanding the Advantages of Virtualization</vt:lpstr>
      <vt:lpstr>Understanding the Advantages of Virtualization</vt:lpstr>
      <vt:lpstr> Virtualization in Private Cloud perspective</vt:lpstr>
      <vt:lpstr> Virtualization in Private Cloud perspective</vt:lpstr>
      <vt:lpstr> Virtualization in Public Cloud perspective</vt:lpstr>
      <vt:lpstr> Virtualization in Public Cloud perspective</vt:lpstr>
      <vt:lpstr>Cloud Infrastructure  Management</vt:lpstr>
      <vt:lpstr>PowerPoint Presentation</vt:lpstr>
      <vt:lpstr>Challenges And Risks</vt:lpstr>
      <vt:lpstr>Security, Privacy, and Trust</vt:lpstr>
      <vt:lpstr>Security, Privacy, and Trust (cont.)</vt:lpstr>
      <vt:lpstr>Data Lock-In and Standardization</vt:lpstr>
      <vt:lpstr>Data Lock-In and Standardization (cont.)</vt:lpstr>
      <vt:lpstr>Availability, Fault-Tolerance, and Disaster Recovery</vt:lpstr>
      <vt:lpstr>Availability, Fault-Tolerance, and Disaster Recovery (cont.)</vt:lpstr>
      <vt:lpstr>Resource Management and Energy-Efﬁciency</vt:lpstr>
      <vt:lpstr>Resource Management and Energy-Efﬁciency (cont.)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Cloud</dc:title>
  <dc:creator>cyhuang</dc:creator>
  <cp:lastModifiedBy>Mamatha Balachandra [MAHE-MIT]</cp:lastModifiedBy>
  <cp:revision>1983</cp:revision>
  <dcterms:created xsi:type="dcterms:W3CDTF">2006-08-16T00:00:00Z</dcterms:created>
  <dcterms:modified xsi:type="dcterms:W3CDTF">2026-01-18T13:26:18Z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0x010100AAE0AB2BC5732E498C82E0889B56EE47</vt:lpwstr>
  </property>
</Properties>
</file>