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3"/>
  </p:sldMasterIdLst>
  <p:notesMasterIdLst>
    <p:notesMasterId r:id="rId102"/>
  </p:notesMasterIdLst>
  <p:sldIdLst>
    <p:sldId id="326" r:id="rId4"/>
    <p:sldId id="327" r:id="rId5"/>
    <p:sldId id="257" r:id="rId6"/>
    <p:sldId id="426" r:id="rId7"/>
    <p:sldId id="427" r:id="rId8"/>
    <p:sldId id="510" r:id="rId9"/>
    <p:sldId id="428" r:id="rId10"/>
    <p:sldId id="429" r:id="rId11"/>
    <p:sldId id="514" r:id="rId12"/>
    <p:sldId id="507" r:id="rId13"/>
    <p:sldId id="430" r:id="rId14"/>
    <p:sldId id="431" r:id="rId15"/>
    <p:sldId id="432" r:id="rId16"/>
    <p:sldId id="332" r:id="rId17"/>
    <p:sldId id="433" r:id="rId18"/>
    <p:sldId id="506" r:id="rId19"/>
    <p:sldId id="508" r:id="rId20"/>
    <p:sldId id="509" r:id="rId21"/>
    <p:sldId id="511" r:id="rId22"/>
    <p:sldId id="512" r:id="rId23"/>
    <p:sldId id="513" r:id="rId24"/>
    <p:sldId id="435" r:id="rId25"/>
    <p:sldId id="436" r:id="rId26"/>
    <p:sldId id="437" r:id="rId27"/>
    <p:sldId id="503" r:id="rId28"/>
    <p:sldId id="504" r:id="rId29"/>
    <p:sldId id="505" r:id="rId30"/>
    <p:sldId id="438" r:id="rId31"/>
    <p:sldId id="439" r:id="rId32"/>
    <p:sldId id="441" r:id="rId33"/>
    <p:sldId id="455" r:id="rId34"/>
    <p:sldId id="442" r:id="rId35"/>
    <p:sldId id="443" r:id="rId36"/>
    <p:sldId id="515" r:id="rId37"/>
    <p:sldId id="444" r:id="rId38"/>
    <p:sldId id="490" r:id="rId39"/>
    <p:sldId id="491" r:id="rId40"/>
    <p:sldId id="493" r:id="rId41"/>
    <p:sldId id="492" r:id="rId42"/>
    <p:sldId id="445" r:id="rId43"/>
    <p:sldId id="446" r:id="rId44"/>
    <p:sldId id="447" r:id="rId45"/>
    <p:sldId id="456" r:id="rId46"/>
    <p:sldId id="453" r:id="rId47"/>
    <p:sldId id="454" r:id="rId48"/>
    <p:sldId id="448" r:id="rId49"/>
    <p:sldId id="450" r:id="rId50"/>
    <p:sldId id="451" r:id="rId51"/>
    <p:sldId id="452" r:id="rId52"/>
    <p:sldId id="472" r:id="rId53"/>
    <p:sldId id="473" r:id="rId54"/>
    <p:sldId id="474" r:id="rId55"/>
    <p:sldId id="475" r:id="rId56"/>
    <p:sldId id="494" r:id="rId57"/>
    <p:sldId id="516" r:id="rId58"/>
    <p:sldId id="495" r:id="rId59"/>
    <p:sldId id="517" r:id="rId60"/>
    <p:sldId id="496" r:id="rId61"/>
    <p:sldId id="476" r:id="rId62"/>
    <p:sldId id="477" r:id="rId63"/>
    <p:sldId id="478" r:id="rId64"/>
    <p:sldId id="457" r:id="rId65"/>
    <p:sldId id="479" r:id="rId66"/>
    <p:sldId id="460" r:id="rId67"/>
    <p:sldId id="461" r:id="rId68"/>
    <p:sldId id="480" r:id="rId69"/>
    <p:sldId id="462" r:id="rId70"/>
    <p:sldId id="499" r:id="rId71"/>
    <p:sldId id="498" r:id="rId72"/>
    <p:sldId id="497" r:id="rId73"/>
    <p:sldId id="500" r:id="rId74"/>
    <p:sldId id="482" r:id="rId75"/>
    <p:sldId id="465" r:id="rId76"/>
    <p:sldId id="466" r:id="rId77"/>
    <p:sldId id="518" r:id="rId78"/>
    <p:sldId id="467" r:id="rId79"/>
    <p:sldId id="483" r:id="rId80"/>
    <p:sldId id="486" r:id="rId81"/>
    <p:sldId id="487" r:id="rId82"/>
    <p:sldId id="501" r:id="rId83"/>
    <p:sldId id="488" r:id="rId84"/>
    <p:sldId id="502" r:id="rId85"/>
    <p:sldId id="519" r:id="rId86"/>
    <p:sldId id="489" r:id="rId87"/>
    <p:sldId id="520" r:id="rId88"/>
    <p:sldId id="521" r:id="rId89"/>
    <p:sldId id="463" r:id="rId90"/>
    <p:sldId id="464" r:id="rId91"/>
    <p:sldId id="522" r:id="rId92"/>
    <p:sldId id="526" r:id="rId93"/>
    <p:sldId id="468" r:id="rId94"/>
    <p:sldId id="469" r:id="rId95"/>
    <p:sldId id="470" r:id="rId96"/>
    <p:sldId id="532" r:id="rId97"/>
    <p:sldId id="533" r:id="rId98"/>
    <p:sldId id="535" r:id="rId99"/>
    <p:sldId id="534" r:id="rId100"/>
    <p:sldId id="458" r:id="rId10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59" d="100"/>
          <a:sy n="59" d="100"/>
        </p:scale>
        <p:origin x="1524" y="28"/>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notesMaster" Target="notesMasters/notesMaster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1.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D01109-DC5D-D18E-F812-7A62F0214E3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9EDFB04D-C217-A819-6B04-ECB37DE49728}"/>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7F8C0606-555C-49D6-BFCE-B88A8E765FFD}" type="datetimeFigureOut">
              <a:rPr lang="en-US"/>
              <a:pPr>
                <a:defRPr/>
              </a:pPr>
              <a:t>3/1/2026</a:t>
            </a:fld>
            <a:endParaRPr lang="en-US"/>
          </a:p>
        </p:txBody>
      </p:sp>
      <p:sp>
        <p:nvSpPr>
          <p:cNvPr id="4" name="Slide Image Placeholder 3">
            <a:extLst>
              <a:ext uri="{FF2B5EF4-FFF2-40B4-BE49-F238E27FC236}">
                <a16:creationId xmlns:a16="http://schemas.microsoft.com/office/drawing/2014/main" id="{C8FEA265-4477-5141-DAAB-71DCC9DE8EB5}"/>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530E414-8518-02EE-3025-882EE969BBD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7E40B3B-E3EE-3D0F-E504-F50E4BB3B64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6C4B454F-740B-BC9A-801B-FD1FB0072782}"/>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2140A5BC-A47D-4363-B97B-A5503402E1B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E1FBA1D-FC0C-EEA3-68AC-EC0B0CC073D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90414AF7-AEC9-9FD4-4988-E2EBFDA0D1C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solidFill>
                  <a:srgbClr val="202124"/>
                </a:solidFill>
                <a:latin typeface="Google Sans"/>
              </a:rPr>
              <a:t>A white paper is </a:t>
            </a:r>
            <a:r>
              <a:rPr lang="en-US" altLang="en-US">
                <a:solidFill>
                  <a:srgbClr val="040C28"/>
                </a:solidFill>
                <a:latin typeface="Google Sans"/>
              </a:rPr>
              <a:t>an in-depth report or guide about a specific topic and the problems that surround it</a:t>
            </a:r>
            <a:endParaRPr lang="en-US" altLang="en-US"/>
          </a:p>
        </p:txBody>
      </p:sp>
      <p:sp>
        <p:nvSpPr>
          <p:cNvPr id="8196" name="Slide Number Placeholder 3">
            <a:extLst>
              <a:ext uri="{FF2B5EF4-FFF2-40B4-BE49-F238E27FC236}">
                <a16:creationId xmlns:a16="http://schemas.microsoft.com/office/drawing/2014/main" id="{DFDCE9F2-954D-185C-6B7A-D12FF104D6E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E36759C-39E1-4073-88D7-4A28C6107F4D}" type="slidenum">
              <a:rPr lang="en-US" altLang="en-US" smtClean="0"/>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8AF20E6D-A855-CDC6-1517-638D4F3C98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AA024DB7-7B3A-F89E-4248-2A544362E1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244" name="Slide Number Placeholder 3">
            <a:extLst>
              <a:ext uri="{FF2B5EF4-FFF2-40B4-BE49-F238E27FC236}">
                <a16:creationId xmlns:a16="http://schemas.microsoft.com/office/drawing/2014/main" id="{56DFD5A1-119B-8B7F-A2C9-72B3DB5437D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F960C3B-8EFC-479F-8E6A-79ED503A06A4}" type="slidenum">
              <a:rPr lang="en-US" altLang="en-US" smtClean="0"/>
              <a:pPr/>
              <a:t>3</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6E996B3F-BE58-6275-3633-E0563DB58A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7FEAA0A5-82F0-25A0-8D77-F72C6670DF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administration of Resources</a:t>
            </a:r>
            <a:r>
              <a:rPr lang="en-US" altLang="en-US"/>
              <a:t>: Managing user accounts, permissions, and network inventory to ensure resources are available to designated users.</a:t>
            </a:r>
          </a:p>
          <a:p>
            <a:r>
              <a:rPr lang="en-US" altLang="en-US" b="1"/>
              <a:t>Configuring Resources</a:t>
            </a:r>
            <a:r>
              <a:rPr lang="en-US" altLang="en-US"/>
              <a:t>: Initial setup and ongoing management of hardware and software settings, such as IP addresses, routing, and firmware.</a:t>
            </a:r>
          </a:p>
          <a:p>
            <a:r>
              <a:rPr lang="en-US" altLang="en-US" b="1"/>
              <a:t>Enforcing Security</a:t>
            </a:r>
            <a:r>
              <a:rPr lang="en-US" altLang="en-US"/>
              <a:t>: Protecting the network from unauthorized access and cyber threats through policy enforcement, firewall management, and access controls.</a:t>
            </a:r>
          </a:p>
          <a:p>
            <a:r>
              <a:rPr lang="en-US" altLang="en-US" b="1"/>
              <a:t>Monitoring Operations</a:t>
            </a:r>
            <a:r>
              <a:rPr lang="en-US" altLang="en-US"/>
              <a:t>: Real-time tracking of network health and device status to detect faults, errors, or service disruptions.</a:t>
            </a:r>
          </a:p>
          <a:p>
            <a:r>
              <a:rPr lang="en-US" altLang="en-US" b="1"/>
              <a:t>Optimizing Performance</a:t>
            </a:r>
            <a:r>
              <a:rPr lang="en-US" altLang="en-US"/>
              <a:t>: Gathering and analyzing metrics (like bandwidth usage, latency, and packet loss) to ensure acceptable service levels.</a:t>
            </a:r>
          </a:p>
          <a:p>
            <a:r>
              <a:rPr lang="en-US" altLang="en-US" b="1"/>
              <a:t>Policy Management</a:t>
            </a:r>
            <a:r>
              <a:rPr lang="en-US" altLang="en-US"/>
              <a:t>: Establishing and applying rules for network behavior, security protocols, and resource allocation across the infrastructure.</a:t>
            </a:r>
          </a:p>
          <a:p>
            <a:r>
              <a:rPr lang="en-US" altLang="en-US" b="1"/>
              <a:t>Performing Maintenance</a:t>
            </a:r>
            <a:r>
              <a:rPr lang="en-US" altLang="en-US"/>
              <a:t>: Executing routine updates, software patches, and troubleshooting to ensure long-term stability and reliability.</a:t>
            </a:r>
          </a:p>
          <a:p>
            <a:r>
              <a:rPr lang="en-US" altLang="en-US" b="1"/>
              <a:t>Provisioning of Resources</a:t>
            </a:r>
            <a:r>
              <a:rPr lang="en-US" altLang="en-US"/>
              <a:t>: Configuring the network to support new services, such as setting up voice features or accommodating additional users. </a:t>
            </a:r>
          </a:p>
          <a:p>
            <a:endParaRPr lang="en-US" altLang="en-US"/>
          </a:p>
        </p:txBody>
      </p:sp>
      <p:sp>
        <p:nvSpPr>
          <p:cNvPr id="12292" name="Slide Number Placeholder 3">
            <a:extLst>
              <a:ext uri="{FF2B5EF4-FFF2-40B4-BE49-F238E27FC236}">
                <a16:creationId xmlns:a16="http://schemas.microsoft.com/office/drawing/2014/main" id="{824CFE14-ED60-49B6-B6F7-46FA7357D9C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798DF2E-4821-4309-8193-8BAEC14E3E51}" type="slidenum">
              <a:rPr lang="en-US" altLang="en-US" smtClean="0"/>
              <a:pPr/>
              <a:t>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BD4E84D8-B33C-C516-DC6F-AFC9D530D6F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371D1513-9759-C902-D128-2DB3291AE07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ts val="750"/>
              </a:spcBef>
              <a:spcAft>
                <a:spcPts val="600"/>
              </a:spcAft>
            </a:pPr>
            <a:r>
              <a:rPr lang="en-US" altLang="en-US" b="1">
                <a:solidFill>
                  <a:srgbClr val="001D35"/>
                </a:solidFill>
                <a:latin typeface="Google Sans"/>
              </a:rPr>
              <a:t>FCAPS is an ISO Telecommunications Management Network framework defining five critical functional areas for comprehensive network management: Fault, Configuration, Accounting, Performance, and Security</a:t>
            </a:r>
          </a:p>
          <a:p>
            <a:pPr>
              <a:spcBef>
                <a:spcPts val="750"/>
              </a:spcBef>
              <a:spcAft>
                <a:spcPts val="600"/>
              </a:spcAft>
            </a:pPr>
            <a:r>
              <a:rPr lang="en-US" altLang="en-US" b="1">
                <a:solidFill>
                  <a:srgbClr val="001D35"/>
                </a:solidFill>
                <a:latin typeface="Google Sans"/>
              </a:rPr>
              <a:t>Fault management</a:t>
            </a:r>
            <a:r>
              <a:rPr lang="en-US" altLang="en-US">
                <a:solidFill>
                  <a:srgbClr val="001D35"/>
                </a:solidFill>
                <a:latin typeface="Google Sans"/>
              </a:rPr>
              <a:t>: Identify</a:t>
            </a:r>
            <a:r>
              <a:rPr lang="en-US" altLang="en-US" b="1">
                <a:solidFill>
                  <a:srgbClr val="001D35"/>
                </a:solidFill>
                <a:latin typeface="Google Sans"/>
              </a:rPr>
              <a:t>, log, report</a:t>
            </a:r>
            <a:r>
              <a:rPr lang="en-US" altLang="en-US">
                <a:solidFill>
                  <a:srgbClr val="001D35"/>
                </a:solidFill>
                <a:latin typeface="Google Sans"/>
              </a:rPr>
              <a:t>, and </a:t>
            </a:r>
            <a:r>
              <a:rPr lang="en-US" altLang="en-US" b="1">
                <a:solidFill>
                  <a:srgbClr val="001D35"/>
                </a:solidFill>
                <a:latin typeface="Google Sans"/>
              </a:rPr>
              <a:t>fix faults to minimize downtime</a:t>
            </a:r>
          </a:p>
          <a:p>
            <a:pPr>
              <a:spcBef>
                <a:spcPts val="750"/>
              </a:spcBef>
              <a:spcAft>
                <a:spcPts val="600"/>
              </a:spcAft>
              <a:buFontTx/>
              <a:buChar char="•"/>
            </a:pPr>
            <a:r>
              <a:rPr lang="en-US" altLang="en-US" b="1">
                <a:solidFill>
                  <a:srgbClr val="001D35"/>
                </a:solidFill>
                <a:latin typeface="Google Sans"/>
              </a:rPr>
              <a:t>Configuration management</a:t>
            </a:r>
            <a:r>
              <a:rPr lang="en-US" altLang="en-US">
                <a:solidFill>
                  <a:srgbClr val="001D35"/>
                </a:solidFill>
                <a:latin typeface="Google Sans"/>
              </a:rPr>
              <a:t>: </a:t>
            </a:r>
            <a:r>
              <a:rPr lang="en-US" altLang="en-US" b="1">
                <a:solidFill>
                  <a:srgbClr val="001D35"/>
                </a:solidFill>
                <a:latin typeface="Google Sans"/>
              </a:rPr>
              <a:t>Record all network components </a:t>
            </a:r>
            <a:r>
              <a:rPr lang="en-US" altLang="en-US">
                <a:solidFill>
                  <a:srgbClr val="001D35"/>
                </a:solidFill>
                <a:latin typeface="Google Sans"/>
              </a:rPr>
              <a:t>and centrally </a:t>
            </a:r>
            <a:r>
              <a:rPr lang="en-US" altLang="en-US" b="1">
                <a:solidFill>
                  <a:srgbClr val="001D35"/>
                </a:solidFill>
                <a:latin typeface="Google Sans"/>
              </a:rPr>
              <a:t>control network </a:t>
            </a:r>
            <a:r>
              <a:rPr lang="en-US" altLang="en-US">
                <a:solidFill>
                  <a:srgbClr val="001D35"/>
                </a:solidFill>
                <a:latin typeface="Google Sans"/>
              </a:rPr>
              <a:t>configuration</a:t>
            </a:r>
          </a:p>
          <a:p>
            <a:pPr>
              <a:spcBef>
                <a:spcPts val="750"/>
              </a:spcBef>
              <a:spcAft>
                <a:spcPts val="600"/>
              </a:spcAft>
              <a:buFontTx/>
              <a:buChar char="•"/>
            </a:pPr>
            <a:r>
              <a:rPr lang="en-US" altLang="en-US" b="1">
                <a:solidFill>
                  <a:srgbClr val="001D35"/>
                </a:solidFill>
                <a:latin typeface="Google Sans"/>
              </a:rPr>
              <a:t>Accounting management</a:t>
            </a:r>
            <a:r>
              <a:rPr lang="en-US" altLang="en-US">
                <a:solidFill>
                  <a:srgbClr val="001D35"/>
                </a:solidFill>
                <a:latin typeface="Google Sans"/>
              </a:rPr>
              <a:t>: </a:t>
            </a:r>
            <a:r>
              <a:rPr lang="en-US" altLang="en-US" b="1">
                <a:solidFill>
                  <a:srgbClr val="001D35"/>
                </a:solidFill>
                <a:latin typeface="Google Sans"/>
              </a:rPr>
              <a:t>Track network usage to bill customers </a:t>
            </a:r>
            <a:r>
              <a:rPr lang="en-US" altLang="en-US">
                <a:solidFill>
                  <a:srgbClr val="001D35"/>
                </a:solidFill>
                <a:latin typeface="Google Sans"/>
              </a:rPr>
              <a:t>and </a:t>
            </a:r>
            <a:r>
              <a:rPr lang="en-US" altLang="en-US" b="1">
                <a:solidFill>
                  <a:srgbClr val="001D35"/>
                </a:solidFill>
                <a:latin typeface="Google Sans"/>
              </a:rPr>
              <a:t>ensure revenue</a:t>
            </a:r>
          </a:p>
          <a:p>
            <a:r>
              <a:rPr lang="en-US" altLang="en-US" b="1"/>
              <a:t>Performance management</a:t>
            </a:r>
            <a:r>
              <a:rPr lang="en-US" altLang="en-US"/>
              <a:t>: </a:t>
            </a:r>
            <a:r>
              <a:rPr lang="en-US" altLang="en-US" b="1"/>
              <a:t>Collect and analyze performance data to monitor </a:t>
            </a:r>
            <a:r>
              <a:rPr lang="en-US" altLang="en-US"/>
              <a:t>network stability</a:t>
            </a:r>
          </a:p>
          <a:p>
            <a:r>
              <a:rPr lang="en-US" altLang="en-US" b="1"/>
              <a:t>Security management</a:t>
            </a:r>
            <a:r>
              <a:rPr lang="en-US" altLang="en-US"/>
              <a:t>: Allocate access and usage rights, and authenticate users to protect network integrity</a:t>
            </a:r>
          </a:p>
          <a:p>
            <a:pPr>
              <a:spcBef>
                <a:spcPts val="750"/>
              </a:spcBef>
              <a:spcAft>
                <a:spcPts val="600"/>
              </a:spcAft>
              <a:buFontTx/>
              <a:buChar char="•"/>
            </a:pPr>
            <a:endParaRPr lang="en-US" altLang="en-US">
              <a:solidFill>
                <a:srgbClr val="001D35"/>
              </a:solidFill>
              <a:latin typeface="Google Sans"/>
            </a:endParaRPr>
          </a:p>
          <a:p>
            <a:endParaRPr lang="en-US" altLang="en-US"/>
          </a:p>
        </p:txBody>
      </p:sp>
      <p:sp>
        <p:nvSpPr>
          <p:cNvPr id="14340" name="Slide Number Placeholder 3">
            <a:extLst>
              <a:ext uri="{FF2B5EF4-FFF2-40B4-BE49-F238E27FC236}">
                <a16:creationId xmlns:a16="http://schemas.microsoft.com/office/drawing/2014/main" id="{B420164A-C353-5EC3-1C51-467EB7940A5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1D47831-DF78-45E6-8C6F-EACB8EA95186}" type="slidenum">
              <a:rPr lang="en-US" altLang="en-US" smtClean="0"/>
              <a:pPr/>
              <a:t>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0D142464-A5D4-9621-D956-56FA235DDCD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a:extLst>
              <a:ext uri="{FF2B5EF4-FFF2-40B4-BE49-F238E27FC236}">
                <a16:creationId xmlns:a16="http://schemas.microsoft.com/office/drawing/2014/main" id="{649BF500-E1F1-AC53-FC58-4E62EF6A921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6388" name="Slide Number Placeholder 3">
            <a:extLst>
              <a:ext uri="{FF2B5EF4-FFF2-40B4-BE49-F238E27FC236}">
                <a16:creationId xmlns:a16="http://schemas.microsoft.com/office/drawing/2014/main" id="{9D7D4935-375D-4256-0482-E623402CEAE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A9133C3-73B1-469F-B02E-0E3E1F85948B}" type="slidenum">
              <a:rPr lang="en-US" altLang="en-US" smtClean="0"/>
              <a:pPr/>
              <a:t>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8B1846AD-76A9-BA27-C78E-474B4578FA1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D09FD6D2-7B03-564B-7B28-1FCDC45E2B5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8436" name="Slide Number Placeholder 3">
            <a:extLst>
              <a:ext uri="{FF2B5EF4-FFF2-40B4-BE49-F238E27FC236}">
                <a16:creationId xmlns:a16="http://schemas.microsoft.com/office/drawing/2014/main" id="{B0708B6A-6E61-F8B6-78FD-7F41125C62C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6A097F0-B528-4DE7-99A5-62A9AA181539}" type="slidenum">
              <a:rPr lang="en-US" altLang="en-US" smtClean="0"/>
              <a:pPr/>
              <a:t>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42276411-81DD-4081-A535-3748EAB6760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a:extLst>
              <a:ext uri="{FF2B5EF4-FFF2-40B4-BE49-F238E27FC236}">
                <a16:creationId xmlns:a16="http://schemas.microsoft.com/office/drawing/2014/main" id="{51866F38-3D61-66CF-2C81-40FA6AF5A09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0484" name="Slide Number Placeholder 3">
            <a:extLst>
              <a:ext uri="{FF2B5EF4-FFF2-40B4-BE49-F238E27FC236}">
                <a16:creationId xmlns:a16="http://schemas.microsoft.com/office/drawing/2014/main" id="{310714F1-28CE-6DD8-4E8C-9A623B5610E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A3B763E-FA93-4458-9AF2-4B6EEB1C8E8E}" type="slidenum">
              <a:rPr lang="en-US" altLang="en-US" smtClean="0"/>
              <a:pPr/>
              <a:t>8</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E3BB9269-7979-D3AD-BE85-B243E0D0201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906444D7-8EC0-0397-A45B-D853449A6C4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buFont typeface="Wingdings" panose="05000000000000000000" pitchFamily="2" charset="2"/>
              <a:buChar char="Ø"/>
            </a:pPr>
            <a:endParaRPr lang="en-US" altLang="en-US">
              <a:solidFill>
                <a:srgbClr val="222222"/>
              </a:solidFill>
              <a:latin typeface="Helvetica Neue"/>
            </a:endParaRPr>
          </a:p>
        </p:txBody>
      </p:sp>
      <p:sp>
        <p:nvSpPr>
          <p:cNvPr id="22532" name="Slide Number Placeholder 3">
            <a:extLst>
              <a:ext uri="{FF2B5EF4-FFF2-40B4-BE49-F238E27FC236}">
                <a16:creationId xmlns:a16="http://schemas.microsoft.com/office/drawing/2014/main" id="{F7E7608C-94CA-4FE5-7C18-5EFC4DFB157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E64D095-1981-4F24-BB4F-A517DC50A657}" type="slidenum">
              <a:rPr lang="en-US" altLang="en-US" smtClean="0"/>
              <a:pPr/>
              <a:t>9</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212BB04E-8581-680E-2E4A-C2BAABC840A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2C99C68D-9E74-AF90-ED97-532CF57D387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7652" name="Slide Number Placeholder 3">
            <a:extLst>
              <a:ext uri="{FF2B5EF4-FFF2-40B4-BE49-F238E27FC236}">
                <a16:creationId xmlns:a16="http://schemas.microsoft.com/office/drawing/2014/main" id="{5A437083-4F50-28C7-66F6-8F8DB2C5071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FF90AE5-311C-400D-8E28-E3ED53DB03DF}" type="slidenum">
              <a:rPr lang="en-US" altLang="en-US" smtClean="0"/>
              <a:pPr/>
              <a:t>13</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DF6D88FA-C2BE-A401-59D2-52C984507B7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943555A4-E3AF-2883-760F-01DAA3EFA0D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2772" name="Slide Number Placeholder 3">
            <a:extLst>
              <a:ext uri="{FF2B5EF4-FFF2-40B4-BE49-F238E27FC236}">
                <a16:creationId xmlns:a16="http://schemas.microsoft.com/office/drawing/2014/main" id="{B8B7237F-3722-BF16-F111-C9C0349CA08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80851C4-D58A-47FE-A44A-3CE7AAB4B24E}" type="slidenum">
              <a:rPr lang="en-US" altLang="en-US" smtClean="0"/>
              <a:pPr/>
              <a:t>17</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66A9B528-E55F-A2AD-C198-A25747EFEF2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D3934CB3-E045-1D9A-2C8C-392A00C047F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4820" name="Slide Number Placeholder 3">
            <a:extLst>
              <a:ext uri="{FF2B5EF4-FFF2-40B4-BE49-F238E27FC236}">
                <a16:creationId xmlns:a16="http://schemas.microsoft.com/office/drawing/2014/main" id="{66963696-CF62-75AA-786E-7D4FD3F213B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694947-52C2-4F23-9388-18F1FD8BE3F3}" type="slidenum">
              <a:rPr lang="en-US" altLang="en-US" smtClean="0"/>
              <a:pPr/>
              <a:t>18</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AAF94B6D-AC5D-C5A8-8ED8-979266BCAE3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C7628355-2167-2C4D-93BE-BF00F834AC9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6868" name="Slide Number Placeholder 3">
            <a:extLst>
              <a:ext uri="{FF2B5EF4-FFF2-40B4-BE49-F238E27FC236}">
                <a16:creationId xmlns:a16="http://schemas.microsoft.com/office/drawing/2014/main" id="{96EE976E-F189-13F9-4234-B9314F2BC63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782B717-AA70-4D7D-83B0-737C952F8426}" type="slidenum">
              <a:rPr lang="en-US" altLang="en-US" smtClean="0"/>
              <a:pPr/>
              <a:t>19</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8B4CF0B6-09A2-6856-5F3F-14C96F950B3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0606D90A-4485-1B13-5E05-6CCD0863CEB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8916" name="Slide Number Placeholder 3">
            <a:extLst>
              <a:ext uri="{FF2B5EF4-FFF2-40B4-BE49-F238E27FC236}">
                <a16:creationId xmlns:a16="http://schemas.microsoft.com/office/drawing/2014/main" id="{1E1C02B4-BDF5-C33F-58D2-0C26F09E132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17E3637-CEAC-44C6-9F98-34590F4B0AEA}" type="slidenum">
              <a:rPr lang="en-US" altLang="en-US" smtClean="0"/>
              <a:pPr/>
              <a:t>20</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488D4D40-B27F-1093-B152-30B1E2D0119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A910F606-E6AA-40EC-F950-9FF6A08F4BC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0964" name="Slide Number Placeholder 3">
            <a:extLst>
              <a:ext uri="{FF2B5EF4-FFF2-40B4-BE49-F238E27FC236}">
                <a16:creationId xmlns:a16="http://schemas.microsoft.com/office/drawing/2014/main" id="{518AA739-4F39-1C92-70D8-6D30DEBBD0C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DFA701F-7611-4BA8-B105-416644399A4A}" type="slidenum">
              <a:rPr lang="en-US" altLang="en-US" smtClean="0"/>
              <a:pPr/>
              <a:t>21</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4B5F89ED-8981-4348-F8A3-CC80ED11D48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0E7053C5-C5EF-B4CE-04C2-0F958C0587A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3012" name="Slide Number Placeholder 3">
            <a:extLst>
              <a:ext uri="{FF2B5EF4-FFF2-40B4-BE49-F238E27FC236}">
                <a16:creationId xmlns:a16="http://schemas.microsoft.com/office/drawing/2014/main" id="{0792F8B8-5678-9686-BBF8-4B9EC87EC9D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31418E3-18AB-4075-83C6-5CB40DF9C0EF}" type="slidenum">
              <a:rPr lang="en-US" altLang="en-US" smtClean="0"/>
              <a:pPr/>
              <a:t>22</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F01D9FD4-5F2C-9BA4-D5AA-7A4F7378E38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B60D023B-742C-28E2-120A-949208C10B9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4" name="Slide Number Placeholder 3">
            <a:extLst>
              <a:ext uri="{FF2B5EF4-FFF2-40B4-BE49-F238E27FC236}">
                <a16:creationId xmlns:a16="http://schemas.microsoft.com/office/drawing/2014/main" id="{9D00E43E-AA3C-2D37-94A9-6F36113FE8E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1EF631A-613C-41AA-BF04-2F8FDCAC159B}" type="slidenum">
              <a:rPr lang="en-US" altLang="en-US" smtClean="0"/>
              <a:pPr/>
              <a:t>24</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9398DADD-6E48-756C-C85D-6153935DE45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AE50418A-9497-4FDF-AED3-E39AE5CFCC1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solidFill>
                  <a:srgbClr val="222222"/>
                </a:solidFill>
                <a:latin typeface="Helvetica Neue"/>
              </a:rPr>
              <a:t>OVF provides the industry with a standard packaging format for software solutions based on virtual systems. </a:t>
            </a:r>
            <a:r>
              <a:rPr lang="en-US" altLang="en-US" b="1">
                <a:solidFill>
                  <a:srgbClr val="222222"/>
                </a:solidFill>
                <a:latin typeface="Helvetica Neue"/>
              </a:rPr>
              <a:t>OVF has been adopted and published by the International Organization for Standardization (ISO) as ISO 17203.</a:t>
            </a:r>
          </a:p>
          <a:p>
            <a:endParaRPr lang="en-US" altLang="en-US"/>
          </a:p>
        </p:txBody>
      </p:sp>
      <p:sp>
        <p:nvSpPr>
          <p:cNvPr id="49156" name="Slide Number Placeholder 3">
            <a:extLst>
              <a:ext uri="{FF2B5EF4-FFF2-40B4-BE49-F238E27FC236}">
                <a16:creationId xmlns:a16="http://schemas.microsoft.com/office/drawing/2014/main" id="{47200185-91CD-790A-17BE-0430B5FA246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AA76AFB-179D-4772-A8F5-52D3153A397A}" type="slidenum">
              <a:rPr lang="en-US" altLang="en-US" smtClean="0"/>
              <a:pPr/>
              <a:t>26</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5B154AD0-59A3-27A4-EBE4-D65274AF701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3FD05124-5EF6-8854-D440-DA9BBE5F13E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b="1"/>
          </a:p>
        </p:txBody>
      </p:sp>
      <p:sp>
        <p:nvSpPr>
          <p:cNvPr id="52228" name="Slide Number Placeholder 3">
            <a:extLst>
              <a:ext uri="{FF2B5EF4-FFF2-40B4-BE49-F238E27FC236}">
                <a16:creationId xmlns:a16="http://schemas.microsoft.com/office/drawing/2014/main" id="{57422CB3-3034-13C0-1AD4-BE5F3B1F886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8862AB3-C1AD-4626-BD81-1C7F279B7EEC}" type="slidenum">
              <a:rPr lang="en-US" altLang="en-US" smtClean="0"/>
              <a:pPr/>
              <a:t>28</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E81F96CA-05FC-FF59-1642-18C536B9D5E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FBDA83B6-F28E-6C45-7E34-EF5B11B8095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5300" name="Slide Number Placeholder 3">
            <a:extLst>
              <a:ext uri="{FF2B5EF4-FFF2-40B4-BE49-F238E27FC236}">
                <a16:creationId xmlns:a16="http://schemas.microsoft.com/office/drawing/2014/main" id="{B6465984-BB6C-701F-45B7-4902CC129CE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5BB4E01-6AA9-4717-8C8A-28DA96EAAC78}" type="slidenum">
              <a:rPr lang="en-US" altLang="en-US" smtClean="0"/>
              <a:pPr/>
              <a:t>30</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CA520B92-FA6A-7409-8298-DB873053ECD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CAC2BF8E-5654-FF02-E771-8588C20B4FF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7348" name="Slide Number Placeholder 3">
            <a:extLst>
              <a:ext uri="{FF2B5EF4-FFF2-40B4-BE49-F238E27FC236}">
                <a16:creationId xmlns:a16="http://schemas.microsoft.com/office/drawing/2014/main" id="{6257D1C4-CC2F-F140-227B-7175678E59F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1295779-FF7E-420A-8D5F-B70A58C1E095}" type="slidenum">
              <a:rPr lang="en-US" altLang="en-US" smtClean="0"/>
              <a:pPr/>
              <a:t>31</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85B148A2-C386-0F9E-280E-5DB9CCD40A9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E51C337B-6C81-1C72-C2AA-6E1E4CE822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9396" name="Slide Number Placeholder 3">
            <a:extLst>
              <a:ext uri="{FF2B5EF4-FFF2-40B4-BE49-F238E27FC236}">
                <a16:creationId xmlns:a16="http://schemas.microsoft.com/office/drawing/2014/main" id="{4507D445-7F3B-F7E7-1F1B-C8E2B755B18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D7171C6-55FF-4C17-907E-92E4198510D1}" type="slidenum">
              <a:rPr lang="en-US" altLang="en-US" smtClean="0"/>
              <a:pPr/>
              <a:t>32</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401FFB5B-68A7-45E3-1AC3-6907715A959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a:extLst>
              <a:ext uri="{FF2B5EF4-FFF2-40B4-BE49-F238E27FC236}">
                <a16:creationId xmlns:a16="http://schemas.microsoft.com/office/drawing/2014/main" id="{2AB05A56-011A-7FBC-5948-19E3E6BC07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3492" name="Slide Number Placeholder 3">
            <a:extLst>
              <a:ext uri="{FF2B5EF4-FFF2-40B4-BE49-F238E27FC236}">
                <a16:creationId xmlns:a16="http://schemas.microsoft.com/office/drawing/2014/main" id="{31A6CE7C-0D84-F842-725A-09F90A6FC7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564ACA1-0F01-4997-AF87-59E8DA0DEC5F}" type="slidenum">
              <a:rPr lang="en-US" altLang="en-US" smtClean="0"/>
              <a:pPr/>
              <a:t>35</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C4583D13-5523-9AF0-D94F-FFF10425B97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8BD3DA8F-3284-A508-C95A-561A3852CB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5540" name="Slide Number Placeholder 3">
            <a:extLst>
              <a:ext uri="{FF2B5EF4-FFF2-40B4-BE49-F238E27FC236}">
                <a16:creationId xmlns:a16="http://schemas.microsoft.com/office/drawing/2014/main" id="{D0D60BDD-ABDF-68D6-CF3C-09178F310E6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AC92CBF-5DDE-4F8B-B8CF-313DE06FDA24}" type="slidenum">
              <a:rPr lang="en-US" altLang="en-US" smtClean="0"/>
              <a:pPr/>
              <a:t>36</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B6FBB9F0-581F-1238-67C6-E4CB56FCD99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67C5B2A0-C247-DFA0-6D2B-5A19927B9C0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7588" name="Slide Number Placeholder 3">
            <a:extLst>
              <a:ext uri="{FF2B5EF4-FFF2-40B4-BE49-F238E27FC236}">
                <a16:creationId xmlns:a16="http://schemas.microsoft.com/office/drawing/2014/main" id="{59F94ECE-F00C-7C43-C896-4684B20025E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5CBE49-42D1-4ACB-8838-9FAF2FBFA049}" type="slidenum">
              <a:rPr lang="en-US" altLang="en-US" smtClean="0"/>
              <a:pPr/>
              <a:t>37</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4586CD40-0C14-C174-724F-0B54874865C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a:extLst>
              <a:ext uri="{FF2B5EF4-FFF2-40B4-BE49-F238E27FC236}">
                <a16:creationId xmlns:a16="http://schemas.microsoft.com/office/drawing/2014/main" id="{E0BBF60C-7D5B-7E63-BBB2-4AA6FD969E0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9636" name="Slide Number Placeholder 3">
            <a:extLst>
              <a:ext uri="{FF2B5EF4-FFF2-40B4-BE49-F238E27FC236}">
                <a16:creationId xmlns:a16="http://schemas.microsoft.com/office/drawing/2014/main" id="{E0F85465-1EC2-6355-53C3-C4DB03B0C2C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7136047-FADF-4A45-AD69-274D35B8B5C7}" type="slidenum">
              <a:rPr lang="en-US" altLang="en-US" smtClean="0"/>
              <a:pPr/>
              <a:t>38</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4A11E8DB-9675-8964-C3F0-281D44F80A4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8B5947BB-5AB3-529A-BC28-936F8186DECB}"/>
              </a:ext>
            </a:extLst>
          </p:cNvPr>
          <p:cNvSpPr>
            <a:spLocks noGrp="1"/>
          </p:cNvSpPr>
          <p:nvPr>
            <p:ph type="body" idx="1"/>
          </p:nvPr>
        </p:nvSpPr>
        <p:spPr/>
        <p:txBody>
          <a:bodyPr/>
          <a:lstStyle/>
          <a:p>
            <a:pPr marL="228600" indent="-228600">
              <a:buFontTx/>
              <a:buAutoNum type="arabicPeriod"/>
              <a:defRPr/>
            </a:pPr>
            <a:endParaRPr lang="en-US" dirty="0">
              <a:solidFill>
                <a:srgbClr val="040C28"/>
              </a:solidFill>
              <a:latin typeface="Google Sans"/>
            </a:endParaRPr>
          </a:p>
          <a:p>
            <a:pPr>
              <a:defRPr/>
            </a:pPr>
            <a:endParaRPr lang="en-US" dirty="0">
              <a:solidFill>
                <a:srgbClr val="040C28"/>
              </a:solidFill>
              <a:latin typeface="Google Sans"/>
            </a:endParaRPr>
          </a:p>
          <a:p>
            <a:pPr>
              <a:defRPr/>
            </a:pPr>
            <a:r>
              <a:rPr lang="en-US" dirty="0">
                <a:solidFill>
                  <a:srgbClr val="040C28"/>
                </a:solidFill>
                <a:latin typeface="Google Sans"/>
              </a:rPr>
              <a:t>1.The process of verifying the identity of a user, process, or device, often as a prerequisite to allowing access to resources in an information system</a:t>
            </a:r>
            <a:r>
              <a:rPr lang="en-US" dirty="0">
                <a:solidFill>
                  <a:srgbClr val="4D5156"/>
                </a:solidFill>
                <a:latin typeface="Google Sans"/>
              </a:rPr>
              <a:t>.</a:t>
            </a:r>
          </a:p>
          <a:p>
            <a:pPr marL="228600" indent="-228600">
              <a:buFontTx/>
              <a:buAutoNum type="arabicPeriod"/>
              <a:defRPr/>
            </a:pPr>
            <a:r>
              <a:rPr lang="en-US" dirty="0">
                <a:solidFill>
                  <a:srgbClr val="4D5156"/>
                </a:solidFill>
                <a:latin typeface="Google Sans"/>
              </a:rPr>
              <a:t>An IT security audit is </a:t>
            </a:r>
            <a:r>
              <a:rPr lang="en-US" dirty="0">
                <a:solidFill>
                  <a:srgbClr val="040C28"/>
                </a:solidFill>
                <a:latin typeface="Google Sans"/>
              </a:rPr>
              <a:t>an assessment of an information system's security architecture and processes, as well as all related policies and procedures for managing data in a secure manner</a:t>
            </a:r>
            <a:r>
              <a:rPr lang="en-US" dirty="0">
                <a:solidFill>
                  <a:srgbClr val="4D5156"/>
                </a:solidFill>
                <a:latin typeface="Google Sans"/>
              </a:rPr>
              <a:t>.</a:t>
            </a:r>
          </a:p>
          <a:p>
            <a:pPr>
              <a:defRPr/>
            </a:pPr>
            <a:r>
              <a:rPr lang="en-US" dirty="0">
                <a:solidFill>
                  <a:srgbClr val="4D5156"/>
                </a:solidFill>
                <a:latin typeface="Google Sans"/>
              </a:rPr>
              <a:t>A cloud audit is </a:t>
            </a:r>
            <a:r>
              <a:rPr lang="en-US" dirty="0">
                <a:solidFill>
                  <a:srgbClr val="040C28"/>
                </a:solidFill>
                <a:latin typeface="Google Sans"/>
              </a:rPr>
              <a:t>a test of a cloud environment, typically conducted by an independent third-party</a:t>
            </a:r>
            <a:r>
              <a:rPr lang="en-US" dirty="0">
                <a:solidFill>
                  <a:srgbClr val="4D5156"/>
                </a:solidFill>
                <a:latin typeface="Google Sans"/>
              </a:rPr>
              <a:t>. During an audit, the auditor gathers evidence via physical inspection, inquiry, observation, re-performance, or analytics.</a:t>
            </a:r>
          </a:p>
          <a:p>
            <a:pPr>
              <a:defRPr/>
            </a:pPr>
            <a:r>
              <a:rPr lang="en-US" dirty="0">
                <a:solidFill>
                  <a:srgbClr val="4D5156"/>
                </a:solidFill>
                <a:latin typeface="Google Sans"/>
              </a:rPr>
              <a:t>4. </a:t>
            </a:r>
            <a:r>
              <a:rPr lang="en-US" dirty="0">
                <a:solidFill>
                  <a:srgbClr val="040C28"/>
                </a:solidFill>
                <a:latin typeface="Google Sans"/>
              </a:rPr>
              <a:t>Authorization is the number of functions the user can perform or information the user has access to</a:t>
            </a:r>
            <a:r>
              <a:rPr lang="en-US" dirty="0">
                <a:solidFill>
                  <a:srgbClr val="202124"/>
                </a:solidFill>
                <a:latin typeface="Google Sans"/>
              </a:rPr>
              <a:t>. It is where the access control system comes into play and serves its main purpose.</a:t>
            </a:r>
            <a:endParaRPr lang="en-US" dirty="0">
              <a:solidFill>
                <a:srgbClr val="4D5156"/>
              </a:solidFill>
              <a:latin typeface="Google Sans"/>
            </a:endParaRPr>
          </a:p>
          <a:p>
            <a:pPr>
              <a:defRPr/>
            </a:pPr>
            <a:r>
              <a:rPr lang="en-US" dirty="0">
                <a:solidFill>
                  <a:srgbClr val="202124"/>
                </a:solidFill>
                <a:latin typeface="Google Sans"/>
              </a:rPr>
              <a:t>Access control is </a:t>
            </a:r>
            <a:r>
              <a:rPr lang="en-US" dirty="0">
                <a:solidFill>
                  <a:srgbClr val="040C28"/>
                </a:solidFill>
                <a:latin typeface="Google Sans"/>
              </a:rPr>
              <a:t>a data security process that enables organizations to manage who is authorized to access corporate data and resources</a:t>
            </a:r>
            <a:r>
              <a:rPr lang="en-US" dirty="0">
                <a:solidFill>
                  <a:srgbClr val="202124"/>
                </a:solidFill>
                <a:latin typeface="Google Sans"/>
              </a:rPr>
              <a:t>. Secure access control uses policies that verify users are who they claim to be and ensures appropriate control access levels are granted to users.</a:t>
            </a:r>
            <a:endParaRPr lang="en-US" dirty="0">
              <a:solidFill>
                <a:srgbClr val="4D5156"/>
              </a:solidFill>
              <a:latin typeface="Google Sans"/>
            </a:endParaRPr>
          </a:p>
          <a:p>
            <a:pPr>
              <a:defRPr/>
            </a:pPr>
            <a:r>
              <a:rPr lang="en-US" dirty="0">
                <a:solidFill>
                  <a:srgbClr val="4D5156"/>
                </a:solidFill>
                <a:latin typeface="Google Sans"/>
              </a:rPr>
              <a:t>3. </a:t>
            </a:r>
            <a:r>
              <a:rPr lang="en-US" b="1" dirty="0">
                <a:solidFill>
                  <a:srgbClr val="5F6368"/>
                </a:solidFill>
                <a:latin typeface="arial" panose="020B0604020202020204" pitchFamily="34" charset="0"/>
              </a:rPr>
              <a:t>Data access control</a:t>
            </a:r>
            <a:r>
              <a:rPr lang="en-US" dirty="0">
                <a:solidFill>
                  <a:srgbClr val="4D5156"/>
                </a:solidFill>
                <a:latin typeface="arial" panose="020B0604020202020204" pitchFamily="34" charset="0"/>
              </a:rPr>
              <a:t> is a technique used to regulate employees access to files in an organization.</a:t>
            </a:r>
            <a:r>
              <a:rPr lang="en-US" dirty="0">
                <a:solidFill>
                  <a:srgbClr val="4D5156"/>
                </a:solidFill>
                <a:latin typeface="Google Sans"/>
              </a:rPr>
              <a:t> </a:t>
            </a:r>
            <a:r>
              <a:rPr lang="en-US" dirty="0">
                <a:solidFill>
                  <a:srgbClr val="202124"/>
                </a:solidFill>
                <a:latin typeface="Google Sans"/>
              </a:rPr>
              <a:t>Access Control in cloud security is </a:t>
            </a:r>
            <a:r>
              <a:rPr lang="en-US" dirty="0">
                <a:solidFill>
                  <a:srgbClr val="040C28"/>
                </a:solidFill>
                <a:latin typeface="Google Sans"/>
              </a:rPr>
              <a:t>a system with which a company can regulate and monitor permissions, or access to their business data by formulating various policies suited chosen by the company</a:t>
            </a:r>
            <a:r>
              <a:rPr lang="en-US" dirty="0">
                <a:solidFill>
                  <a:srgbClr val="202124"/>
                </a:solidFill>
                <a:latin typeface="Google Sans"/>
              </a:rPr>
              <a:t>.</a:t>
            </a:r>
          </a:p>
          <a:p>
            <a:pPr>
              <a:defRPr/>
            </a:pPr>
            <a:r>
              <a:rPr lang="en-US" dirty="0">
                <a:solidFill>
                  <a:srgbClr val="202124"/>
                </a:solidFill>
                <a:latin typeface="Google Sans"/>
              </a:rPr>
              <a:t>4. </a:t>
            </a:r>
            <a:r>
              <a:rPr lang="en-US" dirty="0">
                <a:solidFill>
                  <a:srgbClr val="4D5156"/>
                </a:solidFill>
                <a:latin typeface="Google Sans"/>
              </a:rPr>
              <a:t>Authorization in system security is </a:t>
            </a:r>
            <a:r>
              <a:rPr lang="en-US" dirty="0">
                <a:solidFill>
                  <a:srgbClr val="040C28"/>
                </a:solidFill>
                <a:latin typeface="Google Sans"/>
              </a:rPr>
              <a:t>the process of giving the user permission to access a specific resource or function</a:t>
            </a:r>
            <a:r>
              <a:rPr lang="en-US" dirty="0">
                <a:solidFill>
                  <a:srgbClr val="4D5156"/>
                </a:solidFill>
                <a:latin typeface="Google Sans"/>
              </a:rPr>
              <a:t>. </a:t>
            </a:r>
          </a:p>
          <a:p>
            <a:pPr>
              <a:defRPr/>
            </a:pPr>
            <a:endParaRPr lang="en-US" dirty="0"/>
          </a:p>
        </p:txBody>
      </p:sp>
      <p:sp>
        <p:nvSpPr>
          <p:cNvPr id="71684" name="Slide Number Placeholder 3">
            <a:extLst>
              <a:ext uri="{FF2B5EF4-FFF2-40B4-BE49-F238E27FC236}">
                <a16:creationId xmlns:a16="http://schemas.microsoft.com/office/drawing/2014/main" id="{8C9873ED-C3CA-C772-1A74-4B6AA3EF47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AAD724E-00A7-427A-9980-35F1699EAEA6}" type="slidenum">
              <a:rPr lang="en-US" altLang="en-US" smtClean="0"/>
              <a:pPr/>
              <a:t>39</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6B37FC1D-79B3-8BA1-CA2C-B2524AD8B08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CD0B135A-8F03-7242-CA07-39264BCF684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E3B643C8-147B-BD1F-CD56-7937B9CED10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74F2401-81E9-4F59-AB46-97F0C50A2F19}" type="slidenum">
              <a:rPr lang="en-US" altLang="en-US" smtClean="0"/>
              <a:pPr/>
              <a:t>42</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05C343EF-D08C-9C89-4A11-D3C76A494B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73FE442C-E0B8-ED39-FE24-9E42DBA4FA1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7828" name="Slide Number Placeholder 3">
            <a:extLst>
              <a:ext uri="{FF2B5EF4-FFF2-40B4-BE49-F238E27FC236}">
                <a16:creationId xmlns:a16="http://schemas.microsoft.com/office/drawing/2014/main" id="{73E6474B-7CBB-1E64-4189-412FCCD7BF4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DF08940-EF9E-458A-9E3E-F0846FFE4773}" type="slidenum">
              <a:rPr lang="en-US" altLang="en-US" smtClean="0"/>
              <a:pPr/>
              <a:t>43</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DD5C9DD1-0200-5187-1993-CA32B9DC2E9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DF7F8A2A-70F2-874C-8C2B-5BF3953A43B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9876" name="Slide Number Placeholder 3">
            <a:extLst>
              <a:ext uri="{FF2B5EF4-FFF2-40B4-BE49-F238E27FC236}">
                <a16:creationId xmlns:a16="http://schemas.microsoft.com/office/drawing/2014/main" id="{E7375ED5-2FC1-B87B-17CD-56E3ABD2038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E201977-1BE2-4D8D-8B91-8B64267AAA31}" type="slidenum">
              <a:rPr lang="en-US" altLang="en-US" smtClean="0">
                <a:solidFill>
                  <a:srgbClr val="000000"/>
                </a:solidFill>
              </a:rPr>
              <a:pPr/>
              <a:t>44</a:t>
            </a:fld>
            <a:endParaRPr lang="en-US" altLang="en-US">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CB3BF5DA-682F-1803-52B6-1B6F94D54BA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a:extLst>
              <a:ext uri="{FF2B5EF4-FFF2-40B4-BE49-F238E27FC236}">
                <a16:creationId xmlns:a16="http://schemas.microsoft.com/office/drawing/2014/main" id="{2FA43169-1A80-DF73-3EC7-A04AC954C92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3972" name="Slide Number Placeholder 3">
            <a:extLst>
              <a:ext uri="{FF2B5EF4-FFF2-40B4-BE49-F238E27FC236}">
                <a16:creationId xmlns:a16="http://schemas.microsoft.com/office/drawing/2014/main" id="{5EFC697D-E87A-539B-47F7-9B3B8C6E39B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B3318B3-2299-4D03-9389-A6B54DD062B4}" type="slidenum">
              <a:rPr lang="en-US" altLang="en-US" smtClean="0"/>
              <a:pPr/>
              <a:t>47</a:t>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348A8477-07FB-ACD4-73FD-A7EAC9FF3E9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a:extLst>
              <a:ext uri="{FF2B5EF4-FFF2-40B4-BE49-F238E27FC236}">
                <a16:creationId xmlns:a16="http://schemas.microsoft.com/office/drawing/2014/main" id="{219BBD9B-0320-6BEC-7A8F-1BD17DEC079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0116" name="Slide Number Placeholder 3">
            <a:extLst>
              <a:ext uri="{FF2B5EF4-FFF2-40B4-BE49-F238E27FC236}">
                <a16:creationId xmlns:a16="http://schemas.microsoft.com/office/drawing/2014/main" id="{7ADBE04E-A32E-F739-D1C4-6775425D870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46631C-49BB-4F1C-AFFC-975DA3C4A66C}" type="slidenum">
              <a:rPr lang="en-US" altLang="en-US" smtClean="0"/>
              <a:pPr/>
              <a:t>52</a:t>
            </a:fld>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A7BA42C5-1340-EB57-5506-0E9C25F7577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a:extLst>
              <a:ext uri="{FF2B5EF4-FFF2-40B4-BE49-F238E27FC236}">
                <a16:creationId xmlns:a16="http://schemas.microsoft.com/office/drawing/2014/main" id="{35C269FF-8FC7-F43C-33EF-80DE08DBE33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2164" name="Slide Number Placeholder 3">
            <a:extLst>
              <a:ext uri="{FF2B5EF4-FFF2-40B4-BE49-F238E27FC236}">
                <a16:creationId xmlns:a16="http://schemas.microsoft.com/office/drawing/2014/main" id="{47118A4D-F28D-186B-F841-8BCC20FDF63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48C9B9A-6F3B-45CA-8C5B-1056941D9175}" type="slidenum">
              <a:rPr lang="en-US" altLang="en-US" smtClean="0"/>
              <a:pPr/>
              <a:t>53</a:t>
            </a:fld>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DE9E115C-D75E-9D37-2D23-76B28E6B9D1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a:extLst>
              <a:ext uri="{FF2B5EF4-FFF2-40B4-BE49-F238E27FC236}">
                <a16:creationId xmlns:a16="http://schemas.microsoft.com/office/drawing/2014/main" id="{658D0C3B-09E1-4114-EB9E-D5FFF1579EA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4212" name="Slide Number Placeholder 3">
            <a:extLst>
              <a:ext uri="{FF2B5EF4-FFF2-40B4-BE49-F238E27FC236}">
                <a16:creationId xmlns:a16="http://schemas.microsoft.com/office/drawing/2014/main" id="{738EC723-C6D1-FB37-4654-D8CF6581467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6A446B4-3658-4875-8A90-CEB5B99DD66D}" type="slidenum">
              <a:rPr lang="en-US" altLang="en-US" smtClean="0"/>
              <a:pPr/>
              <a:t>54</a:t>
            </a:fld>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164682FF-3F58-1A68-A919-382BC5A3056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CEBF0DC5-CD61-7C09-C3EF-3694906402D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ts val="1800"/>
              </a:lnSpc>
              <a:spcBef>
                <a:spcPts val="750"/>
              </a:spcBef>
              <a:spcAft>
                <a:spcPts val="600"/>
              </a:spcAft>
              <a:buFontTx/>
              <a:buChar char="•"/>
            </a:pPr>
            <a:endParaRPr lang="en-US" altLang="en-US">
              <a:solidFill>
                <a:srgbClr val="1F1F1F"/>
              </a:solidFill>
              <a:latin typeface="Google Sans"/>
            </a:endParaRPr>
          </a:p>
        </p:txBody>
      </p:sp>
      <p:sp>
        <p:nvSpPr>
          <p:cNvPr id="100356" name="Slide Number Placeholder 3">
            <a:extLst>
              <a:ext uri="{FF2B5EF4-FFF2-40B4-BE49-F238E27FC236}">
                <a16:creationId xmlns:a16="http://schemas.microsoft.com/office/drawing/2014/main" id="{95E59C87-094C-B2CA-7B8A-8413BE8AEC9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DF62717-C45F-4EF4-B22E-701DD6338F3A}" type="slidenum">
              <a:rPr lang="en-US" altLang="en-US" smtClean="0"/>
              <a:pPr/>
              <a:t>59</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a16="http://schemas.microsoft.com/office/drawing/2014/main" id="{DAD93530-F571-F670-4061-A502CF2B90A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a:extLst>
              <a:ext uri="{FF2B5EF4-FFF2-40B4-BE49-F238E27FC236}">
                <a16:creationId xmlns:a16="http://schemas.microsoft.com/office/drawing/2014/main" id="{37178ABD-D9B5-69C8-A3D5-FF34D2BD99E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4452" name="Slide Number Placeholder 3">
            <a:extLst>
              <a:ext uri="{FF2B5EF4-FFF2-40B4-BE49-F238E27FC236}">
                <a16:creationId xmlns:a16="http://schemas.microsoft.com/office/drawing/2014/main" id="{FEF9088A-2802-F254-AA7E-1A1141C0059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4F0201E-2182-4D00-AF1B-7E22D44B2D4F}" type="slidenum">
              <a:rPr lang="en-US" altLang="en-US" smtClean="0"/>
              <a:pPr/>
              <a:t>62</a:t>
            </a:fld>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C441E69F-841A-9AA9-887F-9375C1DEEE6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a:extLst>
              <a:ext uri="{FF2B5EF4-FFF2-40B4-BE49-F238E27FC236}">
                <a16:creationId xmlns:a16="http://schemas.microsoft.com/office/drawing/2014/main" id="{92A5B61B-4C16-6C40-8DB0-E25D533BEE2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6500" name="Slide Number Placeholder 3">
            <a:extLst>
              <a:ext uri="{FF2B5EF4-FFF2-40B4-BE49-F238E27FC236}">
                <a16:creationId xmlns:a16="http://schemas.microsoft.com/office/drawing/2014/main" id="{3E28AA88-4FA5-90B4-97FF-3A4D8CE9ECE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47448CE-3ABE-41F1-88B0-58DCDEDB8A36}" type="slidenum">
              <a:rPr lang="en-US" altLang="en-US" smtClean="0"/>
              <a:pPr/>
              <a:t>63</a:t>
            </a:fld>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3FA80472-7C08-3110-A4A3-4FB970FAF1E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a:extLst>
              <a:ext uri="{FF2B5EF4-FFF2-40B4-BE49-F238E27FC236}">
                <a16:creationId xmlns:a16="http://schemas.microsoft.com/office/drawing/2014/main" id="{9D0C21D8-38AC-66A1-B2DA-D983EF053DB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8548" name="Slide Number Placeholder 3">
            <a:extLst>
              <a:ext uri="{FF2B5EF4-FFF2-40B4-BE49-F238E27FC236}">
                <a16:creationId xmlns:a16="http://schemas.microsoft.com/office/drawing/2014/main" id="{7A70BF22-F711-E6F8-9445-5D5816B64B7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D961912-46B1-486B-9D2B-FA173426BCCC}" type="slidenum">
              <a:rPr lang="en-US" altLang="en-US" smtClean="0"/>
              <a:pPr/>
              <a:t>64</a:t>
            </a:fld>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375C178F-7013-EF41-998C-05745C37B73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a:extLst>
              <a:ext uri="{FF2B5EF4-FFF2-40B4-BE49-F238E27FC236}">
                <a16:creationId xmlns:a16="http://schemas.microsoft.com/office/drawing/2014/main" id="{C76EE2E0-CAC9-89C1-4673-47E4EC23E72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0596" name="Slide Number Placeholder 3">
            <a:extLst>
              <a:ext uri="{FF2B5EF4-FFF2-40B4-BE49-F238E27FC236}">
                <a16:creationId xmlns:a16="http://schemas.microsoft.com/office/drawing/2014/main" id="{E6668D79-1AD3-7354-144F-A30ECF56C6D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623AB1-07C9-44F9-BE17-84DD18047377}" type="slidenum">
              <a:rPr lang="en-US" altLang="en-US" smtClean="0"/>
              <a:pPr/>
              <a:t>65</a:t>
            </a:fld>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F807FD33-0086-D927-8B23-EB8E618F674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a:extLst>
              <a:ext uri="{FF2B5EF4-FFF2-40B4-BE49-F238E27FC236}">
                <a16:creationId xmlns:a16="http://schemas.microsoft.com/office/drawing/2014/main" id="{76C5F1C1-4E74-2480-4194-3AC9366A4DB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44" name="Slide Number Placeholder 3">
            <a:extLst>
              <a:ext uri="{FF2B5EF4-FFF2-40B4-BE49-F238E27FC236}">
                <a16:creationId xmlns:a16="http://schemas.microsoft.com/office/drawing/2014/main" id="{AE49F2F0-2788-5C16-D116-243F659B8A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D70AF0-D23D-44D1-9D11-2E929B2BEF3D}" type="slidenum">
              <a:rPr lang="en-US" altLang="en-US" smtClean="0"/>
              <a:pPr/>
              <a:t>66</a:t>
            </a:fld>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6A396582-73EC-B534-8471-3F5B6321A7A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a:extLst>
              <a:ext uri="{FF2B5EF4-FFF2-40B4-BE49-F238E27FC236}">
                <a16:creationId xmlns:a16="http://schemas.microsoft.com/office/drawing/2014/main" id="{96DE0899-77EA-6B3F-00F3-79B92398E26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IETF: Internet Engineering Task Force: </a:t>
            </a:r>
            <a:r>
              <a:rPr lang="en-US" altLang="en-US">
                <a:solidFill>
                  <a:srgbClr val="4D5156"/>
                </a:solidFill>
                <a:latin typeface="Arial" panose="020B0604020202020204" pitchFamily="34" charset="0"/>
              </a:rPr>
              <a:t>The </a:t>
            </a:r>
            <a:r>
              <a:rPr lang="en-US" altLang="en-US" b="1">
                <a:solidFill>
                  <a:srgbClr val="5F6368"/>
                </a:solidFill>
                <a:latin typeface="Arial" panose="020B0604020202020204" pitchFamily="34" charset="0"/>
              </a:rPr>
              <a:t>IETF</a:t>
            </a:r>
            <a:r>
              <a:rPr lang="en-US" altLang="en-US">
                <a:solidFill>
                  <a:srgbClr val="4D5156"/>
                </a:solidFill>
                <a:latin typeface="Arial" panose="020B0604020202020204" pitchFamily="34" charset="0"/>
              </a:rPr>
              <a:t> is working on standards for automated network management which, as the name implies, aims to improve and make more efficient management of networks </a:t>
            </a:r>
            <a:endParaRPr lang="en-US" altLang="en-US"/>
          </a:p>
        </p:txBody>
      </p:sp>
      <p:sp>
        <p:nvSpPr>
          <p:cNvPr id="114692" name="Slide Number Placeholder 3">
            <a:extLst>
              <a:ext uri="{FF2B5EF4-FFF2-40B4-BE49-F238E27FC236}">
                <a16:creationId xmlns:a16="http://schemas.microsoft.com/office/drawing/2014/main" id="{F9CEC594-6B39-32DC-0ACD-7DF578DCFF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96763FD-0BA2-4071-8140-23AA8FBE4F2D}" type="slidenum">
              <a:rPr lang="en-US" altLang="en-US" smtClean="0"/>
              <a:pPr/>
              <a:t>67</a:t>
            </a:fld>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0BD9367A-E7BF-71D6-618B-478FFD957E5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a:extLst>
              <a:ext uri="{FF2B5EF4-FFF2-40B4-BE49-F238E27FC236}">
                <a16:creationId xmlns:a16="http://schemas.microsoft.com/office/drawing/2014/main" id="{9468459B-9F48-BD05-331C-F93A679A381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6740" name="Slide Number Placeholder 3">
            <a:extLst>
              <a:ext uri="{FF2B5EF4-FFF2-40B4-BE49-F238E27FC236}">
                <a16:creationId xmlns:a16="http://schemas.microsoft.com/office/drawing/2014/main" id="{2052A205-ED7A-1743-55EA-8540FDAACA0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C8261E6-2D8A-47ED-8817-4F9F983DC11B}" type="slidenum">
              <a:rPr lang="en-US" altLang="en-US" smtClean="0"/>
              <a:pPr/>
              <a:t>68</a:t>
            </a:fld>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FD1B3B3C-099F-4D19-70EC-2D1CA84E1B0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a:extLst>
              <a:ext uri="{FF2B5EF4-FFF2-40B4-BE49-F238E27FC236}">
                <a16:creationId xmlns:a16="http://schemas.microsoft.com/office/drawing/2014/main" id="{EC0C09D7-FC15-2F04-5993-FF6CE8F985A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8788" name="Slide Number Placeholder 3">
            <a:extLst>
              <a:ext uri="{FF2B5EF4-FFF2-40B4-BE49-F238E27FC236}">
                <a16:creationId xmlns:a16="http://schemas.microsoft.com/office/drawing/2014/main" id="{6D5AB07D-E305-E9A4-2A0E-E11DB9F433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2D73458-BE55-428B-94FE-9FBF6EACD0D1}" type="slidenum">
              <a:rPr lang="en-US" altLang="en-US" smtClean="0"/>
              <a:pPr/>
              <a:t>69</a:t>
            </a:fld>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869F2594-B6D7-3294-2B7B-262667F94C6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a:extLst>
              <a:ext uri="{FF2B5EF4-FFF2-40B4-BE49-F238E27FC236}">
                <a16:creationId xmlns:a16="http://schemas.microsoft.com/office/drawing/2014/main" id="{048D9688-7086-00FE-46AC-92322FF5F41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0836" name="Slide Number Placeholder 3">
            <a:extLst>
              <a:ext uri="{FF2B5EF4-FFF2-40B4-BE49-F238E27FC236}">
                <a16:creationId xmlns:a16="http://schemas.microsoft.com/office/drawing/2014/main" id="{03848160-B612-C59A-2AE3-2676C313DEE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85404C1-5392-465A-883C-71AC1F74138A}" type="slidenum">
              <a:rPr lang="en-US" altLang="en-US" smtClean="0"/>
              <a:pPr/>
              <a:t>70</a:t>
            </a:fld>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a:extLst>
              <a:ext uri="{FF2B5EF4-FFF2-40B4-BE49-F238E27FC236}">
                <a16:creationId xmlns:a16="http://schemas.microsoft.com/office/drawing/2014/main" id="{14577507-4CA0-29F8-5472-9CB00245FF4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a:extLst>
              <a:ext uri="{FF2B5EF4-FFF2-40B4-BE49-F238E27FC236}">
                <a16:creationId xmlns:a16="http://schemas.microsoft.com/office/drawing/2014/main" id="{59CD9F9E-E819-4025-E70C-EFE768C010F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2884" name="Slide Number Placeholder 3">
            <a:extLst>
              <a:ext uri="{FF2B5EF4-FFF2-40B4-BE49-F238E27FC236}">
                <a16:creationId xmlns:a16="http://schemas.microsoft.com/office/drawing/2014/main" id="{4B045A02-A05F-CEFE-A6DB-3E423745A8B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809D2E1-FA75-4C16-B55B-86CA40FA2B3B}" type="slidenum">
              <a:rPr lang="en-US" altLang="en-US" smtClean="0"/>
              <a:pPr/>
              <a:t>71</a:t>
            </a:fld>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a:extLst>
              <a:ext uri="{FF2B5EF4-FFF2-40B4-BE49-F238E27FC236}">
                <a16:creationId xmlns:a16="http://schemas.microsoft.com/office/drawing/2014/main" id="{1F980F54-C5EA-87A6-62D8-C68D2AF676F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a:extLst>
              <a:ext uri="{FF2B5EF4-FFF2-40B4-BE49-F238E27FC236}">
                <a16:creationId xmlns:a16="http://schemas.microsoft.com/office/drawing/2014/main" id="{696DDC4D-34AA-B3E7-B014-D5DF02A47EA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4932" name="Slide Number Placeholder 3">
            <a:extLst>
              <a:ext uri="{FF2B5EF4-FFF2-40B4-BE49-F238E27FC236}">
                <a16:creationId xmlns:a16="http://schemas.microsoft.com/office/drawing/2014/main" id="{8D9DC96B-3B08-AD73-2DFB-820B9B54748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C748B-724A-4D91-8EB1-75931307428E}" type="slidenum">
              <a:rPr lang="en-US" altLang="en-US" smtClean="0"/>
              <a:pPr/>
              <a:t>72</a:t>
            </a:fld>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a:extLst>
              <a:ext uri="{FF2B5EF4-FFF2-40B4-BE49-F238E27FC236}">
                <a16:creationId xmlns:a16="http://schemas.microsoft.com/office/drawing/2014/main" id="{CE057DCE-70C4-4FEE-0589-4B4D0E0FCEF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a:extLst>
              <a:ext uri="{FF2B5EF4-FFF2-40B4-BE49-F238E27FC236}">
                <a16:creationId xmlns:a16="http://schemas.microsoft.com/office/drawing/2014/main" id="{65F23313-0B93-E62F-29E4-973A7D46F7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6980" name="Slide Number Placeholder 3">
            <a:extLst>
              <a:ext uri="{FF2B5EF4-FFF2-40B4-BE49-F238E27FC236}">
                <a16:creationId xmlns:a16="http://schemas.microsoft.com/office/drawing/2014/main" id="{3F4EF360-EC28-BF52-4FD0-7C46224DD60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71F2BA-70C4-49C4-B114-AEAF4AAB7596}" type="slidenum">
              <a:rPr lang="en-US" altLang="en-US" smtClean="0"/>
              <a:pPr/>
              <a:t>73</a:t>
            </a:fld>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a:extLst>
              <a:ext uri="{FF2B5EF4-FFF2-40B4-BE49-F238E27FC236}">
                <a16:creationId xmlns:a16="http://schemas.microsoft.com/office/drawing/2014/main" id="{793A2BDA-0CC2-D306-C1C9-F5A39FF96C0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a:extLst>
              <a:ext uri="{FF2B5EF4-FFF2-40B4-BE49-F238E27FC236}">
                <a16:creationId xmlns:a16="http://schemas.microsoft.com/office/drawing/2014/main" id="{6E2B356A-1970-EF0D-1B41-9DFD87924DD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9028" name="Slide Number Placeholder 3">
            <a:extLst>
              <a:ext uri="{FF2B5EF4-FFF2-40B4-BE49-F238E27FC236}">
                <a16:creationId xmlns:a16="http://schemas.microsoft.com/office/drawing/2014/main" id="{E3636403-FA5F-1BB2-81BC-5F3B6C300C9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C2D01EF-3D2D-47B4-927F-8DDA6F5545F7}" type="slidenum">
              <a:rPr lang="en-US" altLang="en-US" smtClean="0"/>
              <a:pPr/>
              <a:t>74</a:t>
            </a:fld>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a:extLst>
              <a:ext uri="{FF2B5EF4-FFF2-40B4-BE49-F238E27FC236}">
                <a16:creationId xmlns:a16="http://schemas.microsoft.com/office/drawing/2014/main" id="{45A5B508-F0A4-5268-3DD1-D80CA8F23DA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Notes Placeholder 2">
            <a:extLst>
              <a:ext uri="{FF2B5EF4-FFF2-40B4-BE49-F238E27FC236}">
                <a16:creationId xmlns:a16="http://schemas.microsoft.com/office/drawing/2014/main" id="{CC715357-0243-76E7-C3B9-4E541AFE035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2100" name="Slide Number Placeholder 3">
            <a:extLst>
              <a:ext uri="{FF2B5EF4-FFF2-40B4-BE49-F238E27FC236}">
                <a16:creationId xmlns:a16="http://schemas.microsoft.com/office/drawing/2014/main" id="{0E089F0C-D6A5-D510-652F-E2A7308D48B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659D913-03CA-4877-B3A6-B00CB5CFCBAF}" type="slidenum">
              <a:rPr lang="en-US" altLang="en-US" smtClean="0"/>
              <a:pPr/>
              <a:t>76</a:t>
            </a:fld>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a:extLst>
              <a:ext uri="{FF2B5EF4-FFF2-40B4-BE49-F238E27FC236}">
                <a16:creationId xmlns:a16="http://schemas.microsoft.com/office/drawing/2014/main" id="{D7719253-3392-93A0-7250-43C6A981CF8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Notes Placeholder 2">
            <a:extLst>
              <a:ext uri="{FF2B5EF4-FFF2-40B4-BE49-F238E27FC236}">
                <a16:creationId xmlns:a16="http://schemas.microsoft.com/office/drawing/2014/main" id="{FC84A942-9866-7174-72DD-E388FD6A9E4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a:t>
            </a:r>
          </a:p>
        </p:txBody>
      </p:sp>
      <p:sp>
        <p:nvSpPr>
          <p:cNvPr id="134148" name="Slide Number Placeholder 3">
            <a:extLst>
              <a:ext uri="{FF2B5EF4-FFF2-40B4-BE49-F238E27FC236}">
                <a16:creationId xmlns:a16="http://schemas.microsoft.com/office/drawing/2014/main" id="{CDF1E5FF-754B-30A6-0422-B0A28DDD873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E06C312-2A90-4E50-9425-9216EFCFA692}" type="slidenum">
              <a:rPr lang="en-US" altLang="en-US" smtClean="0"/>
              <a:pPr/>
              <a:t>77</a:t>
            </a:fld>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a:extLst>
              <a:ext uri="{FF2B5EF4-FFF2-40B4-BE49-F238E27FC236}">
                <a16:creationId xmlns:a16="http://schemas.microsoft.com/office/drawing/2014/main" id="{5FA68117-43A5-A335-DB05-0CE4E3335DF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a:extLst>
              <a:ext uri="{FF2B5EF4-FFF2-40B4-BE49-F238E27FC236}">
                <a16:creationId xmlns:a16="http://schemas.microsoft.com/office/drawing/2014/main" id="{1EC0045E-4F80-D179-8D08-000DCBE0C4C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6196" name="Slide Number Placeholder 3">
            <a:extLst>
              <a:ext uri="{FF2B5EF4-FFF2-40B4-BE49-F238E27FC236}">
                <a16:creationId xmlns:a16="http://schemas.microsoft.com/office/drawing/2014/main" id="{811CE55D-5AFB-FA4A-2355-FDA580C5CE4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BAF6627-F7BE-4074-9271-009997917E48}" type="slidenum">
              <a:rPr lang="en-US" altLang="en-US" smtClean="0"/>
              <a:pPr/>
              <a:t>78</a:t>
            </a:fld>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a:extLst>
              <a:ext uri="{FF2B5EF4-FFF2-40B4-BE49-F238E27FC236}">
                <a16:creationId xmlns:a16="http://schemas.microsoft.com/office/drawing/2014/main" id="{086DEAE9-D107-7ECC-C55B-00A2F891322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Notes Placeholder 2">
            <a:extLst>
              <a:ext uri="{FF2B5EF4-FFF2-40B4-BE49-F238E27FC236}">
                <a16:creationId xmlns:a16="http://schemas.microsoft.com/office/drawing/2014/main" id="{71396B8C-2730-4D7D-98B5-369024B414A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8244" name="Slide Number Placeholder 3">
            <a:extLst>
              <a:ext uri="{FF2B5EF4-FFF2-40B4-BE49-F238E27FC236}">
                <a16:creationId xmlns:a16="http://schemas.microsoft.com/office/drawing/2014/main" id="{58DF34A8-64EE-5937-7F3A-63CDD298B21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7B2818D-12B7-44E4-A4E9-B6610EF8BF6F}" type="slidenum">
              <a:rPr lang="en-US" altLang="en-US" smtClean="0"/>
              <a:pPr/>
              <a:t>79</a:t>
            </a:fld>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a:extLst>
              <a:ext uri="{FF2B5EF4-FFF2-40B4-BE49-F238E27FC236}">
                <a16:creationId xmlns:a16="http://schemas.microsoft.com/office/drawing/2014/main" id="{EAEDD4CE-D4A4-61C8-D5A7-EB216632641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1" name="Notes Placeholder 2">
            <a:extLst>
              <a:ext uri="{FF2B5EF4-FFF2-40B4-BE49-F238E27FC236}">
                <a16:creationId xmlns:a16="http://schemas.microsoft.com/office/drawing/2014/main" id="{C6BCAD28-55CC-4B11-ECCC-FAE43B253E5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0292" name="Slide Number Placeholder 3">
            <a:extLst>
              <a:ext uri="{FF2B5EF4-FFF2-40B4-BE49-F238E27FC236}">
                <a16:creationId xmlns:a16="http://schemas.microsoft.com/office/drawing/2014/main" id="{8902CD35-88FD-A666-5B28-CF2DD40DB24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8AC65BF-DB59-4B4D-971E-F67A572A4E50}" type="slidenum">
              <a:rPr lang="en-US" altLang="en-US" smtClean="0"/>
              <a:pPr/>
              <a:t>80</a:t>
            </a:fld>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a:extLst>
              <a:ext uri="{FF2B5EF4-FFF2-40B4-BE49-F238E27FC236}">
                <a16:creationId xmlns:a16="http://schemas.microsoft.com/office/drawing/2014/main" id="{A1C04672-1AFF-69E8-49E1-4EB16389A81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Notes Placeholder 2">
            <a:extLst>
              <a:ext uri="{FF2B5EF4-FFF2-40B4-BE49-F238E27FC236}">
                <a16:creationId xmlns:a16="http://schemas.microsoft.com/office/drawing/2014/main" id="{C3DDD136-4E31-BD68-FE32-F2BEB1F0850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health care application manages various hospital associates (the physician, registered nurse, nurses’ aide, and health care supervisor) accessing various elements of the patient record. This application relies on the policy enforcement point (PEP) and forwards the request to the PEP. </a:t>
            </a:r>
          </a:p>
          <a:p>
            <a:r>
              <a:rPr lang="en-US" altLang="en-US"/>
              <a:t>The PEP is actually the interface of the application environment. It receives the access requests and evaluates them with the help of the policy decision point (PDP). It then permits or denies access to the resource (the health care record). </a:t>
            </a:r>
          </a:p>
          <a:p>
            <a:r>
              <a:rPr lang="en-US" altLang="en-US"/>
              <a:t>The PDP should be located in a trusted network with strong access control policies, e.g., in a corporate trusted network protected by a corporate firewall. 4. After evaluation, the PDP sends the XACML response to the PEP.</a:t>
            </a:r>
          </a:p>
        </p:txBody>
      </p:sp>
      <p:sp>
        <p:nvSpPr>
          <p:cNvPr id="142340" name="Slide Number Placeholder 3">
            <a:extLst>
              <a:ext uri="{FF2B5EF4-FFF2-40B4-BE49-F238E27FC236}">
                <a16:creationId xmlns:a16="http://schemas.microsoft.com/office/drawing/2014/main" id="{E0FC36CB-0BB5-718B-86F1-1147F873C53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0A7BA44-78A5-41FF-AF27-87D682165213}" type="slidenum">
              <a:rPr lang="en-US" altLang="en-US" smtClean="0"/>
              <a:pPr/>
              <a:t>81</a:t>
            </a:fld>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151446F4-CBF6-B416-77CD-C9456C702AE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BD8D8930-EBB5-37AD-C8D3-CA77DEAD793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4388" name="Slide Number Placeholder 3">
            <a:extLst>
              <a:ext uri="{FF2B5EF4-FFF2-40B4-BE49-F238E27FC236}">
                <a16:creationId xmlns:a16="http://schemas.microsoft.com/office/drawing/2014/main" id="{F9FBB8F4-E3A5-D3FD-2477-A5CF9ED6D14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DA1E109-481C-4E79-8EC7-68358DE4F9D2}" type="slidenum">
              <a:rPr lang="en-US" altLang="en-US" smtClean="0"/>
              <a:pPr/>
              <a:t>82</a:t>
            </a:fld>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a:extLst>
              <a:ext uri="{FF2B5EF4-FFF2-40B4-BE49-F238E27FC236}">
                <a16:creationId xmlns:a16="http://schemas.microsoft.com/office/drawing/2014/main" id="{DC615039-3359-495C-BA1F-E8E5EA4ACF1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9" name="Notes Placeholder 2">
            <a:extLst>
              <a:ext uri="{FF2B5EF4-FFF2-40B4-BE49-F238E27FC236}">
                <a16:creationId xmlns:a16="http://schemas.microsoft.com/office/drawing/2014/main" id="{5B3D7F3B-7BD4-234B-FDB7-C116C0F07C7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7460" name="Slide Number Placeholder 3">
            <a:extLst>
              <a:ext uri="{FF2B5EF4-FFF2-40B4-BE49-F238E27FC236}">
                <a16:creationId xmlns:a16="http://schemas.microsoft.com/office/drawing/2014/main" id="{1620D8B9-49E4-0FD6-EDD2-F7C287DBB11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A2891C9-AB48-4ED6-B71F-24A64277DD39}" type="slidenum">
              <a:rPr lang="en-US" altLang="en-US" smtClean="0"/>
              <a:pPr/>
              <a:t>84</a:t>
            </a:fld>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a:extLst>
              <a:ext uri="{FF2B5EF4-FFF2-40B4-BE49-F238E27FC236}">
                <a16:creationId xmlns:a16="http://schemas.microsoft.com/office/drawing/2014/main" id="{89F7071E-51ED-07BF-B438-1A0C9F4AA8F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7" name="Notes Placeholder 2">
            <a:extLst>
              <a:ext uri="{FF2B5EF4-FFF2-40B4-BE49-F238E27FC236}">
                <a16:creationId xmlns:a16="http://schemas.microsoft.com/office/drawing/2014/main" id="{D4A801A0-28E9-C555-B9FE-F9075FFF41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a:buFontTx/>
              <a:buChar char="•"/>
            </a:pPr>
            <a:r>
              <a:rPr lang="en-US" altLang="en-US" b="1"/>
              <a:t>User (End-User):</a:t>
            </a:r>
            <a:r>
              <a:rPr lang="en-US" altLang="en-US"/>
              <a:t> The individual who is attempting to access a service or application. The user has an account with the OpenID Provider and provides consent for their identity information to be shared with the Relying Party</a:t>
            </a:r>
          </a:p>
          <a:p>
            <a:pPr marL="171450" indent="-171450">
              <a:buFontTx/>
              <a:buChar char="•"/>
            </a:pPr>
            <a:r>
              <a:rPr lang="en-US" altLang="en-US" b="1"/>
              <a:t>User Agent:</a:t>
            </a:r>
            <a:r>
              <a:rPr lang="en-US" altLang="en-US"/>
              <a:t> This is the mechanism the user employs to interact with the applications, most commonly a web browser or a mobile application.</a:t>
            </a:r>
          </a:p>
          <a:p>
            <a:pPr marL="171450" indent="-171450">
              <a:buFontTx/>
              <a:buChar char="•"/>
            </a:pPr>
            <a:r>
              <a:rPr lang="en-US" altLang="en-US" b="1"/>
              <a:t>Relying Party (RP):</a:t>
            </a:r>
            <a:r>
              <a:rPr lang="en-US" altLang="en-US"/>
              <a:t> The application or website that needs to verify the user's identity to grant access to its resources or services</a:t>
            </a:r>
          </a:p>
          <a:p>
            <a:pPr marL="171450" indent="-171450">
              <a:buFontTx/>
              <a:buChar char="•"/>
            </a:pPr>
            <a:r>
              <a:rPr lang="en-US" altLang="en-US" b="1"/>
              <a:t>OpenID Provider (OP):</a:t>
            </a:r>
            <a:r>
              <a:rPr lang="en-US" altLang="en-US"/>
              <a:t> The entity that performs the actual user authentication and then issues identity and security tokens to the RP. </a:t>
            </a:r>
          </a:p>
          <a:p>
            <a:pPr marL="171450" indent="-171450">
              <a:buFontTx/>
              <a:buChar char="•"/>
            </a:pPr>
            <a:endParaRPr lang="en-US" altLang="en-US"/>
          </a:p>
          <a:p>
            <a:pPr marL="171450" indent="-171450">
              <a:buFontTx/>
              <a:buChar char="•"/>
            </a:pPr>
            <a:r>
              <a:rPr lang="en-US" altLang="en-US"/>
              <a:t>The OP is an OAuth 2.0 Authorization Server capable of authenticating the user (e.g., Google, Microsoft Entra ID).</a:t>
            </a:r>
          </a:p>
        </p:txBody>
      </p:sp>
      <p:sp>
        <p:nvSpPr>
          <p:cNvPr id="149508" name="Slide Number Placeholder 3">
            <a:extLst>
              <a:ext uri="{FF2B5EF4-FFF2-40B4-BE49-F238E27FC236}">
                <a16:creationId xmlns:a16="http://schemas.microsoft.com/office/drawing/2014/main" id="{1BFFC512-CBED-8ED1-524B-89AED3036A1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B3740A0-21FE-4FBE-8CB2-6EB50F1B198F}" type="slidenum">
              <a:rPr lang="en-US" altLang="en-US" smtClean="0"/>
              <a:pPr/>
              <a:t>85</a:t>
            </a:fld>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a:extLst>
              <a:ext uri="{FF2B5EF4-FFF2-40B4-BE49-F238E27FC236}">
                <a16:creationId xmlns:a16="http://schemas.microsoft.com/office/drawing/2014/main" id="{6520DE62-D464-E8F0-58D6-CF4AFAD3EC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5" name="Notes Placeholder 2">
            <a:extLst>
              <a:ext uri="{FF2B5EF4-FFF2-40B4-BE49-F238E27FC236}">
                <a16:creationId xmlns:a16="http://schemas.microsoft.com/office/drawing/2014/main" id="{DD6EE6E8-A440-8F01-4692-A3A2ADE6C24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51556" name="Slide Number Placeholder 3">
            <a:extLst>
              <a:ext uri="{FF2B5EF4-FFF2-40B4-BE49-F238E27FC236}">
                <a16:creationId xmlns:a16="http://schemas.microsoft.com/office/drawing/2014/main" id="{33E9A6F5-353D-CD10-A85A-BE173562B4F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61FE0C1-CD16-4E99-B280-71FF46FED33A}" type="slidenum">
              <a:rPr lang="en-US" altLang="en-US" smtClean="0"/>
              <a:pPr/>
              <a:t>86</a:t>
            </a:fld>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a:extLst>
              <a:ext uri="{FF2B5EF4-FFF2-40B4-BE49-F238E27FC236}">
                <a16:creationId xmlns:a16="http://schemas.microsoft.com/office/drawing/2014/main" id="{F109B7D5-B078-9D1B-C144-B9ECF14F3E5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3" name="Notes Placeholder 2">
            <a:extLst>
              <a:ext uri="{FF2B5EF4-FFF2-40B4-BE49-F238E27FC236}">
                <a16:creationId xmlns:a16="http://schemas.microsoft.com/office/drawing/2014/main" id="{9A20FF1E-68C5-68DA-DFD6-51B9BDDBBA9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53604" name="Slide Number Placeholder 3">
            <a:extLst>
              <a:ext uri="{FF2B5EF4-FFF2-40B4-BE49-F238E27FC236}">
                <a16:creationId xmlns:a16="http://schemas.microsoft.com/office/drawing/2014/main" id="{C6CFD7C5-C78A-D1EE-B58D-D8FE02166FD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557660D-4297-4F0A-8CB2-DD34EA741564}" type="slidenum">
              <a:rPr lang="en-US" altLang="en-US" smtClean="0"/>
              <a:pPr/>
              <a:t>87</a:t>
            </a:fld>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6941AA5C-F605-645E-D720-A2FD434CAD0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D1EA5EA5-C985-B7E5-AA6F-E71E5560496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55652" name="Slide Number Placeholder 3">
            <a:extLst>
              <a:ext uri="{FF2B5EF4-FFF2-40B4-BE49-F238E27FC236}">
                <a16:creationId xmlns:a16="http://schemas.microsoft.com/office/drawing/2014/main" id="{D5FA5C65-2ECF-47D0-70AD-520AF22D05E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725FA0-B744-4523-8EF5-56B4F6B5CD26}" type="slidenum">
              <a:rPr lang="en-US" altLang="en-US" smtClean="0"/>
              <a:pPr/>
              <a:t>88</a:t>
            </a:fld>
            <a:endParaRPr lang="en-US"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a:extLst>
              <a:ext uri="{FF2B5EF4-FFF2-40B4-BE49-F238E27FC236}">
                <a16:creationId xmlns:a16="http://schemas.microsoft.com/office/drawing/2014/main" id="{952D6BD5-D22F-D4AC-27DD-AB2AFC7C628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7" name="Notes Placeholder 2">
            <a:extLst>
              <a:ext uri="{FF2B5EF4-FFF2-40B4-BE49-F238E27FC236}">
                <a16:creationId xmlns:a16="http://schemas.microsoft.com/office/drawing/2014/main" id="{FA2A76DB-B935-BE12-D642-47DDD676EF9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59748" name="Slide Number Placeholder 3">
            <a:extLst>
              <a:ext uri="{FF2B5EF4-FFF2-40B4-BE49-F238E27FC236}">
                <a16:creationId xmlns:a16="http://schemas.microsoft.com/office/drawing/2014/main" id="{7131CB6D-9927-51D9-7DD1-D8C67057C98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117E949-6AFE-4975-9A43-01A455D2C204}" type="slidenum">
              <a:rPr lang="en-US" altLang="en-US" smtClean="0"/>
              <a:pPr/>
              <a:t>91</a:t>
            </a:fld>
            <a:endParaRPr lang="en-US"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E2DD8C3F-13AE-AA30-74BB-AF9ABD7A750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5" name="Notes Placeholder 2">
            <a:extLst>
              <a:ext uri="{FF2B5EF4-FFF2-40B4-BE49-F238E27FC236}">
                <a16:creationId xmlns:a16="http://schemas.microsoft.com/office/drawing/2014/main" id="{915CB90D-E61D-C5FD-D4EB-294C716CAD0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61796" name="Slide Number Placeholder 3">
            <a:extLst>
              <a:ext uri="{FF2B5EF4-FFF2-40B4-BE49-F238E27FC236}">
                <a16:creationId xmlns:a16="http://schemas.microsoft.com/office/drawing/2014/main" id="{4AEDF5B5-423B-42F5-2959-FC212F0567A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60DC72A-47BB-4740-A897-6F897DBD89BD}" type="slidenum">
              <a:rPr lang="en-US" altLang="en-US" smtClean="0"/>
              <a:pPr/>
              <a:t>92</a:t>
            </a:fld>
            <a:endParaRPr lang="en-US"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a:extLst>
              <a:ext uri="{FF2B5EF4-FFF2-40B4-BE49-F238E27FC236}">
                <a16:creationId xmlns:a16="http://schemas.microsoft.com/office/drawing/2014/main" id="{BC6A8F94-6050-024F-95FE-8E01D6F9F98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3" name="Notes Placeholder 2">
            <a:extLst>
              <a:ext uri="{FF2B5EF4-FFF2-40B4-BE49-F238E27FC236}">
                <a16:creationId xmlns:a16="http://schemas.microsoft.com/office/drawing/2014/main" id="{91EC5616-B5AA-0A95-897E-2A9301B7902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63844" name="Slide Number Placeholder 3">
            <a:extLst>
              <a:ext uri="{FF2B5EF4-FFF2-40B4-BE49-F238E27FC236}">
                <a16:creationId xmlns:a16="http://schemas.microsoft.com/office/drawing/2014/main" id="{E4C1639F-965C-1E05-F736-73B1EAAA4FB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E699FF9-A1ED-4768-A866-DFFE2086921A}" type="slidenum">
              <a:rPr lang="en-US" altLang="en-US" smtClean="0"/>
              <a:pPr/>
              <a:t>93</a:t>
            </a:fld>
            <a:endParaRPr lang="en-US"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a:extLst>
              <a:ext uri="{FF2B5EF4-FFF2-40B4-BE49-F238E27FC236}">
                <a16:creationId xmlns:a16="http://schemas.microsoft.com/office/drawing/2014/main" id="{096D6038-8CD1-F098-831A-38CBC2428E1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1" name="Notes Placeholder 2">
            <a:extLst>
              <a:ext uri="{FF2B5EF4-FFF2-40B4-BE49-F238E27FC236}">
                <a16:creationId xmlns:a16="http://schemas.microsoft.com/office/drawing/2014/main" id="{A09D8579-8272-2B77-3FCA-F60D0C7AC93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65892" name="Slide Number Placeholder 3">
            <a:extLst>
              <a:ext uri="{FF2B5EF4-FFF2-40B4-BE49-F238E27FC236}">
                <a16:creationId xmlns:a16="http://schemas.microsoft.com/office/drawing/2014/main" id="{9E166D2E-C750-1996-75A3-CD6D78EC16A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C576723-4DC2-4E92-B083-EC0BA49D9C37}" type="slidenum">
              <a:rPr lang="en-US" altLang="en-US" smtClean="0"/>
              <a:pPr/>
              <a:t>94</a:t>
            </a:fld>
            <a:endParaRPr lang="en-US"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a:extLst>
              <a:ext uri="{FF2B5EF4-FFF2-40B4-BE49-F238E27FC236}">
                <a16:creationId xmlns:a16="http://schemas.microsoft.com/office/drawing/2014/main" id="{6D90CFA8-00B9-8C61-8FDC-E808E3C4113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39" name="Notes Placeholder 2">
            <a:extLst>
              <a:ext uri="{FF2B5EF4-FFF2-40B4-BE49-F238E27FC236}">
                <a16:creationId xmlns:a16="http://schemas.microsoft.com/office/drawing/2014/main" id="{45B51E3D-0ACB-B49F-7D3B-065D16D3F6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SSO:</a:t>
            </a:r>
            <a:r>
              <a:rPr lang="en-US" altLang="en-US"/>
              <a:t> SSO authorizes the users to sign in with a single portal for accessing all SaaS applications. It also provides a centralized location for the users or companies to manage each user. Mainly all the SSO services are hosted on the Cloud and permit users to access their SSO login pages with the help of their web pages.</a:t>
            </a:r>
          </a:p>
          <a:p>
            <a:r>
              <a:rPr lang="en-US" altLang="en-US"/>
              <a:t>IM: Identity Management manages to store and manage the identities. An IDP will check the uniqueness of a user with its credentials such as user id and passwords.</a:t>
            </a:r>
          </a:p>
          <a:p>
            <a:r>
              <a:rPr lang="en-US" altLang="en-US"/>
              <a:t>MFA: Multiple Authentications Factors are used to verify the users. While inserting the USB device into the laptop, one of the simple examples is to enter the password. But MFA is more secure than the traditional method of entering usernames and passwords. Cloud providers help users to enable organizations to easily enable Multi Factor Authentication.</a:t>
            </a:r>
          </a:p>
          <a:p>
            <a:r>
              <a:rPr lang="en-US" altLang="en-US"/>
              <a:t>Directory: </a:t>
            </a:r>
            <a:r>
              <a:rPr lang="en-US" altLang="en-US" u="sng"/>
              <a:t>Provides a cloud-based, organized repository for user identities, </a:t>
            </a:r>
            <a:r>
              <a:rPr lang="en-US" altLang="en-US"/>
              <a:t>Access control: </a:t>
            </a:r>
            <a:r>
              <a:rPr lang="en-US" altLang="en-US" u="sng"/>
              <a:t>Defines and enforces policies determining which users can access specific applications or data. </a:t>
            </a:r>
            <a:endParaRPr lang="en-US" altLang="en-US"/>
          </a:p>
          <a:p>
            <a:endParaRPr lang="en-US" altLang="en-US"/>
          </a:p>
        </p:txBody>
      </p:sp>
      <p:sp>
        <p:nvSpPr>
          <p:cNvPr id="167940" name="Slide Number Placeholder 3">
            <a:extLst>
              <a:ext uri="{FF2B5EF4-FFF2-40B4-BE49-F238E27FC236}">
                <a16:creationId xmlns:a16="http://schemas.microsoft.com/office/drawing/2014/main" id="{83577740-3C14-498F-C2D0-D8896DD88E7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A400663-B674-472C-9830-F543D6E8A968}" type="slidenum">
              <a:rPr lang="en-US" altLang="en-US" smtClean="0"/>
              <a:pPr/>
              <a:t>95</a:t>
            </a:fld>
            <a:endParaRPr lang="en-US"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a:extLst>
              <a:ext uri="{FF2B5EF4-FFF2-40B4-BE49-F238E27FC236}">
                <a16:creationId xmlns:a16="http://schemas.microsoft.com/office/drawing/2014/main" id="{C5A46A5F-F79A-4E87-85A0-87E54138069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7" name="Notes Placeholder 2">
            <a:extLst>
              <a:ext uri="{FF2B5EF4-FFF2-40B4-BE49-F238E27FC236}">
                <a16:creationId xmlns:a16="http://schemas.microsoft.com/office/drawing/2014/main" id="{DBA5B4DD-C9B5-023C-31C5-4ED830AA3DB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a:p>
            <a:r>
              <a:rPr lang="en-US" altLang="en-US"/>
              <a:t>Intranet server sends the ticket to the authentication server.</a:t>
            </a:r>
          </a:p>
          <a:p>
            <a:r>
              <a:rPr lang="en-US" altLang="en-US"/>
              <a:t>Authentication server sends the user's security credentials for that server back to the intranet server.</a:t>
            </a:r>
          </a:p>
          <a:p>
            <a:r>
              <a:rPr lang="en-US" altLang="en-US"/>
              <a:t>If an employee leaves the company, then disabling the user account at the authentication server prohibits the user's access to all the systems.</a:t>
            </a:r>
          </a:p>
          <a:p>
            <a:endParaRPr lang="en-US" altLang="en-US"/>
          </a:p>
        </p:txBody>
      </p:sp>
      <p:sp>
        <p:nvSpPr>
          <p:cNvPr id="169988" name="Slide Number Placeholder 3">
            <a:extLst>
              <a:ext uri="{FF2B5EF4-FFF2-40B4-BE49-F238E27FC236}">
                <a16:creationId xmlns:a16="http://schemas.microsoft.com/office/drawing/2014/main" id="{80FBED73-DBBC-2D76-8C44-17F0AA5463F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938B1E6-4DAA-498C-ADEA-5BE8935A9D95}" type="slidenum">
              <a:rPr lang="en-US" altLang="en-US" smtClean="0"/>
              <a:pPr/>
              <a:t>96</a:t>
            </a:fld>
            <a:endParaRPr lang="en-US"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a:extLst>
              <a:ext uri="{FF2B5EF4-FFF2-40B4-BE49-F238E27FC236}">
                <a16:creationId xmlns:a16="http://schemas.microsoft.com/office/drawing/2014/main" id="{1C22BD24-8C14-9023-C88F-8A48C7DC277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5" name="Notes Placeholder 2">
            <a:extLst>
              <a:ext uri="{FF2B5EF4-FFF2-40B4-BE49-F238E27FC236}">
                <a16:creationId xmlns:a16="http://schemas.microsoft.com/office/drawing/2014/main" id="{45B536C4-3025-A0A3-107F-0C2CBFCB01C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72036" name="Slide Number Placeholder 3">
            <a:extLst>
              <a:ext uri="{FF2B5EF4-FFF2-40B4-BE49-F238E27FC236}">
                <a16:creationId xmlns:a16="http://schemas.microsoft.com/office/drawing/2014/main" id="{E8E3508C-19EA-AB36-A2AE-C6DC6C83C15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653794D-BAC3-4945-9A60-2AA8EFECA269}" type="slidenum">
              <a:rPr lang="en-US" altLang="en-US" smtClean="0"/>
              <a:pPr/>
              <a:t>97</a:t>
            </a:fld>
            <a:endParaRPr lang="en-US"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a:extLst>
              <a:ext uri="{FF2B5EF4-FFF2-40B4-BE49-F238E27FC236}">
                <a16:creationId xmlns:a16="http://schemas.microsoft.com/office/drawing/2014/main" id="{1E058D48-19A2-75D1-E2B1-8EECDDC337E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3" name="Notes Placeholder 2">
            <a:extLst>
              <a:ext uri="{FF2B5EF4-FFF2-40B4-BE49-F238E27FC236}">
                <a16:creationId xmlns:a16="http://schemas.microsoft.com/office/drawing/2014/main" id="{E02E4751-6A95-7B51-9649-7660085431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74084" name="Slide Number Placeholder 3">
            <a:extLst>
              <a:ext uri="{FF2B5EF4-FFF2-40B4-BE49-F238E27FC236}">
                <a16:creationId xmlns:a16="http://schemas.microsoft.com/office/drawing/2014/main" id="{6B019732-29CC-0CD6-33AD-3FEEC17A034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03BECE6-94CA-4682-9A9C-47384EF2A357}" type="slidenum">
              <a:rPr lang="en-US" altLang="en-US" smtClean="0"/>
              <a:pPr/>
              <a:t>98</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F45E23-FE71-B399-2A49-C6318A22EE21}"/>
              </a:ext>
            </a:extLst>
          </p:cNvPr>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Rectangle 2">
            <a:extLst>
              <a:ext uri="{FF2B5EF4-FFF2-40B4-BE49-F238E27FC236}">
                <a16:creationId xmlns:a16="http://schemas.microsoft.com/office/drawing/2014/main" id="{D69457B8-2713-29E9-8E39-0B49519D819D}"/>
              </a:ext>
            </a:extLst>
          </p:cNvPr>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9304005F-BD56-038A-308A-B9DE0988401F}"/>
              </a:ext>
            </a:extLst>
          </p:cNvPr>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5CFD706D-AC57-3C56-CDE1-D09EEF44B974}"/>
              </a:ext>
            </a:extLst>
          </p:cNvPr>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A72F5CE-B499-62BB-7BA9-1FBCA8369F65}"/>
              </a:ext>
            </a:extLst>
          </p:cNvPr>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7" name="Rounded Rectangle 25">
            <a:extLst>
              <a:ext uri="{FF2B5EF4-FFF2-40B4-BE49-F238E27FC236}">
                <a16:creationId xmlns:a16="http://schemas.microsoft.com/office/drawing/2014/main" id="{A5A9C8E3-0729-A07F-9A89-F185F35D1359}"/>
              </a:ext>
            </a:extLst>
          </p:cNvPr>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10" name="Rounded Rectangle 26">
            <a:extLst>
              <a:ext uri="{FF2B5EF4-FFF2-40B4-BE49-F238E27FC236}">
                <a16:creationId xmlns:a16="http://schemas.microsoft.com/office/drawing/2014/main" id="{E7BA6BD6-9E57-A025-4EA8-808735B338CD}"/>
              </a:ext>
            </a:extLst>
          </p:cNvPr>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4C4BCC29-6266-C826-BEE7-6426BD6DD77D}"/>
              </a:ext>
            </a:extLst>
          </p:cNvPr>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90614621-4257-C0D5-A15A-3F81CE255EF7}"/>
              </a:ext>
            </a:extLst>
          </p:cNvPr>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6B484BB5-8618-8B6B-0309-6724622B932D}"/>
              </a:ext>
            </a:extLst>
          </p:cNvPr>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C0D60C45-C3CB-D392-0E8A-29D0F84C8FE9}"/>
              </a:ext>
            </a:extLst>
          </p:cNvPr>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5" name="Date Placeholder 27">
            <a:extLst>
              <a:ext uri="{FF2B5EF4-FFF2-40B4-BE49-F238E27FC236}">
                <a16:creationId xmlns:a16="http://schemas.microsoft.com/office/drawing/2014/main" id="{FA32BA2F-CFB5-A961-23E7-DF1EB13436D4}"/>
              </a:ext>
            </a:extLst>
          </p:cNvPr>
          <p:cNvSpPr>
            <a:spLocks noGrp="1"/>
          </p:cNvSpPr>
          <p:nvPr>
            <p:ph type="dt" sz="half" idx="10"/>
          </p:nvPr>
        </p:nvSpPr>
        <p:spPr>
          <a:xfrm>
            <a:off x="6705600" y="4206875"/>
            <a:ext cx="960438" cy="457200"/>
          </a:xfrm>
        </p:spPr>
        <p:txBody>
          <a:bodyPr/>
          <a:lstStyle>
            <a:lvl1pPr>
              <a:defRPr/>
            </a:lvl1pPr>
          </a:lstStyle>
          <a:p>
            <a:pPr>
              <a:defRPr/>
            </a:pPr>
            <a:fld id="{2A0C917E-86D8-45C0-97F5-24A818661BE4}" type="datetimeFigureOut">
              <a:rPr lang="en-US"/>
              <a:pPr>
                <a:defRPr/>
              </a:pPr>
              <a:t>3/1/2026</a:t>
            </a:fld>
            <a:endParaRPr lang="en-US"/>
          </a:p>
        </p:txBody>
      </p:sp>
      <p:sp>
        <p:nvSpPr>
          <p:cNvPr id="16" name="Footer Placeholder 16">
            <a:extLst>
              <a:ext uri="{FF2B5EF4-FFF2-40B4-BE49-F238E27FC236}">
                <a16:creationId xmlns:a16="http://schemas.microsoft.com/office/drawing/2014/main" id="{2D8C479A-DBD7-B79B-30A6-0B353FF32D17}"/>
              </a:ext>
            </a:extLst>
          </p:cNvPr>
          <p:cNvSpPr>
            <a:spLocks noGrp="1"/>
          </p:cNvSpPr>
          <p:nvPr>
            <p:ph type="ftr" sz="quarter" idx="11"/>
          </p:nvPr>
        </p:nvSpPr>
        <p:spPr>
          <a:xfrm>
            <a:off x="5410200" y="4205288"/>
            <a:ext cx="1295400" cy="457200"/>
          </a:xfrm>
        </p:spPr>
        <p:txBody>
          <a:bodyPr/>
          <a:lstStyle>
            <a:lvl1pPr>
              <a:defRPr/>
            </a:lvl1pPr>
          </a:lstStyle>
          <a:p>
            <a:pPr>
              <a:defRPr/>
            </a:pPr>
            <a:endParaRPr lang="en-US"/>
          </a:p>
        </p:txBody>
      </p:sp>
      <p:sp>
        <p:nvSpPr>
          <p:cNvPr id="17" name="Slide Number Placeholder 28">
            <a:extLst>
              <a:ext uri="{FF2B5EF4-FFF2-40B4-BE49-F238E27FC236}">
                <a16:creationId xmlns:a16="http://schemas.microsoft.com/office/drawing/2014/main" id="{A41B8759-A6D6-456D-2D4E-AF4C794E7022}"/>
              </a:ext>
            </a:extLst>
          </p:cNvPr>
          <p:cNvSpPr>
            <a:spLocks noGrp="1"/>
          </p:cNvSpPr>
          <p:nvPr>
            <p:ph type="sldNum" sz="quarter" idx="12"/>
          </p:nvPr>
        </p:nvSpPr>
        <p:spPr>
          <a:xfrm>
            <a:off x="8320088" y="1588"/>
            <a:ext cx="747712" cy="365125"/>
          </a:xfrm>
        </p:spPr>
        <p:txBody>
          <a:bodyPr/>
          <a:lstStyle>
            <a:lvl1pPr>
              <a:defRPr>
                <a:solidFill>
                  <a:schemeClr val="bg1"/>
                </a:solidFill>
              </a:defRPr>
            </a:lvl1pPr>
          </a:lstStyle>
          <a:p>
            <a:pPr>
              <a:defRPr/>
            </a:pPr>
            <a:fld id="{B68FF770-571E-4FA9-A32D-60D719974D8B}" type="slidenum">
              <a:rPr lang="en-US" altLang="en-US"/>
              <a:pPr>
                <a:defRPr/>
              </a:pPr>
              <a:t>‹#›</a:t>
            </a:fld>
            <a:endParaRPr lang="en-US" altLang="en-US"/>
          </a:p>
        </p:txBody>
      </p:sp>
    </p:spTree>
    <p:extLst>
      <p:ext uri="{BB962C8B-B14F-4D97-AF65-F5344CB8AC3E}">
        <p14:creationId xmlns:p14="http://schemas.microsoft.com/office/powerpoint/2010/main" val="1805655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28519BEE-FF6C-0BEC-B051-AB12C00985EA}"/>
              </a:ext>
            </a:extLst>
          </p:cNvPr>
          <p:cNvSpPr>
            <a:spLocks noGrp="1"/>
          </p:cNvSpPr>
          <p:nvPr>
            <p:ph type="dt" sz="half" idx="10"/>
          </p:nvPr>
        </p:nvSpPr>
        <p:spPr/>
        <p:txBody>
          <a:bodyPr/>
          <a:lstStyle>
            <a:lvl1pPr>
              <a:defRPr/>
            </a:lvl1pPr>
          </a:lstStyle>
          <a:p>
            <a:pPr>
              <a:defRPr/>
            </a:pPr>
            <a:fld id="{FFA32CBA-55C6-4D7D-AE0B-FA79A881EC61}" type="datetimeFigureOut">
              <a:rPr lang="en-US"/>
              <a:pPr>
                <a:defRPr/>
              </a:pPr>
              <a:t>3/1/2026</a:t>
            </a:fld>
            <a:endParaRPr lang="en-US"/>
          </a:p>
        </p:txBody>
      </p:sp>
      <p:sp>
        <p:nvSpPr>
          <p:cNvPr id="5" name="Footer Placeholder 2">
            <a:extLst>
              <a:ext uri="{FF2B5EF4-FFF2-40B4-BE49-F238E27FC236}">
                <a16:creationId xmlns:a16="http://schemas.microsoft.com/office/drawing/2014/main" id="{CDAE5037-92D7-A0D5-1923-B6D714D1DAA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0A31BCA2-7E97-8205-7D83-86385A866AFD}"/>
              </a:ext>
            </a:extLst>
          </p:cNvPr>
          <p:cNvSpPr>
            <a:spLocks noGrp="1"/>
          </p:cNvSpPr>
          <p:nvPr>
            <p:ph type="sldNum" sz="quarter" idx="12"/>
          </p:nvPr>
        </p:nvSpPr>
        <p:spPr/>
        <p:txBody>
          <a:bodyPr/>
          <a:lstStyle>
            <a:lvl1pPr>
              <a:defRPr/>
            </a:lvl1pPr>
          </a:lstStyle>
          <a:p>
            <a:pPr>
              <a:defRPr/>
            </a:pPr>
            <a:fld id="{E72309BC-142B-480B-9FD1-8D4016B7CCA0}" type="slidenum">
              <a:rPr lang="en-US" altLang="en-US"/>
              <a:pPr>
                <a:defRPr/>
              </a:pPr>
              <a:t>‹#›</a:t>
            </a:fld>
            <a:endParaRPr lang="en-US" altLang="en-US"/>
          </a:p>
        </p:txBody>
      </p:sp>
    </p:spTree>
    <p:extLst>
      <p:ext uri="{BB962C8B-B14F-4D97-AF65-F5344CB8AC3E}">
        <p14:creationId xmlns:p14="http://schemas.microsoft.com/office/powerpoint/2010/main" val="282889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en-US"/>
              <a:t>Click to edit Master title style</a:t>
            </a:r>
          </a:p>
        </p:txBody>
      </p:sp>
      <p:sp>
        <p:nvSpPr>
          <p:cNvPr id="3" name="Text Placeholder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13">
            <a:extLst>
              <a:ext uri="{FF2B5EF4-FFF2-40B4-BE49-F238E27FC236}">
                <a16:creationId xmlns:a16="http://schemas.microsoft.com/office/drawing/2014/main" id="{07BA2992-1D72-9B56-9AB8-314FF8E7411E}"/>
              </a:ext>
            </a:extLst>
          </p:cNvPr>
          <p:cNvSpPr>
            <a:spLocks noGrp="1"/>
          </p:cNvSpPr>
          <p:nvPr>
            <p:ph type="dt" sz="half" idx="10"/>
          </p:nvPr>
        </p:nvSpPr>
        <p:spPr/>
        <p:txBody>
          <a:bodyPr/>
          <a:lstStyle>
            <a:lvl1pPr>
              <a:defRPr/>
            </a:lvl1pPr>
          </a:lstStyle>
          <a:p>
            <a:pPr>
              <a:defRPr/>
            </a:pPr>
            <a:fld id="{B43E1A8D-A887-41E1-AFEA-FA757A931424}" type="datetimeFigureOut">
              <a:rPr lang="en-US"/>
              <a:pPr>
                <a:defRPr/>
              </a:pPr>
              <a:t>3/1/2026</a:t>
            </a:fld>
            <a:endParaRPr lang="en-US"/>
          </a:p>
        </p:txBody>
      </p:sp>
      <p:sp>
        <p:nvSpPr>
          <p:cNvPr id="5" name="Footer Placeholder 2">
            <a:extLst>
              <a:ext uri="{FF2B5EF4-FFF2-40B4-BE49-F238E27FC236}">
                <a16:creationId xmlns:a16="http://schemas.microsoft.com/office/drawing/2014/main" id="{0DBE1EB9-5C4D-CD75-6F10-355556060EF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458ECE9A-AE66-6009-1909-AFBA21C30A04}"/>
              </a:ext>
            </a:extLst>
          </p:cNvPr>
          <p:cNvSpPr>
            <a:spLocks noGrp="1"/>
          </p:cNvSpPr>
          <p:nvPr>
            <p:ph type="sldNum" sz="quarter" idx="12"/>
          </p:nvPr>
        </p:nvSpPr>
        <p:spPr/>
        <p:txBody>
          <a:bodyPr/>
          <a:lstStyle>
            <a:lvl1pPr>
              <a:defRPr/>
            </a:lvl1pPr>
          </a:lstStyle>
          <a:p>
            <a:pPr>
              <a:defRPr/>
            </a:pPr>
            <a:fld id="{E32556C0-F105-4C73-A93E-F3B408498DE2}" type="slidenum">
              <a:rPr lang="en-US" altLang="en-US"/>
              <a:pPr>
                <a:defRPr/>
              </a:pPr>
              <a:t>‹#›</a:t>
            </a:fld>
            <a:endParaRPr lang="en-US" altLang="en-US"/>
          </a:p>
        </p:txBody>
      </p:sp>
    </p:spTree>
    <p:extLst>
      <p:ext uri="{BB962C8B-B14F-4D97-AF65-F5344CB8AC3E}">
        <p14:creationId xmlns:p14="http://schemas.microsoft.com/office/powerpoint/2010/main" val="2584380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E549D5B4-74FA-FAB7-4BE0-9428F8ED1B41}"/>
              </a:ext>
            </a:extLst>
          </p:cNvPr>
          <p:cNvSpPr>
            <a:spLocks noGrp="1"/>
          </p:cNvSpPr>
          <p:nvPr>
            <p:ph type="dt" sz="half" idx="10"/>
          </p:nvPr>
        </p:nvSpPr>
        <p:spPr/>
        <p:txBody>
          <a:bodyPr/>
          <a:lstStyle>
            <a:lvl1pPr>
              <a:defRPr/>
            </a:lvl1pPr>
          </a:lstStyle>
          <a:p>
            <a:pPr>
              <a:defRPr/>
            </a:pPr>
            <a:fld id="{8144FB4E-85B9-46F3-BE69-A504E67E8ECA}" type="datetimeFigureOut">
              <a:rPr lang="en-US"/>
              <a:pPr>
                <a:defRPr/>
              </a:pPr>
              <a:t>3/1/2026</a:t>
            </a:fld>
            <a:endParaRPr lang="en-US"/>
          </a:p>
        </p:txBody>
      </p:sp>
      <p:sp>
        <p:nvSpPr>
          <p:cNvPr id="6" name="Footer Placeholder 2">
            <a:extLst>
              <a:ext uri="{FF2B5EF4-FFF2-40B4-BE49-F238E27FC236}">
                <a16:creationId xmlns:a16="http://schemas.microsoft.com/office/drawing/2014/main" id="{A082B582-3A18-F439-81F8-DE4A0D265EE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E59A9EEC-F11E-5B09-FBEE-7CF9AF28B691}"/>
              </a:ext>
            </a:extLst>
          </p:cNvPr>
          <p:cNvSpPr>
            <a:spLocks noGrp="1"/>
          </p:cNvSpPr>
          <p:nvPr>
            <p:ph type="sldNum" sz="quarter" idx="12"/>
          </p:nvPr>
        </p:nvSpPr>
        <p:spPr/>
        <p:txBody>
          <a:bodyPr/>
          <a:lstStyle>
            <a:lvl1pPr>
              <a:defRPr/>
            </a:lvl1pPr>
          </a:lstStyle>
          <a:p>
            <a:pPr>
              <a:defRPr/>
            </a:pPr>
            <a:fld id="{178145B2-D53D-4A3F-847E-A01577993F03}" type="slidenum">
              <a:rPr lang="en-US" altLang="en-US"/>
              <a:pPr>
                <a:defRPr/>
              </a:pPr>
              <a:t>‹#›</a:t>
            </a:fld>
            <a:endParaRPr lang="en-US" altLang="en-US"/>
          </a:p>
        </p:txBody>
      </p:sp>
    </p:spTree>
    <p:extLst>
      <p:ext uri="{BB962C8B-B14F-4D97-AF65-F5344CB8AC3E}">
        <p14:creationId xmlns:p14="http://schemas.microsoft.com/office/powerpoint/2010/main" val="782606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lstStyle>
            <a:lvl1pPr>
              <a:defRPr sz="4000" b="0" i="0" cap="none" baseline="0"/>
            </a:lvl1pPr>
          </a:lstStyle>
          <a:p>
            <a:r>
              <a:rPr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5">
            <a:extLst>
              <a:ext uri="{FF2B5EF4-FFF2-40B4-BE49-F238E27FC236}">
                <a16:creationId xmlns:a16="http://schemas.microsoft.com/office/drawing/2014/main" id="{3F29CDB9-6B60-6103-C4E0-07087C9367F9}"/>
              </a:ext>
            </a:extLst>
          </p:cNvPr>
          <p:cNvSpPr>
            <a:spLocks noGrp="1"/>
          </p:cNvSpPr>
          <p:nvPr>
            <p:ph type="dt" sz="half" idx="10"/>
          </p:nvPr>
        </p:nvSpPr>
        <p:spPr/>
        <p:txBody>
          <a:bodyPr rtlCol="0"/>
          <a:lstStyle>
            <a:lvl1pPr>
              <a:defRPr/>
            </a:lvl1pPr>
          </a:lstStyle>
          <a:p>
            <a:pPr>
              <a:defRPr/>
            </a:pPr>
            <a:fld id="{A13E1DBE-95FE-44A7-A080-30F67B65448C}" type="datetimeFigureOut">
              <a:rPr lang="en-US"/>
              <a:pPr>
                <a:defRPr/>
              </a:pPr>
              <a:t>3/1/2026</a:t>
            </a:fld>
            <a:endParaRPr lang="en-US"/>
          </a:p>
        </p:txBody>
      </p:sp>
      <p:sp>
        <p:nvSpPr>
          <p:cNvPr id="8" name="Slide Number Placeholder 26">
            <a:extLst>
              <a:ext uri="{FF2B5EF4-FFF2-40B4-BE49-F238E27FC236}">
                <a16:creationId xmlns:a16="http://schemas.microsoft.com/office/drawing/2014/main" id="{50C6C3E0-41CF-5058-D0B6-F90173F1294A}"/>
              </a:ext>
            </a:extLst>
          </p:cNvPr>
          <p:cNvSpPr>
            <a:spLocks noGrp="1"/>
          </p:cNvSpPr>
          <p:nvPr>
            <p:ph type="sldNum" sz="quarter" idx="11"/>
          </p:nvPr>
        </p:nvSpPr>
        <p:spPr/>
        <p:txBody>
          <a:bodyPr/>
          <a:lstStyle>
            <a:lvl1pPr>
              <a:defRPr/>
            </a:lvl1pPr>
          </a:lstStyle>
          <a:p>
            <a:pPr>
              <a:defRPr/>
            </a:pPr>
            <a:fld id="{8712C389-12ED-42B3-A174-49A50C00174F}" type="slidenum">
              <a:rPr lang="en-US" altLang="en-US"/>
              <a:pPr>
                <a:defRPr/>
              </a:pPr>
              <a:t>‹#›</a:t>
            </a:fld>
            <a:endParaRPr lang="en-US" altLang="en-US"/>
          </a:p>
        </p:txBody>
      </p:sp>
      <p:sp>
        <p:nvSpPr>
          <p:cNvPr id="9" name="Footer Placeholder 27">
            <a:extLst>
              <a:ext uri="{FF2B5EF4-FFF2-40B4-BE49-F238E27FC236}">
                <a16:creationId xmlns:a16="http://schemas.microsoft.com/office/drawing/2014/main" id="{95D6DB8C-1D47-6448-6BBB-0B5949470428}"/>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3965016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lstStyle>
            <a:lvl1pPr>
              <a:defRPr sz="4000">
                <a:solidFill>
                  <a:schemeClr val="tx2"/>
                </a:solidFill>
              </a:defRPr>
            </a:lvl1pPr>
          </a:lstStyle>
          <a:p>
            <a:r>
              <a:rPr lang="en-US"/>
              <a:t>Click to edit Master title style</a:t>
            </a:r>
          </a:p>
        </p:txBody>
      </p:sp>
      <p:sp>
        <p:nvSpPr>
          <p:cNvPr id="3" name="Date Placeholder 2">
            <a:extLst>
              <a:ext uri="{FF2B5EF4-FFF2-40B4-BE49-F238E27FC236}">
                <a16:creationId xmlns:a16="http://schemas.microsoft.com/office/drawing/2014/main" id="{76C46052-4B8E-6B08-12EF-552738E5074F}"/>
              </a:ext>
            </a:extLst>
          </p:cNvPr>
          <p:cNvSpPr>
            <a:spLocks noGrp="1"/>
          </p:cNvSpPr>
          <p:nvPr>
            <p:ph type="dt" sz="half" idx="10"/>
          </p:nvPr>
        </p:nvSpPr>
        <p:spPr>
          <a:xfrm>
            <a:off x="6583363" y="612775"/>
            <a:ext cx="957262" cy="457200"/>
          </a:xfrm>
        </p:spPr>
        <p:txBody>
          <a:bodyPr/>
          <a:lstStyle>
            <a:lvl1pPr>
              <a:defRPr/>
            </a:lvl1pPr>
          </a:lstStyle>
          <a:p>
            <a:pPr>
              <a:defRPr/>
            </a:pPr>
            <a:fld id="{7995E383-CAA6-48A0-BBD7-774726EF62D8}" type="datetimeFigureOut">
              <a:rPr lang="en-US"/>
              <a:pPr>
                <a:defRPr/>
              </a:pPr>
              <a:t>3/1/2026</a:t>
            </a:fld>
            <a:endParaRPr lang="en-US"/>
          </a:p>
        </p:txBody>
      </p:sp>
      <p:sp>
        <p:nvSpPr>
          <p:cNvPr id="4" name="Footer Placeholder 3">
            <a:extLst>
              <a:ext uri="{FF2B5EF4-FFF2-40B4-BE49-F238E27FC236}">
                <a16:creationId xmlns:a16="http://schemas.microsoft.com/office/drawing/2014/main" id="{8F1E430A-1FB5-02B7-A1E6-E3B320620E5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C8A08725-6067-0B05-A789-DB96FF1A5E35}"/>
              </a:ext>
            </a:extLst>
          </p:cNvPr>
          <p:cNvSpPr>
            <a:spLocks noGrp="1"/>
          </p:cNvSpPr>
          <p:nvPr>
            <p:ph type="sldNum" sz="quarter" idx="12"/>
          </p:nvPr>
        </p:nvSpPr>
        <p:spPr/>
        <p:txBody>
          <a:bodyPr/>
          <a:lstStyle>
            <a:lvl1pPr>
              <a:defRPr/>
            </a:lvl1pPr>
          </a:lstStyle>
          <a:p>
            <a:pPr>
              <a:defRPr/>
            </a:pPr>
            <a:fld id="{29FF521E-D85D-4B34-94CC-CFD6CE784E85}" type="slidenum">
              <a:rPr lang="en-US" altLang="en-US"/>
              <a:pPr>
                <a:defRPr/>
              </a:pPr>
              <a:t>‹#›</a:t>
            </a:fld>
            <a:endParaRPr lang="en-US" altLang="en-US"/>
          </a:p>
        </p:txBody>
      </p:sp>
    </p:spTree>
    <p:extLst>
      <p:ext uri="{BB962C8B-B14F-4D97-AF65-F5344CB8AC3E}">
        <p14:creationId xmlns:p14="http://schemas.microsoft.com/office/powerpoint/2010/main" val="3771282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E668FE6C-9F38-285A-3FB6-3734B08E2224}"/>
              </a:ext>
            </a:extLst>
          </p:cNvPr>
          <p:cNvSpPr>
            <a:spLocks noGrp="1"/>
          </p:cNvSpPr>
          <p:nvPr>
            <p:ph type="dt" sz="half" idx="10"/>
          </p:nvPr>
        </p:nvSpPr>
        <p:spPr/>
        <p:txBody>
          <a:bodyPr/>
          <a:lstStyle>
            <a:lvl1pPr>
              <a:defRPr/>
            </a:lvl1pPr>
          </a:lstStyle>
          <a:p>
            <a:pPr>
              <a:defRPr/>
            </a:pPr>
            <a:fld id="{8F4036B8-E5C2-45B5-A297-8015372270FC}" type="datetimeFigureOut">
              <a:rPr lang="en-US"/>
              <a:pPr>
                <a:defRPr/>
              </a:pPr>
              <a:t>3/1/2026</a:t>
            </a:fld>
            <a:endParaRPr lang="en-US"/>
          </a:p>
        </p:txBody>
      </p:sp>
      <p:sp>
        <p:nvSpPr>
          <p:cNvPr id="3" name="Footer Placeholder 2">
            <a:extLst>
              <a:ext uri="{FF2B5EF4-FFF2-40B4-BE49-F238E27FC236}">
                <a16:creationId xmlns:a16="http://schemas.microsoft.com/office/drawing/2014/main" id="{F92CC5A6-6B2D-FACB-B1DD-3748AE5A0CC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503BE0F8-2505-ABA2-27E3-5B06A36F4AE6}"/>
              </a:ext>
            </a:extLst>
          </p:cNvPr>
          <p:cNvSpPr>
            <a:spLocks noGrp="1"/>
          </p:cNvSpPr>
          <p:nvPr>
            <p:ph type="sldNum" sz="quarter" idx="12"/>
          </p:nvPr>
        </p:nvSpPr>
        <p:spPr/>
        <p:txBody>
          <a:bodyPr/>
          <a:lstStyle>
            <a:lvl1pPr>
              <a:defRPr/>
            </a:lvl1pPr>
          </a:lstStyle>
          <a:p>
            <a:pPr>
              <a:defRPr/>
            </a:pPr>
            <a:fld id="{1992EF5D-859D-4B67-9762-021F54A92079}" type="slidenum">
              <a:rPr lang="en-US" altLang="en-US"/>
              <a:pPr>
                <a:defRPr/>
              </a:pPr>
              <a:t>‹#›</a:t>
            </a:fld>
            <a:endParaRPr lang="en-US" altLang="en-US"/>
          </a:p>
        </p:txBody>
      </p:sp>
    </p:spTree>
    <p:extLst>
      <p:ext uri="{BB962C8B-B14F-4D97-AF65-F5344CB8AC3E}">
        <p14:creationId xmlns:p14="http://schemas.microsoft.com/office/powerpoint/2010/main" val="467896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D93A2AD7-D638-11F2-F19C-FBCB19FF72E8}"/>
              </a:ext>
            </a:extLst>
          </p:cNvPr>
          <p:cNvSpPr>
            <a:spLocks noGrp="1"/>
          </p:cNvSpPr>
          <p:nvPr>
            <p:ph type="dt" sz="half" idx="10"/>
          </p:nvPr>
        </p:nvSpPr>
        <p:spPr/>
        <p:txBody>
          <a:bodyPr/>
          <a:lstStyle>
            <a:lvl1pPr>
              <a:defRPr/>
            </a:lvl1pPr>
          </a:lstStyle>
          <a:p>
            <a:pPr>
              <a:defRPr/>
            </a:pPr>
            <a:fld id="{99B0268D-D713-4E78-B08A-D63570030405}" type="datetimeFigureOut">
              <a:rPr lang="en-US"/>
              <a:pPr>
                <a:defRPr/>
              </a:pPr>
              <a:t>3/1/2026</a:t>
            </a:fld>
            <a:endParaRPr lang="en-US"/>
          </a:p>
        </p:txBody>
      </p:sp>
      <p:sp>
        <p:nvSpPr>
          <p:cNvPr id="6" name="Footer Placeholder 2">
            <a:extLst>
              <a:ext uri="{FF2B5EF4-FFF2-40B4-BE49-F238E27FC236}">
                <a16:creationId xmlns:a16="http://schemas.microsoft.com/office/drawing/2014/main" id="{A14E7545-81AB-FE62-1128-EFA42714068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9D2FC6C8-822D-1123-4375-10EAFF78140C}"/>
              </a:ext>
            </a:extLst>
          </p:cNvPr>
          <p:cNvSpPr>
            <a:spLocks noGrp="1"/>
          </p:cNvSpPr>
          <p:nvPr>
            <p:ph type="sldNum" sz="quarter" idx="12"/>
          </p:nvPr>
        </p:nvSpPr>
        <p:spPr/>
        <p:txBody>
          <a:bodyPr/>
          <a:lstStyle>
            <a:lvl1pPr>
              <a:defRPr/>
            </a:lvl1pPr>
          </a:lstStyle>
          <a:p>
            <a:pPr>
              <a:defRPr/>
            </a:pPr>
            <a:fld id="{5DDB7ACA-AD22-4897-ABDE-9658BA4E750A}" type="slidenum">
              <a:rPr lang="en-US" altLang="en-US"/>
              <a:pPr>
                <a:defRPr/>
              </a:pPr>
              <a:t>‹#›</a:t>
            </a:fld>
            <a:endParaRPr lang="en-US" altLang="en-US"/>
          </a:p>
        </p:txBody>
      </p:sp>
    </p:spTree>
    <p:extLst>
      <p:ext uri="{BB962C8B-B14F-4D97-AF65-F5344CB8AC3E}">
        <p14:creationId xmlns:p14="http://schemas.microsoft.com/office/powerpoint/2010/main" val="4066318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13">
            <a:extLst>
              <a:ext uri="{FF2B5EF4-FFF2-40B4-BE49-F238E27FC236}">
                <a16:creationId xmlns:a16="http://schemas.microsoft.com/office/drawing/2014/main" id="{C8A05F6E-1D16-C28C-8BE1-F2D835083D6B}"/>
              </a:ext>
            </a:extLst>
          </p:cNvPr>
          <p:cNvSpPr>
            <a:spLocks noGrp="1"/>
          </p:cNvSpPr>
          <p:nvPr>
            <p:ph type="dt" sz="half" idx="10"/>
          </p:nvPr>
        </p:nvSpPr>
        <p:spPr/>
        <p:txBody>
          <a:bodyPr/>
          <a:lstStyle>
            <a:lvl1pPr>
              <a:defRPr/>
            </a:lvl1pPr>
          </a:lstStyle>
          <a:p>
            <a:pPr>
              <a:defRPr/>
            </a:pPr>
            <a:fld id="{06A56005-907A-489B-B8B5-819A3F76378D}" type="datetimeFigureOut">
              <a:rPr lang="en-US"/>
              <a:pPr>
                <a:defRPr/>
              </a:pPr>
              <a:t>3/1/2026</a:t>
            </a:fld>
            <a:endParaRPr lang="en-US"/>
          </a:p>
        </p:txBody>
      </p:sp>
      <p:sp>
        <p:nvSpPr>
          <p:cNvPr id="6" name="Footer Placeholder 2">
            <a:extLst>
              <a:ext uri="{FF2B5EF4-FFF2-40B4-BE49-F238E27FC236}">
                <a16:creationId xmlns:a16="http://schemas.microsoft.com/office/drawing/2014/main" id="{286D944E-49C5-D8EE-566E-0C8E9EFC1A5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AB6D15F2-EE91-CEC7-621B-8D44B42B9AAF}"/>
              </a:ext>
            </a:extLst>
          </p:cNvPr>
          <p:cNvSpPr>
            <a:spLocks noGrp="1"/>
          </p:cNvSpPr>
          <p:nvPr>
            <p:ph type="sldNum" sz="quarter" idx="12"/>
          </p:nvPr>
        </p:nvSpPr>
        <p:spPr/>
        <p:txBody>
          <a:bodyPr/>
          <a:lstStyle>
            <a:lvl1pPr>
              <a:defRPr/>
            </a:lvl1pPr>
          </a:lstStyle>
          <a:p>
            <a:pPr>
              <a:defRPr/>
            </a:pPr>
            <a:fld id="{E933CA9C-E409-4211-AD3D-2637DB908F25}" type="slidenum">
              <a:rPr lang="en-US" altLang="en-US"/>
              <a:pPr>
                <a:defRPr/>
              </a:pPr>
              <a:t>‹#›</a:t>
            </a:fld>
            <a:endParaRPr lang="en-US" altLang="en-US"/>
          </a:p>
        </p:txBody>
      </p:sp>
    </p:spTree>
    <p:extLst>
      <p:ext uri="{BB962C8B-B14F-4D97-AF65-F5344CB8AC3E}">
        <p14:creationId xmlns:p14="http://schemas.microsoft.com/office/powerpoint/2010/main" val="3783088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0410F224-D132-5256-D97E-EF88F742EFB4}"/>
              </a:ext>
            </a:extLst>
          </p:cNvPr>
          <p:cNvSpPr>
            <a:spLocks noGrp="1"/>
          </p:cNvSpPr>
          <p:nvPr>
            <p:ph type="dt" sz="half" idx="10"/>
          </p:nvPr>
        </p:nvSpPr>
        <p:spPr/>
        <p:txBody>
          <a:bodyPr/>
          <a:lstStyle>
            <a:lvl1pPr>
              <a:defRPr/>
            </a:lvl1pPr>
          </a:lstStyle>
          <a:p>
            <a:pPr>
              <a:defRPr/>
            </a:pPr>
            <a:fld id="{FA14F397-18E6-4F83-AC0A-14A3563DE1FD}" type="datetimeFigureOut">
              <a:rPr lang="en-US"/>
              <a:pPr>
                <a:defRPr/>
              </a:pPr>
              <a:t>3/1/2026</a:t>
            </a:fld>
            <a:endParaRPr lang="en-US"/>
          </a:p>
        </p:txBody>
      </p:sp>
      <p:sp>
        <p:nvSpPr>
          <p:cNvPr id="5" name="Footer Placeholder 2">
            <a:extLst>
              <a:ext uri="{FF2B5EF4-FFF2-40B4-BE49-F238E27FC236}">
                <a16:creationId xmlns:a16="http://schemas.microsoft.com/office/drawing/2014/main" id="{21A706EB-A1DC-5BCD-3F14-4C05DA05F15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CC2A35DD-210A-6A3B-72DD-1C25E2A7D86A}"/>
              </a:ext>
            </a:extLst>
          </p:cNvPr>
          <p:cNvSpPr>
            <a:spLocks noGrp="1"/>
          </p:cNvSpPr>
          <p:nvPr>
            <p:ph type="sldNum" sz="quarter" idx="12"/>
          </p:nvPr>
        </p:nvSpPr>
        <p:spPr/>
        <p:txBody>
          <a:bodyPr/>
          <a:lstStyle>
            <a:lvl1pPr>
              <a:defRPr/>
            </a:lvl1pPr>
          </a:lstStyle>
          <a:p>
            <a:pPr>
              <a:defRPr/>
            </a:pPr>
            <a:fld id="{B8AA3A29-4F8C-423A-A6FA-155C7809C875}" type="slidenum">
              <a:rPr lang="en-US" altLang="en-US"/>
              <a:pPr>
                <a:defRPr/>
              </a:pPr>
              <a:t>‹#›</a:t>
            </a:fld>
            <a:endParaRPr lang="en-US" altLang="en-US"/>
          </a:p>
        </p:txBody>
      </p:sp>
    </p:spTree>
    <p:extLst>
      <p:ext uri="{BB962C8B-B14F-4D97-AF65-F5344CB8AC3E}">
        <p14:creationId xmlns:p14="http://schemas.microsoft.com/office/powerpoint/2010/main" val="57312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912A9FBE-4E26-4CCF-4D71-936FF1191EEE}"/>
              </a:ext>
            </a:extLst>
          </p:cNvPr>
          <p:cNvSpPr>
            <a:spLocks noGrp="1"/>
          </p:cNvSpPr>
          <p:nvPr>
            <p:ph type="dt" sz="half" idx="10"/>
          </p:nvPr>
        </p:nvSpPr>
        <p:spPr/>
        <p:txBody>
          <a:bodyPr/>
          <a:lstStyle>
            <a:lvl1pPr>
              <a:defRPr/>
            </a:lvl1pPr>
          </a:lstStyle>
          <a:p>
            <a:pPr>
              <a:defRPr/>
            </a:pPr>
            <a:fld id="{54645212-1552-445E-A0DC-503D67881F34}" type="datetimeFigureOut">
              <a:rPr lang="en-US"/>
              <a:pPr>
                <a:defRPr/>
              </a:pPr>
              <a:t>3/1/2026</a:t>
            </a:fld>
            <a:endParaRPr lang="en-US"/>
          </a:p>
        </p:txBody>
      </p:sp>
      <p:sp>
        <p:nvSpPr>
          <p:cNvPr id="5" name="Footer Placeholder 2">
            <a:extLst>
              <a:ext uri="{FF2B5EF4-FFF2-40B4-BE49-F238E27FC236}">
                <a16:creationId xmlns:a16="http://schemas.microsoft.com/office/drawing/2014/main" id="{7DB8FFCA-614C-267F-4366-278FAFC6660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863C03FD-8294-9E6F-9A53-D8942135F52A}"/>
              </a:ext>
            </a:extLst>
          </p:cNvPr>
          <p:cNvSpPr>
            <a:spLocks noGrp="1"/>
          </p:cNvSpPr>
          <p:nvPr>
            <p:ph type="sldNum" sz="quarter" idx="12"/>
          </p:nvPr>
        </p:nvSpPr>
        <p:spPr/>
        <p:txBody>
          <a:bodyPr/>
          <a:lstStyle>
            <a:lvl1pPr>
              <a:defRPr/>
            </a:lvl1pPr>
          </a:lstStyle>
          <a:p>
            <a:pPr>
              <a:defRPr/>
            </a:pPr>
            <a:fld id="{3FB63CAD-AF2C-48B3-B8DF-6C842E0AD687}" type="slidenum">
              <a:rPr lang="en-US" altLang="en-US"/>
              <a:pPr>
                <a:defRPr/>
              </a:pPr>
              <a:t>‹#›</a:t>
            </a:fld>
            <a:endParaRPr lang="en-US" altLang="en-US"/>
          </a:p>
        </p:txBody>
      </p:sp>
    </p:spTree>
    <p:extLst>
      <p:ext uri="{BB962C8B-B14F-4D97-AF65-F5344CB8AC3E}">
        <p14:creationId xmlns:p14="http://schemas.microsoft.com/office/powerpoint/2010/main" val="847469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414CAC9-F0A3-804C-367C-75ECDE82BF48}"/>
              </a:ext>
            </a:extLst>
          </p:cNvPr>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9" name="Rectangle 28">
            <a:extLst>
              <a:ext uri="{FF2B5EF4-FFF2-40B4-BE49-F238E27FC236}">
                <a16:creationId xmlns:a16="http://schemas.microsoft.com/office/drawing/2014/main" id="{8C34F9AA-10C1-DFDB-C9B3-1473613B2288}"/>
              </a:ext>
            </a:extLst>
          </p:cNvPr>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0" name="Rectangle 29">
            <a:extLst>
              <a:ext uri="{FF2B5EF4-FFF2-40B4-BE49-F238E27FC236}">
                <a16:creationId xmlns:a16="http://schemas.microsoft.com/office/drawing/2014/main" id="{7A805918-00D2-1A1C-713E-C69DB0AB71B1}"/>
              </a:ext>
            </a:extLst>
          </p:cNvPr>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a:extLst>
              <a:ext uri="{FF2B5EF4-FFF2-40B4-BE49-F238E27FC236}">
                <a16:creationId xmlns:a16="http://schemas.microsoft.com/office/drawing/2014/main" id="{94D7750A-D6E7-51B2-19F8-6CB3518D2819}"/>
              </a:ext>
            </a:extLst>
          </p:cNvPr>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a:extLst>
              <a:ext uri="{FF2B5EF4-FFF2-40B4-BE49-F238E27FC236}">
                <a16:creationId xmlns:a16="http://schemas.microsoft.com/office/drawing/2014/main" id="{D5EDC93C-EA7C-ACCA-8515-FBE1C895258B}"/>
              </a:ext>
            </a:extLst>
          </p:cNvPr>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33" name="Rounded Rectangle 32">
            <a:extLst>
              <a:ext uri="{FF2B5EF4-FFF2-40B4-BE49-F238E27FC236}">
                <a16:creationId xmlns:a16="http://schemas.microsoft.com/office/drawing/2014/main" id="{8AE44B75-157A-CC76-0826-42FA3371FE16}"/>
              </a:ext>
            </a:extLst>
          </p:cNvPr>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34" name="Rounded Rectangle 33">
            <a:extLst>
              <a:ext uri="{FF2B5EF4-FFF2-40B4-BE49-F238E27FC236}">
                <a16:creationId xmlns:a16="http://schemas.microsoft.com/office/drawing/2014/main" id="{E92F67E4-9987-C429-03D6-6C130099E929}"/>
              </a:ext>
            </a:extLst>
          </p:cNvPr>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5" name="Rectangle 34">
            <a:extLst>
              <a:ext uri="{FF2B5EF4-FFF2-40B4-BE49-F238E27FC236}">
                <a16:creationId xmlns:a16="http://schemas.microsoft.com/office/drawing/2014/main" id="{96FDD972-F27F-FC06-3E74-0ECAA2202CA2}"/>
              </a:ext>
            </a:extLst>
          </p:cNvPr>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6" name="Rectangle 35">
            <a:extLst>
              <a:ext uri="{FF2B5EF4-FFF2-40B4-BE49-F238E27FC236}">
                <a16:creationId xmlns:a16="http://schemas.microsoft.com/office/drawing/2014/main" id="{DD9ACF83-EBF8-C80C-76A7-E41230B03A75}"/>
              </a:ext>
            </a:extLst>
          </p:cNvPr>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7" name="Rectangle 36">
            <a:extLst>
              <a:ext uri="{FF2B5EF4-FFF2-40B4-BE49-F238E27FC236}">
                <a16:creationId xmlns:a16="http://schemas.microsoft.com/office/drawing/2014/main" id="{B38FBB3C-2E3F-C195-D5D5-7A4DC5DD6AC6}"/>
              </a:ext>
            </a:extLst>
          </p:cNvPr>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8" name="Rectangle 37">
            <a:extLst>
              <a:ext uri="{FF2B5EF4-FFF2-40B4-BE49-F238E27FC236}">
                <a16:creationId xmlns:a16="http://schemas.microsoft.com/office/drawing/2014/main" id="{F33835AD-333E-88B1-4AC6-05BCC485A6AD}"/>
              </a:ext>
            </a:extLst>
          </p:cNvPr>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9" name="Rectangle 38">
            <a:extLst>
              <a:ext uri="{FF2B5EF4-FFF2-40B4-BE49-F238E27FC236}">
                <a16:creationId xmlns:a16="http://schemas.microsoft.com/office/drawing/2014/main" id="{EADC6466-53DB-EADC-3CAD-BDECA89536B1}"/>
              </a:ext>
            </a:extLst>
          </p:cNvPr>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0" name="Rectangle 39">
            <a:extLst>
              <a:ext uri="{FF2B5EF4-FFF2-40B4-BE49-F238E27FC236}">
                <a16:creationId xmlns:a16="http://schemas.microsoft.com/office/drawing/2014/main" id="{E826FAA9-76AD-7168-EC1E-A5A452D52A4C}"/>
              </a:ext>
            </a:extLst>
          </p:cNvPr>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039" name="Title Placeholder 21">
            <a:extLst>
              <a:ext uri="{FF2B5EF4-FFF2-40B4-BE49-F238E27FC236}">
                <a16:creationId xmlns:a16="http://schemas.microsoft.com/office/drawing/2014/main" id="{4ECCF658-ADA3-2B48-88BA-DBA04269B871}"/>
              </a:ext>
            </a:extLst>
          </p:cNvPr>
          <p:cNvSpPr>
            <a:spLocks noGrp="1"/>
          </p:cNvSpPr>
          <p:nvPr>
            <p:ph type="title"/>
          </p:nvPr>
        </p:nvSpPr>
        <p:spPr bwMode="auto">
          <a:xfrm>
            <a:off x="457200" y="11430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40" name="Text Placeholder 12">
            <a:extLst>
              <a:ext uri="{FF2B5EF4-FFF2-40B4-BE49-F238E27FC236}">
                <a16:creationId xmlns:a16="http://schemas.microsoft.com/office/drawing/2014/main" id="{16C44584-1733-5D3E-E429-4D01526A8F45}"/>
              </a:ext>
            </a:extLst>
          </p:cNvPr>
          <p:cNvSpPr>
            <a:spLocks noGrp="1"/>
          </p:cNvSpPr>
          <p:nvPr>
            <p:ph type="body" idx="1"/>
          </p:nvPr>
        </p:nvSpPr>
        <p:spPr bwMode="auto">
          <a:xfrm>
            <a:off x="457200" y="2249488"/>
            <a:ext cx="8229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DCFDDB63-F6BA-81D3-8788-191C86B9F3DC}"/>
              </a:ext>
            </a:extLst>
          </p:cNvPr>
          <p:cNvSpPr>
            <a:spLocks noGrp="1"/>
          </p:cNvSpPr>
          <p:nvPr>
            <p:ph type="dt" sz="half" idx="2"/>
          </p:nvPr>
        </p:nvSpPr>
        <p:spPr>
          <a:xfrm>
            <a:off x="6586538" y="612775"/>
            <a:ext cx="957262" cy="457200"/>
          </a:xfrm>
          <a:prstGeom prst="rect">
            <a:avLst/>
          </a:prstGeom>
        </p:spPr>
        <p:txBody>
          <a:bodyPr vert="horz"/>
          <a:lstStyle>
            <a:lvl1pPr algn="l" eaLnBrk="1" fontAlgn="auto" latinLnBrk="0" hangingPunct="1">
              <a:spcBef>
                <a:spcPts val="0"/>
              </a:spcBef>
              <a:spcAft>
                <a:spcPts val="0"/>
              </a:spcAft>
              <a:defRPr kumimoji="0" sz="800">
                <a:solidFill>
                  <a:schemeClr val="accent2"/>
                </a:solidFill>
                <a:latin typeface="+mn-lt"/>
                <a:cs typeface="+mn-cs"/>
              </a:defRPr>
            </a:lvl1pPr>
          </a:lstStyle>
          <a:p>
            <a:pPr>
              <a:defRPr/>
            </a:pPr>
            <a:fld id="{F6D18E7C-467E-49DD-B14A-78515A23B151}" type="datetimeFigureOut">
              <a:rPr lang="en-US"/>
              <a:pPr>
                <a:defRPr/>
              </a:pPr>
              <a:t>3/1/2026</a:t>
            </a:fld>
            <a:endParaRPr lang="en-US"/>
          </a:p>
        </p:txBody>
      </p:sp>
      <p:sp>
        <p:nvSpPr>
          <p:cNvPr id="3" name="Footer Placeholder 2">
            <a:extLst>
              <a:ext uri="{FF2B5EF4-FFF2-40B4-BE49-F238E27FC236}">
                <a16:creationId xmlns:a16="http://schemas.microsoft.com/office/drawing/2014/main" id="{81AEA6D3-0F32-F74A-D970-6B7D2E692F4D}"/>
              </a:ext>
            </a:extLst>
          </p:cNvPr>
          <p:cNvSpPr>
            <a:spLocks noGrp="1"/>
          </p:cNvSpPr>
          <p:nvPr>
            <p:ph type="ftr" sz="quarter" idx="3"/>
          </p:nvPr>
        </p:nvSpPr>
        <p:spPr>
          <a:xfrm>
            <a:off x="5257800" y="612775"/>
            <a:ext cx="1325563" cy="457200"/>
          </a:xfrm>
          <a:prstGeom prst="rect">
            <a:avLst/>
          </a:prstGeom>
        </p:spPr>
        <p:txBody>
          <a:bodyPr vert="horz"/>
          <a:lstStyle>
            <a:lvl1pPr algn="r" eaLnBrk="1" fontAlgn="auto" latinLnBrk="0" hangingPunct="1">
              <a:spcBef>
                <a:spcPts val="0"/>
              </a:spcBef>
              <a:spcAft>
                <a:spcPts val="0"/>
              </a:spcAft>
              <a:defRPr kumimoji="0" sz="800">
                <a:solidFill>
                  <a:schemeClr val="accent2"/>
                </a:solidFill>
                <a:latin typeface="+mn-lt"/>
                <a:cs typeface="+mn-cs"/>
              </a:defRPr>
            </a:lvl1pPr>
          </a:lstStyle>
          <a:p>
            <a:pPr>
              <a:defRPr/>
            </a:pPr>
            <a:endParaRPr lang="en-US"/>
          </a:p>
        </p:txBody>
      </p:sp>
      <p:sp>
        <p:nvSpPr>
          <p:cNvPr id="23" name="Slide Number Placeholder 22">
            <a:extLst>
              <a:ext uri="{FF2B5EF4-FFF2-40B4-BE49-F238E27FC236}">
                <a16:creationId xmlns:a16="http://schemas.microsoft.com/office/drawing/2014/main" id="{047578A4-5D0F-D31A-3AF6-3C614A05E5D3}"/>
              </a:ext>
            </a:extLst>
          </p:cNvPr>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eaLnBrk="1" hangingPunct="1">
              <a:defRPr>
                <a:solidFill>
                  <a:srgbClr val="FFFFFF"/>
                </a:solidFill>
                <a:latin typeface="Georgia" panose="02040502050405020303" pitchFamily="18" charset="0"/>
              </a:defRPr>
            </a:lvl1pPr>
          </a:lstStyle>
          <a:p>
            <a:pPr>
              <a:defRPr/>
            </a:pPr>
            <a:fld id="{F61BF628-C7CB-4271-A1E6-C4BB7791EA3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629" r:id="rId1"/>
    <p:sldLayoutId id="2147484621" r:id="rId2"/>
    <p:sldLayoutId id="2147484622" r:id="rId3"/>
    <p:sldLayoutId id="2147484623" r:id="rId4"/>
    <p:sldLayoutId id="2147484630" r:id="rId5"/>
    <p:sldLayoutId id="2147484631" r:id="rId6"/>
    <p:sldLayoutId id="2147484624" r:id="rId7"/>
    <p:sldLayoutId id="2147484625" r:id="rId8"/>
    <p:sldLayoutId id="2147484626" r:id="rId9"/>
    <p:sldLayoutId id="2147484627" r:id="rId10"/>
    <p:sldLayoutId id="2147484628" r:id="rId11"/>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2"/>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oracle.com/cd/E24628_01/doc.121/e28814/cloud_overview_new.htm#CEGHHCIG" TargetMode="External"/><Relationship Id="rId7" Type="http://schemas.openxmlformats.org/officeDocument/2006/relationships/hyperlink" Target="https://docs.oracle.com/cd/E24628_01/doc.121/e28814/cloud_overview_new.htm#CEGIAICG" TargetMode="External"/><Relationship Id="rId2" Type="http://schemas.openxmlformats.org/officeDocument/2006/relationships/hyperlink" Target="https://docs.oracle.com/cd/E24628_01/doc.121/e28814/cloud_overview_new.htm#CEGHIDAF" TargetMode="External"/><Relationship Id="rId1" Type="http://schemas.openxmlformats.org/officeDocument/2006/relationships/slideLayout" Target="../slideLayouts/slideLayout2.xml"/><Relationship Id="rId6" Type="http://schemas.openxmlformats.org/officeDocument/2006/relationships/hyperlink" Target="https://docs.oracle.com/cd/E24628_01/doc.121/e28814/cloud_overview_new.htm#CEGHIBEA" TargetMode="External"/><Relationship Id="rId5" Type="http://schemas.openxmlformats.org/officeDocument/2006/relationships/hyperlink" Target="https://docs.oracle.com/cd/E24628_01/doc.121/e28814/cloud_overview_new.htm#CEGDCAJI" TargetMode="External"/><Relationship Id="rId4" Type="http://schemas.openxmlformats.org/officeDocument/2006/relationships/hyperlink" Target="https://docs.oracle.com/cd/E24628_01/doc.121/e28814/cloud_overview_new.htm#CEGJEHFB"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0928E3D6-75ED-68A9-6DBF-4760F9C2E41D}"/>
              </a:ext>
            </a:extLst>
          </p:cNvPr>
          <p:cNvSpPr>
            <a:spLocks noGrp="1"/>
          </p:cNvSpPr>
          <p:nvPr>
            <p:ph type="ctrTitle"/>
          </p:nvPr>
        </p:nvSpPr>
        <p:spPr>
          <a:xfrm>
            <a:off x="485775" y="838200"/>
            <a:ext cx="8458200" cy="1470025"/>
          </a:xfrm>
        </p:spPr>
        <p:txBody>
          <a:bodyPr/>
          <a:lstStyle/>
          <a:p>
            <a:r>
              <a:rPr lang="en-US" altLang="en-US" sz="3300"/>
              <a:t>EXPLORING CLOUD INFRASTRUCTURE</a:t>
            </a:r>
          </a:p>
        </p:txBody>
      </p:sp>
      <p:sp>
        <p:nvSpPr>
          <p:cNvPr id="6147" name="Subtitle 2">
            <a:extLst>
              <a:ext uri="{FF2B5EF4-FFF2-40B4-BE49-F238E27FC236}">
                <a16:creationId xmlns:a16="http://schemas.microsoft.com/office/drawing/2014/main" id="{E9B33812-0928-6B7D-8ED3-2A4E615A5A23}"/>
              </a:ext>
            </a:extLst>
          </p:cNvPr>
          <p:cNvSpPr>
            <a:spLocks noGrp="1"/>
          </p:cNvSpPr>
          <p:nvPr>
            <p:ph type="subTitle" idx="1"/>
          </p:nvPr>
        </p:nvSpPr>
        <p:spPr>
          <a:xfrm>
            <a:off x="990600" y="4746625"/>
            <a:ext cx="6858000" cy="1241425"/>
          </a:xfrm>
        </p:spPr>
        <p:txBody>
          <a:bodyPr/>
          <a:lstStyle/>
          <a:p>
            <a:pPr marL="63500"/>
            <a:r>
              <a:rPr lang="en-US" altLang="en-US"/>
              <a:t>Module-3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5578-AAC0-7E80-0A84-DB63C483CBAF}"/>
              </a:ext>
            </a:extLst>
          </p:cNvPr>
          <p:cNvSpPr>
            <a:spLocks noGrp="1"/>
          </p:cNvSpPr>
          <p:nvPr>
            <p:ph type="title"/>
          </p:nvPr>
        </p:nvSpPr>
        <p:spPr>
          <a:xfrm>
            <a:off x="212725" y="533400"/>
            <a:ext cx="7886700" cy="534988"/>
          </a:xfrm>
        </p:spPr>
        <p:txBody>
          <a:bodyPr>
            <a:noAutofit/>
          </a:bodyPr>
          <a:lstStyle/>
          <a:p>
            <a:pPr>
              <a:defRPr/>
            </a:pPr>
            <a:r>
              <a:rPr lang="en-US" sz="2400" b="1" cap="all" dirty="0">
                <a:solidFill>
                  <a:srgbClr val="C00000"/>
                </a:solidFill>
              </a:rPr>
              <a:t>EXPLORING CLOUD INFRASTRUCTURE</a:t>
            </a:r>
            <a:endParaRPr lang="en-US" sz="2400" b="1" dirty="0">
              <a:solidFill>
                <a:srgbClr val="C00000"/>
              </a:solidFill>
            </a:endParaRPr>
          </a:p>
        </p:txBody>
      </p:sp>
      <p:sp>
        <p:nvSpPr>
          <p:cNvPr id="3" name="Content Placeholder 2">
            <a:extLst>
              <a:ext uri="{FF2B5EF4-FFF2-40B4-BE49-F238E27FC236}">
                <a16:creationId xmlns:a16="http://schemas.microsoft.com/office/drawing/2014/main" id="{3A3EBB94-DE4F-ED0D-6FF7-D79ED92BCBA8}"/>
              </a:ext>
            </a:extLst>
          </p:cNvPr>
          <p:cNvSpPr>
            <a:spLocks noGrp="1"/>
          </p:cNvSpPr>
          <p:nvPr>
            <p:ph idx="1"/>
          </p:nvPr>
        </p:nvSpPr>
        <p:spPr>
          <a:xfrm>
            <a:off x="227013" y="1600200"/>
            <a:ext cx="8185150" cy="5257800"/>
          </a:xfrm>
        </p:spPr>
        <p:txBody>
          <a:bodyPr>
            <a:normAutofit/>
          </a:bodyPr>
          <a:lstStyle/>
          <a:p>
            <a:pPr>
              <a:defRPr/>
            </a:pPr>
            <a:endParaRPr lang="en-US" dirty="0"/>
          </a:p>
          <a:p>
            <a:pPr algn="just">
              <a:defRPr/>
            </a:pPr>
            <a:r>
              <a:rPr lang="en-US" sz="2000" dirty="0">
                <a:latin typeface="BerkeleyStd-Book"/>
              </a:rPr>
              <a:t>Administrating the Clouds ,Management responsibilities ,Lifecycle management , Cloud Management Products, </a:t>
            </a:r>
            <a:r>
              <a:rPr lang="en-US" sz="2000" dirty="0"/>
              <a:t>Emerging Cloud Management Standards, Securing the Cloud, Securing Data , Establishing Identity and Presence</a:t>
            </a:r>
          </a:p>
          <a:p>
            <a:pPr marL="109537" indent="0" algn="just">
              <a:buFont typeface="Georgia" panose="02040502050405020303" pitchFamily="18" charset="0"/>
              <a:buNone/>
              <a:defRPr/>
            </a:pPr>
            <a:r>
              <a:rPr lang="en-US" sz="2000" b="1" dirty="0">
                <a:solidFill>
                  <a:srgbClr val="002060"/>
                </a:solidFill>
                <a:latin typeface="Calibri"/>
              </a:rPr>
              <a:t>3. Tim Mather, Subra </a:t>
            </a:r>
            <a:r>
              <a:rPr lang="en-US" sz="2000" b="1" dirty="0" err="1">
                <a:solidFill>
                  <a:srgbClr val="002060"/>
                </a:solidFill>
                <a:latin typeface="Calibri"/>
              </a:rPr>
              <a:t>Kumarswamy</a:t>
            </a:r>
            <a:r>
              <a:rPr lang="en-US" sz="2000" b="1" dirty="0">
                <a:solidFill>
                  <a:srgbClr val="002060"/>
                </a:solidFill>
                <a:latin typeface="Calibri"/>
              </a:rPr>
              <a:t>, “Cloud Security and Privacy, 2009</a:t>
            </a:r>
          </a:p>
          <a:p>
            <a:pPr algn="just">
              <a:defRPr/>
            </a:pPr>
            <a:r>
              <a:rPr lang="en-US" sz="2000" dirty="0">
                <a:latin typeface="Calibri"/>
              </a:rPr>
              <a:t>Chapter 5: Identity and Access Management</a:t>
            </a:r>
          </a:p>
          <a:p>
            <a:pPr marL="109537" indent="0" algn="just">
              <a:buFont typeface="Georgia" panose="02040502050405020303" pitchFamily="18" charset="0"/>
              <a:buNone/>
              <a:defRPr/>
            </a:pPr>
            <a:endParaRPr lang="en-US" sz="2000" b="1" dirty="0">
              <a:solidFill>
                <a:srgbClr val="002060"/>
              </a:solidFill>
              <a:latin typeface="Calibri"/>
            </a:endParaRPr>
          </a:p>
          <a:p>
            <a:pPr marL="0" indent="0">
              <a:lnSpc>
                <a:spcPct val="160000"/>
              </a:lnSpc>
              <a:buFont typeface="Georgia" panose="02040502050405020303" pitchFamily="18" charset="0"/>
              <a:buNone/>
              <a:defRPr/>
            </a:pPr>
            <a:endParaRPr lang="en-US" sz="2400" dirty="0">
              <a:solidFill>
                <a:srgbClr val="0070C0"/>
              </a:solidFill>
              <a:sym typeface="Wingdings" panose="05000000000000000000" pitchFamily="2" charset="2"/>
            </a:endParaRPr>
          </a:p>
          <a:p>
            <a:pPr marL="0" indent="0">
              <a:lnSpc>
                <a:spcPct val="160000"/>
              </a:lnSpc>
              <a:buFont typeface="Georgia" panose="02040502050405020303" pitchFamily="18" charset="0"/>
              <a:buNone/>
              <a:defRPr/>
            </a:pPr>
            <a:endParaRPr lang="en-US" sz="2400" dirty="0">
              <a:sym typeface="Wingdings" panose="05000000000000000000" pitchFamily="2" charset="2"/>
            </a:endParaRPr>
          </a:p>
          <a:p>
            <a:pPr marL="0" indent="0">
              <a:lnSpc>
                <a:spcPct val="160000"/>
              </a:lnSpc>
              <a:buFont typeface="Georgia" panose="02040502050405020303" pitchFamily="18" charset="0"/>
              <a:buNone/>
              <a:defRPr/>
            </a:pPr>
            <a:endParaRPr lang="en-US" sz="4800" dirty="0">
              <a:sym typeface="Wingdings" panose="05000000000000000000" pitchFamily="2" charset="2"/>
            </a:endParaRPr>
          </a:p>
          <a:p>
            <a:pPr marL="0" indent="0">
              <a:lnSpc>
                <a:spcPct val="160000"/>
              </a:lnSpc>
              <a:buFont typeface="Georgia" panose="02040502050405020303" pitchFamily="18" charset="0"/>
              <a:buNone/>
              <a:defRPr/>
            </a:pPr>
            <a:endParaRPr lang="en-US" sz="3825" dirty="0">
              <a:sym typeface="Wingdings" panose="05000000000000000000" pitchFamily="2" charset="2"/>
            </a:endParaRPr>
          </a:p>
          <a:p>
            <a:pPr marL="0" indent="0">
              <a:lnSpc>
                <a:spcPct val="160000"/>
              </a:lnSpc>
              <a:buFont typeface="Georgia" panose="02040502050405020303" pitchFamily="18" charset="0"/>
              <a:buNone/>
              <a:defRPr/>
            </a:pPr>
            <a:endParaRPr lang="en-US" dirty="0"/>
          </a:p>
        </p:txBody>
      </p:sp>
      <p:sp>
        <p:nvSpPr>
          <p:cNvPr id="7172" name="TextBox 4">
            <a:extLst>
              <a:ext uri="{FF2B5EF4-FFF2-40B4-BE49-F238E27FC236}">
                <a16:creationId xmlns:a16="http://schemas.microsoft.com/office/drawing/2014/main" id="{DC798FDD-A72F-06EE-E8FC-9C988BE81A24}"/>
              </a:ext>
            </a:extLst>
          </p:cNvPr>
          <p:cNvSpPr txBox="1">
            <a:spLocks noChangeArrowheads="1"/>
          </p:cNvSpPr>
          <p:nvPr/>
        </p:nvSpPr>
        <p:spPr bwMode="auto">
          <a:xfrm>
            <a:off x="461963" y="1219200"/>
            <a:ext cx="8682037" cy="9239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b="1">
                <a:solidFill>
                  <a:srgbClr val="002060"/>
                </a:solidFill>
              </a:rPr>
              <a:t>1. Barrie Sosinsky, “Cloud Computing Bible”,  Wiley-India, 2010 </a:t>
            </a:r>
            <a:r>
              <a:rPr lang="en-US" altLang="en-US">
                <a:solidFill>
                  <a:srgbClr val="002060"/>
                </a:solidFill>
              </a:rPr>
              <a:t>. </a:t>
            </a:r>
            <a:r>
              <a:rPr lang="en-US" altLang="en-US" b="1">
                <a:solidFill>
                  <a:srgbClr val="002060"/>
                </a:solidFill>
              </a:rPr>
              <a:t>(Text Book 1 Chapter 11 &amp; 12)</a:t>
            </a:r>
          </a:p>
          <a:p>
            <a:r>
              <a:rPr lang="en-US" altLang="en-US" b="1">
                <a:solidFill>
                  <a:srgbClr val="002060"/>
                </a:solidFill>
              </a:rPr>
              <a:t>2. Reference : White paper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88412E21-52F9-3360-22F6-92A7171A5478}"/>
              </a:ext>
            </a:extLst>
          </p:cNvPr>
          <p:cNvSpPr>
            <a:spLocks noGrp="1"/>
          </p:cNvSpPr>
          <p:nvPr>
            <p:ph type="title"/>
          </p:nvPr>
        </p:nvSpPr>
        <p:spPr>
          <a:xfrm>
            <a:off x="381000" y="533400"/>
            <a:ext cx="8229600" cy="1066800"/>
          </a:xfrm>
        </p:spPr>
        <p:txBody>
          <a:bodyPr/>
          <a:lstStyle/>
          <a:p>
            <a:r>
              <a:rPr lang="en-US" altLang="en-US">
                <a:latin typeface="BerkeleyStd-Book"/>
              </a:rPr>
              <a:t>Administrating the Clouds</a:t>
            </a:r>
            <a:endParaRPr lang="en-US" altLang="en-US"/>
          </a:p>
        </p:txBody>
      </p:sp>
      <p:sp>
        <p:nvSpPr>
          <p:cNvPr id="9219" name="Content Placeholder 2">
            <a:extLst>
              <a:ext uri="{FF2B5EF4-FFF2-40B4-BE49-F238E27FC236}">
                <a16:creationId xmlns:a16="http://schemas.microsoft.com/office/drawing/2014/main" id="{C4134BD5-CCF7-4B79-5E33-5FA9193312B8}"/>
              </a:ext>
            </a:extLst>
          </p:cNvPr>
          <p:cNvSpPr>
            <a:spLocks noGrp="1"/>
          </p:cNvSpPr>
          <p:nvPr>
            <p:ph idx="1"/>
          </p:nvPr>
        </p:nvSpPr>
        <p:spPr>
          <a:xfrm>
            <a:off x="381000" y="1752600"/>
            <a:ext cx="8229600" cy="4516438"/>
          </a:xfrm>
        </p:spPr>
        <p:txBody>
          <a:bodyPr/>
          <a:lstStyle/>
          <a:p>
            <a:pPr algn="just"/>
            <a:r>
              <a:rPr lang="en-US" altLang="en-US"/>
              <a:t>The </a:t>
            </a:r>
            <a:r>
              <a:rPr lang="en-US" altLang="en-US" b="1"/>
              <a:t>explosive growth in cloud computing services</a:t>
            </a:r>
            <a:r>
              <a:rPr lang="en-US" altLang="en-US"/>
              <a:t> has led many </a:t>
            </a:r>
            <a:r>
              <a:rPr lang="en-US" altLang="en-US" b="1"/>
              <a:t>vendors to rename their products </a:t>
            </a:r>
            <a:r>
              <a:rPr lang="en-US" altLang="en-US"/>
              <a:t>and reposition them to get in on the gold rush in the clouds. </a:t>
            </a:r>
          </a:p>
          <a:p>
            <a:pPr algn="just"/>
            <a:r>
              <a:rPr lang="en-US" altLang="en-US" b="1"/>
              <a:t>What </a:t>
            </a:r>
            <a:r>
              <a:rPr lang="en-US" altLang="en-US" b="1" i="1"/>
              <a:t>was once a network management </a:t>
            </a:r>
            <a:r>
              <a:rPr lang="en-US" altLang="en-US" b="1"/>
              <a:t>product </a:t>
            </a:r>
            <a:r>
              <a:rPr lang="en-US" altLang="en-US"/>
              <a:t>is </a:t>
            </a:r>
            <a:r>
              <a:rPr lang="en-US" altLang="en-US" b="1" i="1"/>
              <a:t>now a cloud management product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BB20609C-DB74-1894-68EC-394F56F13119}"/>
              </a:ext>
            </a:extLst>
          </p:cNvPr>
          <p:cNvSpPr>
            <a:spLocks noGrp="1"/>
          </p:cNvSpPr>
          <p:nvPr>
            <p:ph type="title"/>
          </p:nvPr>
        </p:nvSpPr>
        <p:spPr>
          <a:xfrm>
            <a:off x="381000" y="533400"/>
            <a:ext cx="8229600" cy="1066800"/>
          </a:xfrm>
        </p:spPr>
        <p:txBody>
          <a:bodyPr/>
          <a:lstStyle/>
          <a:p>
            <a:r>
              <a:rPr lang="en-US" altLang="en-US">
                <a:latin typeface="BerkeleyStd-Book"/>
              </a:rPr>
              <a:t>Administrating the Clouds</a:t>
            </a:r>
            <a:endParaRPr lang="en-US" altLang="en-US"/>
          </a:p>
        </p:txBody>
      </p:sp>
      <p:sp>
        <p:nvSpPr>
          <p:cNvPr id="3" name="Content Placeholder 2">
            <a:extLst>
              <a:ext uri="{FF2B5EF4-FFF2-40B4-BE49-F238E27FC236}">
                <a16:creationId xmlns:a16="http://schemas.microsoft.com/office/drawing/2014/main" id="{D674ACC4-E779-E67C-FA65-AFB3CC94FCB1}"/>
              </a:ext>
            </a:extLst>
          </p:cNvPr>
          <p:cNvSpPr>
            <a:spLocks noGrp="1"/>
          </p:cNvSpPr>
          <p:nvPr>
            <p:ph idx="1"/>
          </p:nvPr>
        </p:nvSpPr>
        <p:spPr>
          <a:xfrm>
            <a:off x="0" y="1752600"/>
            <a:ext cx="9144000" cy="4516438"/>
          </a:xfrm>
        </p:spPr>
        <p:txBody>
          <a:bodyPr/>
          <a:lstStyle/>
          <a:p>
            <a:pPr marL="109537" indent="0" algn="just">
              <a:buFont typeface="Georgia" panose="02040502050405020303" pitchFamily="18" charset="0"/>
              <a:buNone/>
              <a:defRPr/>
            </a:pPr>
            <a:r>
              <a:rPr lang="en-US" b="1" dirty="0"/>
              <a:t>Fundamental features are </a:t>
            </a:r>
            <a:r>
              <a:rPr lang="en-US" dirty="0"/>
              <a:t>offered by </a:t>
            </a:r>
            <a:r>
              <a:rPr lang="en-US" b="1" dirty="0"/>
              <a:t>traditional network management systems:</a:t>
            </a:r>
          </a:p>
          <a:p>
            <a:pPr>
              <a:defRPr/>
            </a:pPr>
            <a:r>
              <a:rPr lang="en-US" dirty="0"/>
              <a:t>Administration of resources</a:t>
            </a:r>
          </a:p>
          <a:p>
            <a:pPr>
              <a:defRPr/>
            </a:pPr>
            <a:r>
              <a:rPr lang="en-US" dirty="0"/>
              <a:t>Configuring resources</a:t>
            </a:r>
          </a:p>
          <a:p>
            <a:pPr>
              <a:defRPr/>
            </a:pPr>
            <a:r>
              <a:rPr lang="en-US" dirty="0"/>
              <a:t>Enforcing security</a:t>
            </a:r>
          </a:p>
          <a:p>
            <a:pPr>
              <a:defRPr/>
            </a:pPr>
            <a:r>
              <a:rPr lang="en-US" dirty="0"/>
              <a:t>Monitoring operations</a:t>
            </a:r>
          </a:p>
          <a:p>
            <a:pPr>
              <a:defRPr/>
            </a:pPr>
            <a:r>
              <a:rPr lang="en-US" dirty="0"/>
              <a:t>Optimizing performance</a:t>
            </a:r>
          </a:p>
          <a:p>
            <a:pPr>
              <a:defRPr/>
            </a:pPr>
            <a:r>
              <a:rPr lang="en-US" dirty="0"/>
              <a:t>Policy management</a:t>
            </a:r>
          </a:p>
          <a:p>
            <a:pPr>
              <a:defRPr/>
            </a:pPr>
            <a:r>
              <a:rPr lang="en-US" dirty="0"/>
              <a:t>Performing maintenance</a:t>
            </a:r>
          </a:p>
          <a:p>
            <a:pPr>
              <a:defRPr/>
            </a:pPr>
            <a:r>
              <a:rPr lang="en-US" dirty="0"/>
              <a:t>Provisioning of resources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B866B56-5ED8-7572-A332-018A7F5F2FDE}"/>
              </a:ext>
            </a:extLst>
          </p:cNvPr>
          <p:cNvSpPr>
            <a:spLocks noGrp="1"/>
          </p:cNvSpPr>
          <p:nvPr>
            <p:ph type="title"/>
          </p:nvPr>
        </p:nvSpPr>
        <p:spPr>
          <a:xfrm>
            <a:off x="304800" y="609600"/>
            <a:ext cx="8229600" cy="1066800"/>
          </a:xfrm>
        </p:spPr>
        <p:txBody>
          <a:bodyPr/>
          <a:lstStyle/>
          <a:p>
            <a:r>
              <a:rPr lang="en-US" altLang="en-US" sz="3200" b="1"/>
              <a:t>Describing virtualization</a:t>
            </a:r>
            <a:br>
              <a:rPr lang="en-US" altLang="en-US"/>
            </a:br>
            <a:endParaRPr lang="en-US" altLang="en-US"/>
          </a:p>
        </p:txBody>
      </p:sp>
      <p:sp>
        <p:nvSpPr>
          <p:cNvPr id="11267" name="Content Placeholder 2">
            <a:extLst>
              <a:ext uri="{FF2B5EF4-FFF2-40B4-BE49-F238E27FC236}">
                <a16:creationId xmlns:a16="http://schemas.microsoft.com/office/drawing/2014/main" id="{AD098D7C-4698-B9A2-5198-C840763F3E5C}"/>
              </a:ext>
            </a:extLst>
          </p:cNvPr>
          <p:cNvSpPr>
            <a:spLocks noGrp="1"/>
          </p:cNvSpPr>
          <p:nvPr>
            <p:ph idx="1"/>
          </p:nvPr>
        </p:nvSpPr>
        <p:spPr>
          <a:xfrm>
            <a:off x="457200" y="1295400"/>
            <a:ext cx="8229600" cy="5278438"/>
          </a:xfrm>
        </p:spPr>
        <p:txBody>
          <a:bodyPr/>
          <a:lstStyle/>
          <a:p>
            <a:pPr>
              <a:defRPr/>
            </a:pPr>
            <a:endParaRPr lang="en-US" dirty="0">
              <a:solidFill>
                <a:prstClr val="black"/>
              </a:solidFill>
            </a:endParaRPr>
          </a:p>
          <a:p>
            <a:pPr marL="109537" indent="0" algn="just">
              <a:buFont typeface="Georgia" panose="02040502050405020303" pitchFamily="18" charset="0"/>
              <a:buNone/>
              <a:defRPr/>
            </a:pPr>
            <a:r>
              <a:rPr lang="en-US" b="1" dirty="0">
                <a:solidFill>
                  <a:prstClr val="black"/>
                </a:solidFill>
              </a:rPr>
              <a:t>Network management systems</a:t>
            </a:r>
            <a:r>
              <a:rPr lang="en-US" dirty="0">
                <a:solidFill>
                  <a:prstClr val="black"/>
                </a:solidFill>
              </a:rPr>
              <a:t> are often described in terms of the </a:t>
            </a:r>
            <a:r>
              <a:rPr lang="en-US" b="1" dirty="0">
                <a:solidFill>
                  <a:prstClr val="black"/>
                </a:solidFill>
              </a:rPr>
              <a:t>acronym FCAPS</a:t>
            </a:r>
            <a:r>
              <a:rPr lang="en-US" dirty="0">
                <a:solidFill>
                  <a:prstClr val="black"/>
                </a:solidFill>
              </a:rPr>
              <a:t>, which stands for these features:</a:t>
            </a:r>
          </a:p>
          <a:p>
            <a:pPr>
              <a:defRPr/>
            </a:pPr>
            <a:r>
              <a:rPr lang="en-US" b="1" dirty="0">
                <a:solidFill>
                  <a:prstClr val="black"/>
                </a:solidFill>
              </a:rPr>
              <a:t>F</a:t>
            </a:r>
            <a:r>
              <a:rPr lang="en-US" dirty="0">
                <a:solidFill>
                  <a:prstClr val="black"/>
                </a:solidFill>
              </a:rPr>
              <a:t> </a:t>
            </a:r>
            <a:r>
              <a:rPr lang="en-US" dirty="0" err="1">
                <a:solidFill>
                  <a:prstClr val="black"/>
                </a:solidFill>
              </a:rPr>
              <a:t>ault</a:t>
            </a:r>
            <a:endParaRPr lang="en-US" dirty="0">
              <a:solidFill>
                <a:prstClr val="black"/>
              </a:solidFill>
            </a:endParaRPr>
          </a:p>
          <a:p>
            <a:pPr>
              <a:defRPr/>
            </a:pPr>
            <a:r>
              <a:rPr lang="en-US" b="1" dirty="0">
                <a:solidFill>
                  <a:prstClr val="black"/>
                </a:solidFill>
              </a:rPr>
              <a:t>C</a:t>
            </a:r>
            <a:r>
              <a:rPr lang="en-US" dirty="0">
                <a:solidFill>
                  <a:prstClr val="black"/>
                </a:solidFill>
              </a:rPr>
              <a:t> </a:t>
            </a:r>
            <a:r>
              <a:rPr lang="en-US" dirty="0" err="1">
                <a:solidFill>
                  <a:prstClr val="black"/>
                </a:solidFill>
              </a:rPr>
              <a:t>onfiguration</a:t>
            </a:r>
            <a:endParaRPr lang="en-US" dirty="0">
              <a:solidFill>
                <a:prstClr val="black"/>
              </a:solidFill>
            </a:endParaRPr>
          </a:p>
          <a:p>
            <a:pPr>
              <a:defRPr/>
            </a:pPr>
            <a:r>
              <a:rPr lang="en-US" b="1" dirty="0">
                <a:solidFill>
                  <a:prstClr val="black"/>
                </a:solidFill>
              </a:rPr>
              <a:t>A</a:t>
            </a:r>
            <a:r>
              <a:rPr lang="en-US" dirty="0">
                <a:solidFill>
                  <a:prstClr val="black"/>
                </a:solidFill>
              </a:rPr>
              <a:t> </a:t>
            </a:r>
            <a:r>
              <a:rPr lang="en-US" dirty="0" err="1">
                <a:solidFill>
                  <a:prstClr val="black"/>
                </a:solidFill>
              </a:rPr>
              <a:t>ccounting</a:t>
            </a:r>
            <a:endParaRPr lang="en-US" dirty="0">
              <a:solidFill>
                <a:prstClr val="black"/>
              </a:solidFill>
            </a:endParaRPr>
          </a:p>
          <a:p>
            <a:pPr>
              <a:defRPr/>
            </a:pPr>
            <a:r>
              <a:rPr lang="en-US" b="1" dirty="0">
                <a:solidFill>
                  <a:prstClr val="black"/>
                </a:solidFill>
              </a:rPr>
              <a:t>P</a:t>
            </a:r>
            <a:r>
              <a:rPr lang="en-US" dirty="0">
                <a:solidFill>
                  <a:prstClr val="black"/>
                </a:solidFill>
              </a:rPr>
              <a:t> </a:t>
            </a:r>
            <a:r>
              <a:rPr lang="en-US" dirty="0" err="1">
                <a:solidFill>
                  <a:prstClr val="black"/>
                </a:solidFill>
              </a:rPr>
              <a:t>erformance</a:t>
            </a:r>
            <a:endParaRPr lang="en-US" dirty="0">
              <a:solidFill>
                <a:prstClr val="black"/>
              </a:solidFill>
            </a:endParaRPr>
          </a:p>
          <a:p>
            <a:pPr>
              <a:defRPr/>
            </a:pPr>
            <a:r>
              <a:rPr lang="en-US" b="1" dirty="0">
                <a:solidFill>
                  <a:prstClr val="black"/>
                </a:solidFill>
              </a:rPr>
              <a:t>S</a:t>
            </a:r>
            <a:r>
              <a:rPr lang="en-US" dirty="0">
                <a:solidFill>
                  <a:prstClr val="black"/>
                </a:solidFill>
              </a:rPr>
              <a:t> </a:t>
            </a:r>
            <a:r>
              <a:rPr lang="en-US" dirty="0" err="1">
                <a:solidFill>
                  <a:prstClr val="black"/>
                </a:solidFill>
              </a:rPr>
              <a:t>ecurity</a:t>
            </a:r>
            <a:endParaRPr lang="en-US" dirty="0">
              <a:solidFill>
                <a:prstClr val="black"/>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5E7790CA-220A-B34E-018D-930578234CA4}"/>
              </a:ext>
            </a:extLst>
          </p:cNvPr>
          <p:cNvSpPr>
            <a:spLocks noGrp="1"/>
          </p:cNvSpPr>
          <p:nvPr>
            <p:ph type="title"/>
          </p:nvPr>
        </p:nvSpPr>
        <p:spPr>
          <a:xfrm>
            <a:off x="304800" y="609600"/>
            <a:ext cx="8229600" cy="1066800"/>
          </a:xfrm>
        </p:spPr>
        <p:txBody>
          <a:bodyPr/>
          <a:lstStyle/>
          <a:p>
            <a:r>
              <a:rPr lang="en-US" altLang="en-US" sz="3200" b="1"/>
              <a:t>Describing virtualization</a:t>
            </a:r>
            <a:br>
              <a:rPr lang="en-US" altLang="en-US"/>
            </a:br>
            <a:endParaRPr lang="en-US" altLang="en-US"/>
          </a:p>
        </p:txBody>
      </p:sp>
      <p:sp>
        <p:nvSpPr>
          <p:cNvPr id="2" name="Content Placeholder 1">
            <a:extLst>
              <a:ext uri="{FF2B5EF4-FFF2-40B4-BE49-F238E27FC236}">
                <a16:creationId xmlns:a16="http://schemas.microsoft.com/office/drawing/2014/main" id="{0F2B51A6-37F9-D4D1-1BB3-D96C4FB1DA47}"/>
              </a:ext>
            </a:extLst>
          </p:cNvPr>
          <p:cNvSpPr>
            <a:spLocks noGrp="1"/>
          </p:cNvSpPr>
          <p:nvPr>
            <p:ph idx="1"/>
          </p:nvPr>
        </p:nvSpPr>
        <p:spPr/>
        <p:txBody>
          <a:bodyPr/>
          <a:lstStyle/>
          <a:p>
            <a:pPr marL="109537" indent="0">
              <a:buFont typeface="Georgia" panose="02040502050405020303" pitchFamily="18" charset="0"/>
              <a:buNone/>
              <a:defRPr/>
            </a:pPr>
            <a:r>
              <a:rPr lang="en-US" b="1" dirty="0"/>
              <a:t>Benefits of FCAPS</a:t>
            </a:r>
          </a:p>
          <a:p>
            <a:pPr algn="just">
              <a:defRPr/>
            </a:pPr>
            <a:r>
              <a:rPr lang="en-US" dirty="0"/>
              <a:t>The FCAPS framework </a:t>
            </a:r>
            <a:r>
              <a:rPr lang="en-US" b="1" dirty="0"/>
              <a:t>helps network teams address every critical aspect of network </a:t>
            </a:r>
            <a:r>
              <a:rPr lang="en-US" dirty="0"/>
              <a:t>operations. </a:t>
            </a:r>
          </a:p>
          <a:p>
            <a:pPr algn="just">
              <a:defRPr/>
            </a:pPr>
            <a:r>
              <a:rPr lang="en-US" dirty="0"/>
              <a:t>It provides a structured approach </a:t>
            </a:r>
            <a:r>
              <a:rPr lang="en-US" b="1" dirty="0"/>
              <a:t>to maintain and optimize networks.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CB5A299-5C36-A4D6-36FD-5BA86632D36F}"/>
              </a:ext>
            </a:extLst>
          </p:cNvPr>
          <p:cNvSpPr>
            <a:spLocks noGrp="1"/>
          </p:cNvSpPr>
          <p:nvPr>
            <p:ph type="title"/>
          </p:nvPr>
        </p:nvSpPr>
        <p:spPr>
          <a:xfrm>
            <a:off x="304800" y="609600"/>
            <a:ext cx="8229600" cy="1066800"/>
          </a:xfrm>
        </p:spPr>
        <p:txBody>
          <a:bodyPr/>
          <a:lstStyle/>
          <a:p>
            <a:r>
              <a:rPr lang="en-US" altLang="en-US" sz="3200">
                <a:latin typeface="BerkeleyStd-Book"/>
              </a:rPr>
              <a:t>Administrating the Clouds</a:t>
            </a:r>
            <a:br>
              <a:rPr lang="en-US" altLang="en-US"/>
            </a:br>
            <a:endParaRPr lang="en-US" altLang="en-US"/>
          </a:p>
        </p:txBody>
      </p:sp>
      <p:sp>
        <p:nvSpPr>
          <p:cNvPr id="17411" name="Content Placeholder 2">
            <a:extLst>
              <a:ext uri="{FF2B5EF4-FFF2-40B4-BE49-F238E27FC236}">
                <a16:creationId xmlns:a16="http://schemas.microsoft.com/office/drawing/2014/main" id="{B37B0004-C560-4935-7D26-330DB55FEC41}"/>
              </a:ext>
            </a:extLst>
          </p:cNvPr>
          <p:cNvSpPr>
            <a:spLocks noGrp="1"/>
          </p:cNvSpPr>
          <p:nvPr>
            <p:ph idx="1"/>
          </p:nvPr>
        </p:nvSpPr>
        <p:spPr>
          <a:xfrm>
            <a:off x="0" y="1295400"/>
            <a:ext cx="9144000" cy="5278438"/>
          </a:xfrm>
        </p:spPr>
        <p:txBody>
          <a:bodyPr/>
          <a:lstStyle/>
          <a:p>
            <a:endParaRPr lang="en-US" altLang="en-US">
              <a:solidFill>
                <a:srgbClr val="000000"/>
              </a:solidFill>
            </a:endParaRPr>
          </a:p>
          <a:p>
            <a:pPr algn="just"/>
            <a:r>
              <a:rPr lang="en-US" altLang="en-US"/>
              <a:t>Most </a:t>
            </a:r>
            <a:r>
              <a:rPr lang="en-US" altLang="en-US" b="1"/>
              <a:t>network management packages have one or more of these characteristics; no single package provides all five elements of FCAPS</a:t>
            </a:r>
            <a:r>
              <a:rPr lang="en-US" altLang="en-US"/>
              <a:t>. </a:t>
            </a:r>
          </a:p>
          <a:p>
            <a:pPr algn="just"/>
            <a:r>
              <a:rPr lang="en-US" altLang="en-US"/>
              <a:t>To get the complete set of all five of these management areas </a:t>
            </a:r>
            <a:r>
              <a:rPr lang="en-US" altLang="en-US" b="1"/>
              <a:t>from a single vendor</a:t>
            </a:r>
            <a:r>
              <a:rPr lang="en-US" altLang="en-US"/>
              <a:t>, you would </a:t>
            </a:r>
            <a:r>
              <a:rPr lang="en-US" altLang="en-US" b="1"/>
              <a:t>need to adopt a network management framework</a:t>
            </a:r>
            <a:r>
              <a:rPr lang="en-US" altLang="en-US"/>
              <a:t>. </a:t>
            </a:r>
          </a:p>
          <a:p>
            <a:pPr algn="just"/>
            <a:r>
              <a:rPr lang="en-US" altLang="en-US"/>
              <a:t>These large </a:t>
            </a:r>
            <a:r>
              <a:rPr lang="en-US" altLang="en-US" b="1"/>
              <a:t>network management frameworks </a:t>
            </a:r>
            <a:r>
              <a:rPr lang="en-US" altLang="en-US"/>
              <a:t>were </a:t>
            </a:r>
            <a:r>
              <a:rPr lang="en-US" altLang="en-US" b="1"/>
              <a:t>industry leaders several years ba</a:t>
            </a:r>
            <a:r>
              <a:rPr lang="en-US" altLang="en-US"/>
              <a:t>ck: BMC PATROL, CA Unicenter, IBM Tivoli, HP OpenView, and Microsoft System Center. `</a:t>
            </a:r>
            <a:endParaRPr lang="en-US" altLang="en-US">
              <a:solidFill>
                <a:srgbClr val="000000"/>
              </a:solidFill>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ECFD480-C1B5-62F5-75DA-40BEED660465}"/>
              </a:ext>
            </a:extLst>
          </p:cNvPr>
          <p:cNvSpPr>
            <a:spLocks noGrp="1"/>
          </p:cNvSpPr>
          <p:nvPr>
            <p:ph type="title"/>
          </p:nvPr>
        </p:nvSpPr>
        <p:spPr>
          <a:xfrm>
            <a:off x="304800" y="609600"/>
            <a:ext cx="8229600" cy="1066800"/>
          </a:xfrm>
        </p:spPr>
        <p:txBody>
          <a:bodyPr/>
          <a:lstStyle/>
          <a:p>
            <a:r>
              <a:rPr lang="en-US" altLang="en-US" sz="3200">
                <a:latin typeface="BerkeleyStd-Book"/>
              </a:rPr>
              <a:t>Administrating the Clouds</a:t>
            </a:r>
            <a:br>
              <a:rPr lang="en-US" altLang="en-US"/>
            </a:br>
            <a:endParaRPr lang="en-US" altLang="en-US"/>
          </a:p>
        </p:txBody>
      </p:sp>
      <p:sp>
        <p:nvSpPr>
          <p:cNvPr id="18435" name="Content Placeholder 2">
            <a:extLst>
              <a:ext uri="{FF2B5EF4-FFF2-40B4-BE49-F238E27FC236}">
                <a16:creationId xmlns:a16="http://schemas.microsoft.com/office/drawing/2014/main" id="{3C8ADBFE-FDF1-91D4-BF68-DB47D2EB213C}"/>
              </a:ext>
            </a:extLst>
          </p:cNvPr>
          <p:cNvSpPr>
            <a:spLocks noGrp="1"/>
          </p:cNvSpPr>
          <p:nvPr>
            <p:ph idx="1"/>
          </p:nvPr>
        </p:nvSpPr>
        <p:spPr>
          <a:xfrm>
            <a:off x="152400" y="1295400"/>
            <a:ext cx="8991600" cy="5278438"/>
          </a:xfrm>
        </p:spPr>
        <p:txBody>
          <a:bodyPr/>
          <a:lstStyle/>
          <a:p>
            <a:pPr algn="just">
              <a:defRPr/>
            </a:pPr>
            <a:r>
              <a:rPr lang="en-US" altLang="en-US" sz="2400" b="1" dirty="0">
                <a:solidFill>
                  <a:srgbClr val="222222"/>
                </a:solidFill>
                <a:latin typeface="Helvetica Neue"/>
              </a:rPr>
              <a:t>Enterprises and Cloud service providers </a:t>
            </a:r>
            <a:r>
              <a:rPr lang="en-US" altLang="en-US" sz="2400" b="1" u="sng" dirty="0">
                <a:solidFill>
                  <a:srgbClr val="222222"/>
                </a:solidFill>
                <a:latin typeface="Helvetica Neue"/>
              </a:rPr>
              <a:t>can use Enterprise Manage</a:t>
            </a:r>
            <a:r>
              <a:rPr lang="en-US" altLang="en-US" sz="2400" b="1" dirty="0">
                <a:solidFill>
                  <a:srgbClr val="222222"/>
                </a:solidFill>
                <a:latin typeface="Helvetica Neue"/>
              </a:rPr>
              <a:t>r</a:t>
            </a:r>
            <a:r>
              <a:rPr lang="en-US" altLang="en-US" sz="2400" dirty="0">
                <a:solidFill>
                  <a:srgbClr val="222222"/>
                </a:solidFill>
                <a:latin typeface="Helvetica Neue"/>
              </a:rPr>
              <a:t> to build and operate their Cloud services</a:t>
            </a:r>
            <a:r>
              <a:rPr lang="en-US" altLang="en-US" sz="2400" b="1" dirty="0">
                <a:solidFill>
                  <a:srgbClr val="222222"/>
                </a:solidFill>
                <a:latin typeface="Helvetica Neue"/>
              </a:rPr>
              <a:t>. </a:t>
            </a:r>
          </a:p>
          <a:p>
            <a:pPr algn="just">
              <a:defRPr/>
            </a:pPr>
            <a:r>
              <a:rPr lang="en-US" altLang="en-US" sz="2400" b="1" dirty="0">
                <a:solidFill>
                  <a:srgbClr val="222222"/>
                </a:solidFill>
                <a:latin typeface="Helvetica Neue"/>
              </a:rPr>
              <a:t>Enterprises must support hundreds or even thousands of applications </a:t>
            </a:r>
            <a:r>
              <a:rPr lang="en-US" altLang="en-US" sz="2400" dirty="0">
                <a:solidFill>
                  <a:srgbClr val="222222"/>
                </a:solidFill>
                <a:latin typeface="Helvetica Neue"/>
              </a:rPr>
              <a:t>to meet growing business demands. and storage. </a:t>
            </a:r>
          </a:p>
          <a:p>
            <a:pPr algn="just">
              <a:defRPr/>
            </a:pPr>
            <a:r>
              <a:rPr lang="en-US" altLang="en-US" sz="2400" b="1" dirty="0">
                <a:solidFill>
                  <a:srgbClr val="222222"/>
                </a:solidFill>
                <a:latin typeface="Helvetica Neue"/>
              </a:rPr>
              <a:t>Clouds enable customers to consolidate servers, storage, </a:t>
            </a:r>
            <a:r>
              <a:rPr lang="en-US" altLang="en-US" sz="2400" dirty="0">
                <a:solidFill>
                  <a:srgbClr val="222222"/>
                </a:solidFill>
                <a:latin typeface="Helvetica Neue"/>
              </a:rPr>
              <a:t>and database workloads onto a shared hardware and software infrastructure.</a:t>
            </a:r>
          </a:p>
          <a:p>
            <a:pPr marL="109537" indent="0" algn="just">
              <a:buFont typeface="Georgia" panose="02040502050405020303" pitchFamily="18" charset="0"/>
              <a:buNone/>
              <a:defRPr/>
            </a:pPr>
            <a:endParaRPr lang="en-US" altLang="en-US" sz="2400" dirty="0">
              <a:solidFill>
                <a:srgbClr val="000000"/>
              </a:solidFill>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EE44397C-2255-E8AA-AAAC-BE0B8EFC8331}"/>
              </a:ext>
            </a:extLst>
          </p:cNvPr>
          <p:cNvSpPr>
            <a:spLocks noGrp="1"/>
          </p:cNvSpPr>
          <p:nvPr>
            <p:ph type="title"/>
          </p:nvPr>
        </p:nvSpPr>
        <p:spPr>
          <a:xfrm>
            <a:off x="304800" y="609600"/>
            <a:ext cx="8229600" cy="1066800"/>
          </a:xfrm>
        </p:spPr>
        <p:txBody>
          <a:bodyPr/>
          <a:lstStyle/>
          <a:p>
            <a:r>
              <a:rPr lang="en-US" altLang="en-US" sz="3200">
                <a:latin typeface="BerkeleyStd-Book"/>
              </a:rPr>
              <a:t>Administrating the Clouds</a:t>
            </a:r>
            <a:br>
              <a:rPr lang="en-US" altLang="en-US"/>
            </a:br>
            <a:endParaRPr lang="en-US" altLang="en-US"/>
          </a:p>
        </p:txBody>
      </p:sp>
      <p:sp>
        <p:nvSpPr>
          <p:cNvPr id="21507" name="Content Placeholder 2">
            <a:extLst>
              <a:ext uri="{FF2B5EF4-FFF2-40B4-BE49-F238E27FC236}">
                <a16:creationId xmlns:a16="http://schemas.microsoft.com/office/drawing/2014/main" id="{0CD9E053-FF34-2392-E630-23861BAA2EBD}"/>
              </a:ext>
            </a:extLst>
          </p:cNvPr>
          <p:cNvSpPr>
            <a:spLocks noGrp="1"/>
          </p:cNvSpPr>
          <p:nvPr>
            <p:ph idx="1"/>
          </p:nvPr>
        </p:nvSpPr>
        <p:spPr>
          <a:xfrm>
            <a:off x="152400" y="1295400"/>
            <a:ext cx="8991600" cy="5278438"/>
          </a:xfrm>
        </p:spPr>
        <p:txBody>
          <a:bodyPr/>
          <a:lstStyle/>
          <a:p>
            <a:pPr algn="just"/>
            <a:r>
              <a:rPr lang="en-US" altLang="en-US" sz="2400" b="1">
                <a:solidFill>
                  <a:srgbClr val="222222"/>
                </a:solidFill>
                <a:latin typeface="Helvetica Neue"/>
              </a:rPr>
              <a:t>Enterprise Manager offers </a:t>
            </a:r>
            <a:r>
              <a:rPr lang="en-US" altLang="en-US" sz="2400">
                <a:solidFill>
                  <a:srgbClr val="222222"/>
                </a:solidFill>
                <a:latin typeface="Helvetica Neue"/>
              </a:rPr>
              <a:t>the following benefits:</a:t>
            </a:r>
          </a:p>
          <a:p>
            <a:pPr algn="just">
              <a:buFont typeface="Wingdings" panose="05000000000000000000" pitchFamily="2" charset="2"/>
              <a:buChar char="Ø"/>
            </a:pPr>
            <a:r>
              <a:rPr lang="en-US" altLang="en-US" sz="2400">
                <a:solidFill>
                  <a:srgbClr val="222222"/>
                </a:solidFill>
                <a:latin typeface="Helvetica Neue"/>
              </a:rPr>
              <a:t>Increasing Quality of Service</a:t>
            </a:r>
          </a:p>
          <a:p>
            <a:pPr algn="just">
              <a:buFont typeface="Wingdings" panose="05000000000000000000" pitchFamily="2" charset="2"/>
              <a:buChar char="Ø"/>
            </a:pPr>
            <a:r>
              <a:rPr lang="en-US" altLang="en-US" sz="2400">
                <a:solidFill>
                  <a:srgbClr val="222222"/>
                </a:solidFill>
                <a:latin typeface="Helvetica Neue"/>
              </a:rPr>
              <a:t>Enabling Faster Deployment</a:t>
            </a:r>
          </a:p>
          <a:p>
            <a:pPr algn="just">
              <a:buFont typeface="Wingdings" panose="05000000000000000000" pitchFamily="2" charset="2"/>
              <a:buChar char="Ø"/>
            </a:pPr>
            <a:r>
              <a:rPr lang="en-US" altLang="en-US" sz="2400">
                <a:solidFill>
                  <a:srgbClr val="222222"/>
                </a:solidFill>
                <a:latin typeface="Helvetica Neue"/>
              </a:rPr>
              <a:t>Providing Resource Elasticity</a:t>
            </a:r>
          </a:p>
          <a:p>
            <a:pPr algn="just">
              <a:buFont typeface="Wingdings" panose="05000000000000000000" pitchFamily="2" charset="2"/>
              <a:buChar char="Ø"/>
            </a:pPr>
            <a:r>
              <a:rPr lang="en-US" altLang="en-US" sz="2400">
                <a:solidFill>
                  <a:srgbClr val="222222"/>
                </a:solidFill>
                <a:latin typeface="Helvetica Neue"/>
              </a:rPr>
              <a:t>Rapid Provisioning</a:t>
            </a:r>
          </a:p>
          <a:p>
            <a:pPr algn="just"/>
            <a:endParaRPr lang="en-US" altLang="en-US" sz="2400">
              <a:solidFill>
                <a:srgbClr val="000000"/>
              </a:solidFill>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293301C8-52A9-D3C7-42B4-AF0BBF537FCF}"/>
              </a:ext>
            </a:extLst>
          </p:cNvPr>
          <p:cNvSpPr>
            <a:spLocks noGrp="1"/>
          </p:cNvSpPr>
          <p:nvPr>
            <p:ph type="title"/>
          </p:nvPr>
        </p:nvSpPr>
        <p:spPr>
          <a:xfrm>
            <a:off x="342900" y="381000"/>
            <a:ext cx="8229600" cy="1066800"/>
          </a:xfrm>
        </p:spPr>
        <p:txBody>
          <a:bodyPr/>
          <a:lstStyle/>
          <a:p>
            <a:r>
              <a:rPr lang="en-US" altLang="en-US" sz="3200">
                <a:latin typeface="BerkeleyStd-Book"/>
              </a:rPr>
              <a:t>Administrating the Clouds</a:t>
            </a:r>
            <a:br>
              <a:rPr lang="en-US" altLang="en-US"/>
            </a:br>
            <a:endParaRPr lang="en-US" altLang="en-US"/>
          </a:p>
        </p:txBody>
      </p:sp>
      <p:sp>
        <p:nvSpPr>
          <p:cNvPr id="23555" name="Content Placeholder 2">
            <a:extLst>
              <a:ext uri="{FF2B5EF4-FFF2-40B4-BE49-F238E27FC236}">
                <a16:creationId xmlns:a16="http://schemas.microsoft.com/office/drawing/2014/main" id="{B4A6AC3B-64FE-EA6D-014F-D85BD331A593}"/>
              </a:ext>
            </a:extLst>
          </p:cNvPr>
          <p:cNvSpPr>
            <a:spLocks noGrp="1"/>
          </p:cNvSpPr>
          <p:nvPr>
            <p:ph idx="1"/>
          </p:nvPr>
        </p:nvSpPr>
        <p:spPr>
          <a:xfrm>
            <a:off x="-228600" y="788988"/>
            <a:ext cx="9372600" cy="5280025"/>
          </a:xfrm>
        </p:spPr>
        <p:txBody>
          <a:bodyPr/>
          <a:lstStyle/>
          <a:p>
            <a:pPr algn="just">
              <a:buFont typeface="Wingdings" panose="05000000000000000000" pitchFamily="2" charset="2"/>
              <a:buChar char="Ø"/>
            </a:pPr>
            <a:r>
              <a:rPr lang="en-US" altLang="en-US" sz="2400" b="1">
                <a:solidFill>
                  <a:srgbClr val="222222"/>
                </a:solidFill>
                <a:latin typeface="Helvetica Neue"/>
              </a:rPr>
              <a:t>Increasing Quality of Service</a:t>
            </a:r>
          </a:p>
          <a:p>
            <a:pPr algn="just"/>
            <a:r>
              <a:rPr lang="en-US" altLang="en-US" sz="2000">
                <a:solidFill>
                  <a:srgbClr val="222222"/>
                </a:solidFill>
                <a:latin typeface="Helvetica Neue"/>
              </a:rPr>
              <a:t>IT organizations are not only trying to drive down costs, they are also looking at solutions that will simultaneously improve quality of service in terms of performance, availability and security</a:t>
            </a:r>
            <a:endParaRPr lang="en-US" altLang="en-US" sz="2000" b="1">
              <a:solidFill>
                <a:srgbClr val="222222"/>
              </a:solidFill>
              <a:latin typeface="Helvetica Neue"/>
            </a:endParaRPr>
          </a:p>
          <a:p>
            <a:pPr algn="just">
              <a:buFont typeface="Wingdings" panose="05000000000000000000" pitchFamily="2" charset="2"/>
              <a:buChar char="Ø"/>
            </a:pPr>
            <a:r>
              <a:rPr lang="en-US" altLang="en-US" sz="2400" b="1">
                <a:solidFill>
                  <a:srgbClr val="222222"/>
                </a:solidFill>
                <a:latin typeface="Helvetica Neue"/>
              </a:rPr>
              <a:t>Enabling Faster Deployment</a:t>
            </a:r>
          </a:p>
          <a:p>
            <a:pPr algn="just">
              <a:buFont typeface="Arial" panose="020B0604020202020204" pitchFamily="34" charset="0"/>
              <a:buChar char="•"/>
            </a:pPr>
            <a:r>
              <a:rPr lang="en-US" altLang="en-US" sz="2000">
                <a:solidFill>
                  <a:srgbClr val="222222"/>
                </a:solidFill>
                <a:latin typeface="Helvetica Neue"/>
              </a:rPr>
              <a:t>Building the Cloud infrastructure </a:t>
            </a:r>
            <a:r>
              <a:rPr lang="en-US" altLang="en-US" sz="2000" b="1">
                <a:solidFill>
                  <a:srgbClr val="222222"/>
                </a:solidFill>
                <a:latin typeface="Helvetica Neue"/>
              </a:rPr>
              <a:t>using standard building block components </a:t>
            </a:r>
            <a:r>
              <a:rPr lang="en-US" altLang="en-US" sz="2000">
                <a:solidFill>
                  <a:srgbClr val="222222"/>
                </a:solidFill>
                <a:latin typeface="Helvetica Neue"/>
              </a:rPr>
              <a:t>(for example, servers, CPUs, storage, and network), configurations, and tools, </a:t>
            </a:r>
            <a:r>
              <a:rPr lang="en-US" altLang="en-US" sz="2000" b="1">
                <a:solidFill>
                  <a:srgbClr val="222222"/>
                </a:solidFill>
                <a:latin typeface="Helvetica Neue"/>
              </a:rPr>
              <a:t>enables a streamlined, automated</a:t>
            </a:r>
            <a:r>
              <a:rPr lang="en-US" altLang="en-US" sz="2000">
                <a:solidFill>
                  <a:srgbClr val="222222"/>
                </a:solidFill>
                <a:latin typeface="Helvetica Neue"/>
              </a:rPr>
              <a:t>, and simplified deployment process.</a:t>
            </a:r>
          </a:p>
          <a:p>
            <a:pPr algn="just">
              <a:buFont typeface="Wingdings" panose="05000000000000000000" pitchFamily="2" charset="2"/>
              <a:buChar char="Ø"/>
            </a:pPr>
            <a:r>
              <a:rPr lang="en-US" altLang="en-US" sz="2400" b="1">
                <a:solidFill>
                  <a:srgbClr val="222222"/>
                </a:solidFill>
                <a:latin typeface="Helvetica Neue"/>
              </a:rPr>
              <a:t>Providing Resource Elasticity</a:t>
            </a:r>
          </a:p>
          <a:p>
            <a:pPr algn="just">
              <a:buFont typeface="Arial" panose="020B0604020202020204" pitchFamily="34" charset="0"/>
              <a:buChar char="•"/>
            </a:pPr>
            <a:r>
              <a:rPr lang="en-US" altLang="en-US" sz="2000">
                <a:solidFill>
                  <a:srgbClr val="222222"/>
                </a:solidFill>
                <a:latin typeface="Helvetica Neue"/>
              </a:rPr>
              <a:t>The ability to grow and shrink the capacity of a given database, both in terms of storage size and compute power, allows applications the flexibility to meet the dynamic nature of business workloads.</a:t>
            </a:r>
          </a:p>
          <a:p>
            <a:pPr algn="just">
              <a:buFont typeface="Wingdings" panose="05000000000000000000" pitchFamily="2" charset="2"/>
              <a:buChar char="Ø"/>
            </a:pPr>
            <a:r>
              <a:rPr lang="en-US" altLang="en-US" sz="2400" b="1">
                <a:solidFill>
                  <a:srgbClr val="222222"/>
                </a:solidFill>
                <a:latin typeface="Helvetica Neue"/>
              </a:rPr>
              <a:t>Rapid Provisioning</a:t>
            </a:r>
          </a:p>
          <a:p>
            <a:pPr algn="just">
              <a:buFont typeface="Arial" panose="020B0604020202020204" pitchFamily="34" charset="0"/>
              <a:buChar char="•"/>
            </a:pPr>
            <a:r>
              <a:rPr lang="en-US" altLang="en-US" sz="2000" b="1">
                <a:solidFill>
                  <a:srgbClr val="222222"/>
                </a:solidFill>
                <a:latin typeface="Helvetica Neue"/>
              </a:rPr>
              <a:t>Databases in a Cloud can be rapidly provisioned</a:t>
            </a:r>
            <a:r>
              <a:rPr lang="en-US" altLang="en-US" sz="2000">
                <a:solidFill>
                  <a:srgbClr val="222222"/>
                </a:solidFill>
                <a:latin typeface="Helvetica Neue"/>
              </a:rPr>
              <a:t>, often by way of a self-service infrastructure, providing agility in application deployment. </a:t>
            </a:r>
          </a:p>
          <a:p>
            <a:pPr algn="just">
              <a:buFont typeface="Arial" panose="020B0604020202020204" pitchFamily="34" charset="0"/>
              <a:buChar char="•"/>
            </a:pPr>
            <a:r>
              <a:rPr lang="en-US" altLang="en-US" sz="2000" b="1">
                <a:solidFill>
                  <a:srgbClr val="222222"/>
                </a:solidFill>
                <a:latin typeface="Helvetica Neue"/>
              </a:rPr>
              <a:t>This reduces overall time in deploying production applications</a:t>
            </a:r>
            <a:r>
              <a:rPr lang="en-US" altLang="en-US" sz="2000">
                <a:solidFill>
                  <a:srgbClr val="222222"/>
                </a:solidFill>
                <a:latin typeface="Helvetica Neue"/>
              </a:rPr>
              <a:t>, development platforms, or creating test bed configurations.</a:t>
            </a:r>
          </a:p>
          <a:p>
            <a:pPr algn="just"/>
            <a:endParaRPr lang="en-US" altLang="en-US" sz="2400">
              <a:solidFill>
                <a:srgbClr val="000000"/>
              </a:solidFill>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DC57A610-D16F-90A9-0FEC-1BDE7BD5C21E}"/>
              </a:ext>
            </a:extLst>
          </p:cNvPr>
          <p:cNvSpPr>
            <a:spLocks noGrp="1"/>
          </p:cNvSpPr>
          <p:nvPr>
            <p:ph type="title"/>
          </p:nvPr>
        </p:nvSpPr>
        <p:spPr>
          <a:xfrm>
            <a:off x="304800" y="609600"/>
            <a:ext cx="8229600" cy="1066800"/>
          </a:xfrm>
        </p:spPr>
        <p:txBody>
          <a:bodyPr/>
          <a:lstStyle/>
          <a:p>
            <a:r>
              <a:rPr lang="en-US" altLang="en-US" sz="3200">
                <a:latin typeface="BerkeleyStd-Book"/>
              </a:rPr>
              <a:t>Administrating the Clouds</a:t>
            </a:r>
            <a:br>
              <a:rPr lang="en-US" altLang="en-US"/>
            </a:br>
            <a:endParaRPr lang="en-US" altLang="en-US"/>
          </a:p>
        </p:txBody>
      </p:sp>
      <p:sp>
        <p:nvSpPr>
          <p:cNvPr id="16387" name="Content Placeholder 2">
            <a:extLst>
              <a:ext uri="{FF2B5EF4-FFF2-40B4-BE49-F238E27FC236}">
                <a16:creationId xmlns:a16="http://schemas.microsoft.com/office/drawing/2014/main" id="{0B95A0F5-8156-FA6C-9B71-541A19602E32}"/>
              </a:ext>
            </a:extLst>
          </p:cNvPr>
          <p:cNvSpPr>
            <a:spLocks noGrp="1"/>
          </p:cNvSpPr>
          <p:nvPr>
            <p:ph idx="1"/>
          </p:nvPr>
        </p:nvSpPr>
        <p:spPr>
          <a:xfrm>
            <a:off x="228600" y="1295400"/>
            <a:ext cx="8686800" cy="5278438"/>
          </a:xfrm>
        </p:spPr>
        <p:txBody>
          <a:bodyPr/>
          <a:lstStyle/>
          <a:p>
            <a:pPr marL="109537" indent="0">
              <a:buFont typeface="Georgia" panose="02040502050405020303" pitchFamily="18" charset="0"/>
              <a:buNone/>
              <a:defRPr/>
            </a:pPr>
            <a:r>
              <a:rPr lang="en-US" altLang="en-US" b="1" dirty="0">
                <a:solidFill>
                  <a:srgbClr val="000000"/>
                </a:solidFill>
              </a:rPr>
              <a:t>Managing the Cloud Management Lifecycle With Enterprise Manager:</a:t>
            </a: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2"/>
              </a:rPr>
              <a:t>Planning</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3"/>
              </a:rPr>
              <a:t>Setting Up the Cloud</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4"/>
              </a:rPr>
              <a:t>Building the Cloud</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5"/>
              </a:rPr>
              <a:t>Testing and Deploying a Service</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6"/>
              </a:rPr>
              <a:t>Monitoring and Managing the Cloud</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7"/>
              </a:rPr>
              <a:t>Metering, Charging, and Optimization</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Ø"/>
              <a:defRPr/>
            </a:pPr>
            <a:endParaRPr lang="en-US" altLang="en-US" b="1" dirty="0">
              <a:solidFill>
                <a:srgbClr val="000000"/>
              </a:solidFill>
            </a:endParaRPr>
          </a:p>
          <a:p>
            <a:pPr marL="109537" indent="0">
              <a:buFont typeface="Georgia" panose="02040502050405020303" pitchFamily="18" charset="0"/>
              <a:buNone/>
              <a:defRPr/>
            </a:pPr>
            <a:endParaRPr lang="en-US" altLang="en-US" b="1" dirty="0">
              <a:solidFill>
                <a:srgbClr val="000000"/>
              </a:solidFill>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3">
            <a:extLst>
              <a:ext uri="{FF2B5EF4-FFF2-40B4-BE49-F238E27FC236}">
                <a16:creationId xmlns:a16="http://schemas.microsoft.com/office/drawing/2014/main" id="{1DE1B052-5B2F-CB3C-69ED-D9B0299B5E8A}"/>
              </a:ext>
            </a:extLst>
          </p:cNvPr>
          <p:cNvSpPr txBox="1">
            <a:spLocks noChangeArrowheads="1"/>
          </p:cNvSpPr>
          <p:nvPr/>
        </p:nvSpPr>
        <p:spPr bwMode="auto">
          <a:xfrm>
            <a:off x="990600" y="671513"/>
            <a:ext cx="6553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400" b="1"/>
              <a:t>Managing the Cloud Management Lifecycle </a:t>
            </a:r>
          </a:p>
        </p:txBody>
      </p:sp>
      <p:pic>
        <p:nvPicPr>
          <p:cNvPr id="25603" name="Picture 4">
            <a:extLst>
              <a:ext uri="{FF2B5EF4-FFF2-40B4-BE49-F238E27FC236}">
                <a16:creationId xmlns:a16="http://schemas.microsoft.com/office/drawing/2014/main" id="{C3A088F1-E1A6-4A48-300E-2987538E6F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0738" y="1212850"/>
            <a:ext cx="5605462"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32F4C775-9D2D-01C8-68EC-FE19004FF928}"/>
              </a:ext>
            </a:extLst>
          </p:cNvPr>
          <p:cNvSpPr>
            <a:spLocks noGrp="1"/>
          </p:cNvSpPr>
          <p:nvPr>
            <p:ph type="title"/>
          </p:nvPr>
        </p:nvSpPr>
        <p:spPr>
          <a:xfrm>
            <a:off x="1382713" y="914400"/>
            <a:ext cx="6694487" cy="76200"/>
          </a:xfrm>
        </p:spPr>
        <p:txBody>
          <a:bodyPr/>
          <a:lstStyle/>
          <a:p>
            <a:r>
              <a:rPr lang="en-US" altLang="en-US" sz="2400" b="1"/>
              <a:t>Managing the Cloud Management lifecycle</a:t>
            </a:r>
            <a:br>
              <a:rPr lang="en-US" altLang="en-US" sz="2400" b="1"/>
            </a:br>
            <a:br>
              <a:rPr lang="en-US" altLang="en-US" sz="2400" b="1"/>
            </a:br>
            <a:r>
              <a:rPr lang="en-US" altLang="en-US" sz="2400" b="1"/>
              <a:t> </a:t>
            </a:r>
          </a:p>
        </p:txBody>
      </p:sp>
      <p:sp>
        <p:nvSpPr>
          <p:cNvPr id="4" name="TextBox 3">
            <a:extLst>
              <a:ext uri="{FF2B5EF4-FFF2-40B4-BE49-F238E27FC236}">
                <a16:creationId xmlns:a16="http://schemas.microsoft.com/office/drawing/2014/main" id="{3729507D-9C65-73AF-5F3C-28A0DBED6937}"/>
              </a:ext>
            </a:extLst>
          </p:cNvPr>
          <p:cNvSpPr txBox="1"/>
          <p:nvPr/>
        </p:nvSpPr>
        <p:spPr>
          <a:xfrm>
            <a:off x="11113" y="762000"/>
            <a:ext cx="9132887" cy="5945188"/>
          </a:xfrm>
          <a:prstGeom prst="rect">
            <a:avLst/>
          </a:prstGeom>
          <a:noFill/>
        </p:spPr>
        <p:txBody>
          <a:bodyPr>
            <a:spAutoFit/>
          </a:bodyPr>
          <a:lstStyle/>
          <a:p>
            <a:pPr algn="just">
              <a:defRPr/>
            </a:pPr>
            <a:r>
              <a:rPr lang="en-US" sz="2400" b="1" dirty="0"/>
              <a:t>1. </a:t>
            </a:r>
            <a:r>
              <a:rPr lang="en-US" sz="2400" dirty="0"/>
              <a:t>Planning</a:t>
            </a:r>
          </a:p>
          <a:p>
            <a:pPr marL="285750" indent="-285750" algn="just">
              <a:lnSpc>
                <a:spcPct val="150000"/>
              </a:lnSpc>
              <a:buFont typeface="Arial" panose="020B0604020202020204" pitchFamily="34" charset="0"/>
              <a:buChar char="•"/>
              <a:defRPr/>
            </a:pPr>
            <a:r>
              <a:rPr lang="en-US" sz="2000" dirty="0"/>
              <a:t>Using Enterprise Manager, you </a:t>
            </a:r>
            <a:r>
              <a:rPr lang="en-US" sz="2000" u="sng" dirty="0"/>
              <a:t>can </a:t>
            </a:r>
            <a:r>
              <a:rPr lang="en-US" sz="2000" b="1" u="sng" dirty="0"/>
              <a:t>transform existing data centers into a Cloud environment.</a:t>
            </a:r>
            <a:r>
              <a:rPr lang="en-US" sz="2000" u="sng" dirty="0"/>
              <a:t> </a:t>
            </a:r>
          </a:p>
          <a:p>
            <a:pPr marL="285750" indent="-285750" algn="just">
              <a:lnSpc>
                <a:spcPct val="150000"/>
              </a:lnSpc>
              <a:buFont typeface="Arial" panose="020B0604020202020204" pitchFamily="34" charset="0"/>
              <a:buChar char="•"/>
              <a:defRPr/>
            </a:pPr>
            <a:r>
              <a:rPr lang="en-US" sz="2000" dirty="0"/>
              <a:t>Before setting up a Cloud, you should </a:t>
            </a:r>
            <a:r>
              <a:rPr lang="en-US" sz="2000" b="1" dirty="0"/>
              <a:t>map out your infrastructure requirements, </a:t>
            </a:r>
            <a:r>
              <a:rPr lang="en-US" sz="2000" dirty="0"/>
              <a:t>such as the physical and virtual networks, storage arrays, applications and so on.</a:t>
            </a:r>
          </a:p>
          <a:p>
            <a:pPr marL="285750" indent="-285750" algn="just">
              <a:lnSpc>
                <a:spcPct val="150000"/>
              </a:lnSpc>
              <a:buFont typeface="Arial" panose="020B0604020202020204" pitchFamily="34" charset="0"/>
              <a:buChar char="•"/>
              <a:defRPr/>
            </a:pPr>
            <a:r>
              <a:rPr lang="en-US" sz="2000" dirty="0"/>
              <a:t>The </a:t>
            </a:r>
            <a:r>
              <a:rPr lang="en-US" sz="2000" b="1" u="sng" dirty="0"/>
              <a:t>Enterprise Manager Consolidation Planner </a:t>
            </a:r>
            <a:r>
              <a:rPr lang="en-US" sz="2000" dirty="0"/>
              <a:t>is a </a:t>
            </a:r>
            <a:r>
              <a:rPr lang="en-US" sz="2000" b="1" u="sng" dirty="0"/>
              <a:t>powerful tool </a:t>
            </a:r>
            <a:r>
              <a:rPr lang="en-US" sz="2000" b="1" dirty="0"/>
              <a:t>that </a:t>
            </a:r>
            <a:r>
              <a:rPr lang="en-US" sz="2000" b="1" u="sng" dirty="0"/>
              <a:t>helps administrators plan the Cloud architecture. </a:t>
            </a:r>
          </a:p>
          <a:p>
            <a:pPr marL="285750" indent="-285750" algn="just">
              <a:lnSpc>
                <a:spcPct val="150000"/>
              </a:lnSpc>
              <a:buFont typeface="Arial" panose="020B0604020202020204" pitchFamily="34" charset="0"/>
              <a:buChar char="•"/>
              <a:defRPr/>
            </a:pPr>
            <a:r>
              <a:rPr lang="en-US" sz="2000" dirty="0"/>
              <a:t>It </a:t>
            </a:r>
            <a:r>
              <a:rPr lang="en-US" sz="2000" b="1" dirty="0"/>
              <a:t>allows you to identify source and destination targets and </a:t>
            </a:r>
            <a:r>
              <a:rPr lang="en-US" sz="2000" dirty="0"/>
              <a:t>applicable technical and functional constraints such as where the application can reside, and so on. </a:t>
            </a:r>
          </a:p>
          <a:p>
            <a:pPr marL="285750" indent="-285750" algn="just">
              <a:lnSpc>
                <a:spcPct val="150000"/>
              </a:lnSpc>
              <a:buFont typeface="Arial" panose="020B0604020202020204" pitchFamily="34" charset="0"/>
              <a:buChar char="•"/>
              <a:defRPr/>
            </a:pPr>
            <a:r>
              <a:rPr lang="en-US" sz="2000" dirty="0"/>
              <a:t>You can generate consolidation advisories that may include plans to move from Physical to Virtual (P2V), Physical to Physical (P2P).  </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807333-7007-5C93-CAD4-2FA45691AB36}"/>
              </a:ext>
            </a:extLst>
          </p:cNvPr>
          <p:cNvSpPr txBox="1"/>
          <p:nvPr/>
        </p:nvSpPr>
        <p:spPr>
          <a:xfrm>
            <a:off x="228600" y="750888"/>
            <a:ext cx="8763000" cy="6135687"/>
          </a:xfrm>
          <a:prstGeom prst="rect">
            <a:avLst/>
          </a:prstGeom>
          <a:noFill/>
        </p:spPr>
        <p:txBody>
          <a:bodyPr>
            <a:spAutoFit/>
          </a:bodyPr>
          <a:lstStyle/>
          <a:p>
            <a:pPr algn="just">
              <a:defRPr/>
            </a:pPr>
            <a:r>
              <a:rPr lang="en-US" b="1" dirty="0"/>
              <a:t>2. Setting Up the Cloud</a:t>
            </a:r>
          </a:p>
          <a:p>
            <a:pPr marL="285750" indent="-285750" algn="just">
              <a:lnSpc>
                <a:spcPct val="150000"/>
              </a:lnSpc>
              <a:buFont typeface="Arial" panose="020B0604020202020204" pitchFamily="34" charset="0"/>
              <a:buChar char="•"/>
              <a:defRPr/>
            </a:pPr>
            <a:r>
              <a:rPr lang="en-US" b="1" dirty="0"/>
              <a:t>Enterprise Manager can be used to model Infrastructure-as-a-Service (IaaS), </a:t>
            </a:r>
            <a:r>
              <a:rPr lang="en-US" dirty="0"/>
              <a:t>Software-as-a-Service (SaaS), Platform-as-a-Service (PaaS) clouds, </a:t>
            </a:r>
            <a:r>
              <a:rPr lang="en-US" dirty="0" err="1"/>
              <a:t>DataBase</a:t>
            </a:r>
            <a:r>
              <a:rPr lang="en-US" dirty="0"/>
              <a:t> as a Service(DaaS), Middleware as a service(</a:t>
            </a:r>
            <a:r>
              <a:rPr lang="en-US" dirty="0" err="1"/>
              <a:t>MaaS</a:t>
            </a:r>
            <a:r>
              <a:rPr lang="en-US" dirty="0"/>
              <a:t>) .</a:t>
            </a:r>
          </a:p>
          <a:p>
            <a:pPr marL="285750" indent="-285750" algn="just">
              <a:lnSpc>
                <a:spcPct val="150000"/>
              </a:lnSpc>
              <a:buFont typeface="Arial" panose="020B0604020202020204" pitchFamily="34" charset="0"/>
              <a:buChar char="•"/>
              <a:defRPr/>
            </a:pPr>
            <a:r>
              <a:rPr lang="en-US" dirty="0"/>
              <a:t> It is important to </a:t>
            </a:r>
            <a:r>
              <a:rPr lang="en-US" b="1" dirty="0"/>
              <a:t>select the appropriate Cloud Service Model </a:t>
            </a:r>
            <a:r>
              <a:rPr lang="en-US" b="1" u="sng" dirty="0"/>
              <a:t>that suits the needs of your users and organization. </a:t>
            </a:r>
          </a:p>
          <a:p>
            <a:pPr marL="285750" indent="-285750" algn="just">
              <a:lnSpc>
                <a:spcPct val="150000"/>
              </a:lnSpc>
              <a:buFont typeface="Arial" panose="020B0604020202020204" pitchFamily="34" charset="0"/>
              <a:buChar char="•"/>
              <a:defRPr/>
            </a:pPr>
            <a:r>
              <a:rPr lang="en-US" dirty="0"/>
              <a:t>To facilitate Cloud setup, </a:t>
            </a:r>
            <a:r>
              <a:rPr lang="en-US" b="1" dirty="0"/>
              <a:t>Enterprise Manager offers capabilities for both physical and virtual infrastructure.</a:t>
            </a:r>
          </a:p>
          <a:p>
            <a:pPr marL="285750" indent="-285750" algn="just">
              <a:lnSpc>
                <a:spcPct val="150000"/>
              </a:lnSpc>
              <a:buFont typeface="Arial" panose="020B0604020202020204" pitchFamily="34" charset="0"/>
              <a:buChar char="•"/>
              <a:defRPr/>
            </a:pPr>
            <a:r>
              <a:rPr lang="en-US" dirty="0"/>
              <a:t>Enterprise Manager leverages its </a:t>
            </a:r>
            <a:r>
              <a:rPr lang="en-US" b="1" dirty="0"/>
              <a:t>core automation framework </a:t>
            </a:r>
            <a:r>
              <a:rPr lang="en-US" dirty="0"/>
              <a:t>for physical infrastructure of deployment procedures, job system, and the enterprise software library. </a:t>
            </a:r>
          </a:p>
          <a:p>
            <a:pPr marL="285750" indent="-285750" algn="just">
              <a:lnSpc>
                <a:spcPct val="150000"/>
              </a:lnSpc>
              <a:buFont typeface="Arial" panose="020B0604020202020204" pitchFamily="34" charset="0"/>
              <a:buChar char="•"/>
              <a:defRPr/>
            </a:pPr>
            <a:r>
              <a:rPr lang="en-US" dirty="0"/>
              <a:t>It offers out of the box deployment procedures that can be used for provisioning the pre-requisite software for both databases and middleware. </a:t>
            </a:r>
          </a:p>
          <a:p>
            <a:pPr marL="285750" indent="-285750" algn="just">
              <a:lnSpc>
                <a:spcPct val="150000"/>
              </a:lnSpc>
              <a:buFont typeface="Arial" panose="020B0604020202020204" pitchFamily="34" charset="0"/>
              <a:buChar char="•"/>
              <a:defRPr/>
            </a:pPr>
            <a:r>
              <a:rPr lang="en-US" dirty="0"/>
              <a:t>The same automation framework is also used to interact with third party storage systems for the purposes of data cloning and storage management.</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C2900F-F1EA-BD7F-B2AC-25367DED9BF0}"/>
              </a:ext>
            </a:extLst>
          </p:cNvPr>
          <p:cNvSpPr txBox="1"/>
          <p:nvPr/>
        </p:nvSpPr>
        <p:spPr>
          <a:xfrm>
            <a:off x="392113" y="914400"/>
            <a:ext cx="8763000" cy="6135688"/>
          </a:xfrm>
          <a:prstGeom prst="rect">
            <a:avLst/>
          </a:prstGeom>
          <a:noFill/>
        </p:spPr>
        <p:txBody>
          <a:bodyPr>
            <a:spAutoFit/>
          </a:bodyPr>
          <a:lstStyle/>
          <a:p>
            <a:pPr algn="just">
              <a:defRPr/>
            </a:pPr>
            <a:r>
              <a:rPr lang="en-US" b="1" dirty="0"/>
              <a:t>Setting Up the Cloud</a:t>
            </a:r>
          </a:p>
          <a:p>
            <a:pPr algn="just">
              <a:lnSpc>
                <a:spcPct val="150000"/>
              </a:lnSpc>
              <a:defRPr/>
            </a:pPr>
            <a:endParaRPr lang="en-US" dirty="0"/>
          </a:p>
          <a:p>
            <a:pPr marL="285750" indent="-285750" algn="just">
              <a:lnSpc>
                <a:spcPct val="150000"/>
              </a:lnSpc>
              <a:buFont typeface="Arial" panose="020B0604020202020204" pitchFamily="34" charset="0"/>
              <a:buChar char="•"/>
              <a:defRPr/>
            </a:pPr>
            <a:r>
              <a:rPr lang="en-US" dirty="0"/>
              <a:t>Enterprise Manager </a:t>
            </a:r>
            <a:r>
              <a:rPr lang="en-US" b="1" dirty="0"/>
              <a:t>can be used to model Infrastructure-as-a-Service </a:t>
            </a:r>
            <a:r>
              <a:rPr lang="en-US" dirty="0"/>
              <a:t>(IaaS), Database-as-a-Service (DBaaS), and Middleware-as-a-Service (</a:t>
            </a:r>
            <a:r>
              <a:rPr lang="en-US" dirty="0" err="1"/>
              <a:t>MWaaS</a:t>
            </a:r>
            <a:r>
              <a:rPr lang="en-US" dirty="0"/>
              <a:t>) clouds.</a:t>
            </a:r>
          </a:p>
          <a:p>
            <a:pPr marL="285750" indent="-285750" algn="just">
              <a:lnSpc>
                <a:spcPct val="150000"/>
              </a:lnSpc>
              <a:buFont typeface="Arial" panose="020B0604020202020204" pitchFamily="34" charset="0"/>
              <a:buChar char="•"/>
              <a:defRPr/>
            </a:pPr>
            <a:r>
              <a:rPr lang="en-US" dirty="0"/>
              <a:t> </a:t>
            </a:r>
            <a:r>
              <a:rPr lang="en-US" b="1" dirty="0"/>
              <a:t>It is important to </a:t>
            </a:r>
            <a:r>
              <a:rPr lang="en-US" b="1" u="sng" dirty="0"/>
              <a:t>select the appropriate Cloud Service Model that suits </a:t>
            </a:r>
            <a:r>
              <a:rPr lang="en-US" u="sng" dirty="0"/>
              <a:t>the </a:t>
            </a:r>
            <a:r>
              <a:rPr lang="en-US" b="1" u="sng" dirty="0"/>
              <a:t>needs of your users and organization</a:t>
            </a:r>
            <a:r>
              <a:rPr lang="en-US" dirty="0"/>
              <a:t>. </a:t>
            </a:r>
          </a:p>
          <a:p>
            <a:pPr marL="285750" indent="-285750" algn="just">
              <a:lnSpc>
                <a:spcPct val="150000"/>
              </a:lnSpc>
              <a:buFont typeface="Arial" panose="020B0604020202020204" pitchFamily="34" charset="0"/>
              <a:buChar char="•"/>
              <a:defRPr/>
            </a:pPr>
            <a:r>
              <a:rPr lang="en-US" dirty="0"/>
              <a:t>To facilitate Cloud setup, </a:t>
            </a:r>
            <a:r>
              <a:rPr lang="en-US" u="sng" dirty="0"/>
              <a:t>Enterprise Manager </a:t>
            </a:r>
            <a:r>
              <a:rPr lang="en-US" b="1" u="sng" dirty="0"/>
              <a:t>offers capabilities for both physical and virtual infrastructure</a:t>
            </a:r>
            <a:r>
              <a:rPr lang="en-US" b="1" dirty="0"/>
              <a:t>.</a:t>
            </a:r>
          </a:p>
          <a:p>
            <a:pPr marL="285750" indent="-285750" algn="just">
              <a:lnSpc>
                <a:spcPct val="150000"/>
              </a:lnSpc>
              <a:buFont typeface="Arial" panose="020B0604020202020204" pitchFamily="34" charset="0"/>
              <a:buChar char="•"/>
              <a:defRPr/>
            </a:pPr>
            <a:r>
              <a:rPr lang="en-US" b="1" dirty="0"/>
              <a:t>Enterprise Manager leverages its </a:t>
            </a:r>
            <a:r>
              <a:rPr lang="en-US" b="1" u="sng" dirty="0"/>
              <a:t>core automation framework</a:t>
            </a:r>
            <a:r>
              <a:rPr lang="en-US" u="sng" dirty="0"/>
              <a:t> </a:t>
            </a:r>
            <a:r>
              <a:rPr lang="en-US" b="1" u="sng" dirty="0"/>
              <a:t>for physical infrastructure of deployment procedures</a:t>
            </a:r>
            <a:r>
              <a:rPr lang="en-US" dirty="0"/>
              <a:t>, job system, and the enterprise software library. </a:t>
            </a:r>
          </a:p>
          <a:p>
            <a:pPr marL="285750" indent="-285750" algn="just">
              <a:lnSpc>
                <a:spcPct val="150000"/>
              </a:lnSpc>
              <a:buFont typeface="Arial" panose="020B0604020202020204" pitchFamily="34" charset="0"/>
              <a:buChar char="•"/>
              <a:defRPr/>
            </a:pPr>
            <a:r>
              <a:rPr lang="en-US" dirty="0"/>
              <a:t>It offers out-of-the-box deployment procedures for provisioning the prerequisite software for both databases and middleware. The same automation framework is also used to interact with third party storage systems for the purposes of data cloning and storage management</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1E8E33-0E21-330E-3FC4-62F3B75CC4C5}"/>
              </a:ext>
            </a:extLst>
          </p:cNvPr>
          <p:cNvSpPr txBox="1"/>
          <p:nvPr/>
        </p:nvSpPr>
        <p:spPr>
          <a:xfrm>
            <a:off x="228600" y="750888"/>
            <a:ext cx="8763000" cy="2395537"/>
          </a:xfrm>
          <a:prstGeom prst="rect">
            <a:avLst/>
          </a:prstGeom>
          <a:noFill/>
        </p:spPr>
        <p:txBody>
          <a:bodyPr>
            <a:spAutoFit/>
          </a:bodyPr>
          <a:lstStyle/>
          <a:p>
            <a:pPr algn="just">
              <a:defRPr/>
            </a:pPr>
            <a:r>
              <a:rPr lang="en-US" b="1" dirty="0"/>
              <a:t>Setting Up the Cloud</a:t>
            </a:r>
          </a:p>
          <a:p>
            <a:pPr marL="285750" indent="-285750" algn="just">
              <a:lnSpc>
                <a:spcPct val="150000"/>
              </a:lnSpc>
              <a:buFont typeface="Arial" panose="020B0604020202020204" pitchFamily="34" charset="0"/>
              <a:buChar char="•"/>
              <a:defRPr/>
            </a:pPr>
            <a:r>
              <a:rPr lang="en-US" b="1" dirty="0"/>
              <a:t>For example </a:t>
            </a:r>
            <a:r>
              <a:rPr lang="en-US" b="1" u="sng" dirty="0"/>
              <a:t>for virtual infrastructure, it offers bare metal provisioning </a:t>
            </a:r>
            <a:r>
              <a:rPr lang="en-US" dirty="0"/>
              <a:t>of suitable hypervisor</a:t>
            </a:r>
            <a:r>
              <a:rPr lang="en-US" b="1" dirty="0"/>
              <a:t> and setting up server and storage pools</a:t>
            </a:r>
            <a:r>
              <a:rPr lang="en-US" dirty="0"/>
              <a:t>. </a:t>
            </a:r>
          </a:p>
          <a:p>
            <a:pPr marL="285750" indent="-285750" algn="just">
              <a:lnSpc>
                <a:spcPct val="150000"/>
              </a:lnSpc>
              <a:buFont typeface="Arial" panose="020B0604020202020204" pitchFamily="34" charset="0"/>
              <a:buChar char="•"/>
              <a:defRPr/>
            </a:pPr>
            <a:r>
              <a:rPr lang="en-US" dirty="0"/>
              <a:t>Once completed, </a:t>
            </a:r>
            <a:r>
              <a:rPr lang="en-US" b="1" u="sng" dirty="0"/>
              <a:t>you can group all of these into zones based on functional or QoS characteristics.</a:t>
            </a:r>
            <a:r>
              <a:rPr lang="en-US" u="sng" dirty="0"/>
              <a:t> </a:t>
            </a:r>
          </a:p>
          <a:p>
            <a:pPr marL="285750" indent="-285750" algn="just">
              <a:lnSpc>
                <a:spcPct val="150000"/>
              </a:lnSpc>
              <a:buFont typeface="Arial" panose="020B0604020202020204" pitchFamily="34" charset="0"/>
              <a:buChar char="•"/>
              <a:defRPr/>
            </a:pPr>
            <a:r>
              <a:rPr lang="en-US" dirty="0"/>
              <a:t>Enterprise Manager leverages the Virtualization Storage Connect technology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F8DC860-2073-C083-FC0E-E2EB8621D03C}"/>
              </a:ext>
            </a:extLst>
          </p:cNvPr>
          <p:cNvSpPr txBox="1"/>
          <p:nvPr/>
        </p:nvSpPr>
        <p:spPr>
          <a:xfrm>
            <a:off x="304800" y="990600"/>
            <a:ext cx="8763000" cy="5441950"/>
          </a:xfrm>
          <a:prstGeom prst="rect">
            <a:avLst/>
          </a:prstGeom>
          <a:noFill/>
        </p:spPr>
        <p:txBody>
          <a:bodyPr>
            <a:spAutoFit/>
          </a:bodyPr>
          <a:lstStyle/>
          <a:p>
            <a:pPr algn="just">
              <a:defRPr/>
            </a:pPr>
            <a:r>
              <a:rPr lang="en-US" b="1" dirty="0"/>
              <a:t>Setting Up the Cloud</a:t>
            </a:r>
          </a:p>
          <a:p>
            <a:pPr algn="just">
              <a:lnSpc>
                <a:spcPct val="150000"/>
              </a:lnSpc>
              <a:defRPr/>
            </a:pPr>
            <a:endParaRPr lang="en-US" dirty="0"/>
          </a:p>
          <a:p>
            <a:pPr marL="285750" indent="-285750" algn="just">
              <a:lnSpc>
                <a:spcPct val="150000"/>
              </a:lnSpc>
              <a:buFont typeface="Arial" panose="020B0604020202020204" pitchFamily="34" charset="0"/>
              <a:buChar char="•"/>
              <a:defRPr/>
            </a:pPr>
            <a:r>
              <a:rPr lang="en-US" b="1" dirty="0"/>
              <a:t>Enterprise Manager uses </a:t>
            </a:r>
            <a:r>
              <a:rPr lang="en-US" dirty="0"/>
              <a:t>components called </a:t>
            </a:r>
            <a:r>
              <a:rPr lang="en-US" b="1" u="sng" dirty="0"/>
              <a:t>assemblies.</a:t>
            </a:r>
            <a:r>
              <a:rPr lang="en-US" u="sng" dirty="0"/>
              <a:t> </a:t>
            </a:r>
          </a:p>
          <a:p>
            <a:pPr marL="285750" indent="-285750" algn="just">
              <a:lnSpc>
                <a:spcPct val="150000"/>
              </a:lnSpc>
              <a:buFont typeface="Arial" panose="020B0604020202020204" pitchFamily="34" charset="0"/>
              <a:buChar char="•"/>
              <a:defRPr/>
            </a:pPr>
            <a:r>
              <a:rPr lang="en-US" dirty="0"/>
              <a:t>These </a:t>
            </a:r>
            <a:r>
              <a:rPr lang="en-US" b="1" u="sng" dirty="0"/>
              <a:t>assemblies help package a multi-tier platform </a:t>
            </a:r>
            <a:r>
              <a:rPr lang="en-US" b="1" dirty="0"/>
              <a:t>into a single metadata</a:t>
            </a:r>
            <a:r>
              <a:rPr lang="en-US" dirty="0"/>
              <a:t> that the Enterprise Manager Cloud service can deploy. </a:t>
            </a:r>
          </a:p>
          <a:p>
            <a:pPr marL="285750" indent="-285750" algn="just">
              <a:lnSpc>
                <a:spcPct val="150000"/>
              </a:lnSpc>
              <a:buFont typeface="Arial" panose="020B0604020202020204" pitchFamily="34" charset="0"/>
              <a:buChar char="•"/>
              <a:defRPr/>
            </a:pPr>
            <a:r>
              <a:rPr lang="en-US" b="1" dirty="0"/>
              <a:t>An assembly is essentially a complete </a:t>
            </a:r>
            <a:r>
              <a:rPr lang="en-US" b="1" u="sng" dirty="0"/>
              <a:t>multi-tier application stack - including database, application server and other middleware components - packaged as a single downloadable entity.</a:t>
            </a:r>
            <a:r>
              <a:rPr lang="en-US" u="sng" dirty="0"/>
              <a:t> </a:t>
            </a:r>
          </a:p>
          <a:p>
            <a:pPr marL="285750" indent="-285750" algn="just">
              <a:lnSpc>
                <a:spcPct val="150000"/>
              </a:lnSpc>
              <a:buFont typeface="Arial" panose="020B0604020202020204" pitchFamily="34" charset="0"/>
              <a:buChar char="•"/>
              <a:defRPr/>
            </a:pPr>
            <a:r>
              <a:rPr lang="en-US" dirty="0"/>
              <a:t>When an </a:t>
            </a:r>
            <a:r>
              <a:rPr lang="en-US" u="sng" dirty="0"/>
              <a:t>assembly is deployed, </a:t>
            </a:r>
            <a:r>
              <a:rPr lang="en-US" b="1" u="sng" dirty="0"/>
              <a:t>the result is the creation of a set of related virtual machines</a:t>
            </a:r>
            <a:r>
              <a:rPr lang="en-US" u="sng" dirty="0"/>
              <a:t> representing every tier of the application stack.</a:t>
            </a:r>
          </a:p>
          <a:p>
            <a:pPr marL="285750" indent="-285750" algn="just">
              <a:lnSpc>
                <a:spcPct val="150000"/>
              </a:lnSpc>
              <a:buFont typeface="Arial" panose="020B0604020202020204" pitchFamily="34" charset="0"/>
              <a:buChar char="•"/>
              <a:defRPr/>
            </a:pPr>
            <a:r>
              <a:rPr lang="en-US" dirty="0"/>
              <a:t>This </a:t>
            </a:r>
            <a:r>
              <a:rPr lang="en-US" b="1" dirty="0"/>
              <a:t>assembly can then be published to the centralized Software Library </a:t>
            </a:r>
            <a:r>
              <a:rPr lang="en-US" dirty="0"/>
              <a:t>in Enterprise Manager, and be made available to developers as a Cloud service – an entire application development stack, that can be provisioned quickly.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4E7636-FA89-97FC-D774-D0BA65C04641}"/>
              </a:ext>
            </a:extLst>
          </p:cNvPr>
          <p:cNvSpPr txBox="1"/>
          <p:nvPr/>
        </p:nvSpPr>
        <p:spPr>
          <a:xfrm>
            <a:off x="76200" y="457200"/>
            <a:ext cx="9067800" cy="6486525"/>
          </a:xfrm>
          <a:prstGeom prst="rect">
            <a:avLst/>
          </a:prstGeom>
          <a:noFill/>
        </p:spPr>
        <p:txBody>
          <a:bodyPr>
            <a:spAutoFit/>
          </a:bodyPr>
          <a:lstStyle/>
          <a:p>
            <a:pPr algn="just">
              <a:defRPr/>
            </a:pPr>
            <a:r>
              <a:rPr lang="en-US" sz="2400" b="1" dirty="0"/>
              <a:t>Building the Cloud</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Enterprise Manager </a:t>
            </a:r>
            <a:r>
              <a:rPr lang="en-US" sz="2400" b="1" u="sng" dirty="0">
                <a:solidFill>
                  <a:srgbClr val="222222"/>
                </a:solidFill>
                <a:latin typeface="Helvetica Neue"/>
              </a:rPr>
              <a:t>allows entire applications or components to be packaged and published </a:t>
            </a:r>
            <a:r>
              <a:rPr lang="en-US" sz="2400" b="1" dirty="0">
                <a:solidFill>
                  <a:srgbClr val="222222"/>
                </a:solidFill>
                <a:latin typeface="Helvetica Neue"/>
              </a:rPr>
              <a:t>to the Cloud</a:t>
            </a:r>
            <a:r>
              <a:rPr lang="en-US" sz="2400" dirty="0">
                <a:solidFill>
                  <a:srgbClr val="222222"/>
                </a:solidFill>
                <a:latin typeface="Helvetica Neue"/>
              </a:rPr>
              <a:t> as a service. </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This expedites application development and provisioning processes within an organization.</a:t>
            </a:r>
          </a:p>
          <a:p>
            <a:pPr marL="342900" indent="-342900" algn="just">
              <a:lnSpc>
                <a:spcPct val="150000"/>
              </a:lnSpc>
              <a:buFont typeface="Arial" panose="020B0604020202020204" pitchFamily="34" charset="0"/>
              <a:buChar char="•"/>
              <a:defRPr/>
            </a:pPr>
            <a:r>
              <a:rPr lang="en-US" sz="2400" b="1" u="sng" dirty="0">
                <a:solidFill>
                  <a:srgbClr val="222222"/>
                </a:solidFill>
                <a:latin typeface="Helvetica Neue"/>
              </a:rPr>
              <a:t>Developers can publish utility components </a:t>
            </a:r>
            <a:r>
              <a:rPr lang="en-US" sz="2400" u="sng" dirty="0">
                <a:solidFill>
                  <a:srgbClr val="222222"/>
                </a:solidFill>
                <a:latin typeface="Helvetica Neue"/>
              </a:rPr>
              <a:t>and applications </a:t>
            </a:r>
            <a:r>
              <a:rPr lang="en-US" sz="2400" b="1" u="sng" dirty="0">
                <a:solidFill>
                  <a:srgbClr val="222222"/>
                </a:solidFill>
                <a:latin typeface="Helvetica Neue"/>
              </a:rPr>
              <a:t>in the form of assemblies </a:t>
            </a:r>
            <a:r>
              <a:rPr lang="en-US" sz="2400" dirty="0">
                <a:solidFill>
                  <a:srgbClr val="222222"/>
                </a:solidFill>
                <a:latin typeface="Helvetica Neue"/>
              </a:rPr>
              <a:t>and service templates for reuse within their groups. </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Similarly, </a:t>
            </a:r>
            <a:r>
              <a:rPr lang="en-US" sz="2400" u="sng" dirty="0">
                <a:solidFill>
                  <a:srgbClr val="222222"/>
                </a:solidFill>
                <a:latin typeface="Helvetica Neue"/>
              </a:rPr>
              <a:t>allowing applications to be available as assemblies allows testing teams,</a:t>
            </a:r>
            <a:r>
              <a:rPr lang="en-US" sz="2400" dirty="0">
                <a:solidFill>
                  <a:srgbClr val="222222"/>
                </a:solidFill>
                <a:latin typeface="Helvetica Neue"/>
              </a:rPr>
              <a:t> business analysts/ </a:t>
            </a:r>
            <a:r>
              <a:rPr lang="en-US" sz="2400" b="1" dirty="0">
                <a:solidFill>
                  <a:srgbClr val="222222"/>
                </a:solidFill>
                <a:latin typeface="Helvetica Neue"/>
              </a:rPr>
              <a:t>production teams to deploy pre-built applications in a few clicks.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AAD950-33B9-723A-36C7-CA14981A3E1D}"/>
              </a:ext>
            </a:extLst>
          </p:cNvPr>
          <p:cNvSpPr txBox="1"/>
          <p:nvPr/>
        </p:nvSpPr>
        <p:spPr>
          <a:xfrm>
            <a:off x="76200" y="457200"/>
            <a:ext cx="9067800" cy="6010275"/>
          </a:xfrm>
          <a:prstGeom prst="rect">
            <a:avLst/>
          </a:prstGeom>
          <a:noFill/>
        </p:spPr>
        <p:txBody>
          <a:bodyPr>
            <a:spAutoFit/>
          </a:bodyPr>
          <a:lstStyle/>
          <a:p>
            <a:pPr>
              <a:spcAft>
                <a:spcPts val="600"/>
              </a:spcAft>
              <a:defRPr/>
            </a:pPr>
            <a:r>
              <a:rPr lang="en-US" sz="2400" b="1" dirty="0">
                <a:solidFill>
                  <a:srgbClr val="252525"/>
                </a:solidFill>
              </a:rPr>
              <a:t>Testing and Deploying a Service</a:t>
            </a:r>
          </a:p>
          <a:p>
            <a:pPr marL="342900" indent="-342900" algn="just">
              <a:lnSpc>
                <a:spcPct val="150000"/>
              </a:lnSpc>
              <a:buFont typeface="Arial" panose="020B0604020202020204" pitchFamily="34" charset="0"/>
              <a:buChar char="•"/>
              <a:defRPr/>
            </a:pPr>
            <a:r>
              <a:rPr lang="en-US" sz="2400" u="sng" dirty="0">
                <a:solidFill>
                  <a:srgbClr val="222222"/>
                </a:solidFill>
                <a:latin typeface="Helvetica Neue"/>
              </a:rPr>
              <a:t>After an application has been built, it needs to be tested</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 Enterprise Manager provides a testing portfolio that allows users to </a:t>
            </a:r>
            <a:r>
              <a:rPr lang="en-US" sz="2400" b="1" dirty="0">
                <a:solidFill>
                  <a:srgbClr val="222222"/>
                </a:solidFill>
                <a:latin typeface="Helvetica Neue"/>
              </a:rPr>
              <a:t>test both application changes and changes to the database</a:t>
            </a:r>
            <a:r>
              <a:rPr lang="en-US" sz="2400" dirty="0">
                <a:solidFill>
                  <a:srgbClr val="222222"/>
                </a:solidFill>
                <a:latin typeface="Helvetica Neue"/>
              </a:rPr>
              <a:t>. </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The testing solution provides the </a:t>
            </a:r>
            <a:r>
              <a:rPr lang="en-US" sz="2400" b="1" dirty="0">
                <a:solidFill>
                  <a:srgbClr val="222222"/>
                </a:solidFill>
                <a:latin typeface="Helvetica Neue"/>
              </a:rPr>
              <a:t>ability to capture a production load and replay in a test environment </a:t>
            </a:r>
            <a:r>
              <a:rPr lang="en-US" sz="2400" dirty="0">
                <a:solidFill>
                  <a:srgbClr val="222222"/>
                </a:solidFill>
                <a:latin typeface="Helvetica Neue"/>
              </a:rPr>
              <a:t>so that the results are predictable.</a:t>
            </a:r>
          </a:p>
          <a:p>
            <a:pPr marL="342900" indent="-342900" algn="just">
              <a:lnSpc>
                <a:spcPct val="150000"/>
              </a:lnSpc>
              <a:buFont typeface="Arial" panose="020B0604020202020204" pitchFamily="34" charset="0"/>
              <a:buChar char="•"/>
              <a:defRPr/>
            </a:pPr>
            <a:r>
              <a:rPr lang="en-US" sz="2400" b="1" dirty="0">
                <a:solidFill>
                  <a:srgbClr val="222222"/>
                </a:solidFill>
                <a:latin typeface="Helvetica Neue"/>
              </a:rPr>
              <a:t>Enterprise Manager provides a self-service application that lets end-users deploy a service</a:t>
            </a:r>
            <a:r>
              <a:rPr lang="en-US" sz="2400" dirty="0">
                <a:solidFill>
                  <a:srgbClr val="222222"/>
                </a:solidFill>
                <a:latin typeface="Helvetica Neue"/>
              </a:rPr>
              <a:t>. This self-service application can also be customized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38E525-2AA0-F79F-EA46-144441A77BC4}"/>
              </a:ext>
            </a:extLst>
          </p:cNvPr>
          <p:cNvSpPr txBox="1"/>
          <p:nvPr/>
        </p:nvSpPr>
        <p:spPr>
          <a:xfrm>
            <a:off x="76200" y="457200"/>
            <a:ext cx="9067800" cy="7118350"/>
          </a:xfrm>
          <a:prstGeom prst="rect">
            <a:avLst/>
          </a:prstGeom>
          <a:noFill/>
        </p:spPr>
        <p:txBody>
          <a:bodyPr>
            <a:spAutoFit/>
          </a:bodyPr>
          <a:lstStyle/>
          <a:p>
            <a:pPr>
              <a:spcAft>
                <a:spcPts val="600"/>
              </a:spcAft>
              <a:defRPr/>
            </a:pPr>
            <a:r>
              <a:rPr lang="en-US" sz="2400" b="1" dirty="0">
                <a:solidFill>
                  <a:srgbClr val="252525"/>
                </a:solidFill>
              </a:rPr>
              <a:t>Monitoring and Managing the Clou</a:t>
            </a:r>
            <a:r>
              <a:rPr lang="en-US" sz="2400" dirty="0">
                <a:solidFill>
                  <a:srgbClr val="252525"/>
                </a:solidFill>
              </a:rPr>
              <a:t>d</a:t>
            </a:r>
          </a:p>
          <a:p>
            <a:pPr marL="342900" indent="-342900" algn="just">
              <a:lnSpc>
                <a:spcPct val="150000"/>
              </a:lnSpc>
              <a:buFont typeface="Arial" panose="020B0604020202020204" pitchFamily="34" charset="0"/>
              <a:buChar char="•"/>
              <a:defRPr/>
            </a:pPr>
            <a:r>
              <a:rPr lang="en-US" sz="2400" u="sng" dirty="0">
                <a:solidFill>
                  <a:srgbClr val="222222"/>
                </a:solidFill>
                <a:latin typeface="Helvetica Neue"/>
              </a:rPr>
              <a:t>Enterprise Manger offers a number of inherent monitoring and management features that collectively comprise a full Cloud management system.</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Enterprise Manager's built-in Incident Management system allows you to </a:t>
            </a:r>
            <a:r>
              <a:rPr lang="en-US" sz="2400" b="1" dirty="0">
                <a:solidFill>
                  <a:srgbClr val="222222"/>
                </a:solidFill>
                <a:latin typeface="Helvetica Neue"/>
              </a:rPr>
              <a:t>monitor the Cloud for complex operational issues </a:t>
            </a:r>
            <a:r>
              <a:rPr lang="en-US" sz="2400" dirty="0">
                <a:solidFill>
                  <a:srgbClr val="222222"/>
                </a:solidFill>
                <a:latin typeface="Helvetica Neue"/>
              </a:rPr>
              <a:t>that may affect performance. </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You can review, suppress, escalate and remediate events that occur as needed, and even integrate incident escalation with existing support ticketing system</a:t>
            </a:r>
          </a:p>
          <a:p>
            <a:pPr marL="342900" indent="-342900" algn="just">
              <a:lnSpc>
                <a:spcPct val="150000"/>
              </a:lnSpc>
              <a:buFont typeface="Arial" panose="020B0604020202020204" pitchFamily="34" charset="0"/>
              <a:buChar char="•"/>
              <a:defRPr/>
            </a:pPr>
            <a:r>
              <a:rPr lang="en-US" sz="2400" b="1" dirty="0">
                <a:solidFill>
                  <a:srgbClr val="222222"/>
                </a:solidFill>
                <a:latin typeface="Helvetica Neue"/>
              </a:rPr>
              <a:t>Contractual Service Level Agreements (SLAs) can be defined to govern the contract between the application owner and the provider of the Cloud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696941-8934-9097-9906-CAB8E03FE80A}"/>
              </a:ext>
            </a:extLst>
          </p:cNvPr>
          <p:cNvSpPr txBox="1"/>
          <p:nvPr/>
        </p:nvSpPr>
        <p:spPr>
          <a:xfrm>
            <a:off x="76200" y="457200"/>
            <a:ext cx="9067800" cy="6016625"/>
          </a:xfrm>
          <a:prstGeom prst="rect">
            <a:avLst/>
          </a:prstGeom>
          <a:noFill/>
        </p:spPr>
        <p:txBody>
          <a:bodyPr>
            <a:spAutoFit/>
          </a:bodyPr>
          <a:lstStyle/>
          <a:p>
            <a:pPr>
              <a:spcAft>
                <a:spcPts val="600"/>
              </a:spcAft>
              <a:defRPr/>
            </a:pPr>
            <a:r>
              <a:rPr lang="en-US" sz="2400" b="1" dirty="0">
                <a:solidFill>
                  <a:srgbClr val="252525"/>
                </a:solidFill>
              </a:rPr>
              <a:t>Metering, Charging, and Optimization</a:t>
            </a:r>
          </a:p>
          <a:p>
            <a:pPr marL="342900" indent="-342900" algn="just">
              <a:spcAft>
                <a:spcPts val="600"/>
              </a:spcAft>
              <a:buFont typeface="Arial" panose="020B0604020202020204" pitchFamily="34" charset="0"/>
              <a:buChar char="•"/>
              <a:defRPr/>
            </a:pPr>
            <a:r>
              <a:rPr lang="en-US" sz="2400" dirty="0">
                <a:solidFill>
                  <a:srgbClr val="222222"/>
                </a:solidFill>
                <a:latin typeface="Helvetica Neue"/>
              </a:rPr>
              <a:t>The Metering and Chargeback features in Enterprise Manager enable enterprises to </a:t>
            </a:r>
            <a:r>
              <a:rPr lang="en-US" sz="2400" b="1" dirty="0">
                <a:solidFill>
                  <a:srgbClr val="222222"/>
                </a:solidFill>
                <a:latin typeface="Helvetica Neue"/>
              </a:rPr>
              <a:t>account for actual usage versus representative usage.</a:t>
            </a:r>
          </a:p>
          <a:p>
            <a:pPr marL="342900" indent="-342900" algn="just">
              <a:spcAft>
                <a:spcPts val="600"/>
              </a:spcAft>
              <a:buFont typeface="Arial" panose="020B0604020202020204" pitchFamily="34" charset="0"/>
              <a:buChar char="•"/>
              <a:defRPr/>
            </a:pPr>
            <a:r>
              <a:rPr lang="en-US" sz="2400" b="1" dirty="0">
                <a:solidFill>
                  <a:srgbClr val="222222"/>
                </a:solidFill>
                <a:latin typeface="Helvetica Neue"/>
              </a:rPr>
              <a:t>Enterprise Manager provides administrators and application users</a:t>
            </a:r>
            <a:r>
              <a:rPr lang="en-US" sz="2400" dirty="0">
                <a:solidFill>
                  <a:srgbClr val="222222"/>
                </a:solidFill>
                <a:latin typeface="Helvetica Neue"/>
              </a:rPr>
              <a:t> with features that </a:t>
            </a:r>
            <a:r>
              <a:rPr lang="en-US" sz="2400" b="1" dirty="0">
                <a:solidFill>
                  <a:srgbClr val="222222"/>
                </a:solidFill>
                <a:latin typeface="Helvetica Neue"/>
              </a:rPr>
              <a:t>help rediscover assets, re-evaluate the performance</a:t>
            </a:r>
            <a:r>
              <a:rPr lang="en-US" sz="2400" dirty="0">
                <a:solidFill>
                  <a:srgbClr val="222222"/>
                </a:solidFill>
                <a:latin typeface="Helvetica Neue"/>
              </a:rPr>
              <a:t>, rebalance the Cloud, and fine-tune the provisioning process. </a:t>
            </a:r>
          </a:p>
          <a:p>
            <a:pPr marL="342900" indent="-342900" algn="just">
              <a:spcAft>
                <a:spcPts val="600"/>
              </a:spcAft>
              <a:buFont typeface="Arial" panose="020B0604020202020204" pitchFamily="34" charset="0"/>
              <a:buChar char="•"/>
              <a:defRPr/>
            </a:pPr>
            <a:r>
              <a:rPr lang="en-US" sz="2400" dirty="0">
                <a:solidFill>
                  <a:srgbClr val="222222"/>
                </a:solidFill>
                <a:latin typeface="Helvetica Neue"/>
              </a:rPr>
              <a:t>Chargeback supports basic metrics like CPU, memory, and storage usage. </a:t>
            </a:r>
          </a:p>
          <a:p>
            <a:pPr marL="342900" indent="-342900" algn="just">
              <a:spcAft>
                <a:spcPts val="600"/>
              </a:spcAft>
              <a:buFont typeface="Arial" panose="020B0604020202020204" pitchFamily="34" charset="0"/>
              <a:buChar char="•"/>
              <a:defRPr/>
            </a:pPr>
            <a:r>
              <a:rPr lang="en-US" sz="2400" u="sng" dirty="0">
                <a:solidFill>
                  <a:srgbClr val="222222"/>
                </a:solidFill>
                <a:latin typeface="Helvetica Neue"/>
              </a:rPr>
              <a:t>It </a:t>
            </a:r>
            <a:r>
              <a:rPr lang="en-US" sz="2400" b="1" u="sng" dirty="0">
                <a:solidFill>
                  <a:srgbClr val="222222"/>
                </a:solidFill>
                <a:latin typeface="Helvetica Neue"/>
              </a:rPr>
              <a:t>also offers pricing models based on application usage, database usage</a:t>
            </a:r>
            <a:r>
              <a:rPr lang="en-US" sz="2400" dirty="0">
                <a:solidFill>
                  <a:srgbClr val="222222"/>
                </a:solidFill>
                <a:latin typeface="Helvetica Neue"/>
              </a:rPr>
              <a:t>, and Middleware-level metrics.</a:t>
            </a:r>
          </a:p>
          <a:p>
            <a:pPr marL="342900" indent="-342900" algn="just">
              <a:spcAft>
                <a:spcPts val="600"/>
              </a:spcAft>
              <a:buFont typeface="Arial" panose="020B0604020202020204" pitchFamily="34" charset="0"/>
              <a:buChar char="•"/>
              <a:defRPr/>
            </a:pPr>
            <a:r>
              <a:rPr lang="en-US" sz="2400" b="1" dirty="0">
                <a:solidFill>
                  <a:srgbClr val="222222"/>
                </a:solidFill>
                <a:latin typeface="Helvetica Neue"/>
              </a:rPr>
              <a:t>Cloud Management also </a:t>
            </a:r>
            <a:r>
              <a:rPr lang="en-US" sz="2400" dirty="0">
                <a:solidFill>
                  <a:srgbClr val="222222"/>
                </a:solidFill>
                <a:latin typeface="Helvetica Neue"/>
              </a:rPr>
              <a:t>entails an </a:t>
            </a:r>
            <a:r>
              <a:rPr lang="en-US" sz="2400" b="1" dirty="0">
                <a:solidFill>
                  <a:srgbClr val="222222"/>
                </a:solidFill>
                <a:latin typeface="Helvetica Neue"/>
              </a:rPr>
              <a:t>ongoing optimization </a:t>
            </a:r>
            <a:r>
              <a:rPr lang="en-US" sz="2400" dirty="0">
                <a:solidFill>
                  <a:srgbClr val="222222"/>
                </a:solidFill>
                <a:latin typeface="Helvetica Neue"/>
              </a:rPr>
              <a:t>of </a:t>
            </a:r>
            <a:r>
              <a:rPr lang="en-US" sz="2400" b="1" dirty="0">
                <a:solidFill>
                  <a:srgbClr val="222222"/>
                </a:solidFill>
                <a:latin typeface="Helvetica Neue"/>
              </a:rPr>
              <a:t>resources</a:t>
            </a:r>
            <a:r>
              <a:rPr lang="en-US" sz="2400" dirty="0">
                <a:solidFill>
                  <a:srgbClr val="222222"/>
                </a:solidFill>
                <a:latin typeface="Helvetica Neue"/>
              </a:rPr>
              <a:t> as well as processes to make </a:t>
            </a:r>
            <a:r>
              <a:rPr lang="en-US" sz="2400" b="1" dirty="0">
                <a:solidFill>
                  <a:srgbClr val="222222"/>
                </a:solidFill>
                <a:latin typeface="Helvetica Neue"/>
              </a:rPr>
              <a:t>sure that the service levels are persistent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F1EA81BA-21B9-231C-30C8-80ED7F96DC08}"/>
              </a:ext>
            </a:extLst>
          </p:cNvPr>
          <p:cNvSpPr>
            <a:spLocks noGrp="1"/>
          </p:cNvSpPr>
          <p:nvPr>
            <p:ph idx="1"/>
          </p:nvPr>
        </p:nvSpPr>
        <p:spPr>
          <a:xfrm>
            <a:off x="-152400" y="457200"/>
            <a:ext cx="9296400" cy="5507038"/>
          </a:xfrm>
        </p:spPr>
        <p:txBody>
          <a:bodyPr/>
          <a:lstStyle/>
          <a:p>
            <a:pPr marL="109537" indent="0" algn="just">
              <a:lnSpc>
                <a:spcPct val="150000"/>
              </a:lnSpc>
              <a:buFont typeface="Georgia" panose="02040502050405020303" pitchFamily="18" charset="0"/>
              <a:buNone/>
              <a:defRPr/>
            </a:pPr>
            <a:r>
              <a:rPr lang="en-US" altLang="en-US" sz="2400" b="1" u="sng" dirty="0"/>
              <a:t>Emerging Cloud Management Standards</a:t>
            </a:r>
          </a:p>
          <a:p>
            <a:pPr algn="just">
              <a:lnSpc>
                <a:spcPct val="150000"/>
              </a:lnSpc>
              <a:defRPr/>
            </a:pPr>
            <a:r>
              <a:rPr lang="en-US" sz="2000" dirty="0"/>
              <a:t>As it stands now, </a:t>
            </a:r>
            <a:r>
              <a:rPr lang="en-US" sz="2000" b="1" dirty="0"/>
              <a:t>different cloud service providers use different technologies for creating and managing cloud resources. </a:t>
            </a:r>
          </a:p>
          <a:p>
            <a:pPr algn="just">
              <a:lnSpc>
                <a:spcPct val="150000"/>
              </a:lnSpc>
              <a:defRPr/>
            </a:pPr>
            <a:r>
              <a:rPr lang="en-US" sz="2000" dirty="0"/>
              <a:t>As the area matures, </a:t>
            </a:r>
            <a:r>
              <a:rPr lang="en-US" sz="2000" b="1" dirty="0"/>
              <a:t>cloud providers are going to be under considerable pressure from large cloud users </a:t>
            </a:r>
            <a:r>
              <a:rPr lang="en-US" sz="2000" dirty="0"/>
              <a:t>like the federal government </a:t>
            </a:r>
            <a:r>
              <a:rPr lang="en-US" sz="2000" b="1" dirty="0"/>
              <a:t>to conform to standards and make their systems interoperable with one another</a:t>
            </a:r>
            <a:r>
              <a:rPr lang="en-US" sz="2000" dirty="0"/>
              <a:t>.</a:t>
            </a:r>
          </a:p>
          <a:p>
            <a:pPr algn="just">
              <a:lnSpc>
                <a:spcPct val="150000"/>
              </a:lnSpc>
              <a:defRPr/>
            </a:pPr>
            <a:r>
              <a:rPr lang="en-US" sz="2000" dirty="0"/>
              <a:t>To this end, several large industry players such as VMware, IBM, Microsoft, Citrix, and HP have </a:t>
            </a:r>
            <a:r>
              <a:rPr lang="en-US" sz="2000" b="1" dirty="0"/>
              <a:t>gotten together to create standards that can be used to promote cloud interoperability.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3D4105D1-54F3-B250-9DA5-DD7157D7DDFA}"/>
              </a:ext>
            </a:extLst>
          </p:cNvPr>
          <p:cNvSpPr>
            <a:spLocks noGrp="1"/>
          </p:cNvSpPr>
          <p:nvPr>
            <p:ph idx="1"/>
          </p:nvPr>
        </p:nvSpPr>
        <p:spPr>
          <a:xfrm>
            <a:off x="228600" y="457200"/>
            <a:ext cx="8915400" cy="5507038"/>
          </a:xfrm>
        </p:spPr>
        <p:txBody>
          <a:bodyPr/>
          <a:lstStyle/>
          <a:p>
            <a:pPr marL="109537" indent="0" algn="just">
              <a:lnSpc>
                <a:spcPct val="150000"/>
              </a:lnSpc>
              <a:buFont typeface="Georgia" panose="02040502050405020303" pitchFamily="18" charset="0"/>
              <a:buNone/>
              <a:defRPr/>
            </a:pPr>
            <a:r>
              <a:rPr lang="en-US" sz="2400" b="1" dirty="0"/>
              <a:t>DMTF cloud management standard</a:t>
            </a:r>
          </a:p>
          <a:p>
            <a:pPr marL="109537" indent="0" algn="just">
              <a:lnSpc>
                <a:spcPct val="150000"/>
              </a:lnSpc>
              <a:buFont typeface="Georgia" panose="02040502050405020303" pitchFamily="18" charset="0"/>
              <a:buNone/>
              <a:defRPr/>
            </a:pPr>
            <a:r>
              <a:rPr lang="en-US" sz="2000" dirty="0"/>
              <a:t>The </a:t>
            </a:r>
            <a:r>
              <a:rPr lang="en-US" sz="2000" b="1" dirty="0"/>
              <a:t>Distributed Management Task Force (DMTF; </a:t>
            </a:r>
            <a:r>
              <a:rPr lang="en-US" sz="2000" dirty="0"/>
              <a:t>see http://www.dmtf.org/) is an industry organization that </a:t>
            </a:r>
            <a:r>
              <a:rPr lang="en-US" sz="2000" b="1" dirty="0"/>
              <a:t>develops industry system management standards for platform interoperability. </a:t>
            </a:r>
          </a:p>
          <a:p>
            <a:pPr algn="just">
              <a:lnSpc>
                <a:spcPct val="150000"/>
              </a:lnSpc>
              <a:defRPr/>
            </a:pPr>
            <a:r>
              <a:rPr lang="en-US" sz="2000" dirty="0"/>
              <a:t>Its membership is a “who’s who” in computing, and since its founding in 1992, the group has been responsible for several industry standards, most notably the </a:t>
            </a:r>
            <a:r>
              <a:rPr lang="en-US" sz="2000" b="1" dirty="0"/>
              <a:t>Common Information Model (CIM). </a:t>
            </a:r>
          </a:p>
          <a:p>
            <a:pPr algn="just">
              <a:lnSpc>
                <a:spcPct val="150000"/>
              </a:lnSpc>
              <a:defRPr/>
            </a:pPr>
            <a:r>
              <a:rPr lang="en-US" sz="2000" dirty="0"/>
              <a:t>The </a:t>
            </a:r>
            <a:r>
              <a:rPr lang="en-US" sz="2000" b="1" dirty="0"/>
              <a:t>DMTF organizes itself into a set of working groups </a:t>
            </a:r>
            <a:r>
              <a:rPr lang="en-US" sz="2000" dirty="0"/>
              <a:t>that are tasked </a:t>
            </a:r>
            <a:r>
              <a:rPr lang="en-US" sz="2000" b="1" dirty="0"/>
              <a:t>with specifying standards for different areas of technology</a:t>
            </a:r>
            <a:endParaRPr lang="en-US" altLang="en-US" sz="2000" b="1" u="sng"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5BAA65B4-B7FD-47C7-181A-EAC990AC4D01}"/>
              </a:ext>
            </a:extLst>
          </p:cNvPr>
          <p:cNvSpPr>
            <a:spLocks noGrp="1"/>
          </p:cNvSpPr>
          <p:nvPr>
            <p:ph idx="1"/>
          </p:nvPr>
        </p:nvSpPr>
        <p:spPr>
          <a:xfrm>
            <a:off x="228600" y="457200"/>
            <a:ext cx="8915400" cy="5507038"/>
          </a:xfrm>
        </p:spPr>
        <p:txBody>
          <a:bodyPr/>
          <a:lstStyle/>
          <a:p>
            <a:pPr marL="109537" indent="0" algn="just">
              <a:lnSpc>
                <a:spcPct val="150000"/>
              </a:lnSpc>
              <a:buFont typeface="Georgia" panose="02040502050405020303" pitchFamily="18" charset="0"/>
              <a:buNone/>
              <a:defRPr/>
            </a:pPr>
            <a:r>
              <a:rPr lang="en-US" sz="2400" b="1" dirty="0"/>
              <a:t>DMTF cloud management standard</a:t>
            </a:r>
          </a:p>
          <a:p>
            <a:pPr algn="just">
              <a:lnSpc>
                <a:spcPct val="150000"/>
              </a:lnSpc>
              <a:defRPr/>
            </a:pPr>
            <a:r>
              <a:rPr lang="en-US" sz="2000" dirty="0"/>
              <a:t>A recent standard called the </a:t>
            </a:r>
            <a:r>
              <a:rPr lang="en-US" sz="2000" b="1" dirty="0"/>
              <a:t>Virtualization Management Initiative (VMAN)</a:t>
            </a:r>
            <a:r>
              <a:rPr lang="en-US" sz="2000" dirty="0"/>
              <a:t> was developed to </a:t>
            </a:r>
            <a:r>
              <a:rPr lang="en-US" sz="2000" b="1" dirty="0"/>
              <a:t>extend CIM to virtual computer system management. </a:t>
            </a:r>
          </a:p>
          <a:p>
            <a:pPr algn="just">
              <a:lnSpc>
                <a:spcPct val="150000"/>
              </a:lnSpc>
              <a:defRPr/>
            </a:pPr>
            <a:r>
              <a:rPr lang="en-US" sz="2000" dirty="0"/>
              <a:t>VMAN has resulted in the </a:t>
            </a:r>
            <a:r>
              <a:rPr lang="en-US" sz="2000" b="1" dirty="0"/>
              <a:t>creation of the Open Virtualization Format (OVF),</a:t>
            </a:r>
            <a:r>
              <a:rPr lang="en-US" sz="2000" dirty="0"/>
              <a:t> which describes a standard method for creating, packaging, and provisioning virtual appliances. </a:t>
            </a:r>
          </a:p>
          <a:p>
            <a:pPr algn="just">
              <a:lnSpc>
                <a:spcPct val="150000"/>
              </a:lnSpc>
              <a:defRPr/>
            </a:pPr>
            <a:r>
              <a:rPr lang="en-US" sz="2000" b="1" dirty="0"/>
              <a:t>OVF </a:t>
            </a:r>
            <a:r>
              <a:rPr lang="en-US" sz="2000" dirty="0"/>
              <a:t>is essentially a container and an open file format, and </a:t>
            </a:r>
            <a:r>
              <a:rPr lang="en-US" sz="2000" b="1" dirty="0"/>
              <a:t>both hypervisor- and processor-architecture-agnostic.</a:t>
            </a:r>
          </a:p>
          <a:p>
            <a:pPr algn="just">
              <a:lnSpc>
                <a:spcPct val="150000"/>
              </a:lnSpc>
              <a:defRPr/>
            </a:pPr>
            <a:r>
              <a:rPr lang="en-US" sz="2000" dirty="0"/>
              <a:t> Since </a:t>
            </a:r>
            <a:r>
              <a:rPr lang="en-US" sz="2000" b="1" dirty="0"/>
              <a:t>OVF was announced in 2009</a:t>
            </a:r>
            <a:r>
              <a:rPr lang="en-US" sz="2000" dirty="0"/>
              <a:t>, vendors such as VirtualBox, </a:t>
            </a:r>
            <a:r>
              <a:rPr lang="en-US" sz="2000" dirty="0" err="1"/>
              <a:t>AbiCloud</a:t>
            </a:r>
            <a:r>
              <a:rPr lang="en-US" sz="2000" dirty="0"/>
              <a:t>, IBM, Red Hat, and VMWare have announced or introduced products that use OVF</a:t>
            </a:r>
            <a:endParaRPr lang="en-US" altLang="en-US" sz="2000" b="1" u="sng" dirty="0"/>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a:extLst>
              <a:ext uri="{FF2B5EF4-FFF2-40B4-BE49-F238E27FC236}">
                <a16:creationId xmlns:a16="http://schemas.microsoft.com/office/drawing/2014/main" id="{CAF7DB9F-3280-5564-675B-5038B12EF1A9}"/>
              </a:ext>
            </a:extLst>
          </p:cNvPr>
          <p:cNvSpPr>
            <a:spLocks noGrp="1"/>
          </p:cNvSpPr>
          <p:nvPr>
            <p:ph idx="1"/>
          </p:nvPr>
        </p:nvSpPr>
        <p:spPr>
          <a:xfrm>
            <a:off x="228600" y="457200"/>
            <a:ext cx="8915400" cy="5507038"/>
          </a:xfrm>
        </p:spPr>
        <p:txBody>
          <a:bodyPr/>
          <a:lstStyle/>
          <a:p>
            <a:pPr marL="107950" indent="0" algn="just">
              <a:lnSpc>
                <a:spcPct val="150000"/>
              </a:lnSpc>
              <a:buFont typeface="Georgia" panose="02040502050405020303" pitchFamily="18" charset="0"/>
              <a:buNone/>
              <a:defRPr/>
            </a:pPr>
            <a:r>
              <a:rPr lang="en-US" altLang="en-US" sz="2400" b="1" dirty="0"/>
              <a:t>DMTF cloud management standard</a:t>
            </a:r>
          </a:p>
          <a:p>
            <a:pPr marL="393700" indent="-285750" algn="just">
              <a:lnSpc>
                <a:spcPct val="150000"/>
              </a:lnSpc>
              <a:buFont typeface="Arial" panose="020B0604020202020204" pitchFamily="34" charset="0"/>
              <a:buChar char="•"/>
              <a:defRPr/>
            </a:pPr>
            <a:r>
              <a:rPr lang="en-US" altLang="en-US" sz="2000" dirty="0"/>
              <a:t>DMTF has </a:t>
            </a:r>
            <a:r>
              <a:rPr lang="en-US" altLang="en-US" sz="2000" b="1" dirty="0"/>
              <a:t>multiple standards and working groups addressing cloud management, </a:t>
            </a:r>
            <a:r>
              <a:rPr lang="en-US" altLang="en-US" sz="2000" dirty="0"/>
              <a:t>and the </a:t>
            </a:r>
            <a:r>
              <a:rPr lang="en-US" altLang="en-US" sz="2000" b="1" dirty="0"/>
              <a:t>Cloud Management Initiative brings this work together for an integrated approach</a:t>
            </a:r>
            <a:r>
              <a:rPr lang="en-US" altLang="en-US" sz="2000" dirty="0"/>
              <a:t>. </a:t>
            </a:r>
          </a:p>
          <a:p>
            <a:pPr marL="450850" indent="-342900" algn="just">
              <a:lnSpc>
                <a:spcPct val="150000"/>
              </a:lnSpc>
              <a:buFont typeface="Arial" panose="020B0604020202020204" pitchFamily="34" charset="0"/>
              <a:buChar char="•"/>
              <a:defRPr/>
            </a:pPr>
            <a:r>
              <a:rPr lang="en-US" altLang="en-US" sz="2000" dirty="0"/>
              <a:t>Focused </a:t>
            </a:r>
            <a:r>
              <a:rPr lang="en-US" altLang="en-US" sz="2000" b="1" dirty="0"/>
              <a:t>on achieving interoperable cloud infrastructure management between cloud service providers and their consumers and developers</a:t>
            </a:r>
            <a:r>
              <a:rPr lang="en-US" altLang="en-US" sz="2000" dirty="0"/>
              <a:t>, the Cloud Management Initiative also promotes adoption of these standards by the industry.</a:t>
            </a:r>
          </a:p>
          <a:p>
            <a:pPr marL="450850" indent="-342900" algn="just">
              <a:lnSpc>
                <a:spcPct val="150000"/>
              </a:lnSpc>
              <a:buFont typeface="Arial" panose="020B0604020202020204" pitchFamily="34" charset="0"/>
              <a:buChar char="•"/>
              <a:defRPr/>
            </a:pPr>
            <a:r>
              <a:rPr lang="en-US" sz="2000" dirty="0">
                <a:solidFill>
                  <a:srgbClr val="222222"/>
                </a:solidFill>
                <a:latin typeface="Helvetica Neue"/>
              </a:rPr>
              <a:t>The Cloud Management Initiative </a:t>
            </a:r>
            <a:r>
              <a:rPr lang="en-US" sz="2000" b="1" dirty="0">
                <a:solidFill>
                  <a:srgbClr val="222222"/>
                </a:solidFill>
                <a:latin typeface="Helvetica Neue"/>
              </a:rPr>
              <a:t>produced standards and whitepapers </a:t>
            </a:r>
            <a:r>
              <a:rPr lang="en-US" sz="2000" dirty="0">
                <a:solidFill>
                  <a:srgbClr val="222222"/>
                </a:solidFill>
                <a:latin typeface="Helvetica Neue"/>
              </a:rPr>
              <a:t>in the following areas:</a:t>
            </a:r>
            <a:endParaRPr lang="en-US" altLang="en-US" sz="2000" b="1" u="sng"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01F24339-B723-296B-0900-F3073F8F26BE}"/>
              </a:ext>
            </a:extLst>
          </p:cNvPr>
          <p:cNvSpPr>
            <a:spLocks noGrp="1"/>
          </p:cNvSpPr>
          <p:nvPr>
            <p:ph idx="1"/>
          </p:nvPr>
        </p:nvSpPr>
        <p:spPr>
          <a:xfrm>
            <a:off x="-152400" y="457200"/>
            <a:ext cx="9296400" cy="5507038"/>
          </a:xfrm>
        </p:spPr>
        <p:txBody>
          <a:bodyPr/>
          <a:lstStyle/>
          <a:p>
            <a:pPr marL="109537" indent="0" algn="just">
              <a:lnSpc>
                <a:spcPct val="150000"/>
              </a:lnSpc>
              <a:buFont typeface="Georgia" panose="02040502050405020303" pitchFamily="18" charset="0"/>
              <a:buNone/>
              <a:defRPr/>
            </a:pPr>
            <a:r>
              <a:rPr lang="en-US" sz="2400" b="1" dirty="0"/>
              <a:t>DMTF cloud management standard</a:t>
            </a:r>
          </a:p>
          <a:p>
            <a:pPr>
              <a:defRPr/>
            </a:pPr>
            <a:r>
              <a:rPr lang="en-US" sz="1600" dirty="0"/>
              <a:t>*</a:t>
            </a:r>
            <a:r>
              <a:rPr lang="en-US" sz="1600" dirty="0">
                <a:solidFill>
                  <a:srgbClr val="222222"/>
                </a:solidFill>
                <a:latin typeface="Helvetica Neue"/>
              </a:rPr>
              <a:t>The Cloud Management Initiative produced standards and whitepapers in the following areas:</a:t>
            </a:r>
          </a:p>
          <a:p>
            <a:pPr marL="566737" indent="-457200" algn="just">
              <a:lnSpc>
                <a:spcPct val="150000"/>
              </a:lnSpc>
              <a:buFont typeface="+mj-lt"/>
              <a:buAutoNum type="alphaLcParenR"/>
              <a:defRPr/>
            </a:pPr>
            <a:r>
              <a:rPr lang="en-US" sz="2000" b="1" dirty="0">
                <a:solidFill>
                  <a:srgbClr val="222222"/>
                </a:solidFill>
                <a:latin typeface="Helvetica Neue"/>
              </a:rPr>
              <a:t>Cloud Infrastructure Management Interface (CIMI)</a:t>
            </a:r>
            <a:r>
              <a:rPr lang="en-US" sz="2000" dirty="0">
                <a:solidFill>
                  <a:srgbClr val="222222"/>
                </a:solidFill>
                <a:latin typeface="Helvetica Neue"/>
              </a:rPr>
              <a:t> - </a:t>
            </a:r>
            <a:r>
              <a:rPr lang="en-US" sz="2000" b="1" dirty="0">
                <a:solidFill>
                  <a:srgbClr val="222222"/>
                </a:solidFill>
                <a:latin typeface="Helvetica Neue"/>
              </a:rPr>
              <a:t>describes the model and protocol</a:t>
            </a:r>
            <a:r>
              <a:rPr lang="en-US" sz="2000" dirty="0">
                <a:solidFill>
                  <a:srgbClr val="222222"/>
                </a:solidFill>
                <a:latin typeface="Helvetica Neue"/>
              </a:rPr>
              <a:t> for </a:t>
            </a:r>
            <a:r>
              <a:rPr lang="en-US" sz="2000" b="1" dirty="0">
                <a:solidFill>
                  <a:srgbClr val="222222"/>
                </a:solidFill>
                <a:latin typeface="Helvetica Neue"/>
              </a:rPr>
              <a:t>management interactions between a cloud Infrastructure as a Service (IaaS) provider and the consumers of an IaaS service.</a:t>
            </a:r>
            <a:r>
              <a:rPr lang="en-US" sz="2000" dirty="0">
                <a:solidFill>
                  <a:srgbClr val="222222"/>
                </a:solidFill>
                <a:latin typeface="Helvetica Neue"/>
              </a:rPr>
              <a:t> The basic resources of IaaS (machines, storage, and networks) are modeled to provide consumer management access to an implementation of IaaS and facilitate </a:t>
            </a:r>
            <a:r>
              <a:rPr lang="en-US" sz="2000" b="1" dirty="0">
                <a:solidFill>
                  <a:srgbClr val="222222"/>
                </a:solidFill>
                <a:latin typeface="Helvetica Neue"/>
              </a:rPr>
              <a:t>portability between cloud implementations that support the specification.</a:t>
            </a:r>
          </a:p>
          <a:p>
            <a:pPr marL="109537" indent="0" algn="just">
              <a:lnSpc>
                <a:spcPct val="150000"/>
              </a:lnSpc>
              <a:buFont typeface="Georgia" panose="02040502050405020303" pitchFamily="18" charset="0"/>
              <a:buNone/>
              <a:defRPr/>
            </a:pPr>
            <a:r>
              <a:rPr lang="en-US" sz="2000" b="1" dirty="0">
                <a:solidFill>
                  <a:srgbClr val="222222"/>
                </a:solidFill>
                <a:latin typeface="Helvetica Neue"/>
              </a:rPr>
              <a:t>b) Open Virtualization Format (OVF)</a:t>
            </a:r>
            <a:r>
              <a:rPr lang="en-US" sz="2000" dirty="0">
                <a:solidFill>
                  <a:srgbClr val="222222"/>
                </a:solidFill>
                <a:latin typeface="Helvetica Neue"/>
              </a:rPr>
              <a:t> – a </a:t>
            </a:r>
            <a:r>
              <a:rPr lang="en-US" sz="2000" b="1" dirty="0">
                <a:solidFill>
                  <a:srgbClr val="222222"/>
                </a:solidFill>
                <a:latin typeface="Helvetica Neue"/>
              </a:rPr>
              <a:t>portable metadata format </a:t>
            </a:r>
            <a:r>
              <a:rPr lang="en-US" sz="2000" dirty="0">
                <a:solidFill>
                  <a:srgbClr val="222222"/>
                </a:solidFill>
                <a:latin typeface="Helvetica Neue"/>
              </a:rPr>
              <a:t>for the </a:t>
            </a:r>
            <a:r>
              <a:rPr lang="en-US" sz="2000" b="1" dirty="0">
                <a:solidFill>
                  <a:srgbClr val="222222"/>
                </a:solidFill>
                <a:latin typeface="Helvetica Neue"/>
              </a:rPr>
              <a:t>distribution</a:t>
            </a:r>
            <a:r>
              <a:rPr lang="en-US" sz="2000" dirty="0">
                <a:solidFill>
                  <a:srgbClr val="222222"/>
                </a:solidFill>
                <a:latin typeface="Helvetica Neue"/>
              </a:rPr>
              <a:t> of virtual systems onto and </a:t>
            </a:r>
            <a:r>
              <a:rPr lang="en-US" sz="2000" b="1" dirty="0">
                <a:solidFill>
                  <a:srgbClr val="222222"/>
                </a:solidFill>
                <a:latin typeface="Helvetica Neue"/>
              </a:rPr>
              <a:t>between virtualization platforms. </a:t>
            </a:r>
            <a:endParaRPr lang="en-US" altLang="en-US" sz="2400" b="1" u="sng"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851A7F64-7423-B7E9-BFCD-2D1CB14438F8}"/>
              </a:ext>
            </a:extLst>
          </p:cNvPr>
          <p:cNvSpPr>
            <a:spLocks noGrp="1"/>
          </p:cNvSpPr>
          <p:nvPr>
            <p:ph idx="1"/>
          </p:nvPr>
        </p:nvSpPr>
        <p:spPr>
          <a:xfrm>
            <a:off x="228600" y="457200"/>
            <a:ext cx="8915400" cy="5507038"/>
          </a:xfrm>
        </p:spPr>
        <p:txBody>
          <a:bodyPr/>
          <a:lstStyle/>
          <a:p>
            <a:pPr marL="107950" indent="0" algn="just">
              <a:lnSpc>
                <a:spcPct val="150000"/>
              </a:lnSpc>
              <a:buFont typeface="Georgia" panose="02040502050405020303" pitchFamily="18" charset="0"/>
              <a:buNone/>
            </a:pPr>
            <a:r>
              <a:rPr lang="en-US" altLang="en-US" sz="2400" b="1"/>
              <a:t>DMTF cloud management standard</a:t>
            </a:r>
          </a:p>
          <a:p>
            <a:pPr marL="107950" indent="0" algn="just">
              <a:lnSpc>
                <a:spcPct val="150000"/>
              </a:lnSpc>
              <a:buFont typeface="Georgia" panose="02040502050405020303" pitchFamily="18" charset="0"/>
              <a:buNone/>
            </a:pPr>
            <a:r>
              <a:rPr lang="en-US" altLang="en-US" sz="2000" b="1">
                <a:solidFill>
                  <a:srgbClr val="222222"/>
                </a:solidFill>
                <a:latin typeface="Helvetica Neue"/>
              </a:rPr>
              <a:t>c) Cloud Audit Data Federation (CADF) Data Format and Interface Definitions</a:t>
            </a:r>
            <a:r>
              <a:rPr lang="en-US" altLang="en-US" sz="2000">
                <a:solidFill>
                  <a:srgbClr val="222222"/>
                </a:solidFill>
                <a:latin typeface="Helvetica Neue"/>
              </a:rPr>
              <a:t> </a:t>
            </a:r>
            <a:r>
              <a:rPr lang="en-US" altLang="en-US" sz="2000" b="1">
                <a:solidFill>
                  <a:srgbClr val="222222"/>
                </a:solidFill>
                <a:latin typeface="Helvetica Neue"/>
              </a:rPr>
              <a:t>- </a:t>
            </a:r>
            <a:r>
              <a:rPr lang="en-US" altLang="en-US" sz="2000">
                <a:solidFill>
                  <a:srgbClr val="222222"/>
                </a:solidFill>
                <a:latin typeface="Helvetica Neue"/>
              </a:rPr>
              <a:t>is an open standard providing a common model for </a:t>
            </a:r>
            <a:r>
              <a:rPr lang="en-US" altLang="en-US" sz="2000" b="1">
                <a:solidFill>
                  <a:srgbClr val="222222"/>
                </a:solidFill>
                <a:latin typeface="Helvetica Neue"/>
              </a:rPr>
              <a:t>logging, formatting, and exchanging audit events </a:t>
            </a:r>
            <a:r>
              <a:rPr lang="en-US" altLang="en-US" sz="2000">
                <a:solidFill>
                  <a:srgbClr val="222222"/>
                </a:solidFill>
                <a:latin typeface="Helvetica Neue"/>
              </a:rPr>
              <a:t>across diverse cloud environments. It </a:t>
            </a:r>
            <a:r>
              <a:rPr lang="en-US" altLang="en-US" sz="2000" b="1">
                <a:solidFill>
                  <a:srgbClr val="222222"/>
                </a:solidFill>
                <a:latin typeface="Helvetica Neue"/>
              </a:rPr>
              <a:t>ensures security, compliance, and interoperability </a:t>
            </a:r>
            <a:r>
              <a:rPr lang="en-US" altLang="en-US" sz="2000">
                <a:solidFill>
                  <a:srgbClr val="222222"/>
                </a:solidFill>
                <a:latin typeface="Helvetica Neue"/>
              </a:rPr>
              <a:t>in </a:t>
            </a:r>
            <a:r>
              <a:rPr lang="en-US" altLang="en-US" sz="2000" b="1">
                <a:solidFill>
                  <a:srgbClr val="222222"/>
                </a:solidFill>
                <a:latin typeface="Helvetica Neue"/>
              </a:rPr>
              <a:t>hybrid/multi-cloud setups </a:t>
            </a:r>
            <a:r>
              <a:rPr lang="en-US" altLang="en-US" sz="2000">
                <a:solidFill>
                  <a:srgbClr val="222222"/>
                </a:solidFill>
                <a:latin typeface="Helvetica Neue"/>
              </a:rPr>
              <a:t>by </a:t>
            </a:r>
            <a:r>
              <a:rPr lang="en-US" altLang="en-US" sz="2000" b="1">
                <a:solidFill>
                  <a:srgbClr val="222222"/>
                </a:solidFill>
                <a:latin typeface="Helvetica Neue"/>
              </a:rPr>
              <a:t>normalizing</a:t>
            </a:r>
            <a:r>
              <a:rPr lang="en-US" altLang="en-US" sz="2000">
                <a:solidFill>
                  <a:srgbClr val="222222"/>
                </a:solidFill>
                <a:latin typeface="Helvetica Neue"/>
              </a:rPr>
              <a:t> </a:t>
            </a:r>
            <a:r>
              <a:rPr lang="en-US" altLang="en-US" sz="2000" b="1">
                <a:solidFill>
                  <a:srgbClr val="222222"/>
                </a:solidFill>
                <a:latin typeface="Helvetica Neue"/>
              </a:rPr>
              <a:t>audit data from different providers. </a:t>
            </a:r>
          </a:p>
          <a:p>
            <a:pPr marL="107950" indent="0" algn="just">
              <a:lnSpc>
                <a:spcPct val="150000"/>
              </a:lnSpc>
              <a:buFont typeface="Georgia" panose="02040502050405020303" pitchFamily="18" charset="0"/>
              <a:buNone/>
            </a:pPr>
            <a:r>
              <a:rPr lang="en-US" altLang="en-US" sz="2000" b="1">
                <a:solidFill>
                  <a:srgbClr val="222222"/>
                </a:solidFill>
                <a:latin typeface="Helvetica Neue"/>
              </a:rPr>
              <a:t>d) Software Identification and Entitlement Usage Metrics Whitepaper</a:t>
            </a:r>
            <a:r>
              <a:rPr lang="en-US" altLang="en-US" sz="2000">
                <a:solidFill>
                  <a:srgbClr val="222222"/>
                </a:solidFill>
                <a:latin typeface="Helvetica Neue"/>
              </a:rPr>
              <a:t>– a document which describes information </a:t>
            </a:r>
            <a:r>
              <a:rPr lang="en-US" altLang="en-US" sz="2000" b="1">
                <a:solidFill>
                  <a:srgbClr val="222222"/>
                </a:solidFill>
                <a:latin typeface="Helvetica Neue"/>
              </a:rPr>
              <a:t>useful in identifying licensed software products</a:t>
            </a:r>
            <a:r>
              <a:rPr lang="en-US" altLang="en-US" sz="2000">
                <a:solidFill>
                  <a:srgbClr val="222222"/>
                </a:solidFill>
                <a:latin typeface="Helvetica Neue"/>
              </a:rPr>
              <a:t>, and to </a:t>
            </a:r>
            <a:r>
              <a:rPr lang="en-US" altLang="en-US" sz="2000" b="1">
                <a:solidFill>
                  <a:srgbClr val="222222"/>
                </a:solidFill>
                <a:latin typeface="Helvetica Neue"/>
              </a:rPr>
              <a:t>trace and gather the use of the software </a:t>
            </a:r>
            <a:r>
              <a:rPr lang="en-US" altLang="en-US" sz="2000">
                <a:solidFill>
                  <a:srgbClr val="222222"/>
                </a:solidFill>
                <a:latin typeface="Helvetica Neue"/>
              </a:rPr>
              <a:t>and other entitlement usage metrics across the span of deployments. </a:t>
            </a:r>
          </a:p>
          <a:p>
            <a:pPr marL="107950" indent="0" algn="just">
              <a:lnSpc>
                <a:spcPct val="150000"/>
              </a:lnSpc>
              <a:buFont typeface="Georgia" panose="02040502050405020303" pitchFamily="18" charset="0"/>
              <a:buNone/>
            </a:pPr>
            <a:endParaRPr lang="en-US" altLang="en-US" sz="2400" b="1" u="sng"/>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D564C5AA-347E-97A7-630E-292D2EB84032}"/>
              </a:ext>
            </a:extLst>
          </p:cNvPr>
          <p:cNvSpPr>
            <a:spLocks noGrp="1"/>
          </p:cNvSpPr>
          <p:nvPr>
            <p:ph idx="1"/>
          </p:nvPr>
        </p:nvSpPr>
        <p:spPr>
          <a:xfrm>
            <a:off x="228600" y="457200"/>
            <a:ext cx="8915400" cy="5507038"/>
          </a:xfrm>
        </p:spPr>
        <p:txBody>
          <a:bodyPr/>
          <a:lstStyle/>
          <a:p>
            <a:pPr marL="109537" indent="0" algn="just">
              <a:lnSpc>
                <a:spcPct val="150000"/>
              </a:lnSpc>
              <a:buFont typeface="Georgia" panose="02040502050405020303" pitchFamily="18" charset="0"/>
              <a:buNone/>
              <a:defRPr/>
            </a:pPr>
            <a:r>
              <a:rPr lang="en-US" sz="2400" b="1" dirty="0"/>
              <a:t>Understanding Cloud Security</a:t>
            </a:r>
          </a:p>
          <a:p>
            <a:pPr algn="just">
              <a:lnSpc>
                <a:spcPct val="150000"/>
              </a:lnSpc>
              <a:defRPr/>
            </a:pPr>
            <a:r>
              <a:rPr lang="en-US" sz="2000" dirty="0"/>
              <a:t>Security in cloud computing is a major concern.</a:t>
            </a:r>
          </a:p>
          <a:p>
            <a:pPr algn="just">
              <a:lnSpc>
                <a:spcPct val="150000"/>
              </a:lnSpc>
              <a:defRPr/>
            </a:pPr>
            <a:r>
              <a:rPr lang="en-US" sz="2000" dirty="0"/>
              <a:t> </a:t>
            </a:r>
            <a:r>
              <a:rPr lang="en-US" sz="2000" b="1" dirty="0"/>
              <a:t>Data in cloud should </a:t>
            </a:r>
            <a:r>
              <a:rPr lang="en-US" sz="2000" dirty="0"/>
              <a:t>be stored in </a:t>
            </a:r>
            <a:r>
              <a:rPr lang="en-US" sz="2000" b="1" dirty="0"/>
              <a:t>encrypted form. </a:t>
            </a:r>
          </a:p>
          <a:p>
            <a:pPr algn="just">
              <a:lnSpc>
                <a:spcPct val="150000"/>
              </a:lnSpc>
              <a:defRPr/>
            </a:pPr>
            <a:r>
              <a:rPr lang="en-US" sz="2000" dirty="0"/>
              <a:t>To </a:t>
            </a:r>
            <a:r>
              <a:rPr lang="en-US" sz="2000" b="1" dirty="0"/>
              <a:t>restrict client from accessing the shared </a:t>
            </a:r>
            <a:r>
              <a:rPr lang="en-US" sz="2000" dirty="0"/>
              <a:t>data directly, </a:t>
            </a:r>
            <a:r>
              <a:rPr lang="en-US" sz="2000" b="1" dirty="0"/>
              <a:t>proxy and brokerage services </a:t>
            </a:r>
            <a:r>
              <a:rPr lang="en-US" sz="2000" dirty="0"/>
              <a:t>should be employed.</a:t>
            </a:r>
          </a:p>
          <a:p>
            <a:pPr algn="just">
              <a:lnSpc>
                <a:spcPct val="150000"/>
              </a:lnSpc>
              <a:defRPr/>
            </a:pPr>
            <a:r>
              <a:rPr lang="en-US" sz="2000" b="1" dirty="0"/>
              <a:t>Logging, auditing, and regulatory compliance </a:t>
            </a:r>
            <a:r>
              <a:rPr lang="en-US" sz="2000" dirty="0"/>
              <a:t>are all features that require planning in cloud computing system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60611347-D46D-DFE3-F624-356619425596}"/>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1800" b="1" dirty="0"/>
              <a:t>Understanding Cloud Security</a:t>
            </a:r>
          </a:p>
          <a:p>
            <a:pPr marL="109537" indent="0" algn="just">
              <a:buFont typeface="Georgia" panose="02040502050405020303" pitchFamily="18" charset="0"/>
              <a:buNone/>
              <a:defRPr/>
            </a:pPr>
            <a:endParaRPr lang="en-US" sz="1800" dirty="0">
              <a:solidFill>
                <a:srgbClr val="000000"/>
              </a:solidFill>
              <a:latin typeface="Verdana" panose="020B0604030504040204" pitchFamily="34" charset="0"/>
            </a:endParaRPr>
          </a:p>
          <a:p>
            <a:pPr marL="109537" indent="0" algn="just">
              <a:lnSpc>
                <a:spcPct val="150000"/>
              </a:lnSpc>
              <a:buFont typeface="Georgia" panose="02040502050405020303" pitchFamily="18" charset="0"/>
              <a:buNone/>
              <a:defRPr/>
            </a:pPr>
            <a:r>
              <a:rPr lang="en-US" sz="1800" b="1" dirty="0">
                <a:solidFill>
                  <a:srgbClr val="000000"/>
                </a:solidFill>
                <a:latin typeface="Verdana" panose="020B0604030504040204" pitchFamily="34" charset="0"/>
              </a:rPr>
              <a:t>Before deploying a particular resource to the cloud, </a:t>
            </a:r>
            <a:r>
              <a:rPr lang="en-US" sz="1800" dirty="0">
                <a:solidFill>
                  <a:srgbClr val="000000"/>
                </a:solidFill>
                <a:latin typeface="Verdana" panose="020B0604030504040204" pitchFamily="34" charset="0"/>
              </a:rPr>
              <a:t>one should analyze several aspects of the resource such as:</a:t>
            </a:r>
          </a:p>
          <a:p>
            <a:pPr algn="just">
              <a:lnSpc>
                <a:spcPct val="150000"/>
              </a:lnSpc>
              <a:buFont typeface="Wingdings" panose="05000000000000000000" pitchFamily="2" charset="2"/>
              <a:buChar char="Ø"/>
              <a:defRPr/>
            </a:pPr>
            <a:r>
              <a:rPr lang="en-US" sz="1800" b="1" dirty="0">
                <a:solidFill>
                  <a:srgbClr val="000000"/>
                </a:solidFill>
                <a:latin typeface="Verdana" panose="020B0604030504040204" pitchFamily="34" charset="0"/>
              </a:rPr>
              <a:t>Select resource that needs to move to the cloud </a:t>
            </a:r>
            <a:r>
              <a:rPr lang="en-US" sz="1800" dirty="0">
                <a:solidFill>
                  <a:srgbClr val="000000"/>
                </a:solidFill>
                <a:latin typeface="Verdana" panose="020B0604030504040204" pitchFamily="34" charset="0"/>
              </a:rPr>
              <a:t>and analyze its </a:t>
            </a:r>
            <a:r>
              <a:rPr lang="en-US" sz="1800" b="1" dirty="0">
                <a:solidFill>
                  <a:srgbClr val="000000"/>
                </a:solidFill>
                <a:latin typeface="Verdana" panose="020B0604030504040204" pitchFamily="34" charset="0"/>
              </a:rPr>
              <a:t>sensitivity </a:t>
            </a:r>
            <a:r>
              <a:rPr lang="en-US" sz="1800" dirty="0">
                <a:solidFill>
                  <a:srgbClr val="000000"/>
                </a:solidFill>
                <a:latin typeface="Verdana" panose="020B0604030504040204" pitchFamily="34" charset="0"/>
              </a:rPr>
              <a:t>to risk.</a:t>
            </a:r>
          </a:p>
          <a:p>
            <a:pPr algn="just">
              <a:lnSpc>
                <a:spcPct val="150000"/>
              </a:lnSpc>
              <a:buFont typeface="Wingdings" panose="05000000000000000000" pitchFamily="2" charset="2"/>
              <a:buChar char="Ø"/>
              <a:defRPr/>
            </a:pPr>
            <a:r>
              <a:rPr lang="en-US" sz="1800" dirty="0">
                <a:solidFill>
                  <a:srgbClr val="000000"/>
                </a:solidFill>
                <a:latin typeface="Verdana" panose="020B0604030504040204" pitchFamily="34" charset="0"/>
              </a:rPr>
              <a:t>Consider </a:t>
            </a:r>
            <a:r>
              <a:rPr lang="en-US" sz="1800" b="1" dirty="0">
                <a:solidFill>
                  <a:srgbClr val="000000"/>
                </a:solidFill>
                <a:latin typeface="Verdana" panose="020B0604030504040204" pitchFamily="34" charset="0"/>
              </a:rPr>
              <a:t>cloud service models </a:t>
            </a:r>
            <a:r>
              <a:rPr lang="en-US" sz="1800" dirty="0">
                <a:solidFill>
                  <a:srgbClr val="000000"/>
                </a:solidFill>
                <a:latin typeface="Verdana" panose="020B0604030504040204" pitchFamily="34" charset="0"/>
              </a:rPr>
              <a:t>such as </a:t>
            </a:r>
            <a:r>
              <a:rPr lang="en-US" sz="1800" b="1" dirty="0">
                <a:solidFill>
                  <a:srgbClr val="000000"/>
                </a:solidFill>
                <a:latin typeface="inherit"/>
              </a:rPr>
              <a:t>IaaS, PaaS,</a:t>
            </a:r>
            <a:r>
              <a:rPr lang="en-US" sz="1800" dirty="0">
                <a:solidFill>
                  <a:srgbClr val="000000"/>
                </a:solidFill>
                <a:latin typeface="Verdana" panose="020B0604030504040204" pitchFamily="34" charset="0"/>
              </a:rPr>
              <a:t> and </a:t>
            </a:r>
            <a:r>
              <a:rPr lang="en-US" sz="1800" b="1" dirty="0">
                <a:solidFill>
                  <a:srgbClr val="000000"/>
                </a:solidFill>
                <a:latin typeface="inherit"/>
              </a:rPr>
              <a:t>SaaS.</a:t>
            </a:r>
            <a:r>
              <a:rPr lang="en-US" sz="1800" dirty="0">
                <a:solidFill>
                  <a:srgbClr val="000000"/>
                </a:solidFill>
                <a:latin typeface="Verdana" panose="020B0604030504040204" pitchFamily="34" charset="0"/>
              </a:rPr>
              <a:t> These models require customer to be responsible for </a:t>
            </a:r>
            <a:r>
              <a:rPr lang="en-US" sz="1800" b="1" dirty="0">
                <a:solidFill>
                  <a:srgbClr val="000000"/>
                </a:solidFill>
                <a:latin typeface="Verdana" panose="020B0604030504040204" pitchFamily="34" charset="0"/>
              </a:rPr>
              <a:t>security at different levels </a:t>
            </a:r>
            <a:r>
              <a:rPr lang="en-US" sz="1800" dirty="0">
                <a:solidFill>
                  <a:srgbClr val="000000"/>
                </a:solidFill>
                <a:latin typeface="Verdana" panose="020B0604030504040204" pitchFamily="34" charset="0"/>
              </a:rPr>
              <a:t>of service.</a:t>
            </a:r>
          </a:p>
          <a:p>
            <a:pPr algn="just">
              <a:lnSpc>
                <a:spcPct val="150000"/>
              </a:lnSpc>
              <a:buFont typeface="Wingdings" panose="05000000000000000000" pitchFamily="2" charset="2"/>
              <a:buChar char="Ø"/>
              <a:defRPr/>
            </a:pPr>
            <a:r>
              <a:rPr lang="en-US" sz="1800" dirty="0">
                <a:solidFill>
                  <a:srgbClr val="000000"/>
                </a:solidFill>
                <a:latin typeface="Verdana" panose="020B0604030504040204" pitchFamily="34" charset="0"/>
              </a:rPr>
              <a:t>Consider the </a:t>
            </a:r>
            <a:r>
              <a:rPr lang="en-US" sz="1800" b="1" dirty="0">
                <a:solidFill>
                  <a:srgbClr val="000000"/>
                </a:solidFill>
                <a:latin typeface="Verdana" panose="020B0604030504040204" pitchFamily="34" charset="0"/>
              </a:rPr>
              <a:t>cloud type to be used </a:t>
            </a:r>
            <a:r>
              <a:rPr lang="en-US" sz="1800" dirty="0">
                <a:solidFill>
                  <a:srgbClr val="000000"/>
                </a:solidFill>
                <a:latin typeface="Verdana" panose="020B0604030504040204" pitchFamily="34" charset="0"/>
              </a:rPr>
              <a:t>such as </a:t>
            </a:r>
            <a:r>
              <a:rPr lang="en-US" sz="1800" b="1" dirty="0">
                <a:solidFill>
                  <a:srgbClr val="000000"/>
                </a:solidFill>
                <a:latin typeface="inherit"/>
              </a:rPr>
              <a:t>public, private, community</a:t>
            </a:r>
            <a:r>
              <a:rPr lang="en-US" sz="1800" dirty="0">
                <a:solidFill>
                  <a:srgbClr val="000000"/>
                </a:solidFill>
                <a:latin typeface="Verdana" panose="020B0604030504040204" pitchFamily="34" charset="0"/>
              </a:rPr>
              <a:t> or </a:t>
            </a:r>
            <a:r>
              <a:rPr lang="en-US" sz="1800" b="1" dirty="0">
                <a:solidFill>
                  <a:srgbClr val="000000"/>
                </a:solidFill>
                <a:latin typeface="inherit"/>
              </a:rPr>
              <a:t>hybrid.</a:t>
            </a:r>
          </a:p>
          <a:p>
            <a:pPr algn="just">
              <a:lnSpc>
                <a:spcPct val="150000"/>
              </a:lnSpc>
              <a:buFont typeface="Wingdings" panose="05000000000000000000" pitchFamily="2" charset="2"/>
              <a:buChar char="Ø"/>
              <a:defRPr/>
            </a:pPr>
            <a:r>
              <a:rPr lang="en-US" sz="1800" b="1" dirty="0">
                <a:solidFill>
                  <a:srgbClr val="000000"/>
                </a:solidFill>
                <a:latin typeface="Verdana" panose="020B0604030504040204" pitchFamily="34" charset="0"/>
              </a:rPr>
              <a:t>Understand the cloud service provider's system about data storage </a:t>
            </a:r>
            <a:r>
              <a:rPr lang="en-US" sz="1800" dirty="0">
                <a:solidFill>
                  <a:srgbClr val="000000"/>
                </a:solidFill>
                <a:latin typeface="Verdana" panose="020B0604030504040204" pitchFamily="34" charset="0"/>
              </a:rPr>
              <a:t>and its transfer into and out of the cloud.</a:t>
            </a:r>
          </a:p>
          <a:p>
            <a:pPr algn="just">
              <a:buFont typeface="Wingdings" panose="05000000000000000000" pitchFamily="2" charset="2"/>
              <a:buChar char="Ø"/>
              <a:defRPr/>
            </a:pPr>
            <a:endParaRPr lang="en-US" altLang="en-US" sz="2000" b="1" u="sng" dirty="0">
              <a:solidFill>
                <a:prstClr val="black"/>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80E0FE39-EEFB-11BB-3103-637CEB52ADF5}"/>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Security Boundaries</a:t>
            </a:r>
          </a:p>
          <a:p>
            <a:pPr marL="109537" indent="0" algn="just">
              <a:buFont typeface="Georgia" panose="02040502050405020303" pitchFamily="18" charset="0"/>
              <a:buNone/>
              <a:defRPr/>
            </a:pPr>
            <a:endParaRPr lang="en-US" sz="1800" dirty="0">
              <a:solidFill>
                <a:srgbClr val="000000"/>
              </a:solidFill>
              <a:latin typeface="Verdana" panose="020B0604030504040204" pitchFamily="34" charset="0"/>
            </a:endParaRPr>
          </a:p>
          <a:p>
            <a:pPr algn="just">
              <a:lnSpc>
                <a:spcPct val="150000"/>
              </a:lnSpc>
              <a:defRPr/>
            </a:pPr>
            <a:r>
              <a:rPr lang="en-US" sz="2000" dirty="0">
                <a:solidFill>
                  <a:srgbClr val="000000"/>
                </a:solidFill>
                <a:latin typeface="Verdana" panose="020B0604030504040204" pitchFamily="34" charset="0"/>
              </a:rPr>
              <a:t>A particular </a:t>
            </a:r>
            <a:r>
              <a:rPr lang="en-US" sz="2000" b="1" dirty="0">
                <a:solidFill>
                  <a:srgbClr val="000000"/>
                </a:solidFill>
                <a:latin typeface="Verdana" panose="020B0604030504040204" pitchFamily="34" charset="0"/>
              </a:rPr>
              <a:t>service model </a:t>
            </a:r>
            <a:r>
              <a:rPr lang="en-US" sz="2000" dirty="0">
                <a:solidFill>
                  <a:srgbClr val="000000"/>
                </a:solidFill>
                <a:latin typeface="Verdana" panose="020B0604030504040204" pitchFamily="34" charset="0"/>
              </a:rPr>
              <a:t>defines the </a:t>
            </a:r>
            <a:r>
              <a:rPr lang="en-US" sz="2000" b="1" dirty="0">
                <a:solidFill>
                  <a:srgbClr val="000000"/>
                </a:solidFill>
                <a:latin typeface="Verdana" panose="020B0604030504040204" pitchFamily="34" charset="0"/>
              </a:rPr>
              <a:t>boundary between the responsibilities of service provider and customer. </a:t>
            </a:r>
          </a:p>
          <a:p>
            <a:pPr algn="just">
              <a:lnSpc>
                <a:spcPct val="150000"/>
              </a:lnSpc>
              <a:defRPr/>
            </a:pPr>
            <a:r>
              <a:rPr lang="en-US" sz="2000" dirty="0"/>
              <a:t>The most commonly used model based on U.S. </a:t>
            </a:r>
            <a:r>
              <a:rPr lang="en-US" sz="2000" b="1" dirty="0"/>
              <a:t>National Institute of Standards and Technology (NIST);</a:t>
            </a:r>
            <a:r>
              <a:rPr lang="en-US" sz="2000" dirty="0"/>
              <a:t> </a:t>
            </a:r>
            <a:r>
              <a:rPr lang="en-US" sz="2000" b="1" dirty="0"/>
              <a:t>separates deployment models from service models and assigns those models a set of service attributes</a:t>
            </a:r>
            <a:r>
              <a:rPr lang="en-US" sz="2000" dirty="0"/>
              <a:t>. </a:t>
            </a:r>
          </a:p>
          <a:p>
            <a:pPr algn="just">
              <a:lnSpc>
                <a:spcPct val="150000"/>
              </a:lnSpc>
              <a:defRPr/>
            </a:pPr>
            <a:r>
              <a:rPr lang="en-US" sz="2000" dirty="0"/>
              <a:t>Deployment models are cloud types: community, hybrid, private, and public clouds. Service models follow the SPI (cloud service delivery) Model for three forms of </a:t>
            </a:r>
            <a:r>
              <a:rPr lang="en-US" sz="2000" b="1" dirty="0"/>
              <a:t>service delivery</a:t>
            </a:r>
            <a:r>
              <a:rPr lang="en-US" sz="2000" dirty="0"/>
              <a:t>: Software, Platform, and Infrastructure as a Service</a:t>
            </a:r>
            <a:endParaRPr lang="en-US" sz="2000" b="1" dirty="0">
              <a:solidFill>
                <a:srgbClr val="000000"/>
              </a:solidFill>
              <a:latin typeface="Verdana" panose="020B0604030504040204" pitchFamily="34" charset="0"/>
            </a:endParaRPr>
          </a:p>
          <a:p>
            <a:pPr algn="just">
              <a:lnSpc>
                <a:spcPct val="150000"/>
              </a:lnSpc>
              <a:defRPr/>
            </a:pPr>
            <a:r>
              <a:rPr lang="en-US" sz="2000" dirty="0">
                <a:solidFill>
                  <a:srgbClr val="000000"/>
                </a:solidFill>
                <a:latin typeface="Verdana" panose="020B0604030504040204" pitchFamily="34" charset="0"/>
              </a:rPr>
              <a:t>Cloud Security Alliance </a:t>
            </a:r>
            <a:r>
              <a:rPr lang="en-US" sz="2000" b="1" dirty="0">
                <a:solidFill>
                  <a:srgbClr val="000000"/>
                </a:solidFill>
                <a:latin typeface="Verdana" panose="020B0604030504040204" pitchFamily="34" charset="0"/>
              </a:rPr>
              <a:t>(CSA) stack model </a:t>
            </a:r>
            <a:r>
              <a:rPr lang="en-US" sz="2000" dirty="0">
                <a:solidFill>
                  <a:srgbClr val="000000"/>
                </a:solidFill>
                <a:latin typeface="Verdana" panose="020B0604030504040204" pitchFamily="34" charset="0"/>
              </a:rPr>
              <a:t>defines the </a:t>
            </a:r>
            <a:r>
              <a:rPr lang="en-US" sz="2000" b="1" dirty="0">
                <a:solidFill>
                  <a:srgbClr val="000000"/>
                </a:solidFill>
                <a:latin typeface="Verdana" panose="020B0604030504040204" pitchFamily="34" charset="0"/>
              </a:rPr>
              <a:t>boundaries between each service model </a:t>
            </a:r>
            <a:r>
              <a:rPr lang="en-US" sz="2000" dirty="0">
                <a:solidFill>
                  <a:srgbClr val="000000"/>
                </a:solidFill>
                <a:latin typeface="Verdana" panose="020B0604030504040204" pitchFamily="34" charset="0"/>
              </a:rPr>
              <a:t>and shows how different functional units relate to each other. :</a:t>
            </a:r>
            <a:endParaRPr lang="en-US" altLang="en-US" sz="2000" b="1" u="sng" dirty="0">
              <a:solidFill>
                <a:prstClr val="black"/>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F5F4C491-0ED0-BEB4-1A9C-BEE0CF9684B9}"/>
              </a:ext>
            </a:extLst>
          </p:cNvPr>
          <p:cNvSpPr>
            <a:spLocks noGrp="1"/>
          </p:cNvSpPr>
          <p:nvPr>
            <p:ph idx="1"/>
          </p:nvPr>
        </p:nvSpPr>
        <p:spPr>
          <a:xfrm>
            <a:off x="76200" y="457200"/>
            <a:ext cx="9067800" cy="5507038"/>
          </a:xfrm>
        </p:spPr>
        <p:txBody>
          <a:bodyPr/>
          <a:lstStyle/>
          <a:p>
            <a:pPr marL="109537" indent="0" algn="just">
              <a:buFont typeface="Georgia" panose="02040502050405020303" pitchFamily="18" charset="0"/>
              <a:buNone/>
              <a:defRPr/>
            </a:pPr>
            <a:r>
              <a:rPr lang="en-US" sz="2000" b="1" dirty="0"/>
              <a:t>Security Boundaries</a:t>
            </a:r>
          </a:p>
          <a:p>
            <a:pPr marL="109537" indent="0" algn="just">
              <a:buFont typeface="Georgia" panose="02040502050405020303" pitchFamily="18" charset="0"/>
              <a:buNone/>
              <a:defRPr/>
            </a:pPr>
            <a:endParaRPr lang="en-US" sz="1800" dirty="0">
              <a:solidFill>
                <a:srgbClr val="000000"/>
              </a:solidFill>
              <a:latin typeface="Verdana" panose="020B0604030504040204" pitchFamily="34" charset="0"/>
            </a:endParaRPr>
          </a:p>
          <a:p>
            <a:pPr algn="just">
              <a:lnSpc>
                <a:spcPct val="150000"/>
              </a:lnSpc>
              <a:defRPr/>
            </a:pPr>
            <a:r>
              <a:rPr lang="en-US" sz="1800" dirty="0">
                <a:solidFill>
                  <a:srgbClr val="000000"/>
                </a:solidFill>
                <a:latin typeface="Verdana" panose="020B0604030504040204" pitchFamily="34" charset="0"/>
              </a:rPr>
              <a:t>One key </a:t>
            </a:r>
            <a:r>
              <a:rPr lang="en-US" sz="1800" b="1" dirty="0">
                <a:solidFill>
                  <a:srgbClr val="000000"/>
                </a:solidFill>
                <a:latin typeface="Verdana" panose="020B0604030504040204" pitchFamily="34" charset="0"/>
              </a:rPr>
              <a:t>difference between the NIST model and the CSA </a:t>
            </a:r>
            <a:r>
              <a:rPr lang="en-US" sz="1800" dirty="0">
                <a:solidFill>
                  <a:srgbClr val="000000"/>
                </a:solidFill>
                <a:latin typeface="Verdana" panose="020B0604030504040204" pitchFamily="34" charset="0"/>
              </a:rPr>
              <a:t>is that the </a:t>
            </a:r>
            <a:r>
              <a:rPr lang="en-US" sz="1800" b="1" dirty="0">
                <a:solidFill>
                  <a:srgbClr val="000000"/>
                </a:solidFill>
                <a:latin typeface="Verdana" panose="020B0604030504040204" pitchFamily="34" charset="0"/>
              </a:rPr>
              <a:t>CSA considers multi-tenancy to be an essential </a:t>
            </a:r>
            <a:r>
              <a:rPr lang="en-US" sz="1800" dirty="0">
                <a:solidFill>
                  <a:srgbClr val="000000"/>
                </a:solidFill>
                <a:latin typeface="Verdana" panose="020B0604030504040204" pitchFamily="34" charset="0"/>
              </a:rPr>
              <a:t>element in cloud computing. </a:t>
            </a:r>
          </a:p>
          <a:p>
            <a:pPr algn="just">
              <a:lnSpc>
                <a:spcPct val="150000"/>
              </a:lnSpc>
              <a:defRPr/>
            </a:pPr>
            <a:r>
              <a:rPr lang="en-US" sz="1800" dirty="0">
                <a:solidFill>
                  <a:srgbClr val="000000"/>
                </a:solidFill>
                <a:latin typeface="Verdana" panose="020B0604030504040204" pitchFamily="34" charset="0"/>
              </a:rPr>
              <a:t>Multi-tenancy </a:t>
            </a:r>
            <a:r>
              <a:rPr lang="en-US" sz="1800" b="1" dirty="0">
                <a:solidFill>
                  <a:srgbClr val="000000"/>
                </a:solidFill>
                <a:latin typeface="Verdana" panose="020B0604030504040204" pitchFamily="34" charset="0"/>
              </a:rPr>
              <a:t>adds a number of additional security concerns </a:t>
            </a:r>
            <a:r>
              <a:rPr lang="en-US" sz="1800" dirty="0">
                <a:solidFill>
                  <a:srgbClr val="000000"/>
                </a:solidFill>
                <a:latin typeface="Verdana" panose="020B0604030504040204" pitchFamily="34" charset="0"/>
              </a:rPr>
              <a:t>to cloud computing that need to be accounted for. </a:t>
            </a:r>
          </a:p>
          <a:p>
            <a:pPr algn="just">
              <a:lnSpc>
                <a:spcPct val="150000"/>
              </a:lnSpc>
              <a:defRPr/>
            </a:pPr>
            <a:r>
              <a:rPr lang="en-US" sz="1800" b="1" dirty="0">
                <a:solidFill>
                  <a:srgbClr val="000000"/>
                </a:solidFill>
                <a:latin typeface="Verdana" panose="020B0604030504040204" pitchFamily="34" charset="0"/>
              </a:rPr>
              <a:t>In multi-tenancy, different customers must be isolated</a:t>
            </a:r>
            <a:r>
              <a:rPr lang="en-US" sz="1800" dirty="0">
                <a:solidFill>
                  <a:srgbClr val="000000"/>
                </a:solidFill>
                <a:latin typeface="Verdana" panose="020B0604030504040204" pitchFamily="34" charset="0"/>
              </a:rPr>
              <a:t>, their data segmented, and their service accounted for.</a:t>
            </a:r>
          </a:p>
          <a:p>
            <a:pPr algn="just">
              <a:lnSpc>
                <a:spcPct val="150000"/>
              </a:lnSpc>
              <a:defRPr/>
            </a:pPr>
            <a:r>
              <a:rPr lang="en-US" sz="1800" dirty="0">
                <a:solidFill>
                  <a:srgbClr val="000000"/>
                </a:solidFill>
                <a:latin typeface="Verdana" panose="020B0604030504040204" pitchFamily="34" charset="0"/>
              </a:rPr>
              <a:t> To provide these features, the </a:t>
            </a:r>
            <a:r>
              <a:rPr lang="en-US" sz="1800" b="1" dirty="0">
                <a:solidFill>
                  <a:srgbClr val="000000"/>
                </a:solidFill>
                <a:latin typeface="Verdana" panose="020B0604030504040204" pitchFamily="34" charset="0"/>
              </a:rPr>
              <a:t>cloud service provider must provide a policy-based environment that is capable of supporting different levels and quality of service, </a:t>
            </a:r>
            <a:r>
              <a:rPr lang="en-US" sz="1800" dirty="0">
                <a:solidFill>
                  <a:srgbClr val="000000"/>
                </a:solidFill>
                <a:latin typeface="Verdana" panose="020B0604030504040204" pitchFamily="34" charset="0"/>
              </a:rPr>
              <a:t>usually using different pricing models. </a:t>
            </a:r>
          </a:p>
          <a:p>
            <a:pPr algn="just">
              <a:lnSpc>
                <a:spcPct val="150000"/>
              </a:lnSpc>
              <a:defRPr/>
            </a:pPr>
            <a:r>
              <a:rPr lang="en-US" sz="1800" dirty="0">
                <a:solidFill>
                  <a:srgbClr val="000000"/>
                </a:solidFill>
                <a:latin typeface="Verdana" panose="020B0604030504040204" pitchFamily="34" charset="0"/>
              </a:rPr>
              <a:t>Multi-tenancy expresses itself in </a:t>
            </a:r>
            <a:r>
              <a:rPr lang="en-US" sz="1800" b="1" dirty="0">
                <a:solidFill>
                  <a:srgbClr val="000000"/>
                </a:solidFill>
                <a:latin typeface="Verdana" panose="020B0604030504040204" pitchFamily="34" charset="0"/>
              </a:rPr>
              <a:t>different ways in the different cloud deployment models and imposes security concerns in different places</a:t>
            </a:r>
          </a:p>
          <a:p>
            <a:pPr algn="just">
              <a:lnSpc>
                <a:spcPct val="150000"/>
              </a:lnSpc>
              <a:defRPr/>
            </a:pPr>
            <a:r>
              <a:rPr lang="en-US" sz="1800" dirty="0">
                <a:solidFill>
                  <a:srgbClr val="000000"/>
                </a:solidFill>
                <a:latin typeface="Verdana" panose="020B0604030504040204" pitchFamily="34" charset="0"/>
              </a:rPr>
              <a:t>The following diagram shows the CSA stack model:</a:t>
            </a:r>
            <a:endParaRPr lang="en-US" altLang="en-US" sz="2000" b="1" u="sng" dirty="0">
              <a:solidFill>
                <a:prstClr val="black"/>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7DDFCBD9-6DDE-1FCC-0CF1-062DAB29DD79}"/>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Security Boundaries</a:t>
            </a:r>
          </a:p>
          <a:p>
            <a:pPr marL="109537" indent="0" algn="just">
              <a:buFont typeface="Georgia" panose="02040502050405020303" pitchFamily="18" charset="0"/>
              <a:buNone/>
              <a:defRPr/>
            </a:pPr>
            <a:endParaRPr lang="en-US" sz="1800" dirty="0">
              <a:solidFill>
                <a:srgbClr val="000000"/>
              </a:solidFill>
              <a:latin typeface="Verdana" panose="020B0604030504040204" pitchFamily="34" charset="0"/>
            </a:endParaRPr>
          </a:p>
          <a:p>
            <a:pPr algn="just">
              <a:lnSpc>
                <a:spcPct val="150000"/>
              </a:lnSpc>
              <a:defRPr/>
            </a:pPr>
            <a:r>
              <a:rPr lang="en-US" sz="1800" dirty="0">
                <a:solidFill>
                  <a:srgbClr val="000000"/>
                </a:solidFill>
                <a:latin typeface="Verdana" panose="020B0604030504040204" pitchFamily="34" charset="0"/>
              </a:rPr>
              <a:t>The following diagram shows the CSA stack model:</a:t>
            </a:r>
            <a:endParaRPr lang="en-US" altLang="en-US" sz="2000" b="1" u="sng" dirty="0">
              <a:solidFill>
                <a:prstClr val="black"/>
              </a:solidFill>
            </a:endParaRPr>
          </a:p>
        </p:txBody>
      </p:sp>
      <p:pic>
        <p:nvPicPr>
          <p:cNvPr id="58371" name="Picture 1">
            <a:extLst>
              <a:ext uri="{FF2B5EF4-FFF2-40B4-BE49-F238E27FC236}">
                <a16:creationId xmlns:a16="http://schemas.microsoft.com/office/drawing/2014/main" id="{16B6EDBD-4A09-DBA3-EAB6-6E18C21D2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828800"/>
            <a:ext cx="53340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E3F7F3A0-D341-B8E3-3365-B561FF3130D6}"/>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Key Points to CSA Model</a:t>
            </a:r>
            <a:endParaRPr lang="en-US" sz="1800" dirty="0">
              <a:solidFill>
                <a:srgbClr val="000000"/>
              </a:solidFill>
              <a:latin typeface="Verdana" panose="020B0604030504040204" pitchFamily="34" charset="0"/>
            </a:endParaRPr>
          </a:p>
          <a:p>
            <a:pPr algn="just">
              <a:lnSpc>
                <a:spcPct val="150000"/>
              </a:lnSpc>
              <a:defRPr/>
            </a:pPr>
            <a:r>
              <a:rPr lang="en-US" sz="1800" b="1" dirty="0">
                <a:solidFill>
                  <a:srgbClr val="000000"/>
                </a:solidFill>
                <a:latin typeface="Verdana" panose="020B0604030504040204" pitchFamily="34" charset="0"/>
              </a:rPr>
              <a:t>IaaS is the most basic level of service </a:t>
            </a:r>
            <a:r>
              <a:rPr lang="en-US" sz="1800" dirty="0">
                <a:solidFill>
                  <a:srgbClr val="000000"/>
                </a:solidFill>
                <a:latin typeface="Verdana" panose="020B0604030504040204" pitchFamily="34" charset="0"/>
              </a:rPr>
              <a:t>with PaaS and SaaS next two above levels of services.</a:t>
            </a:r>
          </a:p>
          <a:p>
            <a:pPr algn="just">
              <a:lnSpc>
                <a:spcPct val="150000"/>
              </a:lnSpc>
              <a:defRPr/>
            </a:pPr>
            <a:r>
              <a:rPr lang="en-US" sz="1800" dirty="0">
                <a:solidFill>
                  <a:srgbClr val="000000"/>
                </a:solidFill>
                <a:latin typeface="Verdana" panose="020B0604030504040204" pitchFamily="34" charset="0"/>
              </a:rPr>
              <a:t>Moving upwards, </a:t>
            </a:r>
            <a:r>
              <a:rPr lang="en-US" sz="1800" b="1" dirty="0">
                <a:solidFill>
                  <a:srgbClr val="000000"/>
                </a:solidFill>
                <a:latin typeface="Verdana" panose="020B0604030504040204" pitchFamily="34" charset="0"/>
              </a:rPr>
              <a:t>each of the service inherits capabilities and security concerns of the model beneath.</a:t>
            </a:r>
          </a:p>
          <a:p>
            <a:pPr algn="just">
              <a:lnSpc>
                <a:spcPct val="150000"/>
              </a:lnSpc>
              <a:defRPr/>
            </a:pPr>
            <a:r>
              <a:rPr lang="en-US" sz="1800" b="1" dirty="0">
                <a:solidFill>
                  <a:srgbClr val="000000"/>
                </a:solidFill>
                <a:latin typeface="Verdana" panose="020B0604030504040204" pitchFamily="34" charset="0"/>
              </a:rPr>
              <a:t>IaaS provides</a:t>
            </a:r>
            <a:r>
              <a:rPr lang="en-US" sz="1800" dirty="0">
                <a:solidFill>
                  <a:srgbClr val="000000"/>
                </a:solidFill>
                <a:latin typeface="Verdana" panose="020B0604030504040204" pitchFamily="34" charset="0"/>
              </a:rPr>
              <a:t> the </a:t>
            </a:r>
            <a:r>
              <a:rPr lang="en-US" sz="1800" b="1" dirty="0">
                <a:solidFill>
                  <a:srgbClr val="000000"/>
                </a:solidFill>
                <a:latin typeface="Verdana" panose="020B0604030504040204" pitchFamily="34" charset="0"/>
              </a:rPr>
              <a:t>infrastructure, PaaS provides platform </a:t>
            </a:r>
            <a:r>
              <a:rPr lang="en-US" sz="1800" dirty="0">
                <a:solidFill>
                  <a:srgbClr val="000000"/>
                </a:solidFill>
                <a:latin typeface="Verdana" panose="020B0604030504040204" pitchFamily="34" charset="0"/>
              </a:rPr>
              <a:t>development environment, and </a:t>
            </a:r>
            <a:r>
              <a:rPr lang="en-US" sz="1800" b="1" dirty="0">
                <a:solidFill>
                  <a:srgbClr val="000000"/>
                </a:solidFill>
                <a:latin typeface="Verdana" panose="020B0604030504040204" pitchFamily="34" charset="0"/>
              </a:rPr>
              <a:t>SaaS provides operating environment</a:t>
            </a:r>
            <a:r>
              <a:rPr lang="en-US" sz="1800" dirty="0">
                <a:solidFill>
                  <a:srgbClr val="000000"/>
                </a:solidFill>
                <a:latin typeface="Verdana" panose="020B0604030504040204" pitchFamily="34" charset="0"/>
              </a:rPr>
              <a:t>.</a:t>
            </a:r>
          </a:p>
          <a:p>
            <a:pPr algn="just">
              <a:lnSpc>
                <a:spcPct val="150000"/>
              </a:lnSpc>
              <a:defRPr/>
            </a:pPr>
            <a:r>
              <a:rPr lang="en-US" sz="1800" b="1" dirty="0">
                <a:solidFill>
                  <a:srgbClr val="000000"/>
                </a:solidFill>
                <a:latin typeface="Verdana" panose="020B0604030504040204" pitchFamily="34" charset="0"/>
              </a:rPr>
              <a:t>IaaS has the least level of integrated functionalitie</a:t>
            </a:r>
            <a:r>
              <a:rPr lang="en-US" sz="1800" dirty="0">
                <a:solidFill>
                  <a:srgbClr val="000000"/>
                </a:solidFill>
                <a:latin typeface="Verdana" panose="020B0604030504040204" pitchFamily="34" charset="0"/>
              </a:rPr>
              <a:t>s and integrated security while SaaS has the most.</a:t>
            </a:r>
          </a:p>
          <a:p>
            <a:pPr algn="just">
              <a:lnSpc>
                <a:spcPct val="150000"/>
              </a:lnSpc>
              <a:defRPr/>
            </a:pPr>
            <a:r>
              <a:rPr lang="en-US" sz="1800" dirty="0">
                <a:solidFill>
                  <a:srgbClr val="000000"/>
                </a:solidFill>
                <a:latin typeface="Verdana" panose="020B0604030504040204" pitchFamily="34" charset="0"/>
              </a:rPr>
              <a:t>This model </a:t>
            </a:r>
            <a:r>
              <a:rPr lang="en-US" sz="1800" b="1" dirty="0">
                <a:solidFill>
                  <a:srgbClr val="000000"/>
                </a:solidFill>
                <a:latin typeface="Verdana" panose="020B0604030504040204" pitchFamily="34" charset="0"/>
              </a:rPr>
              <a:t>describes the security boundaries at which cloud service provider's responsibilities end and the customer's </a:t>
            </a:r>
            <a:r>
              <a:rPr lang="en-US" sz="1800" dirty="0">
                <a:solidFill>
                  <a:srgbClr val="000000"/>
                </a:solidFill>
                <a:latin typeface="Verdana" panose="020B0604030504040204" pitchFamily="34" charset="0"/>
              </a:rPr>
              <a:t>responsibilities begin.</a:t>
            </a:r>
          </a:p>
          <a:p>
            <a:pPr algn="just">
              <a:lnSpc>
                <a:spcPct val="150000"/>
              </a:lnSpc>
              <a:defRPr/>
            </a:pPr>
            <a:r>
              <a:rPr lang="en-US" sz="1800" dirty="0">
                <a:solidFill>
                  <a:srgbClr val="000000"/>
                </a:solidFill>
                <a:latin typeface="Verdana" panose="020B0604030504040204" pitchFamily="34" charset="0"/>
              </a:rPr>
              <a:t>Any security mechanism below the security boundary must be built into the system and should be maintained by the customer.</a:t>
            </a:r>
            <a:endParaRPr lang="en-US" altLang="en-US" sz="2000" b="1" u="sng" dirty="0">
              <a:solidFill>
                <a:prstClr val="black"/>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42354F5F-5F9A-F577-2828-F63C7F190620}"/>
              </a:ext>
            </a:extLst>
          </p:cNvPr>
          <p:cNvSpPr>
            <a:spLocks noGrp="1"/>
          </p:cNvSpPr>
          <p:nvPr>
            <p:ph idx="1"/>
          </p:nvPr>
        </p:nvSpPr>
        <p:spPr>
          <a:xfrm>
            <a:off x="228600" y="457200"/>
            <a:ext cx="8915400" cy="5507038"/>
          </a:xfrm>
        </p:spPr>
        <p:txBody>
          <a:bodyPr/>
          <a:lstStyle/>
          <a:p>
            <a:pPr marL="87312" indent="-342900">
              <a:lnSpc>
                <a:spcPct val="115000"/>
              </a:lnSpc>
              <a:spcAft>
                <a:spcPts val="800"/>
              </a:spcAft>
              <a:defRPr/>
            </a:pPr>
            <a:r>
              <a:rPr lang="en-US" sz="2000" kern="150" dirty="0">
                <a:latin typeface="Aptos" panose="020B0004020202020204" pitchFamily="34" charset="0"/>
                <a:ea typeface="Aptos" panose="020B0004020202020204" pitchFamily="34" charset="0"/>
                <a:cs typeface="Times New Roman" panose="02020603050405020304" pitchFamily="18" charset="0"/>
              </a:rPr>
              <a:t>In the </a:t>
            </a:r>
            <a:r>
              <a:rPr lang="en-US" sz="2000" b="1" kern="150" dirty="0">
                <a:latin typeface="Aptos" panose="020B0004020202020204" pitchFamily="34" charset="0"/>
                <a:ea typeface="Aptos" panose="020B0004020202020204" pitchFamily="34" charset="0"/>
                <a:cs typeface="Times New Roman" panose="02020603050405020304" pitchFamily="18" charset="0"/>
              </a:rPr>
              <a:t>NIST model, it is accurate that virtualization and multi-tenancy are not explicitly required for a system to be classified as a cloud</a:t>
            </a:r>
            <a:r>
              <a:rPr lang="en-US" sz="2000" kern="150" dirty="0">
                <a:latin typeface="Aptos" panose="020B0004020202020204" pitchFamily="34" charset="0"/>
                <a:ea typeface="Aptos" panose="020B0004020202020204" pitchFamily="34" charset="0"/>
                <a:cs typeface="Times New Roman" panose="02020603050405020304" pitchFamily="18" charset="0"/>
              </a:rPr>
              <a:t>, as the definition focuses on characteristics like resource pooling, rapid elasticity, and on-demand self-service. </a:t>
            </a:r>
          </a:p>
          <a:p>
            <a:pPr marL="87312" indent="-342900">
              <a:lnSpc>
                <a:spcPct val="115000"/>
              </a:lnSpc>
              <a:spcAft>
                <a:spcPts val="800"/>
              </a:spcAft>
              <a:defRPr/>
            </a:pPr>
            <a:r>
              <a:rPr lang="en-US" sz="2000" dirty="0"/>
              <a:t>However, your statement regarding the compromise of a hypervisor highlights a major security challenge</a:t>
            </a:r>
            <a:r>
              <a:rPr lang="en-US" dirty="0"/>
              <a:t>:</a:t>
            </a:r>
          </a:p>
          <a:p>
            <a:pPr marL="457200" indent="-457200" algn="just">
              <a:lnSpc>
                <a:spcPct val="115000"/>
              </a:lnSpc>
              <a:spcAft>
                <a:spcPts val="800"/>
              </a:spcAft>
              <a:buFont typeface="Wingdings" panose="05000000000000000000" pitchFamily="2" charset="2"/>
              <a:buChar char="Ø"/>
              <a:defRPr/>
            </a:pPr>
            <a:r>
              <a:rPr lang="en-US" dirty="0"/>
              <a:t>•	</a:t>
            </a:r>
            <a:r>
              <a:rPr lang="en-US" sz="2000" b="1" dirty="0"/>
              <a:t>Hypervisor Vulnerabilities</a:t>
            </a:r>
            <a:r>
              <a:rPr lang="en-US" sz="2000" dirty="0"/>
              <a:t>: If a </a:t>
            </a:r>
            <a:r>
              <a:rPr lang="en-US" sz="2000" b="1" dirty="0"/>
              <a:t>hypervisor is compromised</a:t>
            </a:r>
            <a:r>
              <a:rPr lang="en-US" sz="2000" dirty="0"/>
              <a:t>, all </a:t>
            </a:r>
            <a:r>
              <a:rPr lang="en-US" sz="2000" b="1" dirty="0"/>
              <a:t>VMs running </a:t>
            </a:r>
            <a:r>
              <a:rPr lang="en-US" sz="2000" dirty="0"/>
              <a:t>on that physical host </a:t>
            </a:r>
            <a:r>
              <a:rPr lang="en-US" sz="2000" b="1" dirty="0"/>
              <a:t>are at risk of unauthorized access </a:t>
            </a:r>
            <a:r>
              <a:rPr lang="en-US" sz="2000" dirty="0"/>
              <a:t>or control, as they share the same underlying hardware. (Virtualization is not mandatory)</a:t>
            </a:r>
          </a:p>
          <a:p>
            <a:pPr marL="457200" indent="-457200" algn="just">
              <a:lnSpc>
                <a:spcPct val="115000"/>
              </a:lnSpc>
              <a:spcAft>
                <a:spcPts val="800"/>
              </a:spcAft>
              <a:buFont typeface="Wingdings" panose="05000000000000000000" pitchFamily="2" charset="2"/>
              <a:buChar char="Ø"/>
              <a:defRPr/>
            </a:pPr>
            <a:r>
              <a:rPr lang="en-US" sz="2000" dirty="0"/>
              <a:t>•	</a:t>
            </a:r>
            <a:r>
              <a:rPr lang="en-US" sz="2000" b="1" dirty="0"/>
              <a:t>Security Complexity</a:t>
            </a:r>
            <a:r>
              <a:rPr lang="en-US" sz="2000" dirty="0"/>
              <a:t>: Because the NIST model focuses on the functionality (e.g., resource pooling) rather than specific technologies (e.g., VMs), </a:t>
            </a:r>
            <a:r>
              <a:rPr lang="en-US" sz="2000" b="1" dirty="0"/>
              <a:t>organizations must implement security mechanisms </a:t>
            </a:r>
            <a:r>
              <a:rPr lang="en-US" sz="2000" dirty="0"/>
              <a:t>to </a:t>
            </a:r>
            <a:r>
              <a:rPr lang="en-US" sz="2000" b="1" dirty="0"/>
              <a:t>address the risks associated </a:t>
            </a:r>
            <a:r>
              <a:rPr lang="en-US" sz="2000" dirty="0"/>
              <a:t>with the chosen </a:t>
            </a:r>
          </a:p>
          <a:p>
            <a:pPr marL="87312" indent="-342900">
              <a:lnSpc>
                <a:spcPct val="115000"/>
              </a:lnSpc>
              <a:spcAft>
                <a:spcPts val="800"/>
              </a:spcAft>
              <a:defRPr/>
            </a:pPr>
            <a:endParaRPr lang="en-US" sz="2000" kern="150" dirty="0">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defRPr/>
            </a:pPr>
            <a:endParaRPr lang="en-US" altLang="en-US" sz="2000" b="1" u="sng" dirty="0">
              <a:solidFill>
                <a:prstClr val="black"/>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0499AF53-B5F2-94F4-4E64-80A5FD3BCA59}"/>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Understanding Data Security</a:t>
            </a:r>
          </a:p>
          <a:p>
            <a:pPr marL="109537" indent="0" algn="just">
              <a:buFont typeface="Georgia" panose="02040502050405020303" pitchFamily="18" charset="0"/>
              <a:buNone/>
              <a:defRPr/>
            </a:pPr>
            <a:endParaRPr lang="en-US" sz="2000" b="1" dirty="0">
              <a:solidFill>
                <a:srgbClr val="000000"/>
              </a:solidFill>
              <a:latin typeface="Verdana" panose="020B0604030504040204" pitchFamily="34" charset="0"/>
            </a:endParaRPr>
          </a:p>
          <a:p>
            <a:pPr algn="just">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dirty="0">
                <a:solidFill>
                  <a:srgbClr val="000000"/>
                </a:solidFill>
                <a:latin typeface="Verdana" panose="020B0604030504040204" pitchFamily="34" charset="0"/>
              </a:rPr>
              <a:t>Securing </a:t>
            </a:r>
            <a:r>
              <a:rPr lang="en-US" sz="1800" b="1" dirty="0">
                <a:solidFill>
                  <a:srgbClr val="000000"/>
                </a:solidFill>
                <a:latin typeface="Verdana" panose="020B0604030504040204" pitchFamily="34" charset="0"/>
              </a:rPr>
              <a:t>data sent to, received from, and stored in the cloud</a:t>
            </a:r>
            <a:r>
              <a:rPr lang="en-US" sz="1800" dirty="0">
                <a:solidFill>
                  <a:srgbClr val="000000"/>
                </a:solidFill>
                <a:latin typeface="Verdana" panose="020B0604030504040204" pitchFamily="34" charset="0"/>
              </a:rPr>
              <a:t> is the single </a:t>
            </a:r>
            <a:r>
              <a:rPr lang="en-US" sz="1800" b="1" dirty="0">
                <a:solidFill>
                  <a:srgbClr val="000000"/>
                </a:solidFill>
                <a:latin typeface="Verdana" panose="020B0604030504040204" pitchFamily="34" charset="0"/>
              </a:rPr>
              <a:t>largest security concern that most organizations should have with cloud computing.</a:t>
            </a:r>
          </a:p>
          <a:p>
            <a:pPr algn="just">
              <a:lnSpc>
                <a:spcPct val="150000"/>
              </a:lnSpc>
              <a:spcBef>
                <a:spcPts val="0"/>
              </a:spcBef>
              <a:defRPr/>
            </a:pPr>
            <a:r>
              <a:rPr lang="en-US" sz="1800" dirty="0">
                <a:solidFill>
                  <a:srgbClr val="000000"/>
                </a:solidFill>
                <a:latin typeface="Verdana" panose="020B0604030504040204" pitchFamily="34" charset="0"/>
              </a:rPr>
              <a:t>Since all the data is transferred using Internet, </a:t>
            </a:r>
            <a:r>
              <a:rPr lang="en-US" sz="1800" b="1" dirty="0">
                <a:solidFill>
                  <a:srgbClr val="000000"/>
                </a:solidFill>
                <a:latin typeface="Verdana" panose="020B0604030504040204" pitchFamily="34" charset="0"/>
              </a:rPr>
              <a:t>data security is of major concern in the cloud.</a:t>
            </a:r>
          </a:p>
          <a:p>
            <a:pPr marL="109537" indent="0" algn="just">
              <a:buFont typeface="Georgia" panose="02040502050405020303" pitchFamily="18" charset="0"/>
              <a:buNone/>
              <a:defRPr/>
            </a:pPr>
            <a:endParaRPr lang="en-US" sz="1800" b="1" dirty="0">
              <a:solidFill>
                <a:srgbClr val="000000"/>
              </a:solidFill>
              <a:latin typeface="Verdana" panose="020B0604030504040204" pitchFamily="34" charset="0"/>
            </a:endParaRPr>
          </a:p>
          <a:p>
            <a:pPr algn="just">
              <a:defRPr/>
            </a:pPr>
            <a:r>
              <a:rPr lang="en-US" sz="1800" dirty="0">
                <a:solidFill>
                  <a:srgbClr val="000000"/>
                </a:solidFill>
                <a:latin typeface="Verdana" panose="020B0604030504040204" pitchFamily="34" charset="0"/>
              </a:rPr>
              <a:t> Here are </a:t>
            </a:r>
            <a:r>
              <a:rPr lang="en-US" sz="1800" b="1" dirty="0">
                <a:solidFill>
                  <a:srgbClr val="000000"/>
                </a:solidFill>
                <a:latin typeface="Verdana" panose="020B0604030504040204" pitchFamily="34" charset="0"/>
              </a:rPr>
              <a:t>key mechanisms for protecting data:</a:t>
            </a:r>
          </a:p>
          <a:p>
            <a:pPr algn="just">
              <a:defRPr/>
            </a:pPr>
            <a:endParaRPr lang="en-US" sz="1800" dirty="0">
              <a:solidFill>
                <a:srgbClr val="000000"/>
              </a:solidFill>
              <a:latin typeface="Verdana" panose="020B0604030504040204" pitchFamily="34" charset="0"/>
            </a:endParaRPr>
          </a:p>
          <a:p>
            <a:pPr marL="452437" indent="-342900" algn="just">
              <a:buFont typeface="+mj-lt"/>
              <a:buAutoNum type="arabicPeriod"/>
              <a:defRPr/>
            </a:pPr>
            <a:r>
              <a:rPr lang="en-US" sz="1800" dirty="0">
                <a:solidFill>
                  <a:srgbClr val="000000"/>
                </a:solidFill>
                <a:latin typeface="Verdana" panose="020B0604030504040204" pitchFamily="34" charset="0"/>
              </a:rPr>
              <a:t>Access Control</a:t>
            </a:r>
          </a:p>
          <a:p>
            <a:pPr marL="452437" indent="-342900" algn="just">
              <a:buFont typeface="+mj-lt"/>
              <a:buAutoNum type="arabicPeriod"/>
              <a:defRPr/>
            </a:pPr>
            <a:r>
              <a:rPr lang="en-US" sz="1800" dirty="0">
                <a:solidFill>
                  <a:srgbClr val="000000"/>
                </a:solidFill>
                <a:latin typeface="Verdana" panose="020B0604030504040204" pitchFamily="34" charset="0"/>
              </a:rPr>
              <a:t>Auditing</a:t>
            </a:r>
          </a:p>
          <a:p>
            <a:pPr marL="452437" indent="-342900" algn="just">
              <a:buFont typeface="+mj-lt"/>
              <a:buAutoNum type="arabicPeriod"/>
              <a:defRPr/>
            </a:pPr>
            <a:r>
              <a:rPr lang="en-US" sz="1800" dirty="0">
                <a:solidFill>
                  <a:srgbClr val="000000"/>
                </a:solidFill>
                <a:latin typeface="Verdana" panose="020B0604030504040204" pitchFamily="34" charset="0"/>
              </a:rPr>
              <a:t>Authentication</a:t>
            </a:r>
          </a:p>
          <a:p>
            <a:pPr marL="452437" indent="-342900" algn="just">
              <a:buFont typeface="+mj-lt"/>
              <a:buAutoNum type="arabicPeriod"/>
              <a:defRPr/>
            </a:pPr>
            <a:r>
              <a:rPr lang="en-US" sz="1800" dirty="0">
                <a:solidFill>
                  <a:srgbClr val="000000"/>
                </a:solidFill>
                <a:latin typeface="Verdana" panose="020B0604030504040204" pitchFamily="34" charset="0"/>
              </a:rPr>
              <a:t>Authorization</a:t>
            </a:r>
            <a:endParaRPr lang="en-US" altLang="en-US" sz="2000" b="1" u="sng" dirty="0">
              <a:solidFill>
                <a:prstClr val="black"/>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7568FEC0-0A61-F0A4-D41B-17D70DCFD2FD}"/>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Understanding Data Security</a:t>
            </a:r>
          </a:p>
          <a:p>
            <a:pPr marL="109537" indent="0" algn="just">
              <a:buFont typeface="Georgia" panose="02040502050405020303" pitchFamily="18" charset="0"/>
              <a:buNone/>
              <a:defRPr/>
            </a:pPr>
            <a:endParaRPr lang="en-US" sz="2000" b="1" dirty="0">
              <a:solidFill>
                <a:srgbClr val="000000"/>
              </a:solidFill>
              <a:latin typeface="Verdana" panose="020B0604030504040204" pitchFamily="34" charset="0"/>
            </a:endParaRPr>
          </a:p>
          <a:p>
            <a:pPr marL="0" indent="0">
              <a:lnSpc>
                <a:spcPct val="115000"/>
              </a:lnSpc>
              <a:spcAft>
                <a:spcPts val="800"/>
              </a:spcAft>
              <a:buFont typeface="Georgia" panose="02040502050405020303" pitchFamily="18" charset="0"/>
              <a:buNone/>
              <a:defRPr/>
            </a:pPr>
            <a:r>
              <a:rPr lang="en-US" sz="2000" b="1" kern="100" dirty="0">
                <a:latin typeface="Aptos" panose="020B0004020202020204" pitchFamily="34" charset="0"/>
                <a:ea typeface="Aptos" panose="020B0004020202020204" pitchFamily="34" charset="0"/>
                <a:cs typeface="Times New Roman" panose="02020603050405020304" pitchFamily="18" charset="0"/>
              </a:rPr>
              <a:t>Authentication</a:t>
            </a:r>
          </a:p>
          <a:p>
            <a:pPr marL="0">
              <a:lnSpc>
                <a:spcPct val="115000"/>
              </a:lnSpc>
              <a:spcAft>
                <a:spcPts val="800"/>
              </a:spcAft>
              <a:defRPr/>
            </a:pPr>
            <a:r>
              <a:rPr lang="en-US" sz="2000" kern="100" dirty="0">
                <a:latin typeface="Aptos" panose="020B0004020202020204" pitchFamily="34" charset="0"/>
                <a:ea typeface="Aptos" panose="020B0004020202020204" pitchFamily="34" charset="0"/>
                <a:cs typeface="Times New Roman" panose="02020603050405020304" pitchFamily="18" charset="0"/>
              </a:rPr>
              <a:t>How do you map the correct users to gain access to the correct content, at the correct times? </a:t>
            </a:r>
          </a:p>
          <a:p>
            <a:pPr marL="0" algn="just">
              <a:lnSpc>
                <a:spcPct val="115000"/>
              </a:lnSpc>
              <a:spcAft>
                <a:spcPts val="800"/>
              </a:spcAft>
              <a:defRPr/>
            </a:pPr>
            <a:r>
              <a:rPr lang="en-US" sz="2000" kern="100" dirty="0">
                <a:latin typeface="Aptos" panose="020B0004020202020204" pitchFamily="34" charset="0"/>
                <a:ea typeface="Aptos" panose="020B0004020202020204" pitchFamily="34" charset="0"/>
                <a:cs typeface="Times New Roman" panose="02020603050405020304" pitchFamily="18" charset="0"/>
              </a:rPr>
              <a:t>Authentication takes place whenever a </a:t>
            </a:r>
            <a:r>
              <a:rPr lang="en-US" sz="2000" b="1" kern="100" dirty="0">
                <a:latin typeface="Aptos" panose="020B0004020202020204" pitchFamily="34" charset="0"/>
                <a:ea typeface="Aptos" panose="020B0004020202020204" pitchFamily="34" charset="0"/>
                <a:cs typeface="Times New Roman" panose="02020603050405020304" pitchFamily="18" charset="0"/>
              </a:rPr>
              <a:t>user attempts to access the organization’s network or assets</a:t>
            </a:r>
            <a:r>
              <a:rPr lang="en-US" sz="2000" kern="100" dirty="0">
                <a:latin typeface="Aptos" panose="020B0004020202020204" pitchFamily="34" charset="0"/>
                <a:ea typeface="Aptos" panose="020B0004020202020204" pitchFamily="34" charset="0"/>
                <a:cs typeface="Times New Roman" panose="02020603050405020304" pitchFamily="18" charset="0"/>
              </a:rPr>
              <a:t>. </a:t>
            </a:r>
          </a:p>
          <a:p>
            <a:pPr marL="0" algn="just">
              <a:lnSpc>
                <a:spcPct val="115000"/>
              </a:lnSpc>
              <a:spcAft>
                <a:spcPts val="800"/>
              </a:spcAft>
              <a:defRPr/>
            </a:pPr>
            <a:r>
              <a:rPr lang="en-US" sz="2000" b="1" kern="100" dirty="0">
                <a:latin typeface="Aptos" panose="020B0004020202020204" pitchFamily="34" charset="0"/>
                <a:ea typeface="Aptos" panose="020B0004020202020204" pitchFamily="34" charset="0"/>
                <a:cs typeface="Times New Roman" panose="02020603050405020304" pitchFamily="18" charset="0"/>
              </a:rPr>
              <a:t>Verified credentials serve as a password</a:t>
            </a:r>
            <a:r>
              <a:rPr lang="en-US" sz="2000" kern="100" dirty="0">
                <a:latin typeface="Aptos" panose="020B0004020202020204" pitchFamily="34" charset="0"/>
                <a:ea typeface="Aptos" panose="020B0004020202020204" pitchFamily="34" charset="0"/>
                <a:cs typeface="Times New Roman" panose="02020603050405020304" pitchFamily="18" charset="0"/>
              </a:rPr>
              <a:t> that allows users to access data, systems, applications, and resources</a:t>
            </a:r>
          </a:p>
          <a:p>
            <a:pPr marL="0" indent="0" algn="just">
              <a:lnSpc>
                <a:spcPct val="115000"/>
              </a:lnSpc>
              <a:spcAft>
                <a:spcPts val="800"/>
              </a:spcAft>
              <a:buFont typeface="Georgia" panose="02040502050405020303" pitchFamily="18" charset="0"/>
              <a:buNone/>
              <a:defRPr/>
            </a:pPr>
            <a:r>
              <a:rPr lang="en-US" sz="1800" dirty="0">
                <a:solidFill>
                  <a:srgbClr val="000000"/>
                </a:solidFill>
                <a:latin typeface="Verdana" panose="020B0604030504040204" pitchFamily="34" charset="0"/>
              </a:rPr>
              <a:t> </a:t>
            </a:r>
            <a:r>
              <a:rPr lang="en-US" sz="1800" b="1" dirty="0">
                <a:solidFill>
                  <a:srgbClr val="000000"/>
                </a:solidFill>
                <a:latin typeface="Verdana" panose="020B0604030504040204" pitchFamily="34" charset="0"/>
              </a:rPr>
              <a:t>Authorization</a:t>
            </a:r>
          </a:p>
          <a:p>
            <a:pPr marL="109537" indent="0" algn="just">
              <a:buFont typeface="Georgia" panose="02040502050405020303" pitchFamily="18" charset="0"/>
              <a:buNone/>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b="1" dirty="0">
                <a:solidFill>
                  <a:srgbClr val="000000"/>
                </a:solidFill>
                <a:latin typeface="Verdana" panose="020B0604030504040204" pitchFamily="34" charset="0"/>
              </a:rPr>
              <a:t>Authorization is the number of functions the user can perform or information the user has access to</a:t>
            </a:r>
            <a:r>
              <a:rPr lang="en-US" sz="1800" dirty="0">
                <a:solidFill>
                  <a:srgbClr val="000000"/>
                </a:solidFill>
                <a:latin typeface="Verdana" panose="020B0604030504040204" pitchFamily="34" charset="0"/>
              </a:rPr>
              <a:t>. </a:t>
            </a:r>
          </a:p>
          <a:p>
            <a:pPr algn="just">
              <a:lnSpc>
                <a:spcPct val="150000"/>
              </a:lnSpc>
              <a:spcBef>
                <a:spcPts val="0"/>
              </a:spcBef>
              <a:defRPr/>
            </a:pPr>
            <a:r>
              <a:rPr lang="en-US" sz="1800" dirty="0">
                <a:solidFill>
                  <a:srgbClr val="000000"/>
                </a:solidFill>
                <a:latin typeface="Verdana" panose="020B0604030504040204" pitchFamily="34" charset="0"/>
              </a:rPr>
              <a:t>It is where the access control system comes into play and serves its main purpose</a:t>
            </a:r>
            <a:endParaRPr lang="en-US" altLang="en-US" sz="2000" b="1" u="sng" dirty="0">
              <a:solidFill>
                <a:prstClr val="black"/>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FA068C85-C211-7D32-1642-A8287006106B}"/>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Understanding Data Security</a:t>
            </a:r>
          </a:p>
          <a:p>
            <a:pPr marL="109537" indent="0" algn="just">
              <a:buFont typeface="Georgia" panose="02040502050405020303" pitchFamily="18" charset="0"/>
              <a:buNone/>
              <a:defRPr/>
            </a:pPr>
            <a:endParaRPr lang="en-US" sz="2000" b="1" dirty="0"/>
          </a:p>
          <a:p>
            <a:pPr marL="109537" indent="0" algn="just">
              <a:buFont typeface="Georgia" panose="02040502050405020303" pitchFamily="18" charset="0"/>
              <a:buNone/>
              <a:defRPr/>
            </a:pPr>
            <a:r>
              <a:rPr lang="en-US" sz="2000" b="1" dirty="0">
                <a:solidFill>
                  <a:srgbClr val="000000"/>
                </a:solidFill>
                <a:latin typeface="Verdana" panose="020B0604030504040204" pitchFamily="34" charset="0"/>
              </a:rPr>
              <a:t>Data access control </a:t>
            </a:r>
          </a:p>
          <a:p>
            <a:pPr algn="just">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b="1" dirty="0">
                <a:solidFill>
                  <a:srgbClr val="000000"/>
                </a:solidFill>
                <a:latin typeface="Verdana" panose="020B0604030504040204" pitchFamily="34" charset="0"/>
              </a:rPr>
              <a:t>Data access control is a technique used to regulate employees access to files in</a:t>
            </a:r>
            <a:r>
              <a:rPr lang="en-US" sz="1800" dirty="0">
                <a:solidFill>
                  <a:srgbClr val="000000"/>
                </a:solidFill>
                <a:latin typeface="Verdana" panose="020B0604030504040204" pitchFamily="34" charset="0"/>
              </a:rPr>
              <a:t> an organization. </a:t>
            </a:r>
          </a:p>
          <a:p>
            <a:pPr algn="just">
              <a:lnSpc>
                <a:spcPct val="150000"/>
              </a:lnSpc>
              <a:spcBef>
                <a:spcPts val="0"/>
              </a:spcBef>
              <a:defRPr/>
            </a:pPr>
            <a:r>
              <a:rPr lang="en-US" sz="1800" dirty="0">
                <a:solidFill>
                  <a:srgbClr val="000000"/>
                </a:solidFill>
                <a:latin typeface="Verdana" panose="020B0604030504040204" pitchFamily="34" charset="0"/>
              </a:rPr>
              <a:t>Access Control in cloud security is a system with which a company can </a:t>
            </a:r>
            <a:r>
              <a:rPr lang="en-US" sz="1800" b="1" dirty="0">
                <a:solidFill>
                  <a:srgbClr val="000000"/>
                </a:solidFill>
                <a:latin typeface="Verdana" panose="020B0604030504040204" pitchFamily="34" charset="0"/>
              </a:rPr>
              <a:t>regulate and monitor permissions, or access to their business data</a:t>
            </a:r>
            <a:r>
              <a:rPr lang="en-US" sz="1800" dirty="0">
                <a:solidFill>
                  <a:srgbClr val="000000"/>
                </a:solidFill>
                <a:latin typeface="Verdana" panose="020B0604030504040204" pitchFamily="34" charset="0"/>
              </a:rPr>
              <a:t> by formulating various policies suited chosen by the company.</a:t>
            </a:r>
          </a:p>
          <a:p>
            <a:pPr marL="0">
              <a:lnSpc>
                <a:spcPct val="115000"/>
              </a:lnSpc>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Key points about role-based attribute-based access control:</a:t>
            </a:r>
          </a:p>
          <a:p>
            <a:pPr marL="0" indent="0">
              <a:lnSpc>
                <a:spcPct val="115000"/>
              </a:lnSpc>
              <a:spcAft>
                <a:spcPts val="800"/>
              </a:spcAft>
              <a:buSzPts val="1000"/>
              <a:buFont typeface="Georgia" panose="02040502050405020303" pitchFamily="18" charset="0"/>
              <a:buNone/>
              <a:tabLst>
                <a:tab pos="457200" algn="l"/>
              </a:tabLst>
              <a:defRPr/>
            </a:pPr>
            <a:r>
              <a:rPr lang="en-US" sz="1800" b="1" kern="100" dirty="0">
                <a:latin typeface="Aptos" panose="020B0004020202020204" pitchFamily="34" charset="0"/>
                <a:ea typeface="Aptos" panose="020B0004020202020204" pitchFamily="34" charset="0"/>
                <a:cs typeface="Times New Roman" panose="02020603050405020304" pitchFamily="18" charset="0"/>
              </a:rPr>
              <a:t>1. Roles:</a:t>
            </a:r>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pPr marL="0">
              <a:lnSpc>
                <a:spcPct val="115000"/>
              </a:lnSpc>
              <a:spcAft>
                <a:spcPts val="800"/>
              </a:spcAft>
              <a:defRPr/>
            </a:pPr>
            <a:r>
              <a:rPr lang="en-US" sz="1800" b="1" kern="100" dirty="0">
                <a:latin typeface="Aptos" panose="020B0004020202020204" pitchFamily="34" charset="0"/>
                <a:ea typeface="Aptos" panose="020B0004020202020204" pitchFamily="34" charset="0"/>
                <a:cs typeface="Times New Roman" panose="02020603050405020304" pitchFamily="18" charset="0"/>
              </a:rPr>
              <a:t>Users are assigned specific roles within an organization</a:t>
            </a:r>
            <a:r>
              <a:rPr lang="en-US" sz="1800" kern="100" dirty="0">
                <a:latin typeface="Aptos" panose="020B0004020202020204" pitchFamily="34" charset="0"/>
                <a:ea typeface="Aptos" panose="020B0004020202020204" pitchFamily="34" charset="0"/>
                <a:cs typeface="Times New Roman" panose="02020603050405020304" pitchFamily="18" charset="0"/>
              </a:rPr>
              <a:t>, which define a set of base permissions based on their job responsibilities. </a:t>
            </a:r>
          </a:p>
          <a:p>
            <a:pPr marL="0" indent="0">
              <a:lnSpc>
                <a:spcPct val="115000"/>
              </a:lnSpc>
              <a:spcAft>
                <a:spcPts val="800"/>
              </a:spcAft>
              <a:buSzPts val="1000"/>
              <a:buFont typeface="Georgia" panose="02040502050405020303" pitchFamily="18" charset="0"/>
              <a:buNone/>
              <a:tabLst>
                <a:tab pos="457200" algn="l"/>
              </a:tabLst>
              <a:defRPr/>
            </a:pPr>
            <a:r>
              <a:rPr lang="en-US" sz="1800" b="1" kern="100" dirty="0">
                <a:latin typeface="Aptos" panose="020B0004020202020204" pitchFamily="34" charset="0"/>
                <a:ea typeface="Aptos" panose="020B0004020202020204" pitchFamily="34" charset="0"/>
                <a:cs typeface="Times New Roman" panose="02020603050405020304" pitchFamily="18" charset="0"/>
              </a:rPr>
              <a:t>2. Attributes:</a:t>
            </a:r>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pPr marL="0">
              <a:lnSpc>
                <a:spcPct val="115000"/>
              </a:lnSpc>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Beyond just the role, </a:t>
            </a:r>
            <a:r>
              <a:rPr lang="en-US" sz="1800" b="1" kern="100" dirty="0">
                <a:latin typeface="Aptos" panose="020B0004020202020204" pitchFamily="34" charset="0"/>
                <a:ea typeface="Aptos" panose="020B0004020202020204" pitchFamily="34" charset="0"/>
                <a:cs typeface="Times New Roman" panose="02020603050405020304" pitchFamily="18" charset="0"/>
              </a:rPr>
              <a:t>additional attributes about the user, the resource they are trying to access, and the environment </a:t>
            </a:r>
            <a:r>
              <a:rPr lang="en-US" sz="1800" kern="100" dirty="0">
                <a:latin typeface="Aptos" panose="020B0004020202020204" pitchFamily="34" charset="0"/>
                <a:ea typeface="Aptos" panose="020B0004020202020204" pitchFamily="34" charset="0"/>
                <a:cs typeface="Times New Roman" panose="02020603050405020304" pitchFamily="18" charset="0"/>
              </a:rPr>
              <a:t>(like location or time) are considered to further refine access decisions. </a:t>
            </a:r>
          </a:p>
          <a:p>
            <a:pPr algn="just">
              <a:defRPr/>
            </a:pPr>
            <a:endParaRPr lang="en-US" sz="1800" dirty="0">
              <a:solidFill>
                <a:srgbClr val="000000"/>
              </a:solidFill>
              <a:latin typeface="Verdana" panose="020B0604030504040204" pitchFamily="34" charset="0"/>
            </a:endParaRPr>
          </a:p>
          <a:p>
            <a:pPr algn="just">
              <a:defRPr/>
            </a:pPr>
            <a:endParaRPr lang="en-US" altLang="en-US" sz="2000" b="1" u="sng" dirty="0">
              <a:solidFill>
                <a:prstClr val="black"/>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8CEAAE05-2BAD-3806-0481-F099A63E3BF7}"/>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Understanding Data Security</a:t>
            </a:r>
          </a:p>
          <a:p>
            <a:pPr marL="109537" indent="0" algn="just">
              <a:buFont typeface="Georgia" panose="02040502050405020303" pitchFamily="18" charset="0"/>
              <a:buNone/>
              <a:defRPr/>
            </a:pPr>
            <a:endParaRPr lang="en-US" sz="2000" b="1" dirty="0">
              <a:solidFill>
                <a:srgbClr val="000000"/>
              </a:solidFill>
              <a:latin typeface="Verdana" panose="020B0604030504040204" pitchFamily="34" charset="0"/>
            </a:endParaRPr>
          </a:p>
          <a:p>
            <a:pPr algn="just">
              <a:defRPr/>
            </a:pPr>
            <a:endParaRPr lang="en-US" sz="1800" dirty="0">
              <a:solidFill>
                <a:srgbClr val="000000"/>
              </a:solidFill>
              <a:latin typeface="Verdana" panose="020B0604030504040204" pitchFamily="34" charset="0"/>
            </a:endParaRPr>
          </a:p>
          <a:p>
            <a:pPr marL="109537" indent="0" algn="just">
              <a:buFont typeface="Georgia" panose="02040502050405020303" pitchFamily="18" charset="0"/>
              <a:buNone/>
              <a:defRPr/>
            </a:pPr>
            <a:r>
              <a:rPr lang="en-US" sz="1800" b="1" dirty="0">
                <a:solidFill>
                  <a:srgbClr val="000000"/>
                </a:solidFill>
                <a:latin typeface="Verdana" panose="020B0604030504040204" pitchFamily="34" charset="0"/>
              </a:rPr>
              <a:t>Auditing</a:t>
            </a:r>
          </a:p>
          <a:p>
            <a:pPr marL="109537" indent="0" algn="just">
              <a:buFont typeface="Georgia" panose="02040502050405020303" pitchFamily="18" charset="0"/>
              <a:buNone/>
              <a:defRPr/>
            </a:pPr>
            <a:endParaRPr lang="en-US" sz="1800" b="1" kern="100" dirty="0">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Bef>
                <a:spcPts val="0"/>
              </a:spcBef>
              <a:defRPr/>
            </a:pPr>
            <a:r>
              <a:rPr lang="en-US" altLang="en-US" sz="2000" dirty="0">
                <a:solidFill>
                  <a:prstClr val="black"/>
                </a:solidFill>
              </a:rPr>
              <a:t>Auditing security configurations helps </a:t>
            </a:r>
            <a:r>
              <a:rPr lang="en-US" altLang="en-US" sz="2000" b="1" dirty="0">
                <a:solidFill>
                  <a:prstClr val="black"/>
                </a:solidFill>
              </a:rPr>
              <a:t>weed out redundancies within the IAM system, such as IAM users</a:t>
            </a:r>
            <a:r>
              <a:rPr lang="en-US" altLang="en-US" sz="2000" dirty="0">
                <a:solidFill>
                  <a:prstClr val="black"/>
                </a:solidFill>
              </a:rPr>
              <a:t>, roles, and policies that are not required, and </a:t>
            </a:r>
            <a:r>
              <a:rPr lang="en-US" altLang="en-US" sz="2000" b="1" dirty="0">
                <a:solidFill>
                  <a:prstClr val="black"/>
                </a:solidFill>
              </a:rPr>
              <a:t>make sure that all users are authorized and authenticated</a:t>
            </a:r>
            <a:r>
              <a:rPr lang="en-US" altLang="en-US" sz="2000" dirty="0">
                <a:solidFill>
                  <a:prstClr val="black"/>
                </a:solidFill>
              </a:rPr>
              <a:t>. </a:t>
            </a:r>
          </a:p>
          <a:p>
            <a:pPr algn="just">
              <a:lnSpc>
                <a:spcPct val="150000"/>
              </a:lnSpc>
              <a:spcBef>
                <a:spcPts val="0"/>
              </a:spcBef>
              <a:defRPr/>
            </a:pPr>
            <a:r>
              <a:rPr lang="en-US" altLang="en-US" sz="2000" dirty="0">
                <a:solidFill>
                  <a:prstClr val="black"/>
                </a:solidFill>
              </a:rPr>
              <a:t>It also helps secure the system by </a:t>
            </a:r>
            <a:r>
              <a:rPr lang="en-US" altLang="en-US" sz="2000" b="1" dirty="0">
                <a:solidFill>
                  <a:prstClr val="black"/>
                </a:solidFill>
              </a:rPr>
              <a:t>regularly monitoring who has access to critical enterprise assets.</a:t>
            </a:r>
          </a:p>
          <a:p>
            <a:pPr algn="just">
              <a:lnSpc>
                <a:spcPct val="150000"/>
              </a:lnSpc>
              <a:spcBef>
                <a:spcPts val="0"/>
              </a:spcBef>
              <a:defRPr/>
            </a:pPr>
            <a:r>
              <a:rPr lang="en-US" altLang="en-US" sz="2000" dirty="0">
                <a:solidFill>
                  <a:prstClr val="black"/>
                </a:solidFill>
              </a:rPr>
              <a:t>Audits ensure that </a:t>
            </a:r>
            <a:r>
              <a:rPr lang="en-US" altLang="en-US" sz="2000" b="1" dirty="0">
                <a:solidFill>
                  <a:prstClr val="black"/>
                </a:solidFill>
              </a:rPr>
              <a:t>compliance requirements are met, incidents are responded to and taken care of within a defined period of time, procedures are streamlined, responsibilities are segregated, </a:t>
            </a:r>
            <a:r>
              <a:rPr lang="en-US" altLang="en-US" sz="2000" dirty="0">
                <a:solidFill>
                  <a:prstClr val="black"/>
                </a:solidFill>
              </a:rPr>
              <a:t>and transparency and documentation are maintained. </a:t>
            </a:r>
          </a:p>
          <a:p>
            <a:pPr algn="just">
              <a:defRPr/>
            </a:pPr>
            <a:endParaRPr lang="en-US" altLang="en-US" sz="2000" b="1" u="sng" dirty="0">
              <a:solidFill>
                <a:prstClr val="black"/>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81E0604E-2453-DC9B-C908-6410A4D06418}"/>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Understanding Data Security</a:t>
            </a:r>
          </a:p>
          <a:p>
            <a:pPr marL="109537" indent="0" algn="just">
              <a:buFont typeface="Georgia" panose="02040502050405020303" pitchFamily="18" charset="0"/>
              <a:buNone/>
              <a:defRPr/>
            </a:pPr>
            <a:endParaRPr lang="en-US" sz="2000" b="1" dirty="0">
              <a:solidFill>
                <a:srgbClr val="000000"/>
              </a:solidFill>
              <a:latin typeface="Verdana" panose="020B0604030504040204" pitchFamily="34" charset="0"/>
            </a:endParaRPr>
          </a:p>
          <a:p>
            <a:pPr algn="just">
              <a:defRPr/>
            </a:pPr>
            <a:r>
              <a:rPr lang="en-US" sz="1800" dirty="0">
                <a:solidFill>
                  <a:srgbClr val="000000"/>
                </a:solidFill>
                <a:latin typeface="Verdana" panose="020B0604030504040204" pitchFamily="34" charset="0"/>
              </a:rPr>
              <a:t>Authorization is the number of functions the user can perform or information the user has access to. It is where the access control system comes into play and serves its main purpose</a:t>
            </a:r>
          </a:p>
          <a:p>
            <a:pPr algn="just">
              <a:defRPr/>
            </a:pPr>
            <a:r>
              <a:rPr lang="en-US" sz="1800" dirty="0">
                <a:solidFill>
                  <a:srgbClr val="000000"/>
                </a:solidFill>
                <a:latin typeface="Verdana" panose="020B0604030504040204" pitchFamily="34" charset="0"/>
              </a:rPr>
              <a:t>Network security auditing is the process of independently examining information relating to your organization's IT controls, security systems, and risk mitigation policies and procedures.</a:t>
            </a:r>
          </a:p>
          <a:p>
            <a:pPr algn="just">
              <a:defRPr/>
            </a:pPr>
            <a:endParaRPr lang="en-US" sz="1800" dirty="0">
              <a:solidFill>
                <a:srgbClr val="000000"/>
              </a:solidFill>
              <a:latin typeface="Verdana" panose="020B0604030504040204" pitchFamily="34" charset="0"/>
            </a:endParaRPr>
          </a:p>
          <a:p>
            <a:pPr algn="just">
              <a:defRPr/>
            </a:pPr>
            <a:endParaRPr lang="en-US" sz="1800" dirty="0">
              <a:solidFill>
                <a:srgbClr val="000000"/>
              </a:solidFill>
              <a:latin typeface="Verdana" panose="020B0604030504040204" pitchFamily="34" charset="0"/>
            </a:endParaRPr>
          </a:p>
          <a:p>
            <a:pPr algn="just">
              <a:defRPr/>
            </a:pPr>
            <a:r>
              <a:rPr lang="en-US" sz="1800" dirty="0">
                <a:solidFill>
                  <a:srgbClr val="000000"/>
                </a:solidFill>
                <a:latin typeface="Verdana" panose="020B0604030504040204" pitchFamily="34" charset="0"/>
              </a:rPr>
              <a:t>3. Data access control is a technique used to regulate employees access to files in an organization. Access Control in cloud security is a system with which a company can regulate and monitor permissions, or access to their business data by formulating various policies suited chosen by the company.</a:t>
            </a:r>
          </a:p>
          <a:p>
            <a:pPr marL="0">
              <a:lnSpc>
                <a:spcPct val="115000"/>
              </a:lnSpc>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Key points about role-based attribute-based access control:</a:t>
            </a:r>
          </a:p>
          <a:p>
            <a:pPr marL="342900" indent="-342900">
              <a:lnSpc>
                <a:spcPct val="115000"/>
              </a:lnSpc>
              <a:spcAft>
                <a:spcPts val="800"/>
              </a:spcAft>
              <a:buSzPts val="1000"/>
              <a:buFont typeface="Symbol" panose="05050102010706020507" pitchFamily="18" charset="2"/>
              <a:buChar char=""/>
              <a:tabLst>
                <a:tab pos="457200" algn="l"/>
              </a:tabLst>
              <a:defRPr/>
            </a:pPr>
            <a:r>
              <a:rPr lang="en-US" sz="1800" b="1" kern="100" dirty="0">
                <a:latin typeface="Aptos" panose="020B0004020202020204" pitchFamily="34" charset="0"/>
                <a:ea typeface="Aptos" panose="020B0004020202020204" pitchFamily="34" charset="0"/>
                <a:cs typeface="Times New Roman" panose="02020603050405020304" pitchFamily="18" charset="0"/>
              </a:rPr>
              <a:t>Roles:</a:t>
            </a:r>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pPr marL="0">
              <a:lnSpc>
                <a:spcPct val="115000"/>
              </a:lnSpc>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Users are assigned specific roles within an organization, which define a set of base permissions based on their job responsibilities. </a:t>
            </a:r>
          </a:p>
          <a:p>
            <a:pPr marL="342900" indent="-342900">
              <a:lnSpc>
                <a:spcPct val="115000"/>
              </a:lnSpc>
              <a:spcAft>
                <a:spcPts val="800"/>
              </a:spcAft>
              <a:buSzPts val="1000"/>
              <a:buFont typeface="Symbol" panose="05050102010706020507" pitchFamily="18" charset="2"/>
              <a:buChar char=""/>
              <a:tabLst>
                <a:tab pos="457200" algn="l"/>
              </a:tabLst>
              <a:defRPr/>
            </a:pPr>
            <a:r>
              <a:rPr lang="en-US" sz="1800" b="1" kern="100" dirty="0">
                <a:latin typeface="Aptos" panose="020B0004020202020204" pitchFamily="34" charset="0"/>
                <a:ea typeface="Aptos" panose="020B0004020202020204" pitchFamily="34" charset="0"/>
                <a:cs typeface="Times New Roman" panose="02020603050405020304" pitchFamily="18" charset="0"/>
              </a:rPr>
              <a:t>Attributes:</a:t>
            </a:r>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pPr marL="0">
              <a:lnSpc>
                <a:spcPct val="115000"/>
              </a:lnSpc>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Beyond just the role, additional attributes about the user, the resource they are trying to access, and the environment (like location or time) are considered to further refine access decisions. </a:t>
            </a:r>
          </a:p>
          <a:p>
            <a:pPr algn="just">
              <a:defRPr/>
            </a:pPr>
            <a:endParaRPr lang="en-US" sz="1800" dirty="0">
              <a:solidFill>
                <a:srgbClr val="000000"/>
              </a:solidFill>
              <a:latin typeface="Verdana" panose="020B0604030504040204" pitchFamily="34" charset="0"/>
            </a:endParaRPr>
          </a:p>
          <a:p>
            <a:pPr algn="just">
              <a:defRPr/>
            </a:pPr>
            <a:endParaRPr lang="en-US" altLang="en-US" sz="2000" b="1" u="sng" dirty="0">
              <a:solidFill>
                <a:prstClr val="black"/>
              </a:solidFill>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888AD7EC-47B3-A012-CC01-45AC66292663}"/>
              </a:ext>
            </a:extLst>
          </p:cNvPr>
          <p:cNvSpPr>
            <a:spLocks noGrp="1"/>
          </p:cNvSpPr>
          <p:nvPr>
            <p:ph idx="1"/>
          </p:nvPr>
        </p:nvSpPr>
        <p:spPr>
          <a:xfrm>
            <a:off x="76200" y="457200"/>
            <a:ext cx="9067800" cy="5507038"/>
          </a:xfrm>
        </p:spPr>
        <p:txBody>
          <a:bodyPr/>
          <a:lstStyle/>
          <a:p>
            <a:pPr marL="109537" indent="0" algn="just">
              <a:buFont typeface="Georgia" panose="02040502050405020303" pitchFamily="18" charset="0"/>
              <a:buNone/>
              <a:defRPr/>
            </a:pPr>
            <a:r>
              <a:rPr lang="en-US" sz="2000" b="1" dirty="0"/>
              <a:t>Brokered Cloud Storage  Access is an approach for isolating storage in the cloud:</a:t>
            </a:r>
          </a:p>
          <a:p>
            <a:pPr algn="just">
              <a:lnSpc>
                <a:spcPct val="150000"/>
              </a:lnSpc>
              <a:spcBef>
                <a:spcPts val="0"/>
              </a:spcBef>
              <a:defRPr/>
            </a:pPr>
            <a:r>
              <a:rPr lang="en-US" sz="2000" dirty="0"/>
              <a:t>The </a:t>
            </a:r>
            <a:r>
              <a:rPr lang="en-US" sz="2000" b="1" dirty="0"/>
              <a:t>problem with the data you store in the cloud</a:t>
            </a:r>
            <a:r>
              <a:rPr lang="en-US" sz="2000" dirty="0"/>
              <a:t> is that it can be </a:t>
            </a:r>
            <a:r>
              <a:rPr lang="en-US" sz="2000" b="1" dirty="0"/>
              <a:t>located anywhere in the cloud service provider’s system</a:t>
            </a:r>
            <a:r>
              <a:rPr lang="en-US" sz="2000" dirty="0"/>
              <a:t>: in another data center, another state or province, and in many cases even in another country. </a:t>
            </a:r>
          </a:p>
          <a:p>
            <a:pPr algn="just">
              <a:lnSpc>
                <a:spcPct val="150000"/>
              </a:lnSpc>
              <a:spcBef>
                <a:spcPts val="0"/>
              </a:spcBef>
              <a:defRPr/>
            </a:pPr>
            <a:r>
              <a:rPr lang="en-US" sz="2000" dirty="0"/>
              <a:t>With other system architectures, </a:t>
            </a:r>
            <a:r>
              <a:rPr lang="en-US" sz="2000" b="1" dirty="0"/>
              <a:t>such as client/server</a:t>
            </a:r>
            <a:r>
              <a:rPr lang="en-US" sz="2000" dirty="0"/>
              <a:t>, you could count </a:t>
            </a:r>
            <a:r>
              <a:rPr lang="en-US" sz="2000" b="1" dirty="0"/>
              <a:t>on a firewall as your network’s security perim</a:t>
            </a:r>
            <a:r>
              <a:rPr lang="en-US" sz="2000" dirty="0"/>
              <a:t>eter; </a:t>
            </a:r>
            <a:r>
              <a:rPr lang="en-US" sz="2000" b="1" dirty="0"/>
              <a:t>cloud computing has no physical system that serves this purpose. </a:t>
            </a:r>
            <a:r>
              <a:rPr lang="en-US" sz="2000" dirty="0"/>
              <a:t>Therefore, to protect your cloud storage assets, </a:t>
            </a:r>
            <a:r>
              <a:rPr lang="en-US" sz="2000" b="1" dirty="0"/>
              <a:t>you want to find a way to isolate data from direct client access.</a:t>
            </a:r>
          </a:p>
          <a:p>
            <a:pPr marL="109537" indent="0" algn="just">
              <a:lnSpc>
                <a:spcPct val="150000"/>
              </a:lnSpc>
              <a:spcBef>
                <a:spcPts val="0"/>
              </a:spcBef>
              <a:buFont typeface="Georgia" panose="02040502050405020303" pitchFamily="18" charset="0"/>
              <a:buNone/>
              <a:defRPr/>
            </a:pPr>
            <a:r>
              <a:rPr lang="en-US" sz="2000" dirty="0"/>
              <a:t>In this approach, two services are created:</a:t>
            </a:r>
          </a:p>
          <a:p>
            <a:pPr algn="just">
              <a:lnSpc>
                <a:spcPct val="150000"/>
              </a:lnSpc>
              <a:spcBef>
                <a:spcPts val="0"/>
              </a:spcBef>
              <a:defRPr/>
            </a:pPr>
            <a:r>
              <a:rPr lang="en-US" sz="1800" b="1" dirty="0">
                <a:solidFill>
                  <a:srgbClr val="000000"/>
                </a:solidFill>
                <a:latin typeface="Verdana" panose="020B0604030504040204" pitchFamily="34" charset="0"/>
              </a:rPr>
              <a:t>A broker with full access to storage but no access to client.</a:t>
            </a:r>
          </a:p>
          <a:p>
            <a:pPr algn="just">
              <a:lnSpc>
                <a:spcPct val="150000"/>
              </a:lnSpc>
              <a:spcBef>
                <a:spcPts val="0"/>
              </a:spcBef>
              <a:defRPr/>
            </a:pPr>
            <a:r>
              <a:rPr lang="en-US" sz="1800" b="1" dirty="0">
                <a:solidFill>
                  <a:srgbClr val="000000"/>
                </a:solidFill>
                <a:latin typeface="Verdana" panose="020B0604030504040204" pitchFamily="34" charset="0"/>
              </a:rPr>
              <a:t>A proxy with no access to storage but access to both client and broker.</a:t>
            </a:r>
            <a:endParaRPr lang="en-US" altLang="en-US" sz="2000" b="1" u="sng" dirty="0">
              <a:solidFill>
                <a:prstClr val="black"/>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99A7FC29-B977-6E6B-1BC3-AF4AD4472066}"/>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000" b="1" u="sng" dirty="0">
                <a:solidFill>
                  <a:prstClr val="black"/>
                </a:solidFill>
              </a:rPr>
              <a:t>Working Of Brokered Cloud Storage Access System</a:t>
            </a:r>
          </a:p>
          <a:p>
            <a:pPr marL="109537" indent="0" algn="just">
              <a:buFont typeface="Georgia" panose="02040502050405020303" pitchFamily="18" charset="0"/>
              <a:buNone/>
              <a:defRPr/>
            </a:pPr>
            <a:endParaRPr lang="en-US" altLang="en-US" sz="2000" b="1" u="sng" dirty="0">
              <a:solidFill>
                <a:prstClr val="black"/>
              </a:solidFill>
            </a:endParaRPr>
          </a:p>
          <a:p>
            <a:pPr>
              <a:lnSpc>
                <a:spcPct val="150000"/>
              </a:lnSpc>
              <a:spcBef>
                <a:spcPts val="0"/>
              </a:spcBef>
              <a:defRPr/>
            </a:pPr>
            <a:r>
              <a:rPr lang="en-US" sz="1800" dirty="0">
                <a:solidFill>
                  <a:srgbClr val="000000"/>
                </a:solidFill>
                <a:latin typeface="Verdana" panose="020B0604030504040204" pitchFamily="34" charset="0"/>
              </a:rPr>
              <a:t>When the client issues request to access data</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The </a:t>
            </a:r>
            <a:r>
              <a:rPr lang="en-US" sz="1800" b="1" dirty="0">
                <a:solidFill>
                  <a:srgbClr val="000000"/>
                </a:solidFill>
                <a:latin typeface="Verdana" panose="020B0604030504040204" pitchFamily="34" charset="0"/>
              </a:rPr>
              <a:t>client data request goes to the external service interface</a:t>
            </a:r>
            <a:r>
              <a:rPr lang="en-US" sz="1800" dirty="0">
                <a:solidFill>
                  <a:srgbClr val="000000"/>
                </a:solidFill>
                <a:latin typeface="Verdana" panose="020B0604030504040204" pitchFamily="34" charset="0"/>
              </a:rPr>
              <a:t> of </a:t>
            </a:r>
            <a:r>
              <a:rPr lang="en-US" sz="1800" b="1" dirty="0">
                <a:solidFill>
                  <a:srgbClr val="000000"/>
                </a:solidFill>
                <a:latin typeface="Verdana" panose="020B0604030504040204" pitchFamily="34" charset="0"/>
              </a:rPr>
              <a:t>proxy.</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The proxy forwards the request to the broker.</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The </a:t>
            </a:r>
            <a:r>
              <a:rPr lang="en-US" sz="1800" b="1" dirty="0">
                <a:solidFill>
                  <a:srgbClr val="000000"/>
                </a:solidFill>
                <a:latin typeface="Verdana" panose="020B0604030504040204" pitchFamily="34" charset="0"/>
              </a:rPr>
              <a:t>broker requests the data from cloud storage system</a:t>
            </a:r>
            <a:r>
              <a:rPr lang="en-US" sz="1800" dirty="0">
                <a:solidFill>
                  <a:srgbClr val="000000"/>
                </a:solidFill>
                <a:latin typeface="Verdana" panose="020B0604030504040204" pitchFamily="34" charset="0"/>
              </a:rPr>
              <a:t>.</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The cloud storage system returns the data to the broker.</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The </a:t>
            </a:r>
            <a:r>
              <a:rPr lang="en-US" sz="1800" b="1" dirty="0">
                <a:solidFill>
                  <a:srgbClr val="000000"/>
                </a:solidFill>
                <a:latin typeface="Verdana" panose="020B0604030504040204" pitchFamily="34" charset="0"/>
              </a:rPr>
              <a:t>broker returns the data to proxy</a:t>
            </a:r>
            <a:r>
              <a:rPr lang="en-US" sz="1800" dirty="0">
                <a:solidFill>
                  <a:srgbClr val="000000"/>
                </a:solidFill>
                <a:latin typeface="Verdana" panose="020B0604030504040204" pitchFamily="34" charset="0"/>
              </a:rPr>
              <a:t>.</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Finally the </a:t>
            </a:r>
            <a:r>
              <a:rPr lang="en-US" sz="1800" b="1" dirty="0">
                <a:solidFill>
                  <a:srgbClr val="000000"/>
                </a:solidFill>
                <a:latin typeface="Verdana" panose="020B0604030504040204" pitchFamily="34" charset="0"/>
              </a:rPr>
              <a:t>proxy sends the data to the client.</a:t>
            </a:r>
          </a:p>
          <a:p>
            <a:pPr marL="109537" indent="0" algn="just">
              <a:buFont typeface="Georgia" panose="02040502050405020303" pitchFamily="18" charset="0"/>
              <a:buNone/>
              <a:defRPr/>
            </a:pPr>
            <a:endParaRPr lang="en-US" altLang="en-US" sz="2000" b="1" u="sng" dirty="0">
              <a:solidFill>
                <a:prstClr val="black"/>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1E31B2CC-E514-3BFF-B1C8-820E6D8312D7}"/>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000" b="1" u="sng" dirty="0">
                <a:solidFill>
                  <a:prstClr val="black"/>
                </a:solidFill>
              </a:rPr>
              <a:t>Working Of Brokered Cloud Storage Access System</a:t>
            </a:r>
          </a:p>
          <a:p>
            <a:pPr marL="109537" indent="0" algn="just">
              <a:buFont typeface="Georgia" panose="02040502050405020303" pitchFamily="18" charset="0"/>
              <a:buNone/>
              <a:defRPr/>
            </a:pPr>
            <a:endParaRPr lang="en-US" altLang="en-US" sz="2000" b="1" u="sng" dirty="0">
              <a:solidFill>
                <a:prstClr val="black"/>
              </a:solidFill>
            </a:endParaRPr>
          </a:p>
          <a:p>
            <a:pPr>
              <a:lnSpc>
                <a:spcPct val="150000"/>
              </a:lnSpc>
              <a:spcBef>
                <a:spcPts val="0"/>
              </a:spcBef>
              <a:defRPr/>
            </a:pPr>
            <a:r>
              <a:rPr lang="en-US" sz="1800" dirty="0">
                <a:solidFill>
                  <a:srgbClr val="000000"/>
                </a:solidFill>
                <a:latin typeface="Verdana" panose="020B0604030504040204" pitchFamily="34" charset="0"/>
              </a:rPr>
              <a:t>All of the above steps are shown in the following diagram:</a:t>
            </a:r>
          </a:p>
          <a:p>
            <a:pPr marL="109537" indent="0">
              <a:lnSpc>
                <a:spcPct val="150000"/>
              </a:lnSpc>
              <a:spcBef>
                <a:spcPts val="0"/>
              </a:spcBef>
              <a:buFont typeface="Georgia" panose="02040502050405020303" pitchFamily="18" charset="0"/>
              <a:buNone/>
              <a:defRPr/>
            </a:pPr>
            <a:r>
              <a:rPr lang="en-US" altLang="en-US" sz="1800" b="1" u="sng">
                <a:solidFill>
                  <a:prstClr val="black"/>
                </a:solidFill>
              </a:rPr>
              <a:t>Figure 12.4</a:t>
            </a:r>
          </a:p>
          <a:p>
            <a:pPr marL="109537" indent="0">
              <a:lnSpc>
                <a:spcPct val="150000"/>
              </a:lnSpc>
              <a:spcBef>
                <a:spcPts val="0"/>
              </a:spcBef>
              <a:buFont typeface="Georgia" panose="02040502050405020303" pitchFamily="18" charset="0"/>
              <a:buNone/>
              <a:defRPr/>
            </a:pPr>
            <a:endParaRPr lang="en-US" sz="1800" dirty="0">
              <a:solidFill>
                <a:srgbClr val="000000"/>
              </a:solidFill>
              <a:latin typeface="Verdana" panose="020B0604030504040204" pitchFamily="34" charset="0"/>
            </a:endParaRPr>
          </a:p>
          <a:p>
            <a:pPr marL="109537" indent="0" algn="just">
              <a:buFont typeface="Georgia" panose="02040502050405020303" pitchFamily="18" charset="0"/>
              <a:buNone/>
              <a:defRPr/>
            </a:pPr>
            <a:endParaRPr lang="en-US" altLang="en-US" sz="2000" b="1" u="sng" dirty="0">
              <a:solidFill>
                <a:prstClr val="black"/>
              </a:solidFill>
            </a:endParaRPr>
          </a:p>
        </p:txBody>
      </p:sp>
      <p:pic>
        <p:nvPicPr>
          <p:cNvPr id="74755" name="Picture 1">
            <a:extLst>
              <a:ext uri="{FF2B5EF4-FFF2-40B4-BE49-F238E27FC236}">
                <a16:creationId xmlns:a16="http://schemas.microsoft.com/office/drawing/2014/main" id="{89D5225C-D67E-503B-77E8-37EE228CDA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562100"/>
            <a:ext cx="3810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28959D55-4BC6-7E65-94A8-B7F1DD21EF7D}"/>
              </a:ext>
            </a:extLst>
          </p:cNvPr>
          <p:cNvSpPr>
            <a:spLocks noGrp="1"/>
          </p:cNvSpPr>
          <p:nvPr>
            <p:ph idx="1"/>
          </p:nvPr>
        </p:nvSpPr>
        <p:spPr>
          <a:xfrm>
            <a:off x="0" y="457200"/>
            <a:ext cx="9144000" cy="5507038"/>
          </a:xfrm>
        </p:spPr>
        <p:txBody>
          <a:bodyPr/>
          <a:lstStyle/>
          <a:p>
            <a:pPr marL="109537" indent="0" algn="just">
              <a:buFont typeface="Georgia" panose="02040502050405020303" pitchFamily="18" charset="0"/>
              <a:buNone/>
              <a:defRPr/>
            </a:pPr>
            <a:r>
              <a:rPr lang="en-US" altLang="en-US" sz="2000" b="1" u="sng" dirty="0">
                <a:solidFill>
                  <a:prstClr val="black"/>
                </a:solidFill>
              </a:rPr>
              <a:t>Working Of Brokered Cloud Storage Access System</a:t>
            </a:r>
          </a:p>
          <a:p>
            <a:pPr marL="109537" indent="0" algn="just">
              <a:buFont typeface="Georgia" panose="02040502050405020303" pitchFamily="18" charset="0"/>
              <a:buNone/>
              <a:defRPr/>
            </a:pPr>
            <a:endParaRPr lang="en-US" altLang="en-US" sz="2000" b="1" u="sng" dirty="0">
              <a:solidFill>
                <a:prstClr val="black"/>
              </a:solidFill>
            </a:endParaRPr>
          </a:p>
          <a:p>
            <a:pPr algn="just">
              <a:lnSpc>
                <a:spcPct val="150000"/>
              </a:lnSpc>
              <a:spcBef>
                <a:spcPts val="0"/>
              </a:spcBef>
              <a:defRPr/>
            </a:pPr>
            <a:r>
              <a:rPr lang="en-US" sz="2000" dirty="0"/>
              <a:t>The use of </a:t>
            </a:r>
            <a:r>
              <a:rPr lang="en-US" sz="2000" b="1" dirty="0"/>
              <a:t>multiple encryption keys can further separate the proxy service from the storage account.</a:t>
            </a:r>
          </a:p>
          <a:p>
            <a:pPr algn="just">
              <a:lnSpc>
                <a:spcPct val="150000"/>
              </a:lnSpc>
              <a:spcBef>
                <a:spcPts val="0"/>
              </a:spcBef>
              <a:defRPr/>
            </a:pPr>
            <a:r>
              <a:rPr lang="en-US" sz="2000" b="1" dirty="0"/>
              <a:t> </a:t>
            </a:r>
            <a:r>
              <a:rPr lang="en-US" sz="2000" dirty="0"/>
              <a:t>If you use </a:t>
            </a:r>
            <a:r>
              <a:rPr lang="en-US" sz="2000" b="1" dirty="0"/>
              <a:t>two separate keys to create two different data zones</a:t>
            </a:r>
            <a:r>
              <a:rPr lang="en-US" sz="2000" dirty="0"/>
              <a:t>—one for the untrusted communication </a:t>
            </a:r>
            <a:r>
              <a:rPr lang="en-US" sz="2000" b="1" dirty="0"/>
              <a:t>between the proxy and broker services, </a:t>
            </a:r>
            <a:r>
              <a:rPr lang="en-US" sz="2000" dirty="0"/>
              <a:t>and another a trusted zone between the </a:t>
            </a:r>
            <a:r>
              <a:rPr lang="en-US" sz="2000" b="1" dirty="0"/>
              <a:t>broker and the cloud storage</a:t>
            </a:r>
            <a:r>
              <a:rPr lang="en-US" sz="2000" dirty="0"/>
              <a:t>—you create a situation where there is </a:t>
            </a:r>
            <a:r>
              <a:rPr lang="en-US" sz="2000" b="1" dirty="0"/>
              <a:t>further separation between the different service roles</a:t>
            </a:r>
            <a:endParaRPr lang="en-US" sz="2000" b="1" dirty="0">
              <a:solidFill>
                <a:srgbClr val="000000"/>
              </a:solidFill>
              <a:latin typeface="Verdana" panose="020B0604030504040204" pitchFamily="34" charset="0"/>
            </a:endParaRPr>
          </a:p>
          <a:p>
            <a:pPr algn="just">
              <a:lnSpc>
                <a:spcPct val="150000"/>
              </a:lnSpc>
              <a:spcBef>
                <a:spcPts val="0"/>
              </a:spcBef>
              <a:defRPr/>
            </a:pPr>
            <a:r>
              <a:rPr lang="en-US" sz="1800" b="1" dirty="0">
                <a:solidFill>
                  <a:srgbClr val="000000"/>
                </a:solidFill>
                <a:latin typeface="Verdana" panose="020B0604030504040204" pitchFamily="34" charset="0"/>
              </a:rPr>
              <a:t>Even if the proxy service is compromised</a:t>
            </a:r>
            <a:r>
              <a:rPr lang="en-US" sz="1800" dirty="0">
                <a:solidFill>
                  <a:srgbClr val="000000"/>
                </a:solidFill>
                <a:latin typeface="Verdana" panose="020B0604030504040204" pitchFamily="34" charset="0"/>
              </a:rPr>
              <a:t>, that service does not have access to the trusted key necessary to access the cloud storage account.</a:t>
            </a:r>
          </a:p>
          <a:p>
            <a:pPr algn="just">
              <a:lnSpc>
                <a:spcPct val="150000"/>
              </a:lnSpc>
              <a:spcBef>
                <a:spcPts val="0"/>
              </a:spcBef>
              <a:defRPr/>
            </a:pPr>
            <a:r>
              <a:rPr lang="en-US" altLang="en-US" sz="2000" b="1" u="sng" dirty="0">
                <a:solidFill>
                  <a:prstClr val="black"/>
                </a:solidFill>
              </a:rPr>
              <a:t>In the multi-key solution, shown in Figure 12.5, you have not only eliminated all internal service endpoints, but you also have eliminated the need to have the proxy service run at a reduced trust level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113631AB-9C8D-016F-4BFE-25261B8ABAD2}"/>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400" b="1" u="sng" dirty="0">
                <a:solidFill>
                  <a:prstClr val="black"/>
                </a:solidFill>
              </a:rPr>
              <a:t>Encryption</a:t>
            </a:r>
          </a:p>
          <a:p>
            <a:pPr algn="just">
              <a:lnSpc>
                <a:spcPct val="150000"/>
              </a:lnSpc>
              <a:spcBef>
                <a:spcPts val="0"/>
              </a:spcBef>
              <a:defRPr/>
            </a:pPr>
            <a:r>
              <a:rPr lang="en-US" sz="2000" dirty="0"/>
              <a:t>The creation of storage zones with </a:t>
            </a:r>
            <a:r>
              <a:rPr lang="en-US" sz="2000" b="1" dirty="0"/>
              <a:t>associated encryption keys can further protect cloud storage from unauthorized access</a:t>
            </a:r>
          </a:p>
          <a:p>
            <a:pPr marL="109537" indent="0" algn="just">
              <a:lnSpc>
                <a:spcPct val="150000"/>
              </a:lnSpc>
              <a:spcBef>
                <a:spcPts val="0"/>
              </a:spcBef>
              <a:buFont typeface="Georgia" panose="02040502050405020303" pitchFamily="18" charset="0"/>
              <a:buNone/>
              <a:defRPr/>
            </a:pPr>
            <a:r>
              <a:rPr lang="en-US" altLang="en-US" sz="2000" b="1" u="sng" dirty="0">
                <a:solidFill>
                  <a:prstClr val="black"/>
                </a:solidFill>
              </a:rPr>
              <a:t>Figure 12.5</a:t>
            </a:r>
          </a:p>
        </p:txBody>
      </p:sp>
      <p:pic>
        <p:nvPicPr>
          <p:cNvPr id="78851" name="Picture 2">
            <a:extLst>
              <a:ext uri="{FF2B5EF4-FFF2-40B4-BE49-F238E27FC236}">
                <a16:creationId xmlns:a16="http://schemas.microsoft.com/office/drawing/2014/main" id="{73650BA1-0942-5CBF-B33C-DC14A63B8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755775"/>
            <a:ext cx="4806950" cy="507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E165731E-2AC3-D114-D6BB-E2ACDFEFC206}"/>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Encryption</a:t>
            </a:r>
          </a:p>
          <a:p>
            <a:pPr>
              <a:lnSpc>
                <a:spcPct val="150000"/>
              </a:lnSpc>
              <a:spcBef>
                <a:spcPts val="0"/>
              </a:spcBef>
              <a:defRPr/>
            </a:pPr>
            <a:endParaRPr lang="en-US" sz="1800" dirty="0">
              <a:solidFill>
                <a:srgbClr val="000000"/>
              </a:solidFill>
              <a:latin typeface="Verdana" panose="020B0604030504040204" pitchFamily="34" charset="0"/>
            </a:endParaRPr>
          </a:p>
          <a:p>
            <a:pPr>
              <a:lnSpc>
                <a:spcPct val="150000"/>
              </a:lnSpc>
              <a:spcBef>
                <a:spcPts val="0"/>
              </a:spcBef>
              <a:defRPr/>
            </a:pPr>
            <a:r>
              <a:rPr lang="en-US" sz="1800" dirty="0">
                <a:solidFill>
                  <a:srgbClr val="000000"/>
                </a:solidFill>
                <a:latin typeface="Verdana" panose="020B0604030504040204" pitchFamily="34" charset="0"/>
              </a:rPr>
              <a:t>In the multi-key solution, shown in Figure 12.5, you  have not only eliminated all internal service endpoints, but you also have </a:t>
            </a:r>
            <a:r>
              <a:rPr lang="en-US" sz="1800" b="1" dirty="0">
                <a:solidFill>
                  <a:srgbClr val="000000"/>
                </a:solidFill>
                <a:latin typeface="Verdana" panose="020B0604030504040204" pitchFamily="34" charset="0"/>
              </a:rPr>
              <a:t>eliminated the need to have the proxy service run at a reduced trust level</a:t>
            </a:r>
            <a:endParaRPr lang="en-US" altLang="en-US" sz="1800" b="1" u="sng" dirty="0">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A5B51C10-5BA4-D3B7-3B5B-73662AEAA417}"/>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400" b="1" u="sng" dirty="0">
                <a:solidFill>
                  <a:prstClr val="black"/>
                </a:solidFill>
              </a:rPr>
              <a:t>Encryption</a:t>
            </a:r>
          </a:p>
          <a:p>
            <a:pPr algn="just">
              <a:lnSpc>
                <a:spcPct val="150000"/>
              </a:lnSpc>
              <a:spcBef>
                <a:spcPts val="0"/>
              </a:spcBef>
              <a:defRPr/>
            </a:pPr>
            <a:r>
              <a:rPr lang="en-US" sz="2400" dirty="0"/>
              <a:t>Most cloud service providers store data in an encrypted form. While encryption is important and effective, it does present its own set of problems. </a:t>
            </a:r>
          </a:p>
          <a:p>
            <a:pPr algn="just">
              <a:lnSpc>
                <a:spcPct val="150000"/>
              </a:lnSpc>
              <a:spcBef>
                <a:spcPts val="0"/>
              </a:spcBef>
              <a:defRPr/>
            </a:pPr>
            <a:r>
              <a:rPr lang="en-US" sz="2400" dirty="0"/>
              <a:t>When there is a </a:t>
            </a:r>
            <a:r>
              <a:rPr lang="en-US" sz="2400" b="1" dirty="0"/>
              <a:t>problem with encrypted data</a:t>
            </a:r>
            <a:r>
              <a:rPr lang="en-US" sz="2400" dirty="0"/>
              <a:t>, the result is that the </a:t>
            </a:r>
            <a:r>
              <a:rPr lang="en-US" sz="2400" b="1" dirty="0"/>
              <a:t>data may not be recoverable</a:t>
            </a:r>
            <a:r>
              <a:rPr lang="en-US" sz="2400" dirty="0"/>
              <a:t>.</a:t>
            </a:r>
          </a:p>
          <a:p>
            <a:pPr algn="just">
              <a:lnSpc>
                <a:spcPct val="150000"/>
              </a:lnSpc>
              <a:spcBef>
                <a:spcPts val="0"/>
              </a:spcBef>
              <a:defRPr/>
            </a:pPr>
            <a:r>
              <a:rPr lang="en-US" sz="2400" dirty="0"/>
              <a:t> It is worth considering </a:t>
            </a:r>
            <a:r>
              <a:rPr lang="en-US" sz="2400" b="1" dirty="0"/>
              <a:t>what type of encryption the cloud provider uses and checking </a:t>
            </a:r>
            <a:r>
              <a:rPr lang="en-US" sz="2400" dirty="0"/>
              <a:t>that the system has been planned and tested by security experts</a:t>
            </a:r>
            <a:endParaRPr lang="en-US" altLang="en-US" sz="2400" u="sng" dirty="0">
              <a:solidFill>
                <a:prstClr val="black"/>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B24B5BB8-C6CE-09D1-52DD-40CC31FBBB11}"/>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400" b="1" u="sng" dirty="0">
                <a:solidFill>
                  <a:prstClr val="black"/>
                </a:solidFill>
              </a:rPr>
              <a:t>Encryption</a:t>
            </a:r>
          </a:p>
          <a:p>
            <a:pPr algn="just">
              <a:lnSpc>
                <a:spcPct val="150000"/>
              </a:lnSpc>
              <a:spcBef>
                <a:spcPts val="0"/>
              </a:spcBef>
              <a:defRPr/>
            </a:pPr>
            <a:r>
              <a:rPr lang="en-US" sz="2000" b="1" dirty="0"/>
              <a:t>Strong encryption technology is a core technology for protecting </a:t>
            </a:r>
            <a:r>
              <a:rPr lang="en-US" sz="2000" dirty="0"/>
              <a:t>data in transit to and from the  cloud as well as data stored in the cloud</a:t>
            </a:r>
          </a:p>
          <a:p>
            <a:pPr algn="just">
              <a:lnSpc>
                <a:spcPct val="150000"/>
              </a:lnSpc>
              <a:spcBef>
                <a:spcPts val="0"/>
              </a:spcBef>
              <a:defRPr/>
            </a:pPr>
            <a:r>
              <a:rPr lang="en-US" sz="2000" dirty="0"/>
              <a:t>The goal of </a:t>
            </a:r>
            <a:r>
              <a:rPr lang="en-US" sz="2000" b="1" dirty="0"/>
              <a:t>encrypted cloud storage is to create </a:t>
            </a:r>
            <a:r>
              <a:rPr lang="en-US" sz="2000" dirty="0"/>
              <a:t>a virtual private storage system that </a:t>
            </a:r>
            <a:r>
              <a:rPr lang="en-US" sz="2000" b="1" dirty="0"/>
              <a:t>maintains confidentiality and data integrity </a:t>
            </a:r>
            <a:r>
              <a:rPr lang="en-US" sz="2000" dirty="0"/>
              <a:t>while maintaining the </a:t>
            </a:r>
            <a:r>
              <a:rPr lang="en-US" sz="2000" b="1" dirty="0"/>
              <a:t>benefits of cloud storage: ubiquitous, reliable, shared data </a:t>
            </a:r>
            <a:r>
              <a:rPr lang="en-US" sz="2000" dirty="0"/>
              <a:t>storage.</a:t>
            </a:r>
          </a:p>
          <a:p>
            <a:pPr algn="just">
              <a:lnSpc>
                <a:spcPct val="150000"/>
              </a:lnSpc>
              <a:spcBef>
                <a:spcPts val="0"/>
              </a:spcBef>
              <a:defRPr/>
            </a:pPr>
            <a:r>
              <a:rPr lang="en-US" sz="2000" dirty="0"/>
              <a:t> Encryption should separate stored data (data at rest) from data in transit</a:t>
            </a:r>
            <a:endParaRPr lang="en-US" altLang="en-US" sz="2000" b="1" u="sng" dirty="0">
              <a:solidFill>
                <a:prstClr val="black"/>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93110ABD-F8E6-E6AD-BBE2-91F2A5184D76}"/>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400" b="1" u="sng" dirty="0">
                <a:solidFill>
                  <a:prstClr val="black"/>
                </a:solidFill>
              </a:rPr>
              <a:t>Encryption</a:t>
            </a:r>
          </a:p>
          <a:p>
            <a:pPr marL="109537" indent="0" algn="just">
              <a:lnSpc>
                <a:spcPct val="150000"/>
              </a:lnSpc>
              <a:spcBef>
                <a:spcPts val="0"/>
              </a:spcBef>
              <a:buFont typeface="Georgia" panose="02040502050405020303" pitchFamily="18" charset="0"/>
              <a:buNone/>
              <a:defRPr/>
            </a:pPr>
            <a:endParaRPr lang="en-US" sz="2400" dirty="0"/>
          </a:p>
          <a:p>
            <a:pPr algn="just">
              <a:lnSpc>
                <a:spcPct val="150000"/>
              </a:lnSpc>
              <a:spcBef>
                <a:spcPts val="0"/>
              </a:spcBef>
              <a:defRPr/>
            </a:pPr>
            <a:r>
              <a:rPr lang="en-US" sz="2400" b="1" dirty="0"/>
              <a:t>Depending upon the particular cloud provider, you can create multiple accounts with different keys</a:t>
            </a:r>
            <a:endParaRPr lang="en-US" sz="2400" dirty="0"/>
          </a:p>
          <a:p>
            <a:pPr algn="just">
              <a:lnSpc>
                <a:spcPct val="150000"/>
              </a:lnSpc>
              <a:spcBef>
                <a:spcPts val="0"/>
              </a:spcBef>
              <a:defRPr/>
            </a:pPr>
            <a:r>
              <a:rPr lang="en-US" sz="2400" b="1" dirty="0"/>
              <a:t>Microsoft allows up to five security accounts per client</a:t>
            </a:r>
            <a:r>
              <a:rPr lang="en-US" sz="2400" dirty="0"/>
              <a:t>, and you can use these different accounts to create </a:t>
            </a:r>
            <a:r>
              <a:rPr lang="en-US" sz="2400" b="1" dirty="0"/>
              <a:t>different zones</a:t>
            </a:r>
            <a:r>
              <a:rPr lang="en-US" sz="2400" dirty="0"/>
              <a:t>. </a:t>
            </a:r>
          </a:p>
          <a:p>
            <a:pPr algn="just">
              <a:lnSpc>
                <a:spcPct val="150000"/>
              </a:lnSpc>
              <a:spcBef>
                <a:spcPts val="0"/>
              </a:spcBef>
              <a:defRPr/>
            </a:pPr>
            <a:r>
              <a:rPr lang="en-US" sz="2400" b="1" dirty="0"/>
              <a:t>On Amazon Web Service, </a:t>
            </a:r>
            <a:r>
              <a:rPr lang="en-US" sz="2400" dirty="0"/>
              <a:t>you can create </a:t>
            </a:r>
            <a:r>
              <a:rPr lang="en-US" sz="2400" b="1" dirty="0"/>
              <a:t>multiple keys and rotate </a:t>
            </a:r>
            <a:r>
              <a:rPr lang="en-US" sz="2400" dirty="0"/>
              <a:t>those keys during </a:t>
            </a:r>
            <a:r>
              <a:rPr lang="en-US" sz="2400" b="1" dirty="0"/>
              <a:t>different sessions.</a:t>
            </a:r>
            <a:endParaRPr lang="en-US" altLang="en-US" sz="2400" b="1" u="sng" dirty="0">
              <a:solidFill>
                <a:prstClr val="black"/>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DFCC4CEC-C395-7156-8853-C4AAE81546E2}"/>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400" b="1" u="sng" dirty="0">
                <a:solidFill>
                  <a:prstClr val="black"/>
                </a:solidFill>
              </a:rPr>
              <a:t>Encryption</a:t>
            </a:r>
          </a:p>
          <a:p>
            <a:pPr algn="just">
              <a:lnSpc>
                <a:spcPct val="150000"/>
              </a:lnSpc>
              <a:spcBef>
                <a:spcPts val="0"/>
              </a:spcBef>
              <a:defRPr/>
            </a:pPr>
            <a:r>
              <a:rPr lang="en-US" sz="2000" b="1" dirty="0"/>
              <a:t>Strong encryption technology is a core technology for protecting data </a:t>
            </a:r>
            <a:r>
              <a:rPr lang="en-US" sz="2000" dirty="0"/>
              <a:t>in transit to and from the  cloud as well as data stored in the cloud</a:t>
            </a:r>
          </a:p>
          <a:p>
            <a:pPr algn="just">
              <a:lnSpc>
                <a:spcPct val="150000"/>
              </a:lnSpc>
              <a:spcBef>
                <a:spcPts val="0"/>
              </a:spcBef>
              <a:defRPr/>
            </a:pPr>
            <a:r>
              <a:rPr lang="en-US" sz="2000" dirty="0"/>
              <a:t>The goal of encrypted cloud storage is to create a virtual private storage system that </a:t>
            </a:r>
            <a:r>
              <a:rPr lang="en-US" sz="2000" b="1" dirty="0"/>
              <a:t>maintains confidentiality and data integrit</a:t>
            </a:r>
            <a:r>
              <a:rPr lang="en-US" sz="2000" dirty="0"/>
              <a:t>y while maintaining the benefits of cloud storage: </a:t>
            </a:r>
            <a:r>
              <a:rPr lang="en-US" sz="2000" b="1" dirty="0"/>
              <a:t>ubiquitous, reliable, shared data storage</a:t>
            </a:r>
            <a:r>
              <a:rPr lang="en-US" sz="2000" dirty="0"/>
              <a:t>. </a:t>
            </a:r>
          </a:p>
          <a:p>
            <a:pPr algn="just">
              <a:lnSpc>
                <a:spcPct val="150000"/>
              </a:lnSpc>
              <a:spcBef>
                <a:spcPts val="0"/>
              </a:spcBef>
              <a:defRPr/>
            </a:pPr>
            <a:r>
              <a:rPr lang="en-US" sz="2000" dirty="0"/>
              <a:t>Encryption should </a:t>
            </a:r>
            <a:r>
              <a:rPr lang="en-US" sz="2000" b="1" dirty="0"/>
              <a:t>separate stored data (data at rest) from data in transit</a:t>
            </a:r>
          </a:p>
          <a:p>
            <a:pPr algn="just">
              <a:lnSpc>
                <a:spcPct val="150000"/>
              </a:lnSpc>
              <a:spcBef>
                <a:spcPts val="0"/>
              </a:spcBef>
              <a:defRPr/>
            </a:pPr>
            <a:r>
              <a:rPr lang="en-US" sz="1800" dirty="0"/>
              <a:t>Depending upon the particular cloud provider, you can create multiple accounts with different keys as you saw in the example with Windows Azure Platform in the previous section.</a:t>
            </a:r>
          </a:p>
          <a:p>
            <a:pPr algn="just">
              <a:lnSpc>
                <a:spcPct val="150000"/>
              </a:lnSpc>
              <a:spcBef>
                <a:spcPts val="0"/>
              </a:spcBef>
              <a:defRPr/>
            </a:pPr>
            <a:r>
              <a:rPr lang="en-US" sz="1800" dirty="0"/>
              <a:t> </a:t>
            </a:r>
            <a:r>
              <a:rPr lang="en-US" sz="1800" b="1" dirty="0"/>
              <a:t>Microsoft allows up to five security accounts per client</a:t>
            </a:r>
            <a:r>
              <a:rPr lang="en-US" sz="1800" dirty="0"/>
              <a:t>, and you can use these </a:t>
            </a:r>
            <a:r>
              <a:rPr lang="en-US" sz="1800" b="1" dirty="0"/>
              <a:t>different accounts to create different zones</a:t>
            </a:r>
            <a:r>
              <a:rPr lang="en-US" sz="1800" dirty="0"/>
              <a:t>.</a:t>
            </a:r>
          </a:p>
          <a:p>
            <a:pPr algn="just">
              <a:lnSpc>
                <a:spcPct val="150000"/>
              </a:lnSpc>
              <a:spcBef>
                <a:spcPts val="0"/>
              </a:spcBef>
              <a:defRPr/>
            </a:pPr>
            <a:r>
              <a:rPr lang="en-US" sz="1800" dirty="0"/>
              <a:t> On Amazon Web Service, you can create multiple keys and rotate those keys during different sessions.</a:t>
            </a:r>
            <a:endParaRPr lang="en-US" altLang="en-US" sz="1800" b="1" u="sng" dirty="0">
              <a:solidFill>
                <a:prstClr val="black"/>
              </a:solidFill>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C7623C27-AE7B-CC59-5BC7-6C7A7E96D2B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nSpc>
                <a:spcPct val="150000"/>
              </a:lnSpc>
              <a:spcBef>
                <a:spcPts val="0"/>
              </a:spcBef>
              <a:defRPr/>
            </a:pPr>
            <a:r>
              <a:rPr lang="en-US" sz="1800" b="1" dirty="0">
                <a:solidFill>
                  <a:srgbClr val="000000"/>
                </a:solidFill>
                <a:latin typeface="Verdana" panose="020B0604030504040204" pitchFamily="34" charset="0"/>
              </a:rPr>
              <a:t>Logging</a:t>
            </a:r>
            <a:r>
              <a:rPr lang="en-US" sz="1800" dirty="0">
                <a:solidFill>
                  <a:srgbClr val="000000"/>
                </a:solidFill>
                <a:latin typeface="Verdana" panose="020B0604030504040204" pitchFamily="34" charset="0"/>
              </a:rPr>
              <a:t> is the </a:t>
            </a:r>
            <a:r>
              <a:rPr lang="en-US" sz="1800" b="1" dirty="0">
                <a:solidFill>
                  <a:srgbClr val="000000"/>
                </a:solidFill>
                <a:latin typeface="Verdana" panose="020B0604030504040204" pitchFamily="34" charset="0"/>
              </a:rPr>
              <a:t>recording </a:t>
            </a:r>
            <a:r>
              <a:rPr lang="en-US" sz="1800" dirty="0">
                <a:solidFill>
                  <a:srgbClr val="000000"/>
                </a:solidFill>
                <a:latin typeface="Verdana" panose="020B0604030504040204" pitchFamily="34" charset="0"/>
              </a:rPr>
              <a:t>of events into a </a:t>
            </a:r>
            <a:r>
              <a:rPr lang="en-US" sz="1800" b="1" dirty="0">
                <a:solidFill>
                  <a:srgbClr val="000000"/>
                </a:solidFill>
                <a:latin typeface="Verdana" panose="020B0604030504040204" pitchFamily="34" charset="0"/>
              </a:rPr>
              <a:t>repository</a:t>
            </a:r>
            <a:r>
              <a:rPr lang="en-US" sz="1800" dirty="0">
                <a:solidFill>
                  <a:srgbClr val="000000"/>
                </a:solidFill>
                <a:latin typeface="Verdana" panose="020B0604030504040204" pitchFamily="34" charset="0"/>
              </a:rPr>
              <a:t>;</a:t>
            </a:r>
          </a:p>
          <a:p>
            <a:pPr algn="just">
              <a:lnSpc>
                <a:spcPct val="150000"/>
              </a:lnSpc>
              <a:spcBef>
                <a:spcPts val="0"/>
              </a:spcBef>
              <a:defRPr/>
            </a:pPr>
            <a:r>
              <a:rPr lang="en-US" sz="1800" b="1" dirty="0">
                <a:solidFill>
                  <a:srgbClr val="000000"/>
                </a:solidFill>
                <a:latin typeface="Verdana" panose="020B0604030504040204" pitchFamily="34" charset="0"/>
              </a:rPr>
              <a:t>Auditing</a:t>
            </a:r>
            <a:r>
              <a:rPr lang="en-US" sz="1800" dirty="0">
                <a:solidFill>
                  <a:srgbClr val="000000"/>
                </a:solidFill>
                <a:latin typeface="Verdana" panose="020B0604030504040204" pitchFamily="34" charset="0"/>
              </a:rPr>
              <a:t> is the ability to </a:t>
            </a:r>
            <a:r>
              <a:rPr lang="en-US" sz="1800" b="1" dirty="0">
                <a:solidFill>
                  <a:srgbClr val="000000"/>
                </a:solidFill>
                <a:latin typeface="Verdana" panose="020B0604030504040204" pitchFamily="34" charset="0"/>
              </a:rPr>
              <a:t>monitor the events </a:t>
            </a:r>
            <a:r>
              <a:rPr lang="en-US" sz="1800" dirty="0">
                <a:solidFill>
                  <a:srgbClr val="000000"/>
                </a:solidFill>
                <a:latin typeface="Verdana" panose="020B0604030504040204" pitchFamily="34" charset="0"/>
              </a:rPr>
              <a:t>to </a:t>
            </a:r>
            <a:r>
              <a:rPr lang="en-US" sz="1800" b="1" dirty="0">
                <a:solidFill>
                  <a:srgbClr val="000000"/>
                </a:solidFill>
                <a:latin typeface="Verdana" panose="020B0604030504040204" pitchFamily="34" charset="0"/>
              </a:rPr>
              <a:t>understand performance</a:t>
            </a:r>
            <a:r>
              <a:rPr lang="en-US" sz="1800" dirty="0">
                <a:solidFill>
                  <a:srgbClr val="000000"/>
                </a:solidFill>
                <a:latin typeface="Verdana" panose="020B0604030504040204" pitchFamily="34" charset="0"/>
              </a:rPr>
              <a:t>.</a:t>
            </a:r>
          </a:p>
          <a:p>
            <a:pPr algn="just">
              <a:lnSpc>
                <a:spcPct val="150000"/>
              </a:lnSpc>
              <a:spcBef>
                <a:spcPts val="0"/>
              </a:spcBef>
              <a:defRPr/>
            </a:pPr>
            <a:r>
              <a:rPr lang="en-US" sz="1800" dirty="0">
                <a:solidFill>
                  <a:srgbClr val="000000"/>
                </a:solidFill>
                <a:latin typeface="Verdana" panose="020B0604030504040204" pitchFamily="34" charset="0"/>
              </a:rPr>
              <a:t> Logging and auditing is an important functions because it is </a:t>
            </a:r>
            <a:r>
              <a:rPr lang="en-US" sz="1800" b="1" u="sng" dirty="0">
                <a:solidFill>
                  <a:srgbClr val="000000"/>
                </a:solidFill>
                <a:latin typeface="Verdana" panose="020B0604030504040204" pitchFamily="34" charset="0"/>
              </a:rPr>
              <a:t>not only necessary for evaluation performance</a:t>
            </a:r>
            <a:r>
              <a:rPr lang="en-US" sz="1800" u="sng" dirty="0">
                <a:solidFill>
                  <a:srgbClr val="000000"/>
                </a:solidFill>
                <a:latin typeface="Verdana" panose="020B0604030504040204" pitchFamily="34" charset="0"/>
              </a:rPr>
              <a:t>,</a:t>
            </a:r>
            <a:r>
              <a:rPr lang="en-US" sz="1800" dirty="0">
                <a:solidFill>
                  <a:srgbClr val="000000"/>
                </a:solidFill>
                <a:latin typeface="Verdana" panose="020B0604030504040204" pitchFamily="34" charset="0"/>
              </a:rPr>
              <a:t> </a:t>
            </a:r>
            <a:r>
              <a:rPr lang="en-US" sz="1800" b="1" dirty="0">
                <a:solidFill>
                  <a:srgbClr val="000000"/>
                </a:solidFill>
                <a:latin typeface="Verdana" panose="020B0604030504040204" pitchFamily="34" charset="0"/>
              </a:rPr>
              <a:t>but are also used to </a:t>
            </a:r>
            <a:r>
              <a:rPr lang="en-US" sz="1800" b="1" u="sng" dirty="0">
                <a:solidFill>
                  <a:srgbClr val="000000"/>
                </a:solidFill>
                <a:latin typeface="Verdana" panose="020B0604030504040204" pitchFamily="34" charset="0"/>
              </a:rPr>
              <a:t>investigate security </a:t>
            </a:r>
            <a:r>
              <a:rPr lang="en-US" sz="1800" dirty="0">
                <a:solidFill>
                  <a:srgbClr val="000000"/>
                </a:solidFill>
                <a:latin typeface="Verdana" panose="020B0604030504040204" pitchFamily="34" charset="0"/>
              </a:rPr>
              <a:t>and </a:t>
            </a:r>
            <a:r>
              <a:rPr lang="en-US" sz="1800" b="1" dirty="0">
                <a:solidFill>
                  <a:srgbClr val="000000"/>
                </a:solidFill>
                <a:latin typeface="Verdana" panose="020B0604030504040204" pitchFamily="34" charset="0"/>
              </a:rPr>
              <a:t>when illegal activity has been perpetrated</a:t>
            </a:r>
            <a:r>
              <a:rPr lang="en-US" sz="1800" dirty="0">
                <a:solidFill>
                  <a:srgbClr val="000000"/>
                </a:solidFill>
                <a:latin typeface="Verdana" panose="020B0604030504040204" pitchFamily="34" charset="0"/>
              </a:rPr>
              <a:t>.</a:t>
            </a:r>
          </a:p>
          <a:p>
            <a:pPr>
              <a:lnSpc>
                <a:spcPct val="150000"/>
              </a:lnSpc>
              <a:spcBef>
                <a:spcPts val="0"/>
              </a:spcBef>
              <a:defRPr/>
            </a:pPr>
            <a:r>
              <a:rPr lang="en-US" sz="1800" dirty="0">
                <a:solidFill>
                  <a:srgbClr val="000000"/>
                </a:solidFill>
                <a:latin typeface="Verdana" panose="020B0604030504040204" pitchFamily="34" charset="0"/>
              </a:rPr>
              <a:t> </a:t>
            </a:r>
            <a:r>
              <a:rPr lang="en-US" sz="1800" b="1" dirty="0">
                <a:solidFill>
                  <a:srgbClr val="000000"/>
                </a:solidFill>
                <a:latin typeface="Verdana" panose="020B0604030504040204" pitchFamily="34" charset="0"/>
              </a:rPr>
              <a:t>Logs should record system, application, and security events</a:t>
            </a:r>
            <a:r>
              <a:rPr lang="en-US" sz="1800" dirty="0">
                <a:solidFill>
                  <a:srgbClr val="000000"/>
                </a:solidFill>
                <a:latin typeface="Verdana" panose="020B0604030504040204" pitchFamily="34" charset="0"/>
              </a:rPr>
              <a:t>, at the very minimum.</a:t>
            </a:r>
          </a:p>
          <a:p>
            <a:pPr>
              <a:lnSpc>
                <a:spcPct val="150000"/>
              </a:lnSpc>
              <a:spcBef>
                <a:spcPts val="0"/>
              </a:spcBef>
              <a:defRPr/>
            </a:pPr>
            <a:r>
              <a:rPr lang="en-US" sz="1800" dirty="0">
                <a:solidFill>
                  <a:srgbClr val="000000"/>
                </a:solidFill>
                <a:latin typeface="Verdana" panose="020B0604030504040204" pitchFamily="34" charset="0"/>
              </a:rPr>
              <a:t>Logging and auditing are unfortunately one of the </a:t>
            </a:r>
            <a:r>
              <a:rPr lang="en-US" sz="1800" b="1" dirty="0">
                <a:solidFill>
                  <a:srgbClr val="000000"/>
                </a:solidFill>
                <a:latin typeface="Verdana" panose="020B0604030504040204" pitchFamily="34" charset="0"/>
              </a:rPr>
              <a:t>weaker aspects of early cloud computing service offerings</a:t>
            </a:r>
            <a:endParaRPr lang="en-US" altLang="en-US" sz="1800" b="1" u="sng" dirty="0">
              <a:solidFill>
                <a:srgbClr val="00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EDF5D238-32DF-C02B-F195-EB358B40C903}"/>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b="1" dirty="0">
                <a:solidFill>
                  <a:srgbClr val="000000"/>
                </a:solidFill>
                <a:latin typeface="Verdana" panose="020B0604030504040204" pitchFamily="34" charset="0"/>
              </a:rPr>
              <a:t>Cloud service providers </a:t>
            </a:r>
            <a:r>
              <a:rPr lang="en-US" sz="1800" dirty="0">
                <a:solidFill>
                  <a:srgbClr val="000000"/>
                </a:solidFill>
                <a:latin typeface="Verdana" panose="020B0604030504040204" pitchFamily="34" charset="0"/>
              </a:rPr>
              <a:t>often have </a:t>
            </a:r>
            <a:r>
              <a:rPr lang="en-US" sz="1800" b="1" dirty="0">
                <a:solidFill>
                  <a:srgbClr val="000000"/>
                </a:solidFill>
                <a:latin typeface="Verdana" panose="020B0604030504040204" pitchFamily="34" charset="0"/>
              </a:rPr>
              <a:t>proprietary log formats </a:t>
            </a:r>
            <a:r>
              <a:rPr lang="en-US" sz="1800" dirty="0">
                <a:solidFill>
                  <a:srgbClr val="000000"/>
                </a:solidFill>
                <a:latin typeface="Verdana" panose="020B0604030504040204" pitchFamily="34" charset="0"/>
              </a:rPr>
              <a:t>that you need to be aware of. </a:t>
            </a:r>
          </a:p>
          <a:p>
            <a:pPr>
              <a:lnSpc>
                <a:spcPct val="150000"/>
              </a:lnSpc>
              <a:spcBef>
                <a:spcPts val="0"/>
              </a:spcBef>
              <a:defRPr/>
            </a:pPr>
            <a:r>
              <a:rPr lang="en-US" sz="1800" dirty="0">
                <a:solidFill>
                  <a:srgbClr val="000000"/>
                </a:solidFill>
                <a:latin typeface="Verdana" panose="020B0604030504040204" pitchFamily="34" charset="0"/>
              </a:rPr>
              <a:t>Whatever monitoring and analysis tools </a:t>
            </a:r>
            <a:r>
              <a:rPr lang="en-US" sz="1800" b="1" dirty="0">
                <a:solidFill>
                  <a:srgbClr val="000000"/>
                </a:solidFill>
                <a:latin typeface="Verdana" panose="020B0604030504040204" pitchFamily="34" charset="0"/>
              </a:rPr>
              <a:t>you use need to be aware of these logs</a:t>
            </a:r>
            <a:r>
              <a:rPr lang="en-US" sz="1800" dirty="0">
                <a:solidFill>
                  <a:srgbClr val="000000"/>
                </a:solidFill>
                <a:latin typeface="Verdana" panose="020B0604030504040204" pitchFamily="34" charset="0"/>
              </a:rPr>
              <a:t> and able to work with them. </a:t>
            </a:r>
          </a:p>
          <a:p>
            <a:pPr algn="just">
              <a:lnSpc>
                <a:spcPct val="150000"/>
              </a:lnSpc>
              <a:spcBef>
                <a:spcPts val="0"/>
              </a:spcBef>
              <a:defRPr/>
            </a:pPr>
            <a:r>
              <a:rPr lang="en-US" sz="1800" dirty="0">
                <a:solidFill>
                  <a:srgbClr val="000000"/>
                </a:solidFill>
                <a:latin typeface="Verdana" panose="020B0604030504040204" pitchFamily="34" charset="0"/>
              </a:rPr>
              <a:t>Often, </a:t>
            </a:r>
            <a:r>
              <a:rPr lang="en-US" sz="1800" b="1" dirty="0">
                <a:solidFill>
                  <a:srgbClr val="000000"/>
                </a:solidFill>
                <a:latin typeface="Verdana" panose="020B0604030504040204" pitchFamily="34" charset="0"/>
              </a:rPr>
              <a:t>providers offer monitoring tools of their own, many in the form of a dashboard</a:t>
            </a:r>
            <a:r>
              <a:rPr lang="en-US" sz="1800" dirty="0">
                <a:solidFill>
                  <a:srgbClr val="000000"/>
                </a:solidFill>
                <a:latin typeface="Verdana" panose="020B0604030504040204" pitchFamily="34" charset="0"/>
              </a:rPr>
              <a:t> with the potential to customize the information you see through either the interface or programmatically using the vendor’s API.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3279C037-C0AD-9F40-C7DC-6BE760075BC4}"/>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dirty="0">
                <a:solidFill>
                  <a:srgbClr val="000000"/>
                </a:solidFill>
                <a:latin typeface="Verdana" panose="020B0604030504040204" pitchFamily="34" charset="0"/>
              </a:rPr>
              <a:t>Because </a:t>
            </a:r>
            <a:r>
              <a:rPr lang="en-US" sz="1800" b="1" dirty="0">
                <a:solidFill>
                  <a:srgbClr val="000000"/>
                </a:solidFill>
                <a:latin typeface="Verdana" panose="020B0604030504040204" pitchFamily="34" charset="0"/>
              </a:rPr>
              <a:t>cloud services are both multitenant and multisite operations</a:t>
            </a:r>
            <a:r>
              <a:rPr lang="en-US" sz="1800" dirty="0">
                <a:solidFill>
                  <a:srgbClr val="000000"/>
                </a:solidFill>
                <a:latin typeface="Verdana" panose="020B0604030504040204" pitchFamily="34" charset="0"/>
              </a:rPr>
              <a:t>, the logging activity and data for </a:t>
            </a:r>
            <a:r>
              <a:rPr lang="en-US" sz="1800" b="1" dirty="0">
                <a:solidFill>
                  <a:srgbClr val="000000"/>
                </a:solidFill>
                <a:latin typeface="Verdana" panose="020B0604030504040204" pitchFamily="34" charset="0"/>
              </a:rPr>
              <a:t>different clients may not only be co-located</a:t>
            </a:r>
            <a:r>
              <a:rPr lang="en-US" sz="1800" dirty="0">
                <a:solidFill>
                  <a:srgbClr val="000000"/>
                </a:solidFill>
                <a:latin typeface="Verdana" panose="020B0604030504040204" pitchFamily="34" charset="0"/>
              </a:rPr>
              <a:t>, they may also be </a:t>
            </a:r>
            <a:r>
              <a:rPr lang="en-US" sz="1800" b="1" dirty="0">
                <a:solidFill>
                  <a:srgbClr val="000000"/>
                </a:solidFill>
                <a:latin typeface="Verdana" panose="020B0604030504040204" pitchFamily="34" charset="0"/>
              </a:rPr>
              <a:t>moving across </a:t>
            </a:r>
            <a:r>
              <a:rPr lang="en-US" sz="1800" dirty="0">
                <a:solidFill>
                  <a:srgbClr val="000000"/>
                </a:solidFill>
                <a:latin typeface="Verdana" panose="020B0604030504040204" pitchFamily="34" charset="0"/>
              </a:rPr>
              <a:t>a landscape of different </a:t>
            </a:r>
            <a:r>
              <a:rPr lang="en-US" sz="1800" b="1" dirty="0">
                <a:solidFill>
                  <a:srgbClr val="000000"/>
                </a:solidFill>
                <a:latin typeface="Verdana" panose="020B0604030504040204" pitchFamily="34" charset="0"/>
              </a:rPr>
              <a:t>hosts and sites.</a:t>
            </a:r>
          </a:p>
          <a:p>
            <a:pPr algn="just">
              <a:lnSpc>
                <a:spcPct val="150000"/>
              </a:lnSpc>
              <a:spcBef>
                <a:spcPts val="0"/>
              </a:spcBef>
              <a:defRPr/>
            </a:pPr>
            <a:r>
              <a:rPr lang="en-US" sz="1800" b="1" dirty="0">
                <a:solidFill>
                  <a:srgbClr val="000000"/>
                </a:solidFill>
                <a:latin typeface="Verdana" panose="020B0604030504040204" pitchFamily="34" charset="0"/>
              </a:rPr>
              <a:t> </a:t>
            </a:r>
            <a:r>
              <a:rPr lang="en-US" sz="1800" dirty="0">
                <a:solidFill>
                  <a:srgbClr val="000000"/>
                </a:solidFill>
                <a:latin typeface="Verdana" panose="020B0604030504040204" pitchFamily="34" charset="0"/>
              </a:rPr>
              <a:t>You </a:t>
            </a:r>
            <a:r>
              <a:rPr lang="en-US" sz="1800" b="1" dirty="0">
                <a:solidFill>
                  <a:srgbClr val="000000"/>
                </a:solidFill>
                <a:latin typeface="Verdana" panose="020B0604030504040204" pitchFamily="34" charset="0"/>
              </a:rPr>
              <a:t>can’t simply expect that an investigation will be provided </a:t>
            </a:r>
            <a:r>
              <a:rPr lang="en-US" sz="1800" dirty="0">
                <a:solidFill>
                  <a:srgbClr val="000000"/>
                </a:solidFill>
                <a:latin typeface="Verdana" panose="020B0604030504040204" pitchFamily="34" charset="0"/>
              </a:rPr>
              <a:t>with the necessary information at the time of discovery </a:t>
            </a:r>
            <a:r>
              <a:rPr lang="en-US" sz="1800" b="1" dirty="0">
                <a:solidFill>
                  <a:srgbClr val="000000"/>
                </a:solidFill>
                <a:latin typeface="Verdana" panose="020B0604030504040204" pitchFamily="34" charset="0"/>
              </a:rPr>
              <a:t>unless it is part of your Service Level Agreement</a:t>
            </a:r>
            <a:r>
              <a:rPr lang="en-US" sz="1800" dirty="0">
                <a:solidFill>
                  <a:srgbClr val="000000"/>
                </a:solidFill>
                <a:latin typeface="Verdana" panose="020B0604030504040204" pitchFamily="34" charset="0"/>
              </a:rPr>
              <a:t>.</a:t>
            </a:r>
          </a:p>
          <a:p>
            <a:pPr>
              <a:lnSpc>
                <a:spcPct val="150000"/>
              </a:lnSpc>
              <a:spcBef>
                <a:spcPts val="0"/>
              </a:spcBef>
              <a:defRPr/>
            </a:pPr>
            <a:r>
              <a:rPr lang="en-US" sz="1800" dirty="0">
                <a:solidFill>
                  <a:srgbClr val="000000"/>
                </a:solidFill>
                <a:latin typeface="Verdana" panose="020B0604030504040204" pitchFamily="34" charset="0"/>
              </a:rPr>
              <a:t> </a:t>
            </a:r>
            <a:r>
              <a:rPr lang="en-US" sz="1800" b="1" dirty="0">
                <a:solidFill>
                  <a:srgbClr val="000000"/>
                </a:solidFill>
                <a:latin typeface="Verdana" panose="020B0604030504040204" pitchFamily="34" charset="0"/>
              </a:rPr>
              <a:t>Even an SLA with the appropriate obligations </a:t>
            </a:r>
            <a:r>
              <a:rPr lang="en-US" sz="1800" dirty="0">
                <a:solidFill>
                  <a:srgbClr val="000000"/>
                </a:solidFill>
                <a:latin typeface="Verdana" panose="020B0604030504040204" pitchFamily="34" charset="0"/>
              </a:rPr>
              <a:t>contained in it may </a:t>
            </a:r>
            <a:r>
              <a:rPr lang="en-US" sz="1800" b="1" dirty="0">
                <a:solidFill>
                  <a:srgbClr val="000000"/>
                </a:solidFill>
                <a:latin typeface="Verdana" panose="020B0604030504040204" pitchFamily="34" charset="0"/>
              </a:rPr>
              <a:t>not be enough to guarantee you will get the information you </a:t>
            </a:r>
            <a:r>
              <a:rPr lang="en-US" sz="1800" dirty="0">
                <a:solidFill>
                  <a:srgbClr val="000000"/>
                </a:solidFill>
                <a:latin typeface="Verdana" panose="020B0604030504040204" pitchFamily="34" charset="0"/>
              </a:rPr>
              <a:t>need when the time comes. </a:t>
            </a:r>
          </a:p>
          <a:p>
            <a:pPr algn="just">
              <a:lnSpc>
                <a:spcPct val="150000"/>
              </a:lnSpc>
              <a:spcBef>
                <a:spcPts val="0"/>
              </a:spcBef>
              <a:defRPr/>
            </a:pPr>
            <a:r>
              <a:rPr lang="en-US" sz="1800" dirty="0">
                <a:solidFill>
                  <a:srgbClr val="000000"/>
                </a:solidFill>
                <a:latin typeface="Verdana" panose="020B0604030504040204" pitchFamily="34" charset="0"/>
              </a:rPr>
              <a:t>It is </a:t>
            </a:r>
            <a:r>
              <a:rPr lang="en-US" sz="1800" b="1" dirty="0">
                <a:solidFill>
                  <a:srgbClr val="000000"/>
                </a:solidFill>
                <a:latin typeface="Verdana" panose="020B0604030504040204" pitchFamily="34" charset="0"/>
              </a:rPr>
              <a:t>wise to determine whether the cloud service provider has been able to successfully support investigations </a:t>
            </a:r>
            <a:r>
              <a:rPr lang="en-US" sz="1800" dirty="0">
                <a:solidFill>
                  <a:srgbClr val="000000"/>
                </a:solidFill>
                <a:latin typeface="Verdana" panose="020B0604030504040204" pitchFamily="34" charset="0"/>
              </a:rPr>
              <a:t>in the past</a:t>
            </a: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E92D048B-8735-6F67-6F68-54E723719E4C}"/>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nSpc>
                <a:spcPct val="150000"/>
              </a:lnSpc>
              <a:spcBef>
                <a:spcPts val="0"/>
              </a:spcBef>
              <a:defRPr/>
            </a:pPr>
            <a:r>
              <a:rPr lang="en-US" sz="1800" dirty="0">
                <a:solidFill>
                  <a:srgbClr val="000000"/>
                </a:solidFill>
                <a:latin typeface="Verdana" panose="020B0604030504040204" pitchFamily="34" charset="0"/>
              </a:rPr>
              <a:t>A </a:t>
            </a:r>
            <a:r>
              <a:rPr lang="en-US" sz="1800" b="1" dirty="0">
                <a:solidFill>
                  <a:srgbClr val="000000"/>
                </a:solidFill>
                <a:latin typeface="Verdana" panose="020B0604030504040204" pitchFamily="34" charset="0"/>
              </a:rPr>
              <a:t>regulator or auditor isn’t</a:t>
            </a:r>
            <a:r>
              <a:rPr lang="en-US" sz="1800" dirty="0">
                <a:solidFill>
                  <a:srgbClr val="000000"/>
                </a:solidFill>
                <a:latin typeface="Verdana" panose="020B0604030504040204" pitchFamily="34" charset="0"/>
              </a:rPr>
              <a:t> likely to be </a:t>
            </a:r>
            <a:r>
              <a:rPr lang="en-US" sz="1800" b="1" dirty="0">
                <a:solidFill>
                  <a:srgbClr val="000000"/>
                </a:solidFill>
                <a:latin typeface="Verdana" panose="020B0604030504040204" pitchFamily="34" charset="0"/>
              </a:rPr>
              <a:t>familiar</a:t>
            </a:r>
            <a:r>
              <a:rPr lang="en-US" sz="1800" dirty="0">
                <a:solidFill>
                  <a:srgbClr val="000000"/>
                </a:solidFill>
                <a:latin typeface="Verdana" panose="020B0604030504040204" pitchFamily="34" charset="0"/>
              </a:rPr>
              <a:t> with the </a:t>
            </a:r>
            <a:r>
              <a:rPr lang="en-US" sz="1800" b="1" dirty="0">
                <a:solidFill>
                  <a:srgbClr val="000000"/>
                </a:solidFill>
                <a:latin typeface="Verdana" panose="020B0604030504040204" pitchFamily="34" charset="0"/>
              </a:rPr>
              <a:t>nature of running applications</a:t>
            </a:r>
            <a:r>
              <a:rPr lang="en-US" sz="1800" dirty="0">
                <a:solidFill>
                  <a:srgbClr val="000000"/>
                </a:solidFill>
                <a:latin typeface="Verdana" panose="020B0604030504040204" pitchFamily="34" charset="0"/>
              </a:rPr>
              <a:t> and storing data in the cloud. </a:t>
            </a:r>
          </a:p>
          <a:p>
            <a:pPr>
              <a:lnSpc>
                <a:spcPct val="150000"/>
              </a:lnSpc>
              <a:spcBef>
                <a:spcPts val="0"/>
              </a:spcBef>
              <a:defRPr/>
            </a:pPr>
            <a:r>
              <a:rPr lang="en-US" sz="1800" b="1" dirty="0">
                <a:solidFill>
                  <a:srgbClr val="000000"/>
                </a:solidFill>
                <a:latin typeface="Verdana" panose="020B0604030504040204" pitchFamily="34" charset="0"/>
              </a:rPr>
              <a:t>Even so, laws are written to ensure compliance, and the client is held responsible for compliance under the laws of the governing bodies </a:t>
            </a:r>
            <a:r>
              <a:rPr lang="en-US" sz="1800" dirty="0">
                <a:solidFill>
                  <a:srgbClr val="000000"/>
                </a:solidFill>
                <a:latin typeface="Verdana" panose="020B0604030504040204" pitchFamily="34" charset="0"/>
              </a:rPr>
              <a:t>that apply to the location where the processing or storage takes place</a:t>
            </a: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E1119FFE-30BD-A824-FDF2-EFC006E80A2E}"/>
              </a:ext>
            </a:extLst>
          </p:cNvPr>
          <p:cNvSpPr>
            <a:spLocks noGrp="1"/>
          </p:cNvSpPr>
          <p:nvPr>
            <p:ph type="title"/>
          </p:nvPr>
        </p:nvSpPr>
        <p:spPr>
          <a:xfrm>
            <a:off x="304800" y="533400"/>
            <a:ext cx="8229600" cy="381000"/>
          </a:xfrm>
        </p:spPr>
        <p:txBody>
          <a:bodyPr/>
          <a:lstStyle/>
          <a:p>
            <a:r>
              <a:rPr lang="en-US" altLang="en-US" sz="2400" b="1" u="sng">
                <a:solidFill>
                  <a:srgbClr val="000000"/>
                </a:solidFill>
              </a:rPr>
              <a:t>Auditing and Compliance</a:t>
            </a:r>
            <a:br>
              <a:rPr lang="en-US" altLang="en-US" sz="2400" b="1" u="sng">
                <a:solidFill>
                  <a:srgbClr val="000000"/>
                </a:solidFill>
              </a:rPr>
            </a:br>
            <a:endParaRPr lang="en-US" altLang="en-US" sz="2400"/>
          </a:p>
        </p:txBody>
      </p:sp>
      <p:sp>
        <p:nvSpPr>
          <p:cNvPr id="93187" name="Content Placeholder 2">
            <a:extLst>
              <a:ext uri="{FF2B5EF4-FFF2-40B4-BE49-F238E27FC236}">
                <a16:creationId xmlns:a16="http://schemas.microsoft.com/office/drawing/2014/main" id="{9E379FE7-D0ED-48DA-3044-B2F3A96F25A1}"/>
              </a:ext>
            </a:extLst>
          </p:cNvPr>
          <p:cNvSpPr>
            <a:spLocks noGrp="1"/>
          </p:cNvSpPr>
          <p:nvPr>
            <p:ph idx="1"/>
          </p:nvPr>
        </p:nvSpPr>
        <p:spPr>
          <a:xfrm>
            <a:off x="152400" y="957263"/>
            <a:ext cx="8839200" cy="4324350"/>
          </a:xfrm>
        </p:spPr>
        <p:txBody>
          <a:bodyPr/>
          <a:lstStyle/>
          <a:p>
            <a:pPr algn="just">
              <a:lnSpc>
                <a:spcPct val="150000"/>
              </a:lnSpc>
            </a:pPr>
            <a:r>
              <a:rPr lang="en-US" altLang="en-US" sz="2000"/>
              <a:t>In cloud security auditing and logging, an </a:t>
            </a:r>
            <a:r>
              <a:rPr lang="en-US" altLang="en-US" sz="2000" b="1"/>
              <a:t>Auditor is a third-party entity responsible for reviewing a cloud service provider's (CSP) security practices and controls to verify compliance with regulations</a:t>
            </a:r>
            <a:r>
              <a:rPr lang="en-US" altLang="en-US" sz="2000"/>
              <a:t> and standards, </a:t>
            </a:r>
          </a:p>
          <a:p>
            <a:pPr algn="just">
              <a:lnSpc>
                <a:spcPct val="150000"/>
              </a:lnSpc>
            </a:pPr>
            <a:r>
              <a:rPr lang="en-US" altLang="en-US" sz="2000"/>
              <a:t>While the </a:t>
            </a:r>
            <a:r>
              <a:rPr lang="en-US" altLang="en-US" sz="2000" b="1"/>
              <a:t>Regulator </a:t>
            </a:r>
            <a:r>
              <a:rPr lang="en-US" altLang="en-US" sz="2000" b="1" u="sng"/>
              <a:t>sets the compliance requirements</a:t>
            </a:r>
            <a:r>
              <a:rPr lang="en-US" altLang="en-US" sz="2000"/>
              <a:t>, </a:t>
            </a:r>
          </a:p>
          <a:p>
            <a:pPr algn="just">
              <a:lnSpc>
                <a:spcPct val="150000"/>
              </a:lnSpc>
            </a:pPr>
            <a:r>
              <a:rPr lang="en-US" altLang="en-US" sz="2000"/>
              <a:t>The </a:t>
            </a:r>
            <a:r>
              <a:rPr lang="en-US" altLang="en-US" sz="2000" b="1"/>
              <a:t>cloud service provider (CSP) is responsible for securing </a:t>
            </a:r>
            <a:r>
              <a:rPr lang="en-US" altLang="en-US" sz="2000"/>
              <a:t>the underlying cloud infrastructure, </a:t>
            </a:r>
          </a:p>
          <a:p>
            <a:pPr algn="just">
              <a:lnSpc>
                <a:spcPct val="150000"/>
              </a:lnSpc>
            </a:pPr>
            <a:r>
              <a:rPr lang="en-US" altLang="en-US" sz="2000"/>
              <a:t>The cloud </a:t>
            </a:r>
            <a:r>
              <a:rPr lang="en-US" altLang="en-US" sz="2000" b="1"/>
              <a:t>Consumer is responsible for securing their data and applications within the cloud environment</a:t>
            </a:r>
            <a:r>
              <a:rPr lang="en-US" altLang="en-US" sz="2000"/>
              <a:t>, including proper configuration and access controls, as defined by the shared responsibility model. </a:t>
            </a:r>
          </a:p>
          <a:p>
            <a:pPr algn="just">
              <a:buFont typeface="Wingdings" panose="05000000000000000000" pitchFamily="2" charset="2"/>
              <a:buChar char="Ø"/>
            </a:pPr>
            <a:endParaRPr lang="en-US" altLang="en-US" sz="2000"/>
          </a:p>
          <a:p>
            <a:endParaRPr lang="en-US" altLang="en-US" sz="20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DDD8A7BE-AAF5-9143-837E-6556CAF315B8}"/>
              </a:ext>
            </a:extLst>
          </p:cNvPr>
          <p:cNvSpPr>
            <a:spLocks noGrp="1"/>
          </p:cNvSpPr>
          <p:nvPr>
            <p:ph type="title"/>
          </p:nvPr>
        </p:nvSpPr>
        <p:spPr>
          <a:xfrm>
            <a:off x="304800" y="533400"/>
            <a:ext cx="8229600" cy="381000"/>
          </a:xfrm>
        </p:spPr>
        <p:txBody>
          <a:bodyPr/>
          <a:lstStyle/>
          <a:p>
            <a:r>
              <a:rPr lang="en-US" altLang="en-US" sz="2400" b="1" u="sng">
                <a:solidFill>
                  <a:srgbClr val="000000"/>
                </a:solidFill>
              </a:rPr>
              <a:t>Auditing and Compliance</a:t>
            </a:r>
            <a:br>
              <a:rPr lang="en-US" altLang="en-US" sz="2400" b="1" u="sng">
                <a:solidFill>
                  <a:srgbClr val="000000"/>
                </a:solidFill>
              </a:rPr>
            </a:br>
            <a:endParaRPr lang="en-US" altLang="en-US" sz="2400"/>
          </a:p>
        </p:txBody>
      </p:sp>
      <p:sp>
        <p:nvSpPr>
          <p:cNvPr id="90115" name="Content Placeholder 2">
            <a:extLst>
              <a:ext uri="{FF2B5EF4-FFF2-40B4-BE49-F238E27FC236}">
                <a16:creationId xmlns:a16="http://schemas.microsoft.com/office/drawing/2014/main" id="{DD2AF6C4-2AFE-6B56-B6E0-DD25DFAC03F4}"/>
              </a:ext>
            </a:extLst>
          </p:cNvPr>
          <p:cNvSpPr>
            <a:spLocks noGrp="1"/>
          </p:cNvSpPr>
          <p:nvPr>
            <p:ph idx="1"/>
          </p:nvPr>
        </p:nvSpPr>
        <p:spPr>
          <a:xfrm>
            <a:off x="152400" y="957263"/>
            <a:ext cx="8839200" cy="4324350"/>
          </a:xfrm>
        </p:spPr>
        <p:txBody>
          <a:bodyPr/>
          <a:lstStyle/>
          <a:p>
            <a:pPr marL="109537" indent="0" algn="just">
              <a:buFont typeface="Georgia" panose="02040502050405020303" pitchFamily="18" charset="0"/>
              <a:buNone/>
              <a:defRPr/>
            </a:pPr>
            <a:r>
              <a:rPr lang="en-US" altLang="en-US" sz="2000" b="1" dirty="0"/>
              <a:t>Breakdown of responsibilities:</a:t>
            </a:r>
          </a:p>
          <a:p>
            <a:pPr algn="just">
              <a:lnSpc>
                <a:spcPct val="150000"/>
              </a:lnSpc>
              <a:defRPr/>
            </a:pPr>
            <a:r>
              <a:rPr lang="en-US" altLang="en-US" sz="2000" b="1" dirty="0"/>
              <a:t>Auditor:</a:t>
            </a:r>
          </a:p>
          <a:p>
            <a:pPr algn="just">
              <a:lnSpc>
                <a:spcPct val="150000"/>
              </a:lnSpc>
              <a:buFont typeface="Wingdings" panose="05000000000000000000" pitchFamily="2" charset="2"/>
              <a:buChar char="Ø"/>
              <a:defRPr/>
            </a:pPr>
            <a:r>
              <a:rPr lang="en-US" altLang="en-US" sz="2000" dirty="0"/>
              <a:t>Conducts </a:t>
            </a:r>
            <a:r>
              <a:rPr lang="en-US" altLang="en-US" sz="2000" b="1" dirty="0"/>
              <a:t>independent assessments of a cloud environment</a:t>
            </a:r>
            <a:r>
              <a:rPr lang="en-US" altLang="en-US" sz="2000" dirty="0"/>
              <a:t>. </a:t>
            </a:r>
          </a:p>
          <a:p>
            <a:pPr algn="just">
              <a:lnSpc>
                <a:spcPct val="150000"/>
              </a:lnSpc>
              <a:buFont typeface="Wingdings" panose="05000000000000000000" pitchFamily="2" charset="2"/>
              <a:buChar char="Ø"/>
              <a:defRPr/>
            </a:pPr>
            <a:r>
              <a:rPr lang="en-US" altLang="en-US" sz="2000" dirty="0"/>
              <a:t>Verifies that the CSP adheres to relevant security standards and regulations. </a:t>
            </a:r>
          </a:p>
          <a:p>
            <a:pPr algn="just">
              <a:lnSpc>
                <a:spcPct val="150000"/>
              </a:lnSpc>
              <a:buFont typeface="Wingdings" panose="05000000000000000000" pitchFamily="2" charset="2"/>
              <a:buChar char="Ø"/>
              <a:defRPr/>
            </a:pPr>
            <a:r>
              <a:rPr lang="en-US" altLang="en-US" sz="2000" dirty="0"/>
              <a:t>Reviews security controls, access management, data encryption, incident response plans, and more. </a:t>
            </a:r>
          </a:p>
          <a:p>
            <a:pPr algn="just">
              <a:lnSpc>
                <a:spcPct val="150000"/>
              </a:lnSpc>
              <a:buFont typeface="Wingdings" panose="05000000000000000000" pitchFamily="2" charset="2"/>
              <a:buChar char="Ø"/>
              <a:defRPr/>
            </a:pPr>
            <a:r>
              <a:rPr lang="en-US" altLang="en-US" sz="2000" b="1" dirty="0"/>
              <a:t>Provides reports detailing findings </a:t>
            </a:r>
            <a:r>
              <a:rPr lang="en-US" altLang="en-US" sz="2000" dirty="0"/>
              <a:t>and recommendations for improvement. </a:t>
            </a:r>
          </a:p>
          <a:p>
            <a:pPr algn="just">
              <a:lnSpc>
                <a:spcPct val="150000"/>
              </a:lnSpc>
              <a:buFont typeface="Wingdings" panose="05000000000000000000" pitchFamily="2" charset="2"/>
              <a:buChar char="Ø"/>
              <a:defRPr/>
            </a:pPr>
            <a:endParaRPr lang="en-US" altLang="en-US" sz="2000" dirty="0"/>
          </a:p>
          <a:p>
            <a:pPr algn="just">
              <a:buFont typeface="Wingdings" panose="05000000000000000000" pitchFamily="2" charset="2"/>
              <a:buChar char="Ø"/>
              <a:defRPr/>
            </a:pPr>
            <a:endParaRPr lang="en-US" altLang="en-US" sz="2000" dirty="0"/>
          </a:p>
          <a:p>
            <a:pPr>
              <a:defRPr/>
            </a:pPr>
            <a:endParaRPr lang="en-US" alt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B65DB478-276B-F330-FC00-70F8DCDB03AB}"/>
              </a:ext>
            </a:extLst>
          </p:cNvPr>
          <p:cNvSpPr>
            <a:spLocks noGrp="1"/>
          </p:cNvSpPr>
          <p:nvPr>
            <p:ph type="title"/>
          </p:nvPr>
        </p:nvSpPr>
        <p:spPr>
          <a:xfrm>
            <a:off x="22225" y="457200"/>
            <a:ext cx="8229600" cy="533400"/>
          </a:xfrm>
        </p:spPr>
        <p:txBody>
          <a:bodyPr/>
          <a:lstStyle/>
          <a:p>
            <a:r>
              <a:rPr lang="en-US" altLang="en-US" sz="2400" b="1" u="sng">
                <a:solidFill>
                  <a:srgbClr val="000000"/>
                </a:solidFill>
              </a:rPr>
              <a:t>Auditing and Compliance</a:t>
            </a:r>
            <a:endParaRPr lang="en-US" altLang="en-US" sz="2400"/>
          </a:p>
        </p:txBody>
      </p:sp>
      <p:sp>
        <p:nvSpPr>
          <p:cNvPr id="3" name="Content Placeholder 2">
            <a:extLst>
              <a:ext uri="{FF2B5EF4-FFF2-40B4-BE49-F238E27FC236}">
                <a16:creationId xmlns:a16="http://schemas.microsoft.com/office/drawing/2014/main" id="{07EAA021-512D-748A-F239-C103BBBF23AC}"/>
              </a:ext>
            </a:extLst>
          </p:cNvPr>
          <p:cNvSpPr>
            <a:spLocks noGrp="1"/>
          </p:cNvSpPr>
          <p:nvPr>
            <p:ph idx="1"/>
          </p:nvPr>
        </p:nvSpPr>
        <p:spPr>
          <a:xfrm>
            <a:off x="0" y="1012825"/>
            <a:ext cx="9144000" cy="4324350"/>
          </a:xfrm>
        </p:spPr>
        <p:txBody>
          <a:bodyPr/>
          <a:lstStyle/>
          <a:p>
            <a:pPr marL="109537" indent="0">
              <a:lnSpc>
                <a:spcPct val="150000"/>
              </a:lnSpc>
              <a:buFont typeface="Georgia" panose="02040502050405020303" pitchFamily="18" charset="0"/>
              <a:buNone/>
              <a:defRPr/>
            </a:pPr>
            <a:r>
              <a:rPr lang="en-US" sz="2000" b="1" dirty="0"/>
              <a:t>Regulator:</a:t>
            </a:r>
          </a:p>
          <a:p>
            <a:pPr algn="just">
              <a:lnSpc>
                <a:spcPct val="150000"/>
              </a:lnSpc>
              <a:buFont typeface="Wingdings" panose="05000000000000000000" pitchFamily="2" charset="2"/>
              <a:buChar char="Ø"/>
              <a:defRPr/>
            </a:pPr>
            <a:r>
              <a:rPr lang="en-US" sz="2000" b="1" dirty="0"/>
              <a:t>Sets industry-specific compliance standards </a:t>
            </a:r>
            <a:r>
              <a:rPr lang="en-US" sz="2000" dirty="0"/>
              <a:t>and regulations. </a:t>
            </a:r>
          </a:p>
          <a:p>
            <a:pPr algn="just">
              <a:lnSpc>
                <a:spcPct val="150000"/>
              </a:lnSpc>
              <a:buFont typeface="Wingdings" panose="05000000000000000000" pitchFamily="2" charset="2"/>
              <a:buChar char="Ø"/>
              <a:defRPr/>
            </a:pPr>
            <a:r>
              <a:rPr lang="en-US" sz="2000" b="1" dirty="0"/>
              <a:t>Defines data privacy and security requirements </a:t>
            </a:r>
            <a:r>
              <a:rPr lang="en-US" sz="2000" dirty="0"/>
              <a:t>that cloud providers must meet. </a:t>
            </a:r>
          </a:p>
          <a:p>
            <a:pPr algn="just">
              <a:lnSpc>
                <a:spcPct val="150000"/>
              </a:lnSpc>
              <a:buFont typeface="Wingdings" panose="05000000000000000000" pitchFamily="2" charset="2"/>
              <a:buChar char="Ø"/>
              <a:defRPr/>
            </a:pPr>
            <a:r>
              <a:rPr lang="en-US" sz="2000" dirty="0"/>
              <a:t>May conduct oversight to </a:t>
            </a:r>
            <a:r>
              <a:rPr lang="en-US" sz="2000" b="1" dirty="0"/>
              <a:t>ensure compliance with regulations</a:t>
            </a:r>
            <a:r>
              <a:rPr lang="en-US" sz="2000" dirty="0"/>
              <a:t>. </a:t>
            </a:r>
          </a:p>
          <a:p>
            <a:pPr marL="109537" indent="0" algn="just">
              <a:lnSpc>
                <a:spcPct val="150000"/>
              </a:lnSpc>
              <a:buFont typeface="Georgia" panose="02040502050405020303" pitchFamily="18" charset="0"/>
              <a:buNone/>
              <a:defRPr/>
            </a:pPr>
            <a:r>
              <a:rPr lang="en-US" sz="2000" b="1" dirty="0"/>
              <a:t>Cloud Service Provider (CSP):</a:t>
            </a:r>
          </a:p>
          <a:p>
            <a:pPr algn="just">
              <a:lnSpc>
                <a:spcPct val="150000"/>
              </a:lnSpc>
              <a:buFont typeface="Wingdings" panose="05000000000000000000" pitchFamily="2" charset="2"/>
              <a:buChar char="Ø"/>
              <a:defRPr/>
            </a:pPr>
            <a:r>
              <a:rPr lang="en-US" sz="2000" b="1" dirty="0"/>
              <a:t>Securing the underlying cloud infrastructure</a:t>
            </a:r>
            <a:r>
              <a:rPr lang="en-US" sz="2000" dirty="0"/>
              <a:t>, including hardware, network, and data centers. </a:t>
            </a:r>
          </a:p>
          <a:p>
            <a:pPr algn="just">
              <a:lnSpc>
                <a:spcPct val="150000"/>
              </a:lnSpc>
              <a:buFont typeface="Wingdings" panose="05000000000000000000" pitchFamily="2" charset="2"/>
              <a:buChar char="Ø"/>
              <a:defRPr/>
            </a:pPr>
            <a:r>
              <a:rPr lang="en-US" sz="2000" dirty="0"/>
              <a:t>Implementing robust security controls to protect customer data. </a:t>
            </a:r>
          </a:p>
          <a:p>
            <a:pPr algn="just">
              <a:lnSpc>
                <a:spcPct val="150000"/>
              </a:lnSpc>
              <a:buFont typeface="Wingdings" panose="05000000000000000000" pitchFamily="2" charset="2"/>
              <a:buChar char="Ø"/>
              <a:defRPr/>
            </a:pPr>
            <a:r>
              <a:rPr lang="en-US" sz="2000" b="1" dirty="0"/>
              <a:t>Providing access to audit logs </a:t>
            </a:r>
            <a:r>
              <a:rPr lang="en-US" sz="2000" dirty="0"/>
              <a:t>and security features for </a:t>
            </a:r>
            <a:r>
              <a:rPr lang="en-US" sz="2000" b="1" dirty="0"/>
              <a:t>customers to monitor their usage. </a:t>
            </a:r>
          </a:p>
          <a:p>
            <a:pPr marL="109537" indent="0">
              <a:buFont typeface="Georgia" panose="02040502050405020303" pitchFamily="18" charset="0"/>
              <a:buNone/>
              <a:defRPr/>
            </a:pPr>
            <a:endParaRPr lang="en-US" sz="2000" dirty="0"/>
          </a:p>
          <a:p>
            <a:pPr>
              <a:defRPr/>
            </a:pPr>
            <a:endParaRPr 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8CDEB1C6-416A-935B-7595-85805C6EC019}"/>
              </a:ext>
            </a:extLst>
          </p:cNvPr>
          <p:cNvSpPr>
            <a:spLocks noGrp="1"/>
          </p:cNvSpPr>
          <p:nvPr>
            <p:ph type="title"/>
          </p:nvPr>
        </p:nvSpPr>
        <p:spPr>
          <a:xfrm>
            <a:off x="22225" y="457200"/>
            <a:ext cx="8229600" cy="533400"/>
          </a:xfrm>
        </p:spPr>
        <p:txBody>
          <a:bodyPr/>
          <a:lstStyle/>
          <a:p>
            <a:r>
              <a:rPr lang="en-US" altLang="en-US" sz="2400" b="1" u="sng">
                <a:solidFill>
                  <a:srgbClr val="000000"/>
                </a:solidFill>
              </a:rPr>
              <a:t>Auditing and Compliance</a:t>
            </a:r>
            <a:endParaRPr lang="en-US" altLang="en-US" sz="2400"/>
          </a:p>
        </p:txBody>
      </p:sp>
      <p:sp>
        <p:nvSpPr>
          <p:cNvPr id="3" name="Content Placeholder 2">
            <a:extLst>
              <a:ext uri="{FF2B5EF4-FFF2-40B4-BE49-F238E27FC236}">
                <a16:creationId xmlns:a16="http://schemas.microsoft.com/office/drawing/2014/main" id="{DEC26D1D-3892-D860-5D19-805FD721441E}"/>
              </a:ext>
            </a:extLst>
          </p:cNvPr>
          <p:cNvSpPr>
            <a:spLocks noGrp="1"/>
          </p:cNvSpPr>
          <p:nvPr>
            <p:ph idx="1"/>
          </p:nvPr>
        </p:nvSpPr>
        <p:spPr>
          <a:xfrm>
            <a:off x="0" y="1012825"/>
            <a:ext cx="9144000" cy="4324350"/>
          </a:xfrm>
        </p:spPr>
        <p:txBody>
          <a:bodyPr/>
          <a:lstStyle/>
          <a:p>
            <a:pPr marL="109537" indent="0" algn="just">
              <a:lnSpc>
                <a:spcPct val="150000"/>
              </a:lnSpc>
              <a:buFont typeface="Georgia" panose="02040502050405020303" pitchFamily="18" charset="0"/>
              <a:buNone/>
              <a:defRPr/>
            </a:pPr>
            <a:r>
              <a:rPr lang="en-US" sz="2000" b="1" dirty="0"/>
              <a:t>Cloud Consumer:</a:t>
            </a:r>
          </a:p>
          <a:p>
            <a:pPr algn="just">
              <a:lnSpc>
                <a:spcPct val="150000"/>
              </a:lnSpc>
              <a:buFont typeface="Wingdings" panose="05000000000000000000" pitchFamily="2" charset="2"/>
              <a:buChar char="Ø"/>
              <a:defRPr/>
            </a:pPr>
            <a:r>
              <a:rPr lang="en-US" sz="2000" b="1" dirty="0"/>
              <a:t>Securing their data and application</a:t>
            </a:r>
            <a:r>
              <a:rPr lang="en-US" sz="2000" dirty="0"/>
              <a:t>s within the cloud environment. </a:t>
            </a:r>
          </a:p>
          <a:p>
            <a:pPr algn="just">
              <a:lnSpc>
                <a:spcPct val="150000"/>
              </a:lnSpc>
              <a:buFont typeface="Wingdings" panose="05000000000000000000" pitchFamily="2" charset="2"/>
              <a:buChar char="Ø"/>
              <a:defRPr/>
            </a:pPr>
            <a:r>
              <a:rPr lang="en-US" sz="2000" dirty="0"/>
              <a:t>Properly configuring cloud services and managing user access controls. </a:t>
            </a:r>
          </a:p>
          <a:p>
            <a:pPr algn="just">
              <a:lnSpc>
                <a:spcPct val="150000"/>
              </a:lnSpc>
              <a:buFont typeface="Wingdings" panose="05000000000000000000" pitchFamily="2" charset="2"/>
              <a:buChar char="Ø"/>
              <a:defRPr/>
            </a:pPr>
            <a:r>
              <a:rPr lang="en-US" sz="2000" b="1" dirty="0"/>
              <a:t>Implementing </a:t>
            </a:r>
            <a:r>
              <a:rPr lang="en-US" sz="2000" dirty="0"/>
              <a:t>appropriate</a:t>
            </a:r>
            <a:r>
              <a:rPr lang="en-US" sz="2000" b="1" dirty="0"/>
              <a:t> encryption mechanisms for sensitive data</a:t>
            </a:r>
            <a:r>
              <a:rPr lang="en-US" sz="2000" dirty="0"/>
              <a:t>. </a:t>
            </a:r>
          </a:p>
          <a:p>
            <a:pPr algn="just">
              <a:lnSpc>
                <a:spcPct val="150000"/>
              </a:lnSpc>
              <a:buFont typeface="Wingdings" panose="05000000000000000000" pitchFamily="2" charset="2"/>
              <a:buChar char="Ø"/>
              <a:defRPr/>
            </a:pPr>
            <a:r>
              <a:rPr lang="en-US" sz="2000" b="1" dirty="0"/>
              <a:t>Staying informed about CSP security </a:t>
            </a:r>
            <a:r>
              <a:rPr lang="en-US" sz="2000" dirty="0"/>
              <a:t>practices and updates. </a:t>
            </a:r>
          </a:p>
          <a:p>
            <a:pPr>
              <a:lnSpc>
                <a:spcPct val="150000"/>
              </a:lnSpc>
              <a:defRPr/>
            </a:pPr>
            <a:endParaRPr lang="en-US" sz="2000" dirty="0"/>
          </a:p>
          <a:p>
            <a:pPr>
              <a:defRPr/>
            </a:pPr>
            <a:endParaRPr lang="en-US" sz="2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40F023E9-9105-0E56-7663-8F2AD98652EE}"/>
              </a:ext>
            </a:extLst>
          </p:cNvPr>
          <p:cNvSpPr>
            <a:spLocks noGrp="1"/>
          </p:cNvSpPr>
          <p:nvPr>
            <p:ph type="title"/>
          </p:nvPr>
        </p:nvSpPr>
        <p:spPr>
          <a:xfrm>
            <a:off x="22225" y="457200"/>
            <a:ext cx="8229600" cy="533400"/>
          </a:xfrm>
        </p:spPr>
        <p:txBody>
          <a:bodyPr/>
          <a:lstStyle/>
          <a:p>
            <a:r>
              <a:rPr lang="en-US" altLang="en-US" sz="2400" b="1" u="sng">
                <a:solidFill>
                  <a:srgbClr val="000000"/>
                </a:solidFill>
              </a:rPr>
              <a:t>Auditing and Compliance</a:t>
            </a:r>
            <a:endParaRPr lang="en-US" altLang="en-US" sz="2400"/>
          </a:p>
        </p:txBody>
      </p:sp>
      <p:sp>
        <p:nvSpPr>
          <p:cNvPr id="3" name="Content Placeholder 2">
            <a:extLst>
              <a:ext uri="{FF2B5EF4-FFF2-40B4-BE49-F238E27FC236}">
                <a16:creationId xmlns:a16="http://schemas.microsoft.com/office/drawing/2014/main" id="{21E7818C-8BE8-C038-BA00-C202C09A517B}"/>
              </a:ext>
            </a:extLst>
          </p:cNvPr>
          <p:cNvSpPr>
            <a:spLocks noGrp="1"/>
          </p:cNvSpPr>
          <p:nvPr>
            <p:ph idx="1"/>
          </p:nvPr>
        </p:nvSpPr>
        <p:spPr>
          <a:xfrm>
            <a:off x="0" y="1012825"/>
            <a:ext cx="9144000" cy="4324350"/>
          </a:xfrm>
        </p:spPr>
        <p:txBody>
          <a:bodyPr/>
          <a:lstStyle/>
          <a:p>
            <a:pPr marL="109537" indent="0">
              <a:buFont typeface="Georgia" panose="02040502050405020303" pitchFamily="18" charset="0"/>
              <a:buNone/>
              <a:defRPr/>
            </a:pPr>
            <a:r>
              <a:rPr lang="en-US" sz="2000" dirty="0"/>
              <a:t> </a:t>
            </a:r>
          </a:p>
          <a:p>
            <a:pPr marL="109537" indent="0" algn="just">
              <a:buFont typeface="Georgia" panose="02040502050405020303" pitchFamily="18" charset="0"/>
              <a:buNone/>
              <a:defRPr/>
            </a:pPr>
            <a:r>
              <a:rPr lang="en-US" sz="2000" b="1" dirty="0"/>
              <a:t>Key points to remember:</a:t>
            </a:r>
          </a:p>
          <a:p>
            <a:pPr algn="just">
              <a:lnSpc>
                <a:spcPct val="150000"/>
              </a:lnSpc>
              <a:defRPr/>
            </a:pPr>
            <a:r>
              <a:rPr lang="en-US" sz="2000" dirty="0"/>
              <a:t>The shared responsibility model means both the </a:t>
            </a:r>
            <a:r>
              <a:rPr lang="en-US" sz="2000" b="1" dirty="0"/>
              <a:t>CSP and </a:t>
            </a:r>
            <a:r>
              <a:rPr lang="en-US" sz="2000" dirty="0"/>
              <a:t>the cloud </a:t>
            </a:r>
            <a:r>
              <a:rPr lang="en-US" sz="2000" b="1" dirty="0"/>
              <a:t>consumer have roles </a:t>
            </a:r>
            <a:r>
              <a:rPr lang="en-US" sz="2000" dirty="0"/>
              <a:t>to play in </a:t>
            </a:r>
            <a:r>
              <a:rPr lang="en-US" sz="2000" b="1" dirty="0"/>
              <a:t>maintaining cloud security</a:t>
            </a:r>
            <a:r>
              <a:rPr lang="en-US" sz="2000" dirty="0"/>
              <a:t>. </a:t>
            </a:r>
          </a:p>
          <a:p>
            <a:pPr algn="just">
              <a:lnSpc>
                <a:spcPct val="150000"/>
              </a:lnSpc>
              <a:defRPr/>
            </a:pPr>
            <a:r>
              <a:rPr lang="en-US" sz="2000" b="1" dirty="0"/>
              <a:t>Auditors t</a:t>
            </a:r>
            <a:r>
              <a:rPr lang="en-US" sz="2000" dirty="0"/>
              <a:t>ypically </a:t>
            </a:r>
            <a:r>
              <a:rPr lang="en-US" sz="2000" b="1" dirty="0"/>
              <a:t>work with both the CSP and the cloud consumer </a:t>
            </a:r>
            <a:r>
              <a:rPr lang="en-US" sz="2000" dirty="0"/>
              <a:t>to assess overall security posture. </a:t>
            </a:r>
          </a:p>
          <a:p>
            <a:pPr algn="just">
              <a:lnSpc>
                <a:spcPct val="150000"/>
              </a:lnSpc>
              <a:defRPr/>
            </a:pPr>
            <a:r>
              <a:rPr lang="en-US" sz="2000" dirty="0"/>
              <a:t>Regulatory compliance is crucial, and </a:t>
            </a:r>
            <a:r>
              <a:rPr lang="en-US" sz="2000" b="1" dirty="0"/>
              <a:t>both the CSP and the consumer </a:t>
            </a:r>
            <a:r>
              <a:rPr lang="en-US" sz="2000" dirty="0"/>
              <a:t>must </a:t>
            </a:r>
            <a:r>
              <a:rPr lang="en-US" sz="2000" b="1" dirty="0"/>
              <a:t>adhere to relevant standards</a:t>
            </a:r>
            <a:r>
              <a:rPr lang="en-US" sz="2000" dirty="0"/>
              <a:t>. </a:t>
            </a:r>
          </a:p>
          <a:p>
            <a:pPr>
              <a:lnSpc>
                <a:spcPct val="150000"/>
              </a:lnSpc>
              <a:defRPr/>
            </a:pPr>
            <a:endParaRPr lang="en-US" sz="2000" dirty="0"/>
          </a:p>
          <a:p>
            <a:pPr marL="109537" indent="0">
              <a:buFont typeface="Georgia" panose="02040502050405020303" pitchFamily="18" charset="0"/>
              <a:buNone/>
              <a:defRPr/>
            </a:pPr>
            <a:endParaRPr 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890236E6-7EB9-7D9C-165F-9583E53E893B}"/>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marL="109537" indent="0">
              <a:lnSpc>
                <a:spcPct val="150000"/>
              </a:lnSpc>
              <a:spcBef>
                <a:spcPts val="0"/>
              </a:spcBef>
              <a:buFont typeface="Georgia" panose="02040502050405020303" pitchFamily="18" charset="0"/>
              <a:buNone/>
              <a:defRPr/>
            </a:pPr>
            <a:r>
              <a:rPr lang="en-US" sz="1800" b="1" dirty="0">
                <a:solidFill>
                  <a:srgbClr val="000000"/>
                </a:solidFill>
                <a:latin typeface="Verdana" panose="020B0604030504040204" pitchFamily="34" charset="0"/>
              </a:rPr>
              <a:t>Understand the following:</a:t>
            </a:r>
          </a:p>
          <a:p>
            <a:pPr>
              <a:lnSpc>
                <a:spcPct val="150000"/>
              </a:lnSpc>
              <a:spcBef>
                <a:spcPts val="0"/>
              </a:spcBef>
              <a:defRPr/>
            </a:pPr>
            <a:r>
              <a:rPr lang="en-US" sz="1800" dirty="0">
                <a:solidFill>
                  <a:srgbClr val="000000"/>
                </a:solidFill>
                <a:latin typeface="Verdana" panose="020B0604030504040204" pitchFamily="34" charset="0"/>
              </a:rPr>
              <a:t>Which regulations apply to your use of a particular cloud computing service</a:t>
            </a:r>
          </a:p>
          <a:p>
            <a:pPr>
              <a:lnSpc>
                <a:spcPct val="150000"/>
              </a:lnSpc>
              <a:spcBef>
                <a:spcPts val="0"/>
              </a:spcBef>
              <a:defRPr/>
            </a:pPr>
            <a:r>
              <a:rPr lang="en-US" sz="1800" dirty="0">
                <a:solidFill>
                  <a:srgbClr val="000000"/>
                </a:solidFill>
                <a:latin typeface="Verdana" panose="020B0604030504040204" pitchFamily="34" charset="0"/>
              </a:rPr>
              <a:t>Which regulations apply to the cloud service provider and where the demarcation line falls for responsibilities</a:t>
            </a:r>
          </a:p>
          <a:p>
            <a:pPr>
              <a:lnSpc>
                <a:spcPct val="150000"/>
              </a:lnSpc>
              <a:spcBef>
                <a:spcPts val="0"/>
              </a:spcBef>
              <a:defRPr/>
            </a:pPr>
            <a:r>
              <a:rPr lang="en-US" sz="1800" dirty="0">
                <a:solidFill>
                  <a:srgbClr val="000000"/>
                </a:solidFill>
                <a:latin typeface="Verdana" panose="020B0604030504040204" pitchFamily="34" charset="0"/>
              </a:rPr>
              <a:t>How your cloud service provider will support your need for information associated with regulation</a:t>
            </a:r>
          </a:p>
          <a:p>
            <a:pPr>
              <a:lnSpc>
                <a:spcPct val="150000"/>
              </a:lnSpc>
              <a:spcBef>
                <a:spcPts val="0"/>
              </a:spcBef>
              <a:defRPr/>
            </a:pPr>
            <a:r>
              <a:rPr lang="en-US" sz="1800" dirty="0">
                <a:solidFill>
                  <a:srgbClr val="000000"/>
                </a:solidFill>
                <a:latin typeface="Verdana" panose="020B0604030504040204" pitchFamily="34" charset="0"/>
              </a:rPr>
              <a:t> How to work with the regulator to provide the information necessary regardless of who had the responsibility to collect the data</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D645D15E-A73A-C714-7BCA-2348DF067B6A}"/>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nSpc>
                <a:spcPct val="150000"/>
              </a:lnSpc>
              <a:spcBef>
                <a:spcPts val="0"/>
              </a:spcBef>
              <a:defRPr/>
            </a:pPr>
            <a:r>
              <a:rPr lang="en-US" sz="1800" dirty="0">
                <a:solidFill>
                  <a:srgbClr val="000000"/>
                </a:solidFill>
                <a:latin typeface="Verdana" panose="020B0604030504040204" pitchFamily="34" charset="0"/>
              </a:rPr>
              <a:t>In the case of a </a:t>
            </a:r>
            <a:r>
              <a:rPr lang="en-US" sz="1800" b="1" dirty="0">
                <a:solidFill>
                  <a:srgbClr val="000000"/>
                </a:solidFill>
                <a:latin typeface="Verdana" panose="020B0604030504040204" pitchFamily="34" charset="0"/>
              </a:rPr>
              <a:t>cloud service provider who shows reluctance to or limits the scrutiny of its operations</a:t>
            </a:r>
            <a:r>
              <a:rPr lang="en-US" sz="1800" dirty="0">
                <a:solidFill>
                  <a:srgbClr val="000000"/>
                </a:solidFill>
                <a:latin typeface="Verdana" panose="020B0604030504040204" pitchFamily="34" charset="0"/>
              </a:rPr>
              <a:t>, it is probably wise to use the service in ways that limit your exposure to risk.</a:t>
            </a:r>
          </a:p>
          <a:p>
            <a:pPr>
              <a:lnSpc>
                <a:spcPct val="150000"/>
              </a:lnSpc>
              <a:spcBef>
                <a:spcPts val="0"/>
              </a:spcBef>
              <a:defRPr/>
            </a:pPr>
            <a:r>
              <a:rPr lang="en-US" sz="1800" dirty="0">
                <a:solidFill>
                  <a:srgbClr val="000000"/>
                </a:solidFill>
                <a:latin typeface="Verdana" panose="020B0604030504040204" pitchFamily="34" charset="0"/>
              </a:rPr>
              <a:t> For example, although </a:t>
            </a:r>
            <a:r>
              <a:rPr lang="en-US" sz="1800" b="1" dirty="0">
                <a:solidFill>
                  <a:srgbClr val="000000"/>
                </a:solidFill>
                <a:latin typeface="Verdana" panose="020B0604030504040204" pitchFamily="34" charset="0"/>
              </a:rPr>
              <a:t>encrypting stored data is always a good policy</a:t>
            </a:r>
            <a:r>
              <a:rPr lang="en-US" sz="1800" dirty="0">
                <a:solidFill>
                  <a:srgbClr val="000000"/>
                </a:solidFill>
                <a:latin typeface="Verdana" panose="020B0604030504040204" pitchFamily="34" charset="0"/>
              </a:rPr>
              <a:t>, you also might want to consider not storing any sensitive information on that provider’s system.</a:t>
            </a: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A7295DD2-9A76-5E17-38E9-5F2C63D44FE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dirty="0">
                <a:solidFill>
                  <a:srgbClr val="000000"/>
                </a:solidFill>
                <a:latin typeface="Verdana" panose="020B0604030504040204" pitchFamily="34" charset="0"/>
              </a:rPr>
              <a:t>As it stands now, </a:t>
            </a:r>
            <a:r>
              <a:rPr lang="en-US" sz="1800" b="1" dirty="0">
                <a:solidFill>
                  <a:srgbClr val="000000"/>
                </a:solidFill>
                <a:latin typeface="Verdana" panose="020B0604030504040204" pitchFamily="34" charset="0"/>
              </a:rPr>
              <a:t>clients must guarantee their own regulatory compliance, </a:t>
            </a:r>
            <a:r>
              <a:rPr lang="en-US" sz="1800" dirty="0">
                <a:solidFill>
                  <a:srgbClr val="000000"/>
                </a:solidFill>
                <a:latin typeface="Verdana" panose="020B0604030504040204" pitchFamily="34" charset="0"/>
              </a:rPr>
              <a:t>even when their data is in the care of the service provider.</a:t>
            </a:r>
          </a:p>
          <a:p>
            <a:pPr>
              <a:lnSpc>
                <a:spcPct val="150000"/>
              </a:lnSpc>
              <a:spcBef>
                <a:spcPts val="0"/>
              </a:spcBef>
              <a:defRPr/>
            </a:pPr>
            <a:r>
              <a:rPr lang="en-US" sz="1800" dirty="0">
                <a:solidFill>
                  <a:srgbClr val="000000"/>
                </a:solidFill>
                <a:latin typeface="Verdana" panose="020B0604030504040204" pitchFamily="34" charset="0"/>
              </a:rPr>
              <a:t> You must ensure that your data is secure and that its integrity has not been compromised. </a:t>
            </a:r>
          </a:p>
          <a:p>
            <a:pPr>
              <a:lnSpc>
                <a:spcPct val="150000"/>
              </a:lnSpc>
              <a:spcBef>
                <a:spcPts val="0"/>
              </a:spcBef>
              <a:defRPr/>
            </a:pPr>
            <a:r>
              <a:rPr lang="en-US" sz="1800" dirty="0">
                <a:solidFill>
                  <a:srgbClr val="000000"/>
                </a:solidFill>
                <a:latin typeface="Verdana" panose="020B0604030504040204" pitchFamily="34" charset="0"/>
              </a:rPr>
              <a:t>When </a:t>
            </a:r>
            <a:r>
              <a:rPr lang="en-US" sz="1800" b="1" dirty="0">
                <a:solidFill>
                  <a:srgbClr val="000000"/>
                </a:solidFill>
                <a:latin typeface="Verdana" panose="020B0604030504040204" pitchFamily="34" charset="0"/>
              </a:rPr>
              <a:t>multiple regulatory entities are involved</a:t>
            </a:r>
            <a:r>
              <a:rPr lang="en-US" sz="1800" dirty="0">
                <a:solidFill>
                  <a:srgbClr val="000000"/>
                </a:solidFill>
                <a:latin typeface="Verdana" panose="020B0604030504040204" pitchFamily="34" charset="0"/>
              </a:rPr>
              <a:t>, as there surely are </a:t>
            </a:r>
          </a:p>
          <a:p>
            <a:pPr marL="109537" indent="0">
              <a:lnSpc>
                <a:spcPct val="150000"/>
              </a:lnSpc>
              <a:spcBef>
                <a:spcPts val="0"/>
              </a:spcBef>
              <a:buFont typeface="Georgia" panose="02040502050405020303" pitchFamily="18" charset="0"/>
              <a:buNone/>
              <a:defRPr/>
            </a:pPr>
            <a:r>
              <a:rPr lang="en-US" sz="1800" dirty="0">
                <a:solidFill>
                  <a:srgbClr val="000000"/>
                </a:solidFill>
                <a:latin typeface="Verdana" panose="020B0604030504040204" pitchFamily="34" charset="0"/>
              </a:rPr>
              <a:t>between site locations and different countries, then that </a:t>
            </a:r>
            <a:r>
              <a:rPr lang="en-US" sz="1800" b="1" dirty="0">
                <a:solidFill>
                  <a:srgbClr val="000000"/>
                </a:solidFill>
                <a:latin typeface="Verdana" panose="020B0604030504040204" pitchFamily="34" charset="0"/>
              </a:rPr>
              <a:t>burden to satisfy the laws of those governments is also your responsibility</a:t>
            </a:r>
            <a:r>
              <a:rPr lang="en-US" sz="1800" dirty="0">
                <a:solidFill>
                  <a:srgbClr val="000000"/>
                </a:solidFill>
                <a:latin typeface="Verdana" panose="020B0604030504040204" pitchFamily="34" charset="0"/>
              </a:rPr>
              <a:t>.</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Content Placeholder 2">
            <a:extLst>
              <a:ext uri="{FF2B5EF4-FFF2-40B4-BE49-F238E27FC236}">
                <a16:creationId xmlns:a16="http://schemas.microsoft.com/office/drawing/2014/main" id="{CD29D6DA-5414-AB7A-1846-D3EAA56222BF}"/>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pPr>
            <a:r>
              <a:rPr lang="en-US" altLang="en-US" sz="2400" b="1" u="sng">
                <a:solidFill>
                  <a:srgbClr val="000000"/>
                </a:solidFill>
              </a:rPr>
              <a:t>Establishing Identity: IAM</a:t>
            </a:r>
          </a:p>
          <a:p>
            <a:pPr marL="107950" indent="0" algn="just">
              <a:buFont typeface="Georgia" panose="02040502050405020303" pitchFamily="18" charset="0"/>
              <a:buNone/>
            </a:pPr>
            <a:endParaRPr lang="en-US" altLang="en-US" sz="2400" b="1" u="sng">
              <a:solidFill>
                <a:srgbClr val="000000"/>
              </a:solidFill>
            </a:endParaRPr>
          </a:p>
          <a:p>
            <a:pPr marL="107950" indent="0" algn="just">
              <a:buFont typeface="Georgia" panose="02040502050405020303" pitchFamily="18" charset="0"/>
              <a:buNone/>
            </a:pPr>
            <a:r>
              <a:rPr lang="en-US" altLang="en-US" sz="2400"/>
              <a:t>What is an identity?</a:t>
            </a:r>
          </a:p>
          <a:p>
            <a:pPr marL="107950" indent="0" algn="just">
              <a:buFont typeface="Georgia" panose="02040502050405020303" pitchFamily="18" charset="0"/>
              <a:buNone/>
            </a:pPr>
            <a:r>
              <a:rPr lang="en-US" altLang="en-US" sz="2400"/>
              <a:t>What are the standard ways to establish an identity?</a:t>
            </a:r>
          </a:p>
          <a:p>
            <a:pPr marL="107950" indent="0" algn="just">
              <a:buFont typeface="Georgia" panose="02040502050405020303" pitchFamily="18" charset="0"/>
              <a:buNone/>
            </a:pPr>
            <a:endParaRPr lang="en-US" altLang="en-US" sz="2400"/>
          </a:p>
          <a:p>
            <a:pPr marL="107950" indent="0" algn="just">
              <a:buFont typeface="Georgia" panose="02040502050405020303" pitchFamily="18" charset="0"/>
              <a:buNone/>
            </a:pPr>
            <a:endParaRPr lang="en-US" altLang="en-US" sz="2400" b="1" u="sng">
              <a:solidFill>
                <a:srgbClr val="000000"/>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F71B95CA-2636-77C2-6313-880BABE0147E}"/>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Establishing Identity</a:t>
            </a:r>
          </a:p>
          <a:p>
            <a:pPr marL="393700" indent="-285750" algn="just">
              <a:defRPr/>
            </a:pPr>
            <a:r>
              <a:rPr lang="en-US" sz="2400" b="1" dirty="0"/>
              <a:t>Federated</a:t>
            </a:r>
            <a:r>
              <a:rPr lang="en-US" sz="2400" dirty="0"/>
              <a:t> </a:t>
            </a:r>
            <a:r>
              <a:rPr lang="en-US" sz="2400" b="1" dirty="0"/>
              <a:t>identity management is an arrangement </a:t>
            </a:r>
            <a:r>
              <a:rPr lang="en-US" sz="2400" dirty="0"/>
              <a:t>that can be </a:t>
            </a:r>
            <a:r>
              <a:rPr lang="en-US" sz="2400" u="sng" dirty="0"/>
              <a:t>made </a:t>
            </a:r>
            <a:r>
              <a:rPr lang="en-US" sz="2400" b="1" u="sng" dirty="0"/>
              <a:t>among multiple enterprises </a:t>
            </a:r>
            <a:r>
              <a:rPr lang="en-US" sz="2400" dirty="0"/>
              <a:t>that  lets subscribers use the same identification data to obtain access to services of all enterprises in the group</a:t>
            </a:r>
          </a:p>
          <a:p>
            <a:pPr marL="393700" indent="-285750" algn="just">
              <a:defRPr/>
            </a:pPr>
            <a:r>
              <a:rPr lang="en-US" sz="2400" dirty="0"/>
              <a:t>Within the enterprise, an identity management system comprises a </a:t>
            </a:r>
            <a:r>
              <a:rPr lang="en-US" sz="2400" b="1" dirty="0"/>
              <a:t>system of directories and access control based on policies. </a:t>
            </a:r>
          </a:p>
          <a:p>
            <a:pPr marL="393700" indent="-285750" algn="just">
              <a:defRPr/>
            </a:pPr>
            <a:r>
              <a:rPr lang="en-US" sz="2400" dirty="0"/>
              <a:t>It includes the </a:t>
            </a:r>
            <a:r>
              <a:rPr lang="en-US" sz="2400" b="1" dirty="0"/>
              <a:t>maintenance of the system </a:t>
            </a:r>
            <a:r>
              <a:rPr lang="en-US" sz="2400" dirty="0"/>
              <a:t>(adds, changes, deletes) and </a:t>
            </a:r>
            <a:r>
              <a:rPr lang="en-US" sz="2400" b="1" dirty="0"/>
              <a:t>generally offers authentication, authorization, SSO</a:t>
            </a:r>
            <a:r>
              <a:rPr lang="en-US" sz="2400" dirty="0"/>
              <a:t> and </a:t>
            </a:r>
            <a:r>
              <a:rPr lang="en-US" sz="2400" b="1" dirty="0"/>
              <a:t>auditing (AAAs)</a:t>
            </a:r>
            <a:r>
              <a:rPr lang="en-US" sz="1400" b="1" dirty="0"/>
              <a:t>.</a:t>
            </a:r>
            <a:endParaRPr lang="en-US" sz="2400" b="1" dirty="0"/>
          </a:p>
          <a:p>
            <a:pPr marL="393700" indent="-285750" algn="just">
              <a:defRPr/>
            </a:pPr>
            <a:r>
              <a:rPr lang="en-US" sz="2400" b="1" dirty="0"/>
              <a:t>When federating identities to the cloud</a:t>
            </a:r>
            <a:r>
              <a:rPr lang="en-US" sz="2400" dirty="0"/>
              <a:t>, organizations may need to manage the </a:t>
            </a:r>
            <a:r>
              <a:rPr lang="en-US" sz="2400" b="1" dirty="0"/>
              <a:t>identity life cycle using their IAM </a:t>
            </a:r>
            <a:r>
              <a:rPr lang="en-US" sz="2400" dirty="0"/>
              <a:t>system and processes</a:t>
            </a:r>
            <a:endParaRPr lang="en-US" altLang="en-US" sz="2400" b="1" u="sng" dirty="0">
              <a:solidFill>
                <a:srgbClr val="00000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C78856A3-21E7-B7A5-6A5D-ECCCD6854C3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IAM system</a:t>
            </a:r>
          </a:p>
          <a:p>
            <a:pPr marL="450850" indent="-342900" algn="just">
              <a:defRPr/>
            </a:pPr>
            <a:r>
              <a:rPr lang="en-US" sz="2400" dirty="0"/>
              <a:t>Identity Management is the combination of business process and technology used to </a:t>
            </a:r>
            <a:r>
              <a:rPr lang="en-US" sz="2400" b="1" dirty="0"/>
              <a:t>manage data on IT systems and applications about users. </a:t>
            </a:r>
          </a:p>
          <a:p>
            <a:pPr marL="450850" indent="-342900" algn="just">
              <a:defRPr/>
            </a:pPr>
            <a:r>
              <a:rPr lang="en-US" sz="2400" dirty="0"/>
              <a:t>Managed </a:t>
            </a:r>
            <a:r>
              <a:rPr lang="en-US" sz="2400" b="1" dirty="0"/>
              <a:t>data includes user objects, identity attributes</a:t>
            </a:r>
            <a:r>
              <a:rPr lang="en-US" sz="2400" dirty="0"/>
              <a:t>, </a:t>
            </a:r>
            <a:r>
              <a:rPr lang="en-US" sz="2400" b="1" dirty="0"/>
              <a:t>security entitlements </a:t>
            </a:r>
            <a:r>
              <a:rPr lang="en-US" sz="2400" dirty="0"/>
              <a:t>and authentication factors</a:t>
            </a:r>
          </a:p>
          <a:p>
            <a:pPr marL="450850" indent="-342900" algn="just">
              <a:defRPr/>
            </a:pPr>
            <a:r>
              <a:rPr lang="en-US" sz="2400" dirty="0"/>
              <a:t>Figure 1 shows, at blue, the three main functionalities of an IAM system.</a:t>
            </a:r>
          </a:p>
          <a:p>
            <a:pPr marL="107950" indent="0" algn="just">
              <a:buFont typeface="Georgia" panose="02040502050405020303" pitchFamily="18" charset="0"/>
              <a:buNone/>
              <a:defRPr/>
            </a:pPr>
            <a:endParaRPr lang="en-US" altLang="en-US" sz="2400" b="1" u="sng" dirty="0">
              <a:solidFill>
                <a:srgbClr val="000000"/>
              </a:solidFill>
            </a:endParaRPr>
          </a:p>
        </p:txBody>
      </p:sp>
      <p:pic>
        <p:nvPicPr>
          <p:cNvPr id="107523" name="Picture 2">
            <a:extLst>
              <a:ext uri="{FF2B5EF4-FFF2-40B4-BE49-F238E27FC236}">
                <a16:creationId xmlns:a16="http://schemas.microsoft.com/office/drawing/2014/main" id="{4E184EB2-7770-6902-6852-E74583F8BF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675188"/>
            <a:ext cx="8958263"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FBF4CFB6-92FA-E2C4-D94D-D753A4AFB289}"/>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IAM system</a:t>
            </a:r>
            <a:endParaRPr lang="en-US" altLang="en-US" sz="2400" u="sng" dirty="0">
              <a:solidFill>
                <a:srgbClr val="000000"/>
              </a:solidFill>
            </a:endParaRPr>
          </a:p>
          <a:p>
            <a:pPr marL="450850" indent="-342900" algn="just">
              <a:defRPr/>
            </a:pPr>
            <a:r>
              <a:rPr lang="en-US" sz="2400" dirty="0"/>
              <a:t>IAM is not just about technology, it comprises three essential elements: </a:t>
            </a:r>
            <a:r>
              <a:rPr lang="en-US" sz="2400" b="1" dirty="0"/>
              <a:t>policies, processes and technologies.</a:t>
            </a:r>
            <a:endParaRPr lang="en-US" altLang="en-US" sz="2400" b="1" u="sng" dirty="0">
              <a:solidFill>
                <a:srgbClr val="000000"/>
              </a:solidFill>
            </a:endParaRPr>
          </a:p>
        </p:txBody>
      </p:sp>
      <p:pic>
        <p:nvPicPr>
          <p:cNvPr id="109571" name="Picture 3">
            <a:extLst>
              <a:ext uri="{FF2B5EF4-FFF2-40B4-BE49-F238E27FC236}">
                <a16:creationId xmlns:a16="http://schemas.microsoft.com/office/drawing/2014/main" id="{B8693C08-5DF0-F2E2-DDD4-0D827CEAAD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988" y="2590800"/>
            <a:ext cx="6778625"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0E95742C-6AE6-2387-9F24-2E0FE2A7687C}"/>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450850" indent="-342900" algn="just">
              <a:defRPr/>
            </a:pPr>
            <a:r>
              <a:rPr lang="en-US" sz="2400" dirty="0"/>
              <a:t>The </a:t>
            </a:r>
            <a:r>
              <a:rPr lang="en-US" sz="2400" b="1" dirty="0"/>
              <a:t>Identity Management area, </a:t>
            </a:r>
            <a:r>
              <a:rPr lang="en-US" sz="2400" dirty="0"/>
              <a:t>and all the related domains, has been the </a:t>
            </a:r>
            <a:r>
              <a:rPr lang="en-US" sz="2400" b="1" dirty="0"/>
              <a:t>ground for several initiatives. </a:t>
            </a:r>
          </a:p>
          <a:p>
            <a:pPr marL="450850" indent="-342900" algn="just">
              <a:defRPr/>
            </a:pPr>
            <a:r>
              <a:rPr lang="en-US" sz="2400" dirty="0"/>
              <a:t>Some of the initiatives are drive by more </a:t>
            </a:r>
            <a:r>
              <a:rPr lang="en-US" sz="2400" b="1" dirty="0"/>
              <a:t>traditional organization groups such as </a:t>
            </a:r>
          </a:p>
          <a:p>
            <a:pPr marL="450850" indent="-342900" algn="just">
              <a:buFont typeface="Wingdings" panose="05000000000000000000" pitchFamily="2" charset="2"/>
              <a:buChar char="Ø"/>
              <a:defRPr/>
            </a:pPr>
            <a:r>
              <a:rPr lang="en-US" sz="2400" b="1" dirty="0"/>
              <a:t>OAuth protocol(Open Authorization)</a:t>
            </a:r>
          </a:p>
          <a:p>
            <a:pPr marL="450850" indent="-342900" algn="just">
              <a:buFont typeface="Wingdings" panose="05000000000000000000" pitchFamily="2" charset="2"/>
              <a:buChar char="Ø"/>
              <a:defRPr/>
            </a:pPr>
            <a:r>
              <a:rPr lang="en-US" altLang="en-US" sz="2400" b="1" dirty="0">
                <a:solidFill>
                  <a:srgbClr val="000000"/>
                </a:solidFill>
              </a:rPr>
              <a:t>OpenID</a:t>
            </a:r>
            <a:r>
              <a:rPr lang="en-US" altLang="en-US" sz="2400" dirty="0">
                <a:solidFill>
                  <a:srgbClr val="000000"/>
                </a:solidFill>
              </a:rPr>
              <a:t> is a widely used, secure authentication protocol built on OAuth 2.0 that allows users to sign into multiple websites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11118528-40A9-62DD-D057-CA8A4A4CC489}"/>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107950" indent="0" algn="just">
              <a:buFont typeface="Georgia" panose="02040502050405020303" pitchFamily="18" charset="0"/>
              <a:buNone/>
              <a:defRPr/>
            </a:pPr>
            <a:r>
              <a:rPr lang="en-US" altLang="en-US" sz="2400" b="1" dirty="0">
                <a:solidFill>
                  <a:srgbClr val="000000"/>
                </a:solidFill>
              </a:rPr>
              <a:t>OAuth (Open Authorization)</a:t>
            </a:r>
          </a:p>
          <a:p>
            <a:pPr marL="450850" indent="-342900" algn="just">
              <a:defRPr/>
            </a:pPr>
            <a:r>
              <a:rPr lang="en-US" altLang="en-US" sz="2400" dirty="0">
                <a:solidFill>
                  <a:srgbClr val="000000"/>
                </a:solidFill>
              </a:rPr>
              <a:t>OAuth is an </a:t>
            </a:r>
            <a:r>
              <a:rPr lang="en-US" altLang="en-US" sz="2400" b="1" dirty="0">
                <a:solidFill>
                  <a:srgbClr val="000000"/>
                </a:solidFill>
              </a:rPr>
              <a:t>IETF standard for authorization</a:t>
            </a:r>
            <a:r>
              <a:rPr lang="en-US" altLang="en-US" sz="2400" dirty="0">
                <a:solidFill>
                  <a:srgbClr val="000000"/>
                </a:solidFill>
              </a:rPr>
              <a:t>. </a:t>
            </a:r>
          </a:p>
          <a:p>
            <a:pPr marL="450850" indent="-342900" algn="just">
              <a:defRPr/>
            </a:pPr>
            <a:r>
              <a:rPr lang="en-US" altLang="en-US" sz="2400" dirty="0">
                <a:solidFill>
                  <a:srgbClr val="000000"/>
                </a:solidFill>
              </a:rPr>
              <a:t>OAuth provides a method for clients to access server resources on behalf of a resource owner (such as a different client or an end-user). </a:t>
            </a:r>
          </a:p>
          <a:p>
            <a:pPr marL="450850" indent="-342900" algn="just">
              <a:defRPr/>
            </a:pPr>
            <a:r>
              <a:rPr lang="en-US" altLang="en-US" sz="2400" dirty="0">
                <a:solidFill>
                  <a:srgbClr val="000000"/>
                </a:solidFill>
              </a:rPr>
              <a:t>It also </a:t>
            </a:r>
            <a:r>
              <a:rPr lang="en-US" altLang="en-US" sz="2400" b="1" dirty="0">
                <a:solidFill>
                  <a:srgbClr val="000000"/>
                </a:solidFill>
              </a:rPr>
              <a:t>provides a process for end -users to authorize third-party access to their server resources</a:t>
            </a:r>
            <a:r>
              <a:rPr lang="en-US" altLang="en-US" sz="2400" dirty="0">
                <a:solidFill>
                  <a:srgbClr val="000000"/>
                </a:solidFill>
              </a:rPr>
              <a:t> without sharing their credentials (typically, a username and password pair), using user-agent redirections. </a:t>
            </a:r>
          </a:p>
          <a:p>
            <a:pPr marL="450850" indent="-342900" algn="just">
              <a:defRPr/>
            </a:pPr>
            <a:r>
              <a:rPr lang="en-US" altLang="en-US" sz="2400" dirty="0">
                <a:solidFill>
                  <a:srgbClr val="000000"/>
                </a:solidFill>
              </a:rPr>
              <a:t>Two different versions (1.0a and 2.0) of OAuth are </a:t>
            </a:r>
            <a:r>
              <a:rPr lang="en-US" altLang="en-US" sz="2400" dirty="0" err="1">
                <a:solidFill>
                  <a:srgbClr val="000000"/>
                </a:solidFill>
              </a:rPr>
              <a:t>nowdays</a:t>
            </a:r>
            <a:r>
              <a:rPr lang="en-US" altLang="en-US" sz="2400" dirty="0">
                <a:solidFill>
                  <a:srgbClr val="000000"/>
                </a:solidFill>
              </a:rPr>
              <a:t> disseminated and supported by most of the Web 2.0 providers (</a:t>
            </a:r>
            <a:r>
              <a:rPr lang="en-US" altLang="en-US" sz="2400" dirty="0" err="1">
                <a:solidFill>
                  <a:srgbClr val="000000"/>
                </a:solidFill>
              </a:rPr>
              <a:t>i.e.Facebook</a:t>
            </a:r>
            <a:r>
              <a:rPr lang="en-US" altLang="en-US" sz="2400" dirty="0">
                <a:solidFill>
                  <a:srgbClr val="000000"/>
                </a:solidFill>
              </a:rPr>
              <a:t>, Google </a:t>
            </a:r>
            <a:r>
              <a:rPr lang="en-US" altLang="en-US" sz="2400" dirty="0" err="1">
                <a:solidFill>
                  <a:srgbClr val="000000"/>
                </a:solidFill>
              </a:rPr>
              <a:t>etc</a:t>
            </a:r>
            <a:r>
              <a:rPr lang="en-US" altLang="en-US" sz="2400" dirty="0">
                <a:solidFill>
                  <a:srgbClr val="000000"/>
                </a:solidFill>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C6EA065F-A12C-8F64-D1AC-0AFDC17EB757}"/>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107950" indent="0" algn="just">
              <a:buFont typeface="Georgia" panose="02040502050405020303" pitchFamily="18" charset="0"/>
              <a:buNone/>
              <a:defRPr/>
            </a:pPr>
            <a:r>
              <a:rPr lang="en-US" altLang="en-US" sz="2400" b="1" dirty="0">
                <a:solidFill>
                  <a:srgbClr val="000000"/>
                </a:solidFill>
              </a:rPr>
              <a:t>OAuth </a:t>
            </a:r>
          </a:p>
          <a:p>
            <a:pPr marL="107950" indent="0" algn="just">
              <a:buFont typeface="Georgia" panose="02040502050405020303" pitchFamily="18" charset="0"/>
              <a:buNone/>
              <a:defRPr/>
            </a:pPr>
            <a:r>
              <a:rPr lang="en-US" altLang="en-US" sz="2400" dirty="0">
                <a:solidFill>
                  <a:srgbClr val="000000"/>
                </a:solidFill>
              </a:rPr>
              <a:t>The protocol specifies four entities:</a:t>
            </a:r>
          </a:p>
          <a:p>
            <a:pPr marL="450850" indent="-342900" algn="just">
              <a:defRPr/>
            </a:pPr>
            <a:r>
              <a:rPr lang="en-US" altLang="en-US" sz="2400" b="1" dirty="0">
                <a:solidFill>
                  <a:srgbClr val="000000"/>
                </a:solidFill>
              </a:rPr>
              <a:t>Authorization Server </a:t>
            </a:r>
            <a:r>
              <a:rPr lang="en-US" altLang="en-US" sz="2400" dirty="0">
                <a:solidFill>
                  <a:srgbClr val="000000"/>
                </a:solidFill>
              </a:rPr>
              <a:t>– The server that </a:t>
            </a:r>
            <a:r>
              <a:rPr lang="en-US" altLang="en-US" sz="2400" b="1" dirty="0">
                <a:solidFill>
                  <a:srgbClr val="000000"/>
                </a:solidFill>
              </a:rPr>
              <a:t>issues and validates the tokens. </a:t>
            </a:r>
            <a:r>
              <a:rPr lang="en-US" altLang="en-US" sz="2400" dirty="0">
                <a:solidFill>
                  <a:srgbClr val="000000"/>
                </a:solidFill>
              </a:rPr>
              <a:t> The tokens are the information that correlates the user, the requester, and the resource scope authorized by the user.</a:t>
            </a:r>
          </a:p>
          <a:p>
            <a:pPr marL="450850" indent="-342900" algn="just">
              <a:defRPr/>
            </a:pPr>
            <a:r>
              <a:rPr lang="en-US" altLang="en-US" sz="2400" b="1" dirty="0">
                <a:solidFill>
                  <a:srgbClr val="000000"/>
                </a:solidFill>
              </a:rPr>
              <a:t>Resource Owner </a:t>
            </a:r>
            <a:r>
              <a:rPr lang="en-US" altLang="en-US" sz="2400" dirty="0">
                <a:solidFill>
                  <a:srgbClr val="000000"/>
                </a:solidFill>
              </a:rPr>
              <a:t>– The resource owner is the user that owns the </a:t>
            </a:r>
            <a:r>
              <a:rPr lang="en-US" altLang="en-US" sz="2400" b="1" dirty="0">
                <a:solidFill>
                  <a:srgbClr val="000000"/>
                </a:solidFill>
              </a:rPr>
              <a:t>resource protected by the resource server </a:t>
            </a:r>
            <a:r>
              <a:rPr lang="en-US" altLang="en-US" sz="2400" dirty="0">
                <a:solidFill>
                  <a:srgbClr val="000000"/>
                </a:solidFill>
              </a:rPr>
              <a:t>and that wants to be accessed by the Client/Application.</a:t>
            </a:r>
          </a:p>
          <a:p>
            <a:pPr marL="450850" indent="-342900" algn="just">
              <a:defRPr/>
            </a:pPr>
            <a:r>
              <a:rPr lang="en-US" altLang="en-US" sz="2400" b="1" dirty="0">
                <a:solidFill>
                  <a:srgbClr val="000000"/>
                </a:solidFill>
              </a:rPr>
              <a:t>Resource Server </a:t>
            </a:r>
            <a:r>
              <a:rPr lang="en-US" altLang="en-US" sz="2400" dirty="0">
                <a:solidFill>
                  <a:srgbClr val="000000"/>
                </a:solidFill>
              </a:rPr>
              <a:t>– The entity that stores the resource and provides it to the </a:t>
            </a:r>
            <a:r>
              <a:rPr lang="en-US" altLang="en-US" sz="2400" b="1" dirty="0">
                <a:solidFill>
                  <a:srgbClr val="000000"/>
                </a:solidFill>
              </a:rPr>
              <a:t>Client</a:t>
            </a:r>
            <a:r>
              <a:rPr lang="en-US" altLang="en-US" sz="2400" dirty="0">
                <a:solidFill>
                  <a:srgbClr val="000000"/>
                </a:solidFill>
              </a:rPr>
              <a:t>/</a:t>
            </a:r>
            <a:r>
              <a:rPr lang="en-US" altLang="en-US" sz="2400" b="1" dirty="0">
                <a:solidFill>
                  <a:srgbClr val="000000"/>
                </a:solidFill>
              </a:rPr>
              <a:t>Application after token validation in the Authorization Server.</a:t>
            </a:r>
          </a:p>
          <a:p>
            <a:pPr marL="450850" indent="-342900" algn="just">
              <a:defRPr/>
            </a:pPr>
            <a:r>
              <a:rPr lang="en-US" altLang="en-US" sz="2400" b="1" dirty="0">
                <a:solidFill>
                  <a:srgbClr val="000000"/>
                </a:solidFill>
              </a:rPr>
              <a:t>Client/Application </a:t>
            </a:r>
            <a:r>
              <a:rPr lang="en-US" altLang="en-US" sz="2400" dirty="0">
                <a:solidFill>
                  <a:srgbClr val="000000"/>
                </a:solidFill>
              </a:rPr>
              <a:t>– The entity that wants to access the resource owned by the user (resource owner).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33458C04-5B8C-F9CC-99C6-0DEA378AA777}"/>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107950" indent="0" algn="just">
              <a:buFont typeface="Georgia" panose="02040502050405020303" pitchFamily="18" charset="0"/>
              <a:buNone/>
              <a:defRPr/>
            </a:pPr>
            <a:r>
              <a:rPr lang="en-US" altLang="en-US" sz="2400" b="1" dirty="0">
                <a:solidFill>
                  <a:srgbClr val="000000"/>
                </a:solidFill>
              </a:rPr>
              <a:t>OAuth 2.0</a:t>
            </a:r>
          </a:p>
          <a:p>
            <a:pPr marL="450850" indent="-342900" algn="just">
              <a:defRPr/>
            </a:pPr>
            <a:r>
              <a:rPr lang="en-US" altLang="en-US" sz="2400" dirty="0">
                <a:solidFill>
                  <a:srgbClr val="000000"/>
                </a:solidFill>
              </a:rPr>
              <a:t>OAuth 2.0 </a:t>
            </a:r>
            <a:r>
              <a:rPr lang="en-US" altLang="en-US" sz="2400" dirty="0" err="1">
                <a:solidFill>
                  <a:srgbClr val="000000"/>
                </a:solidFill>
              </a:rPr>
              <a:t>logoOAuth</a:t>
            </a:r>
            <a:r>
              <a:rPr lang="en-US" altLang="en-US" sz="2400" dirty="0">
                <a:solidFill>
                  <a:srgbClr val="000000"/>
                </a:solidFill>
              </a:rPr>
              <a:t> 2.0 is the </a:t>
            </a:r>
            <a:r>
              <a:rPr lang="en-US" altLang="en-US" sz="2400" b="1" dirty="0">
                <a:solidFill>
                  <a:srgbClr val="000000"/>
                </a:solidFill>
              </a:rPr>
              <a:t>industry-standard protocol for authorization</a:t>
            </a:r>
            <a:r>
              <a:rPr lang="en-US" altLang="en-US" sz="2400" dirty="0">
                <a:solidFill>
                  <a:srgbClr val="000000"/>
                </a:solidFill>
              </a:rPr>
              <a:t>. </a:t>
            </a:r>
          </a:p>
          <a:p>
            <a:pPr marL="450850" indent="-342900" algn="just">
              <a:defRPr/>
            </a:pPr>
            <a:r>
              <a:rPr lang="en-US" altLang="en-US" sz="2400" dirty="0">
                <a:solidFill>
                  <a:srgbClr val="000000"/>
                </a:solidFill>
              </a:rPr>
              <a:t>OAuth 2.0 focuses on client developer simplicity while providing specific </a:t>
            </a:r>
            <a:r>
              <a:rPr lang="en-US" altLang="en-US" sz="2400" b="1" dirty="0">
                <a:solidFill>
                  <a:srgbClr val="000000"/>
                </a:solidFill>
              </a:rPr>
              <a:t>authorization flows for web applications, desktop applications, mobile phones, and living room devices</a:t>
            </a:r>
            <a:r>
              <a:rPr lang="en-US" altLang="en-US" sz="2400" dirty="0">
                <a:solidFill>
                  <a:srgbClr val="000000"/>
                </a:solidFill>
              </a:rPr>
              <a:t>. </a:t>
            </a:r>
          </a:p>
          <a:p>
            <a:pPr marL="450850" indent="-342900" algn="just">
              <a:defRPr/>
            </a:pPr>
            <a:r>
              <a:rPr lang="en-US" altLang="en-US" sz="2400" dirty="0">
                <a:solidFill>
                  <a:srgbClr val="000000"/>
                </a:solidFill>
              </a:rPr>
              <a:t>This specification and its extensions are being developed within the IETF OAuth Working Group.</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Content Placeholder 2">
            <a:extLst>
              <a:ext uri="{FF2B5EF4-FFF2-40B4-BE49-F238E27FC236}">
                <a16:creationId xmlns:a16="http://schemas.microsoft.com/office/drawing/2014/main" id="{F610E8A2-D2BD-9845-9D1F-C199063CA353}"/>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pPr>
            <a:r>
              <a:rPr lang="en-US" altLang="en-US" sz="2400" b="1" u="sng">
                <a:solidFill>
                  <a:srgbClr val="000000"/>
                </a:solidFill>
              </a:rPr>
              <a:t>Standardization and Initiative Groups</a:t>
            </a:r>
          </a:p>
          <a:p>
            <a:pPr marL="107950" indent="0" algn="just">
              <a:buFont typeface="Georgia" panose="02040502050405020303" pitchFamily="18" charset="0"/>
              <a:buNone/>
            </a:pPr>
            <a:r>
              <a:rPr lang="en-US" altLang="en-US" sz="2400">
                <a:solidFill>
                  <a:srgbClr val="000000"/>
                </a:solidFill>
              </a:rPr>
              <a:t>OAuth 2.0</a:t>
            </a:r>
          </a:p>
        </p:txBody>
      </p:sp>
      <p:pic>
        <p:nvPicPr>
          <p:cNvPr id="119811" name="Picture 2" descr="A diagram of a flowchart&#10;&#10;AI-generated content may be incorrect.">
            <a:extLst>
              <a:ext uri="{FF2B5EF4-FFF2-40B4-BE49-F238E27FC236}">
                <a16:creationId xmlns:a16="http://schemas.microsoft.com/office/drawing/2014/main" id="{94C9981B-93D6-A8BF-1D3C-16A256828E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893763"/>
            <a:ext cx="4933950"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2" name="TextBox 4">
            <a:extLst>
              <a:ext uri="{FF2B5EF4-FFF2-40B4-BE49-F238E27FC236}">
                <a16:creationId xmlns:a16="http://schemas.microsoft.com/office/drawing/2014/main" id="{534AB77A-D723-6AE3-701E-0A6532802A4C}"/>
              </a:ext>
            </a:extLst>
          </p:cNvPr>
          <p:cNvSpPr txBox="1">
            <a:spLocks noChangeArrowheads="1"/>
          </p:cNvSpPr>
          <p:nvPr/>
        </p:nvSpPr>
        <p:spPr bwMode="auto">
          <a:xfrm>
            <a:off x="0" y="4343400"/>
            <a:ext cx="9144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buFont typeface="Arial" panose="020B0604020202020204" pitchFamily="34" charset="0"/>
              <a:buChar char="•"/>
            </a:pPr>
            <a:r>
              <a:rPr lang="en-US" altLang="en-US" b="1"/>
              <a:t>Resource Owner</a:t>
            </a:r>
            <a:r>
              <a:rPr lang="en-US" altLang="en-US"/>
              <a:t>: Represents the user who owns the data (like their photos on a social media platform). </a:t>
            </a:r>
            <a:r>
              <a:rPr lang="en-US" altLang="en-US" b="1"/>
              <a:t>Provides credentials to the authorization server </a:t>
            </a:r>
            <a:r>
              <a:rPr lang="en-US" altLang="en-US"/>
              <a:t>when asked to grant access to an application. </a:t>
            </a:r>
          </a:p>
          <a:p>
            <a:pPr algn="just">
              <a:buFont typeface="Arial" panose="020B0604020202020204" pitchFamily="34" charset="0"/>
              <a:buChar char="•"/>
            </a:pPr>
            <a:r>
              <a:rPr lang="en-US" altLang="en-US" b="1"/>
              <a:t>Authorization Server</a:t>
            </a:r>
            <a:r>
              <a:rPr lang="en-US" altLang="en-US"/>
              <a:t>: Validates the resource owner's identity and credentials when they are presented. Determines if the resource owner has given consent to an application to access their data. </a:t>
            </a:r>
          </a:p>
          <a:p>
            <a:pPr algn="just">
              <a:buFont typeface="Arial" panose="020B0604020202020204" pitchFamily="34" charset="0"/>
              <a:buChar char="•"/>
            </a:pPr>
            <a:r>
              <a:rPr lang="en-US" altLang="en-US"/>
              <a:t> </a:t>
            </a:r>
            <a:r>
              <a:rPr lang="en-US" altLang="en-US" b="1"/>
              <a:t>The resource server</a:t>
            </a:r>
            <a:r>
              <a:rPr lang="en-US" altLang="en-US"/>
              <a:t>:  is the server that stores and manages the protected data and validates access tokens to grant access to the requested resources on behalf of the resource owner. </a:t>
            </a:r>
          </a:p>
          <a:p>
            <a:pPr>
              <a:buFont typeface="Arial" panose="020B0604020202020204" pitchFamily="34" charset="0"/>
              <a:buChar char="•"/>
            </a:pPr>
            <a:endParaRPr lang="en-US"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7842B10E-E60E-16BA-8729-249236CE119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107950" indent="0" algn="just">
              <a:buFont typeface="Georgia" panose="02040502050405020303" pitchFamily="18" charset="0"/>
              <a:buNone/>
              <a:defRPr/>
            </a:pPr>
            <a:r>
              <a:rPr lang="en-US" altLang="en-US" sz="2400" dirty="0">
                <a:solidFill>
                  <a:srgbClr val="000000"/>
                </a:solidFill>
              </a:rPr>
              <a:t>OAuth 2.0</a:t>
            </a:r>
          </a:p>
          <a:p>
            <a:pPr marL="450850" indent="-342900" algn="just">
              <a:defRPr/>
            </a:pPr>
            <a:r>
              <a:rPr lang="en-US" altLang="en-US" sz="2400" dirty="0">
                <a:solidFill>
                  <a:srgbClr val="000000"/>
                </a:solidFill>
              </a:rPr>
              <a:t>The </a:t>
            </a:r>
            <a:r>
              <a:rPr lang="en-US" altLang="en-US" sz="2400" b="1" dirty="0">
                <a:solidFill>
                  <a:srgbClr val="000000"/>
                </a:solidFill>
              </a:rPr>
              <a:t>Client/Application has to be registered </a:t>
            </a:r>
            <a:r>
              <a:rPr lang="en-US" altLang="en-US" sz="2400" dirty="0">
                <a:solidFill>
                  <a:srgbClr val="000000"/>
                </a:solidFill>
              </a:rPr>
              <a:t>in the </a:t>
            </a:r>
            <a:r>
              <a:rPr lang="en-US" altLang="en-US" sz="2400" b="1" dirty="0">
                <a:solidFill>
                  <a:srgbClr val="000000"/>
                </a:solidFill>
              </a:rPr>
              <a:t>Authorization Server. </a:t>
            </a:r>
          </a:p>
          <a:p>
            <a:pPr marL="450850" indent="-342900" algn="just">
              <a:defRPr/>
            </a:pPr>
            <a:r>
              <a:rPr lang="en-US" altLang="en-US" sz="2400" dirty="0">
                <a:solidFill>
                  <a:srgbClr val="000000"/>
                </a:solidFill>
              </a:rPr>
              <a:t>The result of this enrolment is that the </a:t>
            </a:r>
            <a:r>
              <a:rPr lang="en-US" altLang="en-US" sz="2400" b="1" dirty="0">
                <a:solidFill>
                  <a:srgbClr val="000000"/>
                </a:solidFill>
              </a:rPr>
              <a:t>Client gets a unique API Key and API Secret</a:t>
            </a:r>
            <a:r>
              <a:rPr lang="en-US" altLang="en-US" sz="2400" dirty="0">
                <a:solidFill>
                  <a:srgbClr val="000000"/>
                </a:solidFill>
              </a:rPr>
              <a:t>, used to set-up a secure (i.e. HTTPS) transport channel, in order to guarantee that the </a:t>
            </a:r>
            <a:r>
              <a:rPr lang="en-US" altLang="en-US" sz="2400" b="1" dirty="0">
                <a:solidFill>
                  <a:srgbClr val="000000"/>
                </a:solidFill>
              </a:rPr>
              <a:t>application is authenticated, is identified and has authorization to access the authorization end points</a:t>
            </a:r>
          </a:p>
          <a:p>
            <a:pPr marL="450850" indent="-342900" algn="just">
              <a:defRPr/>
            </a:pPr>
            <a:r>
              <a:rPr lang="en-US" altLang="en-US" sz="2400" dirty="0">
                <a:solidFill>
                  <a:srgbClr val="000000"/>
                </a:solidFill>
              </a:rPr>
              <a:t> The previous figure presents the OAuth 2.0 flow</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AE9F6290-3019-617D-0224-0EB86DABF1A3}"/>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450850" indent="-342900" algn="just">
              <a:defRPr/>
            </a:pPr>
            <a:r>
              <a:rPr lang="en-US" sz="2400" b="1" dirty="0"/>
              <a:t>OASIS (Organization for the Advancement of Structured Information Standards)</a:t>
            </a:r>
            <a:r>
              <a:rPr lang="en-US" sz="2400" dirty="0"/>
              <a:t> promotes industry consensus and produces </a:t>
            </a:r>
            <a:r>
              <a:rPr lang="en-US" sz="2400" b="1" dirty="0"/>
              <a:t>worldwide standards for security, Cloud computing, SOA, </a:t>
            </a:r>
            <a:r>
              <a:rPr lang="en-US" sz="2400" b="1" dirty="0" err="1"/>
              <a:t>etc</a:t>
            </a:r>
            <a:endParaRPr lang="en-US" sz="2400" b="1" dirty="0"/>
          </a:p>
          <a:p>
            <a:pPr marL="450850" indent="-342900" algn="just">
              <a:defRPr/>
            </a:pPr>
            <a:r>
              <a:rPr lang="en-US" sz="2400" dirty="0"/>
              <a:t>OASIS open standards </a:t>
            </a:r>
            <a:r>
              <a:rPr lang="en-US" sz="2400" b="1" dirty="0"/>
              <a:t>offer the potential to lower cost, stimulate innovation</a:t>
            </a:r>
            <a:r>
              <a:rPr lang="en-US" sz="2400" dirty="0"/>
              <a:t>, grow global markets, and protect the right of free choice of technology. </a:t>
            </a:r>
          </a:p>
          <a:p>
            <a:pPr marL="450850" indent="-342900" algn="just">
              <a:defRPr/>
            </a:pPr>
            <a:r>
              <a:rPr lang="en-US" sz="2400" dirty="0"/>
              <a:t>OASIS defines a set of </a:t>
            </a:r>
            <a:r>
              <a:rPr lang="en-US" sz="2400" b="1" dirty="0"/>
              <a:t>standards related with Identity Management topics. </a:t>
            </a:r>
          </a:p>
          <a:p>
            <a:pPr marL="450850" indent="-342900" algn="just">
              <a:defRPr/>
            </a:pPr>
            <a:r>
              <a:rPr lang="en-US" sz="2400" dirty="0"/>
              <a:t>Among them are the following one:</a:t>
            </a:r>
          </a:p>
          <a:p>
            <a:pPr marL="450850" indent="-342900" algn="just">
              <a:buFont typeface="Wingdings" panose="05000000000000000000" pitchFamily="2" charset="2"/>
              <a:buChar char="Ø"/>
              <a:defRPr/>
            </a:pPr>
            <a:r>
              <a:rPr lang="en-US" sz="2400" dirty="0"/>
              <a:t> </a:t>
            </a:r>
            <a:r>
              <a:rPr lang="en-US" sz="2400" b="1" dirty="0"/>
              <a:t>SAML </a:t>
            </a:r>
            <a:r>
              <a:rPr lang="en-US" sz="2400" dirty="0"/>
              <a:t>(Secure Assertion Markup Language) protocol and bindings </a:t>
            </a:r>
          </a:p>
          <a:p>
            <a:pPr marL="450850" indent="-342900" algn="just">
              <a:buFont typeface="Wingdings" panose="05000000000000000000" pitchFamily="2" charset="2"/>
              <a:buChar char="Ø"/>
              <a:defRPr/>
            </a:pPr>
            <a:r>
              <a:rPr lang="en-US" sz="2400" b="1" dirty="0"/>
              <a:t>XACML</a:t>
            </a:r>
            <a:r>
              <a:rPr lang="en-US" sz="2400" dirty="0"/>
              <a:t> (</a:t>
            </a:r>
            <a:r>
              <a:rPr lang="en-US" sz="2400" dirty="0" err="1"/>
              <a:t>eXtensible</a:t>
            </a:r>
            <a:r>
              <a:rPr lang="en-US" sz="2400" dirty="0"/>
              <a:t> Access Control Markup Language)</a:t>
            </a:r>
            <a:endParaRPr lang="en-US" altLang="en-US" sz="2400" dirty="0">
              <a:solidFill>
                <a:srgbClr val="000000"/>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EE7E1D77-A6DA-058B-5B15-3601423A99C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SAML</a:t>
            </a:r>
          </a:p>
          <a:p>
            <a:pPr marL="450850" indent="-342900" algn="just">
              <a:defRPr/>
            </a:pPr>
            <a:r>
              <a:rPr lang="en-US" sz="2400" b="1" dirty="0"/>
              <a:t>Security Assertion Markup Language</a:t>
            </a:r>
            <a:r>
              <a:rPr lang="en-US" sz="2400" dirty="0"/>
              <a:t> (SAML) [6] is an XML standard that </a:t>
            </a:r>
            <a:r>
              <a:rPr lang="en-US" sz="2400" b="1" dirty="0"/>
              <a:t>allow</a:t>
            </a:r>
            <a:r>
              <a:rPr lang="en-US" sz="2400" dirty="0"/>
              <a:t>s </a:t>
            </a:r>
            <a:r>
              <a:rPr lang="en-US" sz="2400" b="1" dirty="0"/>
              <a:t>secure web domains </a:t>
            </a:r>
            <a:r>
              <a:rPr lang="en-US" sz="2400" dirty="0"/>
              <a:t>to </a:t>
            </a:r>
            <a:r>
              <a:rPr lang="en-US" sz="2400" b="1" dirty="0"/>
              <a:t>exchange user authentication and authorization data.</a:t>
            </a:r>
          </a:p>
          <a:p>
            <a:pPr marL="450850" indent="-342900" algn="just">
              <a:defRPr/>
            </a:pPr>
            <a:r>
              <a:rPr lang="en-US" sz="2400" dirty="0"/>
              <a:t> Using SAML, an </a:t>
            </a:r>
            <a:r>
              <a:rPr lang="en-US" sz="2400" b="1" dirty="0"/>
              <a:t>online service provider can </a:t>
            </a:r>
            <a:r>
              <a:rPr lang="en-US" sz="2400" dirty="0"/>
              <a:t>contact a </a:t>
            </a:r>
            <a:r>
              <a:rPr lang="en-US" sz="2400" b="1" dirty="0"/>
              <a:t>separate online identity provider</a:t>
            </a:r>
            <a:r>
              <a:rPr lang="en-US" sz="2400" dirty="0"/>
              <a:t> </a:t>
            </a:r>
            <a:r>
              <a:rPr lang="en-US" sz="2400" b="1" dirty="0"/>
              <a:t>to authenticate users </a:t>
            </a:r>
            <a:r>
              <a:rPr lang="en-US" sz="2400" dirty="0"/>
              <a:t>who are trying to access secure content.</a:t>
            </a:r>
            <a:endParaRPr lang="en-US" altLang="en-US" sz="2400" b="1" u="sng" dirty="0">
              <a:solidFill>
                <a:srgbClr val="0000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0B9C7204-E4D1-59FA-9DE2-354C9A2293F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SAML</a:t>
            </a:r>
          </a:p>
          <a:p>
            <a:pPr marL="450850" indent="-342900" algn="just">
              <a:defRPr/>
            </a:pPr>
            <a:r>
              <a:rPr lang="en-US" sz="2400" dirty="0"/>
              <a:t>A brief overview of the SAML process is presented next and illustrated in Figure 3.</a:t>
            </a:r>
            <a:endParaRPr lang="en-US" altLang="en-US" sz="2400" b="1" u="sng" dirty="0">
              <a:solidFill>
                <a:srgbClr val="000000"/>
              </a:solidFill>
            </a:endParaRPr>
          </a:p>
        </p:txBody>
      </p:sp>
      <p:pic>
        <p:nvPicPr>
          <p:cNvPr id="128003" name="Picture 2">
            <a:extLst>
              <a:ext uri="{FF2B5EF4-FFF2-40B4-BE49-F238E27FC236}">
                <a16:creationId xmlns:a16="http://schemas.microsoft.com/office/drawing/2014/main" id="{0CF93C69-2C8D-8BC2-79DB-0CE525711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133600"/>
            <a:ext cx="65532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4" name="TextBox 4">
            <a:extLst>
              <a:ext uri="{FF2B5EF4-FFF2-40B4-BE49-F238E27FC236}">
                <a16:creationId xmlns:a16="http://schemas.microsoft.com/office/drawing/2014/main" id="{1F28B167-12B4-B0DD-C8E7-A1A17334725F}"/>
              </a:ext>
            </a:extLst>
          </p:cNvPr>
          <p:cNvSpPr txBox="1">
            <a:spLocks noChangeArrowheads="1"/>
          </p:cNvSpPr>
          <p:nvPr/>
        </p:nvSpPr>
        <p:spPr bwMode="auto">
          <a:xfrm>
            <a:off x="2262188" y="6010275"/>
            <a:ext cx="4619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Figure 3 – SAML process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Box 4">
            <a:extLst>
              <a:ext uri="{FF2B5EF4-FFF2-40B4-BE49-F238E27FC236}">
                <a16:creationId xmlns:a16="http://schemas.microsoft.com/office/drawing/2014/main" id="{ADC79BCA-52E4-45F6-1650-8F80B02EAFB8}"/>
              </a:ext>
            </a:extLst>
          </p:cNvPr>
          <p:cNvSpPr txBox="1">
            <a:spLocks noChangeArrowheads="1"/>
          </p:cNvSpPr>
          <p:nvPr/>
        </p:nvSpPr>
        <p:spPr bwMode="auto">
          <a:xfrm>
            <a:off x="152400" y="465138"/>
            <a:ext cx="9144000" cy="639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spcAft>
                <a:spcPts val="900"/>
              </a:spcAft>
              <a:buFont typeface="Arial" panose="020B0604020202020204" pitchFamily="34" charset="0"/>
              <a:buChar char="•"/>
            </a:pPr>
            <a:r>
              <a:rPr lang="en-US" altLang="en-US" sz="2000" b="1">
                <a:solidFill>
                  <a:srgbClr val="0A0A0A"/>
                </a:solidFill>
                <a:latin typeface="Google Sans"/>
              </a:rPr>
              <a:t>Identity Provider (IdP):</a:t>
            </a:r>
            <a:endParaRPr lang="en-US" altLang="en-US" sz="2000">
              <a:solidFill>
                <a:srgbClr val="0A0A0A"/>
              </a:solidFill>
              <a:latin typeface="Google Sans"/>
            </a:endParaRP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Function:</a:t>
            </a:r>
            <a:r>
              <a:rPr lang="en-US" altLang="en-US" sz="2000">
                <a:solidFill>
                  <a:srgbClr val="0A0A0A"/>
                </a:solidFill>
                <a:latin typeface="Google Sans"/>
              </a:rPr>
              <a:t> Authenticates the user and asserts their identity to the service provider.</a:t>
            </a: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Responsibility:</a:t>
            </a:r>
            <a:r>
              <a:rPr lang="en-US" altLang="en-US" sz="2000">
                <a:solidFill>
                  <a:srgbClr val="0A0A0A"/>
                </a:solidFill>
                <a:latin typeface="Google Sans"/>
              </a:rPr>
              <a:t> Stores user credentials, handles logins, and manages password policies.</a:t>
            </a: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Examples:</a:t>
            </a:r>
            <a:r>
              <a:rPr lang="en-US" altLang="en-US" sz="2000">
                <a:solidFill>
                  <a:srgbClr val="0A0A0A"/>
                </a:solidFill>
                <a:latin typeface="Google Sans"/>
              </a:rPr>
              <a:t> Azure Active Directory, Ping Identity.</a:t>
            </a:r>
          </a:p>
          <a:p>
            <a:pPr algn="just">
              <a:lnSpc>
                <a:spcPct val="150000"/>
              </a:lnSpc>
              <a:spcAft>
                <a:spcPts val="900"/>
              </a:spcAft>
              <a:buFont typeface="Arial" panose="020B0604020202020204" pitchFamily="34" charset="0"/>
              <a:buChar char="•"/>
            </a:pPr>
            <a:r>
              <a:rPr lang="en-US" altLang="en-US" sz="2000" b="1">
                <a:solidFill>
                  <a:srgbClr val="0A0A0A"/>
                </a:solidFill>
                <a:latin typeface="Google Sans"/>
              </a:rPr>
              <a:t>Service Provider (SP):</a:t>
            </a:r>
            <a:endParaRPr lang="en-US" altLang="en-US" sz="2000">
              <a:solidFill>
                <a:srgbClr val="0A0A0A"/>
              </a:solidFill>
              <a:latin typeface="Google Sans"/>
            </a:endParaRP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Function:</a:t>
            </a:r>
            <a:r>
              <a:rPr lang="en-US" altLang="en-US" sz="2000">
                <a:solidFill>
                  <a:srgbClr val="0A0A0A"/>
                </a:solidFill>
                <a:latin typeface="Google Sans"/>
              </a:rPr>
              <a:t> Trusts the IdP to authenticate users and grants access to protected resources based on the assertion.</a:t>
            </a: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Responsibility:</a:t>
            </a:r>
            <a:r>
              <a:rPr lang="en-US" altLang="en-US" sz="2000">
                <a:solidFill>
                  <a:srgbClr val="0A0A0A"/>
                </a:solidFill>
                <a:latin typeface="Google Sans"/>
              </a:rPr>
              <a:t> Provides the actual service or application the user wants to access.</a:t>
            </a: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Examples:</a:t>
            </a:r>
            <a:r>
              <a:rPr lang="en-US" altLang="en-US" sz="2000">
                <a:solidFill>
                  <a:srgbClr val="0A0A0A"/>
                </a:solidFill>
                <a:latin typeface="Google Sans"/>
              </a:rPr>
              <a:t> Salesforce, Gmail, AWS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Content Placeholder 2">
            <a:extLst>
              <a:ext uri="{FF2B5EF4-FFF2-40B4-BE49-F238E27FC236}">
                <a16:creationId xmlns:a16="http://schemas.microsoft.com/office/drawing/2014/main" id="{786E8263-DF3D-46CD-5813-55C36584B628}"/>
              </a:ext>
            </a:extLst>
          </p:cNvPr>
          <p:cNvSpPr>
            <a:spLocks noGrp="1"/>
          </p:cNvSpPr>
          <p:nvPr>
            <p:ph idx="1"/>
          </p:nvPr>
        </p:nvSpPr>
        <p:spPr>
          <a:xfrm>
            <a:off x="228600" y="457200"/>
            <a:ext cx="8915400" cy="5507038"/>
          </a:xfrm>
        </p:spPr>
        <p:txBody>
          <a:bodyPr/>
          <a:lstStyle/>
          <a:p>
            <a:pPr marL="565150" indent="-457200" algn="just">
              <a:buFont typeface="Georgia" panose="02040502050405020303" pitchFamily="18" charset="0"/>
              <a:buAutoNum type="arabicPeriod"/>
            </a:pPr>
            <a:r>
              <a:rPr lang="en-US" altLang="en-US" sz="2400"/>
              <a:t>User requests a service from the Service Provider; </a:t>
            </a:r>
          </a:p>
          <a:p>
            <a:pPr marL="565150" indent="-457200" algn="just">
              <a:buFont typeface="Georgia" panose="02040502050405020303" pitchFamily="18" charset="0"/>
              <a:buAutoNum type="arabicPeriod"/>
            </a:pPr>
            <a:r>
              <a:rPr lang="en-US" altLang="en-US" sz="2400"/>
              <a:t>Service Provider verifies if the user has a SAML token; </a:t>
            </a:r>
          </a:p>
          <a:p>
            <a:pPr marL="565150" indent="-457200" algn="just">
              <a:buFont typeface="Georgia" panose="02040502050405020303" pitchFamily="18" charset="0"/>
              <a:buAutoNum type="arabicPeriod"/>
            </a:pPr>
            <a:r>
              <a:rPr lang="en-US" altLang="en-US" sz="2400"/>
              <a:t>User gets redirected to the Identity Provider (authentication delegation) ; </a:t>
            </a:r>
          </a:p>
          <a:p>
            <a:pPr marL="565150" indent="-457200" algn="just">
              <a:buFont typeface="Georgia" panose="02040502050405020303" pitchFamily="18" charset="0"/>
              <a:buAutoNum type="arabicPeriod"/>
            </a:pPr>
            <a:r>
              <a:rPr lang="en-US" altLang="en-US" sz="2400"/>
              <a:t>Identity Provider authenticates the user;</a:t>
            </a:r>
          </a:p>
          <a:p>
            <a:pPr marL="565150" indent="-457200" algn="just">
              <a:buFont typeface="Georgia" panose="02040502050405020303" pitchFamily="18" charset="0"/>
              <a:buAutoNum type="arabicPeriod"/>
            </a:pPr>
            <a:r>
              <a:rPr lang="en-US" altLang="en-US" sz="2400"/>
              <a:t>Identity Provider creates a SAML token;</a:t>
            </a:r>
          </a:p>
          <a:p>
            <a:pPr marL="565150" indent="-457200" algn="just">
              <a:buFont typeface="Georgia" panose="02040502050405020303" pitchFamily="18" charset="0"/>
              <a:buAutoNum type="arabicPeriod"/>
            </a:pPr>
            <a:r>
              <a:rPr lang="en-US" altLang="en-US" sz="2400"/>
              <a:t>User gets redirected to the Service Provider, with the SAML token; </a:t>
            </a:r>
          </a:p>
          <a:p>
            <a:pPr marL="565150" indent="-457200" algn="just">
              <a:buFont typeface="Georgia" panose="02040502050405020303" pitchFamily="18" charset="0"/>
              <a:buAutoNum type="arabicPeriod"/>
            </a:pPr>
            <a:r>
              <a:rPr lang="en-US" altLang="en-US" sz="2400"/>
              <a:t>Service Provider verifies the SAML token;</a:t>
            </a:r>
          </a:p>
          <a:p>
            <a:pPr marL="565150" indent="-457200" algn="just">
              <a:buFont typeface="Georgia" panose="02040502050405020303" pitchFamily="18" charset="0"/>
              <a:buAutoNum type="arabicPeriod"/>
            </a:pPr>
            <a:r>
              <a:rPr lang="en-US" altLang="en-US" sz="2400"/>
              <a:t>Service Provider gives the requested information to the user.</a:t>
            </a:r>
            <a:endParaRPr lang="en-US" altLang="en-US" sz="2400" b="1" u="sng">
              <a:solidFill>
                <a:srgbClr val="000000"/>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D8CCE14A-066D-5FA4-A766-2134491A221B}"/>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XACML</a:t>
            </a:r>
          </a:p>
          <a:p>
            <a:pPr marL="450850" indent="-342900" algn="just">
              <a:defRPr/>
            </a:pPr>
            <a:r>
              <a:rPr lang="en-US" sz="2400" dirty="0"/>
              <a:t>XACML is an OASIS-ratified, general-purpose, </a:t>
            </a:r>
            <a:r>
              <a:rPr lang="en-US" sz="2400" b="1" dirty="0"/>
              <a:t>XML-based</a:t>
            </a:r>
            <a:r>
              <a:rPr lang="en-US" sz="2400" dirty="0"/>
              <a:t> </a:t>
            </a:r>
            <a:r>
              <a:rPr lang="en-US" sz="2400" b="1" u="sng" dirty="0"/>
              <a:t>access control langua</a:t>
            </a:r>
            <a:r>
              <a:rPr lang="en-US" sz="2400" b="1" dirty="0"/>
              <a:t>ge </a:t>
            </a:r>
            <a:r>
              <a:rPr lang="en-US" sz="2400" dirty="0"/>
              <a:t>for </a:t>
            </a:r>
            <a:r>
              <a:rPr lang="en-US" sz="2400" b="1" dirty="0"/>
              <a:t>policy management and access decisions. </a:t>
            </a:r>
          </a:p>
          <a:p>
            <a:pPr marL="450850" indent="-342900" algn="just">
              <a:defRPr/>
            </a:pPr>
            <a:r>
              <a:rPr lang="en-US" sz="2400" dirty="0"/>
              <a:t>It provides an </a:t>
            </a:r>
            <a:r>
              <a:rPr lang="en-US" sz="2400" b="1" dirty="0"/>
              <a:t>XML schema for a general policy language which is used to protect any kind of resource </a:t>
            </a:r>
            <a:r>
              <a:rPr lang="en-US" sz="2400" dirty="0"/>
              <a:t>and make access decisions over these resources.</a:t>
            </a:r>
          </a:p>
          <a:p>
            <a:pPr marL="450850" indent="-342900" algn="just">
              <a:defRPr/>
            </a:pPr>
            <a:r>
              <a:rPr lang="en-US" sz="2400" dirty="0"/>
              <a:t>The XACML standard </a:t>
            </a:r>
            <a:r>
              <a:rPr lang="en-US" sz="2400" b="1" dirty="0"/>
              <a:t>not only gives the model of the policy language but also proposes a processing environment model </a:t>
            </a:r>
            <a:r>
              <a:rPr lang="en-US" sz="2400" dirty="0"/>
              <a:t>to manage the policies and to conclude the access decision</a:t>
            </a:r>
            <a:endParaRPr lang="en-US" altLang="en-US" sz="2400" b="1" u="sng" dirty="0">
              <a:solidFill>
                <a:srgbClr val="000000"/>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430A7820-A093-3B5E-4A7A-C735E1CBE636}"/>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XACML</a:t>
            </a:r>
          </a:p>
          <a:p>
            <a:pPr marL="450850" indent="-342900" algn="just">
              <a:defRPr/>
            </a:pPr>
            <a:r>
              <a:rPr lang="en-US" sz="2400" dirty="0"/>
              <a:t>Most applications (web or otherwise) have a </a:t>
            </a:r>
            <a:r>
              <a:rPr lang="en-US" sz="2400" b="1" dirty="0"/>
              <a:t>built-in authorization module that grants or denies access to certain application</a:t>
            </a:r>
            <a:r>
              <a:rPr lang="en-US" sz="2400" dirty="0"/>
              <a:t> functions or resources based on entitlements assigned to the user. </a:t>
            </a:r>
          </a:p>
          <a:p>
            <a:pPr marL="450850" indent="-342900" algn="just">
              <a:defRPr/>
            </a:pPr>
            <a:r>
              <a:rPr lang="en-US" sz="2400" dirty="0"/>
              <a:t>Hence, </a:t>
            </a:r>
            <a:r>
              <a:rPr lang="en-US" sz="2400" b="1" u="sng" dirty="0"/>
              <a:t>the goal of XACML is to provide a standardized language, a method of access control</a:t>
            </a:r>
            <a:r>
              <a:rPr lang="en-US" sz="2400" dirty="0"/>
              <a:t>, and </a:t>
            </a:r>
            <a:r>
              <a:rPr lang="en-US" sz="2400" b="1" dirty="0"/>
              <a:t>policy enforcement across all applications that implement a common authorization standard. </a:t>
            </a:r>
          </a:p>
          <a:p>
            <a:pPr marL="450850" indent="-342900" algn="just">
              <a:defRPr/>
            </a:pPr>
            <a:r>
              <a:rPr lang="en-US" sz="2400" dirty="0"/>
              <a:t>These </a:t>
            </a:r>
            <a:r>
              <a:rPr lang="en-US" sz="2400" b="1" u="sng" dirty="0"/>
              <a:t>authorization decisions are based on various authorization policies and rules centered </a:t>
            </a:r>
            <a:r>
              <a:rPr lang="en-US" sz="2400" dirty="0"/>
              <a:t>on the user role and job function. </a:t>
            </a:r>
            <a:endParaRPr lang="en-US" altLang="en-US" sz="2400" b="1" u="sng" dirty="0">
              <a:solidFill>
                <a:srgbClr val="000000"/>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1D895A9F-59C1-E82A-0896-21FF9F5701C8}"/>
              </a:ext>
            </a:extLst>
          </p:cNvPr>
          <p:cNvSpPr>
            <a:spLocks noGrp="1"/>
          </p:cNvSpPr>
          <p:nvPr>
            <p:ph idx="1"/>
          </p:nvPr>
        </p:nvSpPr>
        <p:spPr>
          <a:xfrm>
            <a:off x="228600" y="457200"/>
            <a:ext cx="8915400" cy="2057400"/>
          </a:xfrm>
        </p:spPr>
        <p:txBody>
          <a:bodyPr/>
          <a:lstStyle/>
          <a:p>
            <a:pPr marL="107950" indent="0" algn="just">
              <a:buFont typeface="Georgia" panose="02040502050405020303" pitchFamily="18" charset="0"/>
              <a:buNone/>
              <a:defRPr/>
            </a:pPr>
            <a:r>
              <a:rPr lang="en-US" altLang="en-US" sz="2400" b="1" u="sng" dirty="0">
                <a:solidFill>
                  <a:srgbClr val="000000"/>
                </a:solidFill>
              </a:rPr>
              <a:t>XACML</a:t>
            </a:r>
          </a:p>
          <a:p>
            <a:pPr marL="450850" indent="-342900" algn="just">
              <a:defRPr/>
            </a:pPr>
            <a:r>
              <a:rPr lang="en-US" sz="2400" dirty="0"/>
              <a:t>The XACML context also specifies the request/response protocol that the application environment can use to communicate with the decision point. </a:t>
            </a:r>
          </a:p>
          <a:p>
            <a:pPr marL="450850" indent="-342900" algn="just">
              <a:defRPr/>
            </a:pPr>
            <a:r>
              <a:rPr lang="en-US" sz="2400" dirty="0"/>
              <a:t>The response to an access request is also specified using XML</a:t>
            </a:r>
          </a:p>
          <a:p>
            <a:pPr marL="450850" indent="-342900" algn="just">
              <a:defRPr/>
            </a:pPr>
            <a:endParaRPr lang="en-US" sz="2400" dirty="0"/>
          </a:p>
          <a:p>
            <a:pPr marL="450850" indent="-342900" algn="just">
              <a:defRPr/>
            </a:pPr>
            <a:endParaRPr lang="en-US" altLang="en-US" sz="2000" b="1" u="sng" dirty="0">
              <a:solidFill>
                <a:srgbClr val="000000"/>
              </a:solidFill>
            </a:endParaRPr>
          </a:p>
        </p:txBody>
      </p:sp>
      <p:pic>
        <p:nvPicPr>
          <p:cNvPr id="137219" name="Picture 2" descr="A diagram of a computer system&#10;&#10;AI-generated content may be incorrect.">
            <a:extLst>
              <a:ext uri="{FF2B5EF4-FFF2-40B4-BE49-F238E27FC236}">
                <a16:creationId xmlns:a16="http://schemas.microsoft.com/office/drawing/2014/main" id="{19DABE98-B21E-FDE0-DA18-EA3B982163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0" y="2733675"/>
            <a:ext cx="567055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BFD7E2AD-FC92-60BC-BC70-59B538CF88E8}"/>
              </a:ext>
            </a:extLst>
          </p:cNvPr>
          <p:cNvSpPr>
            <a:spLocks noGrp="1"/>
          </p:cNvSpPr>
          <p:nvPr>
            <p:ph idx="1"/>
          </p:nvPr>
        </p:nvSpPr>
        <p:spPr>
          <a:xfrm>
            <a:off x="1066800" y="620713"/>
            <a:ext cx="6096000" cy="1639887"/>
          </a:xfrm>
        </p:spPr>
        <p:txBody>
          <a:bodyPr/>
          <a:lstStyle/>
          <a:p>
            <a:pPr marL="107950" indent="0" algn="just">
              <a:buFont typeface="Georgia" panose="02040502050405020303" pitchFamily="18" charset="0"/>
              <a:buNone/>
              <a:defRPr/>
            </a:pPr>
            <a:r>
              <a:rPr lang="en-US" altLang="en-US" sz="2400" b="1" u="sng" dirty="0">
                <a:solidFill>
                  <a:srgbClr val="000000"/>
                </a:solidFill>
              </a:rPr>
              <a:t>XACML</a:t>
            </a:r>
          </a:p>
          <a:p>
            <a:pPr marL="450850" indent="-342900" algn="just">
              <a:defRPr/>
            </a:pPr>
            <a:endParaRPr lang="en-US" sz="2400" dirty="0"/>
          </a:p>
          <a:p>
            <a:pPr marL="450850" indent="-342900" algn="just">
              <a:defRPr/>
            </a:pPr>
            <a:endParaRPr lang="en-US" altLang="en-US" sz="2000" b="1" u="sng" dirty="0">
              <a:solidFill>
                <a:srgbClr val="000000"/>
              </a:solidFill>
            </a:endParaRPr>
          </a:p>
        </p:txBody>
      </p:sp>
      <p:pic>
        <p:nvPicPr>
          <p:cNvPr id="139267" name="Picture 3">
            <a:extLst>
              <a:ext uri="{FF2B5EF4-FFF2-40B4-BE49-F238E27FC236}">
                <a16:creationId xmlns:a16="http://schemas.microsoft.com/office/drawing/2014/main" id="{88F93FA8-6722-262F-4362-26C41F8DD0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 y="1828800"/>
            <a:ext cx="8443913" cy="358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Content Placeholder 2">
            <a:extLst>
              <a:ext uri="{FF2B5EF4-FFF2-40B4-BE49-F238E27FC236}">
                <a16:creationId xmlns:a16="http://schemas.microsoft.com/office/drawing/2014/main" id="{4E40DC68-9ECD-37E8-3ABA-68C4C9ED6877}"/>
              </a:ext>
            </a:extLst>
          </p:cNvPr>
          <p:cNvSpPr>
            <a:spLocks noGrp="1"/>
          </p:cNvSpPr>
          <p:nvPr>
            <p:ph idx="1"/>
          </p:nvPr>
        </p:nvSpPr>
        <p:spPr>
          <a:xfrm>
            <a:off x="-152400" y="304800"/>
            <a:ext cx="9296400" cy="5507038"/>
          </a:xfrm>
        </p:spPr>
        <p:txBody>
          <a:bodyPr/>
          <a:lstStyle/>
          <a:p>
            <a:pPr marL="107950" indent="0" algn="just">
              <a:buFont typeface="Georgia" panose="02040502050405020303" pitchFamily="18" charset="0"/>
              <a:buNone/>
            </a:pPr>
            <a:r>
              <a:rPr lang="en-US" altLang="en-US" sz="1800"/>
              <a:t>Figure 5-5 illustrates the interaction among various health care participants with unique roles (authorization privileges) accessing sensitive patient records stored in a health care application.</a:t>
            </a:r>
            <a:endParaRPr lang="en-US" altLang="en-US" sz="1800" b="1" u="sng">
              <a:solidFill>
                <a:srgbClr val="000000"/>
              </a:solidFill>
            </a:endParaRPr>
          </a:p>
        </p:txBody>
      </p:sp>
      <p:pic>
        <p:nvPicPr>
          <p:cNvPr id="141315" name="Picture 2">
            <a:extLst>
              <a:ext uri="{FF2B5EF4-FFF2-40B4-BE49-F238E27FC236}">
                <a16:creationId xmlns:a16="http://schemas.microsoft.com/office/drawing/2014/main" id="{D4B8E337-3D17-DD62-DC2B-E91DC66CD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14400"/>
            <a:ext cx="6127750" cy="6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Content Placeholder 2">
            <a:extLst>
              <a:ext uri="{FF2B5EF4-FFF2-40B4-BE49-F238E27FC236}">
                <a16:creationId xmlns:a16="http://schemas.microsoft.com/office/drawing/2014/main" id="{30C22EDD-07A3-F4C1-F5C9-1A5F7DA8D38F}"/>
              </a:ext>
            </a:extLst>
          </p:cNvPr>
          <p:cNvSpPr>
            <a:spLocks noGrp="1"/>
          </p:cNvSpPr>
          <p:nvPr>
            <p:ph idx="1"/>
          </p:nvPr>
        </p:nvSpPr>
        <p:spPr>
          <a:xfrm>
            <a:off x="-152400" y="304800"/>
            <a:ext cx="9296400" cy="5507038"/>
          </a:xfrm>
        </p:spPr>
        <p:txBody>
          <a:bodyPr/>
          <a:lstStyle/>
          <a:p>
            <a:pPr marL="107950" indent="0" algn="just">
              <a:buFont typeface="Georgia" panose="02040502050405020303" pitchFamily="18" charset="0"/>
              <a:buNone/>
              <a:defRPr/>
            </a:pPr>
            <a:endParaRPr lang="en-US" altLang="en-US" sz="1800" dirty="0"/>
          </a:p>
          <a:p>
            <a:pPr marL="393700" indent="-285750" algn="just">
              <a:defRPr/>
            </a:pPr>
            <a:r>
              <a:rPr lang="en-US" altLang="en-US" sz="2400" dirty="0"/>
              <a:t>The health care application manages </a:t>
            </a:r>
            <a:r>
              <a:rPr lang="en-US" altLang="en-US" sz="2400" b="1" dirty="0"/>
              <a:t>various hospital associates </a:t>
            </a:r>
            <a:r>
              <a:rPr lang="en-US" altLang="en-US" sz="2400" dirty="0"/>
              <a:t>(the physician, registered nurse, nurses’ aide, and health care supervisor) accessing </a:t>
            </a:r>
            <a:r>
              <a:rPr lang="en-US" altLang="en-US" sz="2400" b="1" dirty="0"/>
              <a:t>various elements of the patient record</a:t>
            </a:r>
            <a:r>
              <a:rPr lang="en-US" altLang="en-US" sz="2400" dirty="0"/>
              <a:t>.</a:t>
            </a:r>
          </a:p>
          <a:p>
            <a:pPr marL="393700" indent="-285750" algn="just">
              <a:defRPr/>
            </a:pPr>
            <a:r>
              <a:rPr lang="en-US" altLang="en-US" sz="2400" dirty="0"/>
              <a:t> This application relies on the policy enforcement point (PEP) and forwards the request to the PEP. </a:t>
            </a:r>
          </a:p>
          <a:p>
            <a:pPr marL="393700" indent="-285750" algn="just">
              <a:defRPr/>
            </a:pPr>
            <a:r>
              <a:rPr lang="en-US" altLang="en-US" sz="2400" dirty="0"/>
              <a:t>The PEP is actually the interface of the application environment. It receives the access requests and evaluates them with the help of the policy decision point </a:t>
            </a:r>
            <a:r>
              <a:rPr lang="en-US" altLang="en-US" sz="2400" b="1" dirty="0"/>
              <a:t>(PDP). It then permits or denies </a:t>
            </a:r>
            <a:r>
              <a:rPr lang="en-US" altLang="en-US" sz="2400" dirty="0"/>
              <a:t>access to the resource (the health care record). </a:t>
            </a:r>
          </a:p>
          <a:p>
            <a:pPr marL="393700" indent="-285750" algn="just">
              <a:defRPr/>
            </a:pPr>
            <a:r>
              <a:rPr lang="en-US" altLang="en-US" sz="2400" dirty="0"/>
              <a:t>The </a:t>
            </a:r>
            <a:r>
              <a:rPr lang="en-US" altLang="en-US" sz="2400" b="1" dirty="0"/>
              <a:t>PDP should be located in a trusted network </a:t>
            </a:r>
            <a:r>
              <a:rPr lang="en-US" altLang="en-US" sz="2400" dirty="0"/>
              <a:t>with strong access control policies, e.g., in a corporate trusted network </a:t>
            </a:r>
            <a:r>
              <a:rPr lang="en-US" altLang="en-US" sz="2400" b="1" dirty="0"/>
              <a:t>protected by a corporate firewall</a:t>
            </a:r>
            <a:r>
              <a:rPr lang="en-US" altLang="en-US" sz="2400" dirty="0"/>
              <a:t>. </a:t>
            </a:r>
          </a:p>
          <a:p>
            <a:pPr marL="393700" indent="-285750" algn="just">
              <a:defRPr/>
            </a:pPr>
            <a:r>
              <a:rPr lang="en-US" altLang="en-US" sz="2400" dirty="0"/>
              <a:t>After evaluation, the PDP sends the XACML response to the PEP.</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FD4055D-2D89-B064-1272-81A2B3770D20}"/>
              </a:ext>
            </a:extLst>
          </p:cNvPr>
          <p:cNvSpPr txBox="1"/>
          <p:nvPr/>
        </p:nvSpPr>
        <p:spPr>
          <a:xfrm>
            <a:off x="457200" y="1295400"/>
            <a:ext cx="8458200" cy="4418013"/>
          </a:xfrm>
          <a:prstGeom prst="rect">
            <a:avLst/>
          </a:prstGeom>
          <a:noFill/>
        </p:spPr>
        <p:txBody>
          <a:bodyPr>
            <a:spAutoFit/>
          </a:bodyPr>
          <a:lstStyle/>
          <a:p>
            <a:pPr>
              <a:lnSpc>
                <a:spcPct val="150000"/>
              </a:lnSpc>
              <a:spcAft>
                <a:spcPts val="800"/>
              </a:spcAft>
              <a:defRPr/>
            </a:pPr>
            <a:r>
              <a:rPr lang="en-US" sz="2000" b="1" kern="0" dirty="0">
                <a:solidFill>
                  <a:srgbClr val="001D35"/>
                </a:solidFill>
                <a:ea typeface="Times New Roman" panose="02020603050405020304" pitchFamily="18" charset="0"/>
                <a:cs typeface="Times New Roman" panose="02020603050405020304" pitchFamily="18" charset="0"/>
              </a:rPr>
              <a:t>The Workflow and Decision</a:t>
            </a:r>
            <a:endParaRPr lang="en-US" sz="2000"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Dr. Smith</a:t>
            </a:r>
            <a:r>
              <a:rPr lang="en-US" sz="2000" kern="0" dirty="0">
                <a:solidFill>
                  <a:srgbClr val="0A0A0A"/>
                </a:solidFill>
                <a:ea typeface="Times New Roman" panose="02020603050405020304" pitchFamily="18" charset="0"/>
                <a:cs typeface="Times New Roman" panose="02020603050405020304" pitchFamily="18" charset="0"/>
              </a:rPr>
              <a:t> requests access (via PEP).</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PEP</a:t>
            </a:r>
            <a:r>
              <a:rPr lang="en-US" sz="2000" kern="0" dirty="0">
                <a:solidFill>
                  <a:srgbClr val="0A0A0A"/>
                </a:solidFill>
                <a:ea typeface="Times New Roman" panose="02020603050405020304" pitchFamily="18" charset="0"/>
                <a:cs typeface="Times New Roman" panose="02020603050405020304" pitchFamily="18" charset="0"/>
              </a:rPr>
              <a:t> asks </a:t>
            </a:r>
            <a:r>
              <a:rPr lang="en-US" sz="2000" b="1" kern="0" dirty="0">
                <a:solidFill>
                  <a:srgbClr val="0A0A0A"/>
                </a:solidFill>
                <a:ea typeface="Times New Roman" panose="02020603050405020304" pitchFamily="18" charset="0"/>
                <a:cs typeface="Times New Roman" panose="02020603050405020304" pitchFamily="18" charset="0"/>
              </a:rPr>
              <a:t>PDP</a:t>
            </a:r>
            <a:r>
              <a:rPr lang="en-US" sz="2000" kern="0" dirty="0">
                <a:solidFill>
                  <a:srgbClr val="0A0A0A"/>
                </a:solidFill>
                <a:ea typeface="Times New Roman" panose="02020603050405020304" pitchFamily="18" charset="0"/>
                <a:cs typeface="Times New Roman" panose="02020603050405020304" pitchFamily="18" charset="0"/>
              </a:rPr>
              <a:t>: "Can Dr. Smith read this?"</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PDP</a:t>
            </a:r>
            <a:r>
              <a:rPr lang="en-US" sz="2000" kern="0" dirty="0">
                <a:solidFill>
                  <a:srgbClr val="0A0A0A"/>
                </a:solidFill>
                <a:ea typeface="Times New Roman" panose="02020603050405020304" pitchFamily="18" charset="0"/>
                <a:cs typeface="Times New Roman" panose="02020603050405020304" pitchFamily="18" charset="0"/>
              </a:rPr>
              <a:t> retrieves policies from </a:t>
            </a:r>
            <a:r>
              <a:rPr lang="en-US" sz="2000" b="1" kern="0" dirty="0">
                <a:solidFill>
                  <a:srgbClr val="0A0A0A"/>
                </a:solidFill>
                <a:ea typeface="Times New Roman" panose="02020603050405020304" pitchFamily="18" charset="0"/>
                <a:cs typeface="Times New Roman" panose="02020603050405020304" pitchFamily="18" charset="0"/>
              </a:rPr>
              <a:t>PAP</a:t>
            </a:r>
            <a:r>
              <a:rPr lang="en-US" sz="2000" kern="0" dirty="0">
                <a:solidFill>
                  <a:srgbClr val="0A0A0A"/>
                </a:solidFill>
                <a:ea typeface="Times New Roman" panose="02020603050405020304" pitchFamily="18" charset="0"/>
                <a:cs typeface="Times New Roman" panose="02020603050405020304" pitchFamily="18" charset="0"/>
              </a:rPr>
              <a:t>.</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PDP</a:t>
            </a:r>
            <a:r>
              <a:rPr lang="en-US" sz="2000" kern="0" dirty="0">
                <a:solidFill>
                  <a:srgbClr val="0A0A0A"/>
                </a:solidFill>
                <a:ea typeface="Times New Roman" panose="02020603050405020304" pitchFamily="18" charset="0"/>
                <a:cs typeface="Times New Roman" panose="02020603050405020304" pitchFamily="18" charset="0"/>
              </a:rPr>
              <a:t> asks </a:t>
            </a:r>
            <a:r>
              <a:rPr lang="en-US" sz="2000" b="1" kern="0" dirty="0">
                <a:solidFill>
                  <a:srgbClr val="0A0A0A"/>
                </a:solidFill>
                <a:ea typeface="Times New Roman" panose="02020603050405020304" pitchFamily="18" charset="0"/>
                <a:cs typeface="Times New Roman" panose="02020603050405020304" pitchFamily="18" charset="0"/>
              </a:rPr>
              <a:t>PIP</a:t>
            </a:r>
            <a:r>
              <a:rPr lang="en-US" sz="2000" kern="0" dirty="0">
                <a:solidFill>
                  <a:srgbClr val="0A0A0A"/>
                </a:solidFill>
                <a:ea typeface="Times New Roman" panose="02020603050405020304" pitchFamily="18" charset="0"/>
                <a:cs typeface="Times New Roman" panose="02020603050405020304" pitchFamily="18" charset="0"/>
              </a:rPr>
              <a:t> for Dr. Smith’s department and patient Alice’s assigned department.</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PIP</a:t>
            </a:r>
            <a:r>
              <a:rPr lang="en-US" sz="2000" kern="0" dirty="0">
                <a:solidFill>
                  <a:srgbClr val="0A0A0A"/>
                </a:solidFill>
                <a:ea typeface="Times New Roman" panose="02020603050405020304" pitchFamily="18" charset="0"/>
                <a:cs typeface="Times New Roman" panose="02020603050405020304" pitchFamily="18" charset="0"/>
              </a:rPr>
              <a:t> returns: Dr. Smith = Cardiology; Alice = Cardiology.</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PDP</a:t>
            </a:r>
            <a:r>
              <a:rPr lang="en-US" sz="2000" kern="0" dirty="0">
                <a:solidFill>
                  <a:srgbClr val="0A0A0A"/>
                </a:solidFill>
                <a:ea typeface="Times New Roman" panose="02020603050405020304" pitchFamily="18" charset="0"/>
                <a:cs typeface="Times New Roman" panose="02020603050405020304" pitchFamily="18" charset="0"/>
              </a:rPr>
              <a:t> checks policy: "Physician can read if Depts match."</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44359DEA-F86E-4CB5-EA67-35A1770524CA}"/>
              </a:ext>
            </a:extLst>
          </p:cNvPr>
          <p:cNvSpPr>
            <a:spLocks noGrp="1"/>
          </p:cNvSpPr>
          <p:nvPr>
            <p:ph idx="1"/>
          </p:nvPr>
        </p:nvSpPr>
        <p:spPr>
          <a:xfrm>
            <a:off x="228600" y="457200"/>
            <a:ext cx="8915400" cy="5507038"/>
          </a:xfrm>
        </p:spPr>
        <p:txBody>
          <a:bodyPr/>
          <a:lstStyle/>
          <a:p>
            <a:pPr marL="109537" indent="0">
              <a:buFont typeface="Georgia" panose="02040502050405020303" pitchFamily="18" charset="0"/>
              <a:buNone/>
              <a:defRPr/>
            </a:pPr>
            <a:r>
              <a:rPr lang="en-US" b="1" dirty="0"/>
              <a:t>Open ID for Authentication</a:t>
            </a:r>
            <a:endParaRPr lang="en-US" dirty="0"/>
          </a:p>
          <a:p>
            <a:pPr marL="450850" indent="-342900" algn="just">
              <a:defRPr/>
            </a:pPr>
            <a:r>
              <a:rPr lang="en-US" sz="2400" dirty="0"/>
              <a:t> OpenID Connect enables an Internet identity ecosystem through </a:t>
            </a:r>
            <a:r>
              <a:rPr lang="en-US" sz="2400" b="1" dirty="0"/>
              <a:t>easy integration and support, security and privacy-preserving configuration</a:t>
            </a:r>
            <a:r>
              <a:rPr lang="en-US" sz="2400" dirty="0"/>
              <a:t>, </a:t>
            </a:r>
            <a:r>
              <a:rPr lang="en-US" sz="2400" b="1" dirty="0"/>
              <a:t>interoperability</a:t>
            </a:r>
            <a:r>
              <a:rPr lang="en-US" sz="2400" dirty="0"/>
              <a:t>, wide support of clients and devices, and enabling any entity to be an OpenID Provider (OP).</a:t>
            </a:r>
          </a:p>
          <a:p>
            <a:pPr marL="450850" indent="-342900" algn="just">
              <a:defRPr/>
            </a:pPr>
            <a:endParaRPr lang="en-US" sz="2400" dirty="0"/>
          </a:p>
          <a:p>
            <a:pPr marL="450850" indent="-342900" algn="just">
              <a:defRPr/>
            </a:pPr>
            <a:endParaRPr lang="en-US" altLang="en-US" sz="2400" b="1" u="sng" dirty="0">
              <a:solidFill>
                <a:srgbClr val="000000"/>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57F58673-3CE6-4D4E-217D-B9746277FDCF}"/>
              </a:ext>
            </a:extLst>
          </p:cNvPr>
          <p:cNvSpPr>
            <a:spLocks noGrp="1"/>
          </p:cNvSpPr>
          <p:nvPr>
            <p:ph idx="1"/>
          </p:nvPr>
        </p:nvSpPr>
        <p:spPr>
          <a:xfrm>
            <a:off x="228600" y="457200"/>
            <a:ext cx="8915400" cy="5507038"/>
          </a:xfrm>
        </p:spPr>
        <p:txBody>
          <a:bodyPr/>
          <a:lstStyle/>
          <a:p>
            <a:pPr marL="109537" indent="0">
              <a:buFont typeface="Georgia" panose="02040502050405020303" pitchFamily="18" charset="0"/>
              <a:buNone/>
              <a:defRPr/>
            </a:pPr>
            <a:r>
              <a:rPr lang="en-US" b="1" dirty="0"/>
              <a:t>Open ID for Authentication</a:t>
            </a:r>
            <a:endParaRPr lang="en-US" dirty="0"/>
          </a:p>
          <a:p>
            <a:pPr marL="107950" indent="0" algn="just">
              <a:buFont typeface="Georgia" panose="02040502050405020303" pitchFamily="18" charset="0"/>
              <a:buNone/>
              <a:defRPr/>
            </a:pPr>
            <a:endParaRPr lang="en-US" sz="2400" dirty="0"/>
          </a:p>
          <a:p>
            <a:pPr marL="450850" indent="-342900" algn="just">
              <a:defRPr/>
            </a:pPr>
            <a:endParaRPr lang="en-US" altLang="en-US" sz="2400" b="1" u="sng" dirty="0">
              <a:solidFill>
                <a:srgbClr val="000000"/>
              </a:solidFill>
            </a:endParaRPr>
          </a:p>
        </p:txBody>
      </p:sp>
      <p:pic>
        <p:nvPicPr>
          <p:cNvPr id="148483" name="Picture 1">
            <a:extLst>
              <a:ext uri="{FF2B5EF4-FFF2-40B4-BE49-F238E27FC236}">
                <a16:creationId xmlns:a16="http://schemas.microsoft.com/office/drawing/2014/main" id="{D122F55F-0C63-9ECF-E12A-22C5567431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928813"/>
            <a:ext cx="7048500" cy="355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DC579FEA-E778-CAC5-F306-FE52E7C9BFE1}"/>
              </a:ext>
            </a:extLst>
          </p:cNvPr>
          <p:cNvSpPr>
            <a:spLocks noGrp="1"/>
          </p:cNvSpPr>
          <p:nvPr>
            <p:ph idx="1"/>
          </p:nvPr>
        </p:nvSpPr>
        <p:spPr>
          <a:xfrm>
            <a:off x="228600" y="457200"/>
            <a:ext cx="8915400" cy="5507038"/>
          </a:xfrm>
        </p:spPr>
        <p:txBody>
          <a:bodyPr/>
          <a:lstStyle/>
          <a:p>
            <a:pPr marL="109537" indent="0">
              <a:buFont typeface="Georgia" panose="02040502050405020303" pitchFamily="18" charset="0"/>
              <a:buNone/>
              <a:defRPr/>
            </a:pPr>
            <a:r>
              <a:rPr lang="en-US" b="1" dirty="0"/>
              <a:t>How does Open ID work?</a:t>
            </a:r>
            <a:endParaRPr lang="en-US" dirty="0"/>
          </a:p>
          <a:p>
            <a:pPr marL="107950" indent="0" algn="just">
              <a:buFont typeface="Georgia" panose="02040502050405020303" pitchFamily="18" charset="0"/>
              <a:buNone/>
              <a:defRPr/>
            </a:pPr>
            <a:r>
              <a:rPr lang="en-US" sz="2400" dirty="0"/>
              <a:t>The OpenID Connect protocol, in abstract, follows these steps:</a:t>
            </a:r>
          </a:p>
          <a:p>
            <a:pPr marL="107950" indent="0" algn="just">
              <a:buFont typeface="Georgia" panose="02040502050405020303" pitchFamily="18" charset="0"/>
              <a:buNone/>
              <a:defRPr/>
            </a:pPr>
            <a:r>
              <a:rPr lang="en-US" sz="2400" dirty="0"/>
              <a:t>1.	End user navigates to a website or web application via a browser.</a:t>
            </a:r>
          </a:p>
          <a:p>
            <a:pPr marL="107950" indent="0" algn="just">
              <a:buFont typeface="Georgia" panose="02040502050405020303" pitchFamily="18" charset="0"/>
              <a:buNone/>
              <a:defRPr/>
            </a:pPr>
            <a:r>
              <a:rPr lang="en-US" sz="2400" dirty="0"/>
              <a:t>2.	End user clicks sign-in and types their username and password.</a:t>
            </a:r>
          </a:p>
          <a:p>
            <a:pPr marL="107950" indent="0" algn="just">
              <a:buFont typeface="Georgia" panose="02040502050405020303" pitchFamily="18" charset="0"/>
              <a:buNone/>
              <a:defRPr/>
            </a:pPr>
            <a:r>
              <a:rPr lang="en-US" sz="2400" dirty="0"/>
              <a:t>3.	The RP (Client) sends a request to the OpenID Provider (OP).</a:t>
            </a:r>
          </a:p>
          <a:p>
            <a:pPr marL="107950" indent="0" algn="just">
              <a:buFont typeface="Georgia" panose="02040502050405020303" pitchFamily="18" charset="0"/>
              <a:buNone/>
              <a:defRPr/>
            </a:pPr>
            <a:r>
              <a:rPr lang="en-US" sz="2400" dirty="0"/>
              <a:t>4.	The OP authenticates the User and obtains authorization.</a:t>
            </a:r>
          </a:p>
          <a:p>
            <a:pPr marL="107950" indent="0" algn="just">
              <a:buFont typeface="Georgia" panose="02040502050405020303" pitchFamily="18" charset="0"/>
              <a:buNone/>
              <a:defRPr/>
            </a:pPr>
            <a:r>
              <a:rPr lang="en-US" sz="2400" dirty="0"/>
              <a:t>5.	The OP responds with an Identity Token and usually an Access Token.</a:t>
            </a:r>
          </a:p>
          <a:p>
            <a:pPr marL="107950" indent="0" algn="just">
              <a:buFont typeface="Georgia" panose="02040502050405020303" pitchFamily="18" charset="0"/>
              <a:buNone/>
              <a:defRPr/>
            </a:pPr>
            <a:r>
              <a:rPr lang="en-US" sz="2400" dirty="0"/>
              <a:t>6.	The RP can send a request to the User device with the Access Token.</a:t>
            </a:r>
          </a:p>
          <a:p>
            <a:pPr marL="107950" indent="0" algn="just">
              <a:buFont typeface="Georgia" panose="02040502050405020303" pitchFamily="18" charset="0"/>
              <a:buNone/>
              <a:defRPr/>
            </a:pPr>
            <a:r>
              <a:rPr lang="en-US" sz="2400" dirty="0"/>
              <a:t>7.	The </a:t>
            </a:r>
            <a:r>
              <a:rPr lang="en-US" sz="2400" dirty="0" err="1"/>
              <a:t>UserInfo</a:t>
            </a:r>
            <a:r>
              <a:rPr lang="en-US" sz="2400" dirty="0"/>
              <a:t> Endpoint returns Claims about the End-User.</a:t>
            </a:r>
          </a:p>
          <a:p>
            <a:pPr marL="107950" indent="0" algn="just">
              <a:buFont typeface="Georgia" panose="02040502050405020303" pitchFamily="18" charset="0"/>
              <a:buNone/>
              <a:defRPr/>
            </a:pPr>
            <a:endParaRPr lang="en-US" altLang="en-US" sz="2400" b="1" u="sng" dirty="0">
              <a:solidFill>
                <a:srgbClr val="00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7065560A-40AF-98C1-B94E-668E3D7D17E7}"/>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OpenID</a:t>
            </a:r>
          </a:p>
          <a:p>
            <a:pPr marL="450850" indent="-342900" algn="just">
              <a:defRPr/>
            </a:pPr>
            <a:r>
              <a:rPr lang="en-US" altLang="en-US" sz="1800" dirty="0">
                <a:solidFill>
                  <a:srgbClr val="000000"/>
                </a:solidFill>
              </a:rPr>
              <a:t>OpenID Connect 1.0 is a </a:t>
            </a:r>
            <a:r>
              <a:rPr lang="en-US" altLang="en-US" sz="1800" b="1" dirty="0">
                <a:solidFill>
                  <a:srgbClr val="000000"/>
                </a:solidFill>
              </a:rPr>
              <a:t>simple identity layer on top of the OAuth 2.0 protocol. It </a:t>
            </a:r>
            <a:r>
              <a:rPr lang="en-US" altLang="en-US" sz="1800" dirty="0">
                <a:solidFill>
                  <a:srgbClr val="000000"/>
                </a:solidFill>
              </a:rPr>
              <a:t>allows Clients to verify the identity of the end user based on the authentication performed by an Authorization Server</a:t>
            </a:r>
          </a:p>
          <a:p>
            <a:pPr marL="450850" indent="-342900" algn="just">
              <a:defRPr/>
            </a:pPr>
            <a:r>
              <a:rPr lang="en-US" sz="1800" dirty="0"/>
              <a:t>The OpenID</a:t>
            </a:r>
            <a:r>
              <a:rPr lang="en-US" sz="2000" b="1" dirty="0"/>
              <a:t> flow, for authorization</a:t>
            </a:r>
            <a:r>
              <a:rPr lang="en-US" sz="2000" dirty="0"/>
              <a:t>, consists of the following steps (the first set of interactions shown in Figure 5): </a:t>
            </a:r>
          </a:p>
          <a:p>
            <a:pPr marL="450850" indent="-342900" algn="just">
              <a:defRPr/>
            </a:pPr>
            <a:r>
              <a:rPr lang="en-US" sz="2000" dirty="0">
                <a:solidFill>
                  <a:srgbClr val="001D35"/>
                </a:solidFill>
                <a:latin typeface="Google Sans"/>
              </a:rPr>
              <a:t> An access token grants access to data, while an ID token simply confirms the user's identity. </a:t>
            </a:r>
            <a:endParaRPr lang="en-US" altLang="en-US" sz="2000" b="1" u="sng" dirty="0">
              <a:solidFill>
                <a:srgbClr val="000000"/>
              </a:solidFill>
            </a:endParaRPr>
          </a:p>
        </p:txBody>
      </p:sp>
      <p:pic>
        <p:nvPicPr>
          <p:cNvPr id="152579" name="Picture 5">
            <a:extLst>
              <a:ext uri="{FF2B5EF4-FFF2-40B4-BE49-F238E27FC236}">
                <a16:creationId xmlns:a16="http://schemas.microsoft.com/office/drawing/2014/main" id="{669BF38F-6B72-61D5-F6BA-525E8FDF4F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819400"/>
            <a:ext cx="6375400"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4626" name="Content Placeholder 2">
            <a:extLst>
              <a:ext uri="{FF2B5EF4-FFF2-40B4-BE49-F238E27FC236}">
                <a16:creationId xmlns:a16="http://schemas.microsoft.com/office/drawing/2014/main" id="{55687D83-39A3-A1E0-CB57-11409136DE1A}"/>
              </a:ext>
            </a:extLst>
          </p:cNvPr>
          <p:cNvSpPr>
            <a:spLocks noGrp="1"/>
          </p:cNvSpPr>
          <p:nvPr>
            <p:ph idx="1"/>
          </p:nvPr>
        </p:nvSpPr>
        <p:spPr>
          <a:xfrm>
            <a:off x="228600" y="1143000"/>
            <a:ext cx="8915400" cy="5507038"/>
          </a:xfrm>
        </p:spPr>
        <p:txBody>
          <a:bodyPr/>
          <a:lstStyle/>
          <a:p>
            <a:pPr marL="107950" indent="0" algn="just">
              <a:buFont typeface="Georgia" panose="02040502050405020303" pitchFamily="18" charset="0"/>
              <a:buNone/>
            </a:pPr>
            <a:r>
              <a:rPr lang="en-US" altLang="en-US" sz="2400">
                <a:solidFill>
                  <a:srgbClr val="000000"/>
                </a:solidFill>
              </a:rPr>
              <a:t>1. Client prepares an Authorization Request containing the desired request parameters (including the scope value);</a:t>
            </a:r>
          </a:p>
          <a:p>
            <a:pPr marL="107950" indent="0" algn="just">
              <a:buFont typeface="Georgia" panose="02040502050405020303" pitchFamily="18" charset="0"/>
              <a:buNone/>
            </a:pPr>
            <a:r>
              <a:rPr lang="en-US" altLang="en-US" sz="2400">
                <a:solidFill>
                  <a:srgbClr val="000000"/>
                </a:solidFill>
              </a:rPr>
              <a:t>2. Client sends a request to the Authorization Server;</a:t>
            </a:r>
          </a:p>
          <a:p>
            <a:pPr marL="107950" indent="0" algn="just">
              <a:buFont typeface="Georgia" panose="02040502050405020303" pitchFamily="18" charset="0"/>
              <a:buNone/>
            </a:pPr>
            <a:r>
              <a:rPr lang="en-US" altLang="en-US" sz="2400">
                <a:solidFill>
                  <a:srgbClr val="000000"/>
                </a:solidFill>
              </a:rPr>
              <a:t>3. Authorization Server authenticates the End-User;</a:t>
            </a:r>
          </a:p>
          <a:p>
            <a:pPr marL="107950" indent="0" algn="just">
              <a:buFont typeface="Georgia" panose="02040502050405020303" pitchFamily="18" charset="0"/>
              <a:buNone/>
            </a:pPr>
            <a:r>
              <a:rPr lang="en-US" altLang="en-US" sz="2400">
                <a:solidFill>
                  <a:srgbClr val="000000"/>
                </a:solidFill>
              </a:rPr>
              <a:t>4. Authorization Server obtains the End-User Consent/Authorization;</a:t>
            </a:r>
          </a:p>
          <a:p>
            <a:pPr marL="107950" indent="0" algn="just">
              <a:buFont typeface="Georgia" panose="02040502050405020303" pitchFamily="18" charset="0"/>
              <a:buNone/>
            </a:pPr>
            <a:r>
              <a:rPr lang="en-US" altLang="en-US" sz="2400">
                <a:solidFill>
                  <a:srgbClr val="000000"/>
                </a:solidFill>
              </a:rPr>
              <a:t>5. Authorization Server sends the End-User back to the Client with code;</a:t>
            </a:r>
          </a:p>
          <a:p>
            <a:pPr marL="107950" indent="0" algn="just">
              <a:buFont typeface="Georgia" panose="02040502050405020303" pitchFamily="18" charset="0"/>
              <a:buNone/>
            </a:pPr>
            <a:r>
              <a:rPr lang="en-US" altLang="en-US" sz="2400">
                <a:solidFill>
                  <a:srgbClr val="000000"/>
                </a:solidFill>
              </a:rPr>
              <a:t>6. Client sends the code to the Token Endpoint to receive an Access Token and ID Token in the response.</a:t>
            </a:r>
          </a:p>
        </p:txBody>
      </p:sp>
      <p:sp>
        <p:nvSpPr>
          <p:cNvPr id="4" name="TextBox 3">
            <a:extLst>
              <a:ext uri="{FF2B5EF4-FFF2-40B4-BE49-F238E27FC236}">
                <a16:creationId xmlns:a16="http://schemas.microsoft.com/office/drawing/2014/main" id="{DCA98BA3-5AF8-0FB2-8CE0-6EBB5E923AC9}"/>
              </a:ext>
            </a:extLst>
          </p:cNvPr>
          <p:cNvSpPr txBox="1"/>
          <p:nvPr/>
        </p:nvSpPr>
        <p:spPr>
          <a:xfrm>
            <a:off x="250825" y="681038"/>
            <a:ext cx="4621213" cy="461962"/>
          </a:xfrm>
          <a:prstGeom prst="rect">
            <a:avLst/>
          </a:prstGeom>
          <a:noFill/>
        </p:spPr>
        <p:txBody>
          <a:bodyPr>
            <a:spAutoFit/>
          </a:bodyPr>
          <a:lstStyle/>
          <a:p>
            <a:pPr marL="107950" algn="just">
              <a:spcBef>
                <a:spcPts val="300"/>
              </a:spcBef>
              <a:buClr>
                <a:srgbClr val="A04DA3"/>
              </a:buClr>
              <a:buFont typeface="Georgia" panose="02040502050405020303" pitchFamily="18" charset="0"/>
              <a:buNone/>
              <a:defRPr/>
            </a:pPr>
            <a:r>
              <a:rPr lang="en-US" altLang="en-US" sz="2400" b="1" u="sng" dirty="0">
                <a:solidFill>
                  <a:srgbClr val="000000"/>
                </a:solidFill>
                <a:latin typeface="Georgia"/>
                <a:cs typeface="+mn-cs"/>
              </a:rPr>
              <a:t>OpenID</a:t>
            </a: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Box 5">
            <a:extLst>
              <a:ext uri="{FF2B5EF4-FFF2-40B4-BE49-F238E27FC236}">
                <a16:creationId xmlns:a16="http://schemas.microsoft.com/office/drawing/2014/main" id="{9E636F00-D7BD-8AE9-FBCC-DDFB91D1247E}"/>
              </a:ext>
            </a:extLst>
          </p:cNvPr>
          <p:cNvSpPr txBox="1">
            <a:spLocks noChangeArrowheads="1"/>
          </p:cNvSpPr>
          <p:nvPr/>
        </p:nvSpPr>
        <p:spPr bwMode="auto">
          <a:xfrm>
            <a:off x="228600" y="990600"/>
            <a:ext cx="86868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Arial" panose="020B0604020202020204" pitchFamily="34" charset="0"/>
              <a:buChar char="•"/>
            </a:pPr>
            <a:r>
              <a:rPr lang="en-US" altLang="en-US" sz="2400"/>
              <a:t>SAML, XACML, OAuth, and OpenID Connect (OIDC) are key standards in Identity and Access Management (IAM)</a:t>
            </a:r>
          </a:p>
          <a:p>
            <a:pPr algn="just">
              <a:lnSpc>
                <a:spcPct val="150000"/>
              </a:lnSpc>
              <a:buFont typeface="Arial" panose="020B0604020202020204" pitchFamily="34" charset="0"/>
              <a:buChar char="•"/>
            </a:pPr>
            <a:r>
              <a:rPr lang="en-US" altLang="en-US" sz="2400"/>
              <a:t>They serve different, often complementary purposes. </a:t>
            </a:r>
          </a:p>
          <a:p>
            <a:pPr algn="just">
              <a:lnSpc>
                <a:spcPct val="150000"/>
              </a:lnSpc>
              <a:buFont typeface="Arial" panose="020B0604020202020204" pitchFamily="34" charset="0"/>
              <a:buChar char="•"/>
            </a:pPr>
            <a:r>
              <a:rPr lang="en-US" altLang="en-US" sz="2400"/>
              <a:t>SAML and OIDC are primarily for </a:t>
            </a:r>
            <a:r>
              <a:rPr lang="en-US" altLang="en-US" sz="2400" b="1"/>
              <a:t>authentication</a:t>
            </a:r>
            <a:r>
              <a:rPr lang="en-US" altLang="en-US" sz="2400"/>
              <a:t> (verifying who you are) and </a:t>
            </a:r>
            <a:r>
              <a:rPr lang="en-US" altLang="en-US" sz="2400" b="1"/>
              <a:t>Single Sign-On </a:t>
            </a:r>
            <a:r>
              <a:rPr lang="en-US" altLang="en-US" sz="2400"/>
              <a:t>(SSO)</a:t>
            </a:r>
          </a:p>
          <a:p>
            <a:pPr algn="just">
              <a:lnSpc>
                <a:spcPct val="150000"/>
              </a:lnSpc>
              <a:buFont typeface="Arial" panose="020B0604020202020204" pitchFamily="34" charset="0"/>
              <a:buChar char="•"/>
            </a:pPr>
            <a:r>
              <a:rPr lang="en-US" altLang="en-US" sz="2400"/>
              <a:t>While </a:t>
            </a:r>
            <a:r>
              <a:rPr lang="en-US" altLang="en-US" sz="2400" b="1"/>
              <a:t>OAuth is for authorization </a:t>
            </a:r>
            <a:r>
              <a:rPr lang="en-US" altLang="en-US" sz="2400"/>
              <a:t>(what you can access), and XACML is for </a:t>
            </a:r>
            <a:r>
              <a:rPr lang="en-US" altLang="en-US" sz="2400" b="1"/>
              <a:t>fine-grained authorization policy decision-making</a:t>
            </a:r>
          </a:p>
        </p:txBody>
      </p:sp>
      <p:sp>
        <p:nvSpPr>
          <p:cNvPr id="156675" name="TextBox 7">
            <a:extLst>
              <a:ext uri="{FF2B5EF4-FFF2-40B4-BE49-F238E27FC236}">
                <a16:creationId xmlns:a16="http://schemas.microsoft.com/office/drawing/2014/main" id="{FCFF3382-9B21-EDFA-CFD5-64E24EBBBBF5}"/>
              </a:ext>
            </a:extLst>
          </p:cNvPr>
          <p:cNvSpPr txBox="1">
            <a:spLocks noChangeArrowheads="1"/>
          </p:cNvSpPr>
          <p:nvPr/>
        </p:nvSpPr>
        <p:spPr bwMode="auto">
          <a:xfrm>
            <a:off x="2819400" y="584200"/>
            <a:ext cx="457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400" b="1"/>
              <a:t>Comparison of IAM standards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B94A883-1339-BD78-0E1F-968F32518006}"/>
              </a:ext>
            </a:extLst>
          </p:cNvPr>
          <p:cNvGraphicFramePr>
            <a:graphicFrameLocks noGrp="1"/>
          </p:cNvGraphicFramePr>
          <p:nvPr/>
        </p:nvGraphicFramePr>
        <p:xfrm>
          <a:off x="457200" y="914400"/>
          <a:ext cx="7772400" cy="5983288"/>
        </p:xfrm>
        <a:graphic>
          <a:graphicData uri="http://schemas.openxmlformats.org/drawingml/2006/table">
            <a:tbl>
              <a:tblPr firstRow="1" firstCol="1" bandRow="1">
                <a:tableStyleId>{5C22544A-7EE6-4342-B048-85BDC9FD1C3A}</a:tableStyleId>
              </a:tblPr>
              <a:tblGrid>
                <a:gridCol w="1981200">
                  <a:extLst>
                    <a:ext uri="{9D8B030D-6E8A-4147-A177-3AD203B41FA5}">
                      <a16:colId xmlns:a16="http://schemas.microsoft.com/office/drawing/2014/main" val="20000"/>
                    </a:ext>
                  </a:extLst>
                </a:gridCol>
                <a:gridCol w="11277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1033027">
                <a:tc>
                  <a:txBody>
                    <a:bodyPr/>
                    <a:lstStyle/>
                    <a:p>
                      <a:pPr marL="0" marR="0">
                        <a:lnSpc>
                          <a:spcPct val="115000"/>
                        </a:lnSpc>
                        <a:spcAft>
                          <a:spcPts val="800"/>
                        </a:spcAft>
                        <a:buNone/>
                      </a:pPr>
                      <a:r>
                        <a:rPr lang="en-US" sz="1600" kern="0" dirty="0">
                          <a:effectLst/>
                        </a:rPr>
                        <a:t>Feature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76209" marB="76209"/>
                </a:tc>
                <a:tc>
                  <a:txBody>
                    <a:bodyPr/>
                    <a:lstStyle/>
                    <a:p>
                      <a:pPr marL="0" marR="0">
                        <a:lnSpc>
                          <a:spcPct val="115000"/>
                        </a:lnSpc>
                        <a:spcAft>
                          <a:spcPts val="800"/>
                        </a:spcAft>
                        <a:buNone/>
                      </a:pPr>
                      <a:r>
                        <a:rPr lang="en-US" sz="1600" kern="0" dirty="0">
                          <a:effectLst/>
                        </a:rPr>
                        <a:t>SAML 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76209" marB="76209"/>
                </a:tc>
                <a:tc>
                  <a:txBody>
                    <a:bodyPr/>
                    <a:lstStyle/>
                    <a:p>
                      <a:pPr marL="0" marR="0">
                        <a:lnSpc>
                          <a:spcPct val="115000"/>
                        </a:lnSpc>
                        <a:spcAft>
                          <a:spcPts val="800"/>
                        </a:spcAft>
                        <a:buNone/>
                      </a:pPr>
                      <a:r>
                        <a:rPr lang="en-US" sz="1600" kern="0">
                          <a:effectLst/>
                        </a:rPr>
                        <a:t>OpenID Connect (OIDC)</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76209" marB="76209"/>
                </a:tc>
                <a:tc>
                  <a:txBody>
                    <a:bodyPr/>
                    <a:lstStyle/>
                    <a:p>
                      <a:pPr marL="0" marR="0">
                        <a:lnSpc>
                          <a:spcPct val="115000"/>
                        </a:lnSpc>
                        <a:spcAft>
                          <a:spcPts val="800"/>
                        </a:spcAft>
                        <a:buNone/>
                      </a:pPr>
                      <a:r>
                        <a:rPr lang="en-US" sz="1600" kern="0" dirty="0">
                          <a:effectLst/>
                        </a:rPr>
                        <a:t>OAuth 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76209" marB="76209"/>
                </a:tc>
                <a:tc>
                  <a:txBody>
                    <a:bodyPr/>
                    <a:lstStyle/>
                    <a:p>
                      <a:pPr marL="0" marR="0">
                        <a:lnSpc>
                          <a:spcPct val="115000"/>
                        </a:lnSpc>
                        <a:spcAft>
                          <a:spcPts val="800"/>
                        </a:spcAft>
                        <a:buNone/>
                      </a:pPr>
                      <a:r>
                        <a:rPr lang="en-US" sz="1600" kern="0">
                          <a:effectLst/>
                        </a:rPr>
                        <a:t>XACML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76209" marB="76209"/>
                </a:tc>
                <a:extLst>
                  <a:ext uri="{0D108BD9-81ED-4DB2-BD59-A6C34878D82A}">
                    <a16:rowId xmlns:a16="http://schemas.microsoft.com/office/drawing/2014/main" val="10000"/>
                  </a:ext>
                </a:extLst>
              </a:tr>
              <a:tr h="1054165">
                <a:tc>
                  <a:txBody>
                    <a:bodyPr/>
                    <a:lstStyle/>
                    <a:p>
                      <a:pPr marL="0" marR="0">
                        <a:lnSpc>
                          <a:spcPct val="115000"/>
                        </a:lnSpc>
                        <a:spcAft>
                          <a:spcPts val="800"/>
                        </a:spcAft>
                        <a:buNone/>
                      </a:pPr>
                      <a:r>
                        <a:rPr lang="en-US" sz="1600" kern="0">
                          <a:effectLst/>
                        </a:rPr>
                        <a:t>Primary Goal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Authentication (SSO)</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Authentication (SSO)</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Authorization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Attribute-based Authorization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114314" marB="114314"/>
                </a:tc>
                <a:extLst>
                  <a:ext uri="{0D108BD9-81ED-4DB2-BD59-A6C34878D82A}">
                    <a16:rowId xmlns:a16="http://schemas.microsoft.com/office/drawing/2014/main" val="10001"/>
                  </a:ext>
                </a:extLst>
              </a:tr>
              <a:tr h="853430">
                <a:tc>
                  <a:txBody>
                    <a:bodyPr/>
                    <a:lstStyle/>
                    <a:p>
                      <a:pPr marL="0" marR="0">
                        <a:lnSpc>
                          <a:spcPct val="115000"/>
                        </a:lnSpc>
                        <a:spcAft>
                          <a:spcPts val="800"/>
                        </a:spcAft>
                        <a:buNone/>
                      </a:pPr>
                      <a:r>
                        <a:rPr lang="en-US" sz="1600" kern="0">
                          <a:effectLst/>
                        </a:rPr>
                        <a:t>Data Format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XML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JSON (JWT)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JSON (Access Token)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XML</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114314" marB="114314"/>
                </a:tc>
                <a:extLst>
                  <a:ext uri="{0D108BD9-81ED-4DB2-BD59-A6C34878D82A}">
                    <a16:rowId xmlns:a16="http://schemas.microsoft.com/office/drawing/2014/main" val="10002"/>
                  </a:ext>
                </a:extLst>
              </a:tr>
              <a:tr h="1135072">
                <a:tc>
                  <a:txBody>
                    <a:bodyPr/>
                    <a:lstStyle/>
                    <a:p>
                      <a:pPr marL="0" marR="0">
                        <a:lnSpc>
                          <a:spcPct val="115000"/>
                        </a:lnSpc>
                        <a:spcAft>
                          <a:spcPts val="800"/>
                        </a:spcAft>
                        <a:buNone/>
                      </a:pPr>
                      <a:r>
                        <a:rPr lang="en-US" sz="1600" kern="0">
                          <a:effectLst/>
                        </a:rPr>
                        <a:t>Use Case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Enterprise/Legacy Apps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Modern Mobile/Web Apps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API Access/Delegation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Fine-grained Access Control</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114314" marB="114314"/>
                </a:tc>
                <a:extLst>
                  <a:ext uri="{0D108BD9-81ED-4DB2-BD59-A6C34878D82A}">
                    <a16:rowId xmlns:a16="http://schemas.microsoft.com/office/drawing/2014/main" val="10003"/>
                  </a:ext>
                </a:extLst>
              </a:tr>
              <a:tr h="1054165">
                <a:tc>
                  <a:txBody>
                    <a:bodyPr/>
                    <a:lstStyle/>
                    <a:p>
                      <a:pPr marL="0" marR="0">
                        <a:lnSpc>
                          <a:spcPct val="115000"/>
                        </a:lnSpc>
                        <a:spcAft>
                          <a:spcPts val="800"/>
                        </a:spcAft>
                        <a:buNone/>
                      </a:pPr>
                      <a:r>
                        <a:rPr lang="en-US" sz="1600" kern="0">
                          <a:effectLst/>
                        </a:rPr>
                        <a:t>Best For</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Web-based SSO</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Modern apps, APIs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Sharing data (no </a:t>
                      </a:r>
                      <a:r>
                        <a:rPr lang="en-US" sz="1600" kern="0" dirty="0" err="1">
                          <a:effectLst/>
                        </a:rPr>
                        <a:t>pwd</a:t>
                      </a:r>
                      <a:r>
                        <a:rPr lang="en-US" sz="1600" kern="0" dirty="0">
                          <a:effectLst/>
                        </a:rPr>
                        <a:t> protection)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Highly secure, complex policies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114314" marB="114314"/>
                </a:tc>
                <a:extLst>
                  <a:ext uri="{0D108BD9-81ED-4DB2-BD59-A6C34878D82A}">
                    <a16:rowId xmlns:a16="http://schemas.microsoft.com/office/drawing/2014/main" val="10004"/>
                  </a:ext>
                </a:extLst>
              </a:tr>
              <a:tr h="853430">
                <a:tc>
                  <a:txBody>
                    <a:bodyPr/>
                    <a:lstStyle/>
                    <a:p>
                      <a:pPr marL="0" marR="0">
                        <a:lnSpc>
                          <a:spcPct val="115000"/>
                        </a:lnSpc>
                        <a:spcAft>
                          <a:spcPts val="800"/>
                        </a:spcAft>
                        <a:buNone/>
                      </a:pPr>
                      <a:r>
                        <a:rPr lang="en-US" sz="1600" kern="0">
                          <a:effectLst/>
                        </a:rPr>
                        <a:t>Age/Modernity</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Old (Robust)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Modern (Lightweight)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Modern (Lightweight)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Mature (Standard)</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114314" marB="114314"/>
                </a:tc>
                <a:extLst>
                  <a:ext uri="{0D108BD9-81ED-4DB2-BD59-A6C34878D82A}">
                    <a16:rowId xmlns:a16="http://schemas.microsoft.com/office/drawing/2014/main" val="10005"/>
                  </a:ext>
                </a:extLst>
              </a:tr>
            </a:tbl>
          </a:graphicData>
        </a:graphic>
      </p:graphicFrame>
      <p:sp>
        <p:nvSpPr>
          <p:cNvPr id="157742" name="Rectangle 1">
            <a:extLst>
              <a:ext uri="{FF2B5EF4-FFF2-40B4-BE49-F238E27FC236}">
                <a16:creationId xmlns:a16="http://schemas.microsoft.com/office/drawing/2014/main" id="{22E45012-BFF8-815A-80E6-8ED949322146}"/>
              </a:ext>
            </a:extLst>
          </p:cNvPr>
          <p:cNvSpPr>
            <a:spLocks noChangeArrowheads="1"/>
          </p:cNvSpPr>
          <p:nvPr/>
        </p:nvSpPr>
        <p:spPr bwMode="auto">
          <a:xfrm>
            <a:off x="115888" y="2171700"/>
            <a:ext cx="10590212"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a:p>
        </p:txBody>
      </p:sp>
      <p:sp>
        <p:nvSpPr>
          <p:cNvPr id="157743" name="TextBox 5">
            <a:extLst>
              <a:ext uri="{FF2B5EF4-FFF2-40B4-BE49-F238E27FC236}">
                <a16:creationId xmlns:a16="http://schemas.microsoft.com/office/drawing/2014/main" id="{A808C7DA-D6FD-A022-2774-78C45E69191B}"/>
              </a:ext>
            </a:extLst>
          </p:cNvPr>
          <p:cNvSpPr txBox="1">
            <a:spLocks noChangeArrowheads="1"/>
          </p:cNvSpPr>
          <p:nvPr/>
        </p:nvSpPr>
        <p:spPr bwMode="auto">
          <a:xfrm>
            <a:off x="1668463" y="544513"/>
            <a:ext cx="5349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t>Comparison Table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BDFBCC3D-517A-6EFA-D99C-E5F8887CE05A}"/>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Authorization</a:t>
            </a:r>
          </a:p>
          <a:p>
            <a:pPr marL="450850" indent="-342900" algn="just">
              <a:defRPr/>
            </a:pPr>
            <a:r>
              <a:rPr lang="en-US" sz="2400" dirty="0"/>
              <a:t>Authorization is the </a:t>
            </a:r>
            <a:r>
              <a:rPr lang="en-US" sz="2400" b="1" dirty="0"/>
              <a:t>process of giving someone permission to do. </a:t>
            </a:r>
          </a:p>
          <a:p>
            <a:pPr marL="450850" indent="-342900" algn="just">
              <a:defRPr/>
            </a:pPr>
            <a:r>
              <a:rPr lang="en-US" sz="2400" dirty="0"/>
              <a:t>Different authorization models and, at least, two granularity models are available in literature, when deal with authorization. </a:t>
            </a:r>
          </a:p>
          <a:p>
            <a:pPr marL="107950" indent="0" algn="just">
              <a:buFont typeface="Georgia" panose="02040502050405020303" pitchFamily="18" charset="0"/>
              <a:buNone/>
              <a:defRPr/>
            </a:pPr>
            <a:r>
              <a:rPr lang="en-US" sz="2400" dirty="0"/>
              <a:t>1. </a:t>
            </a:r>
            <a:r>
              <a:rPr lang="en-US" sz="2400" b="1" dirty="0"/>
              <a:t>Access control lists</a:t>
            </a:r>
          </a:p>
          <a:p>
            <a:pPr marL="450850" indent="-342900" algn="just">
              <a:buFont typeface="Wingdings" panose="05000000000000000000" pitchFamily="2" charset="2"/>
              <a:buChar char="Ø"/>
              <a:defRPr/>
            </a:pPr>
            <a:r>
              <a:rPr lang="en-US" sz="2400" dirty="0"/>
              <a:t>Access Control Lists (ACL):  once a user is authenticated, the user is allowed to access an application or not depending on whether that user’s id is on a list of authorized users (white list) or blocked users (black list). </a:t>
            </a:r>
          </a:p>
          <a:p>
            <a:pPr marL="450850" indent="-342900" algn="just">
              <a:buFont typeface="Wingdings" panose="05000000000000000000" pitchFamily="2" charset="2"/>
              <a:buChar char="Ø"/>
              <a:defRPr/>
            </a:pPr>
            <a:r>
              <a:rPr lang="en-US" sz="2400" dirty="0"/>
              <a:t>This mode is either all-in or all-out.</a:t>
            </a:r>
            <a:endParaRPr lang="en-US" altLang="en-US" sz="2400" b="1" u="sng" dirty="0">
              <a:solidFill>
                <a:srgbClr val="000000"/>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Content Placeholder 2">
            <a:extLst>
              <a:ext uri="{FF2B5EF4-FFF2-40B4-BE49-F238E27FC236}">
                <a16:creationId xmlns:a16="http://schemas.microsoft.com/office/drawing/2014/main" id="{542ED81B-F7F8-3CC0-3F23-6C15E24A38B9}"/>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pPr>
            <a:r>
              <a:rPr lang="en-US" altLang="en-US" sz="2400" b="1" u="sng">
                <a:solidFill>
                  <a:srgbClr val="000000"/>
                </a:solidFill>
              </a:rPr>
              <a:t>Authorization</a:t>
            </a:r>
          </a:p>
          <a:p>
            <a:pPr marL="107950" indent="0" algn="just">
              <a:buFont typeface="Georgia" panose="02040502050405020303" pitchFamily="18" charset="0"/>
              <a:buNone/>
            </a:pPr>
            <a:r>
              <a:rPr lang="en-US" altLang="en-US" sz="2400" b="1" u="sng">
                <a:solidFill>
                  <a:srgbClr val="000000"/>
                </a:solidFill>
              </a:rPr>
              <a:t>2 Role-based access control</a:t>
            </a:r>
          </a:p>
          <a:p>
            <a:pPr marL="107950" indent="0" algn="just">
              <a:lnSpc>
                <a:spcPct val="150000"/>
              </a:lnSpc>
              <a:buFont typeface="Georgia" panose="02040502050405020303" pitchFamily="18" charset="0"/>
              <a:buNone/>
            </a:pPr>
            <a:r>
              <a:rPr lang="en-US" altLang="en-US" sz="2400"/>
              <a:t>In the Role-based Access Control (RBAC), it is not who you are but rather what role(s) you embody. </a:t>
            </a:r>
          </a:p>
          <a:p>
            <a:pPr marL="107950" indent="0" algn="just">
              <a:lnSpc>
                <a:spcPct val="150000"/>
              </a:lnSpc>
              <a:buFont typeface="Georgia" panose="02040502050405020303" pitchFamily="18" charset="0"/>
              <a:buNone/>
            </a:pPr>
            <a:r>
              <a:rPr lang="en-US" altLang="en-US" sz="2400"/>
              <a:t>For instance, a person might be allowed to open a door. That right (or permission) is granted because that person has the role of employee, not because of who they are.</a:t>
            </a:r>
          </a:p>
          <a:p>
            <a:pPr marL="107950" indent="0" algn="just">
              <a:lnSpc>
                <a:spcPct val="150000"/>
              </a:lnSpc>
              <a:buFont typeface="Georgia" panose="02040502050405020303" pitchFamily="18" charset="0"/>
              <a:buNone/>
            </a:pPr>
            <a:r>
              <a:rPr lang="en-US" altLang="en-US" sz="2400"/>
              <a:t> Typically, in RBAC, a user can have multiple roles to which different permissions can be granted</a:t>
            </a:r>
            <a:endParaRPr lang="en-US" altLang="en-US" sz="2400" b="1" u="sng">
              <a:solidFill>
                <a:srgbClr val="000000"/>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Content Placeholder 2">
            <a:extLst>
              <a:ext uri="{FF2B5EF4-FFF2-40B4-BE49-F238E27FC236}">
                <a16:creationId xmlns:a16="http://schemas.microsoft.com/office/drawing/2014/main" id="{8E2FF2C2-B805-2425-8F02-ECE7C6DF2C2A}"/>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pPr>
            <a:r>
              <a:rPr lang="en-US" altLang="en-US" sz="2400" b="1" u="sng">
                <a:solidFill>
                  <a:srgbClr val="000000"/>
                </a:solidFill>
              </a:rPr>
              <a:t>Authorization</a:t>
            </a:r>
          </a:p>
          <a:p>
            <a:pPr marL="107950" indent="0" algn="just">
              <a:buFont typeface="Georgia" panose="02040502050405020303" pitchFamily="18" charset="0"/>
              <a:buNone/>
            </a:pPr>
            <a:r>
              <a:rPr lang="en-US" altLang="en-US" sz="2400" b="1" u="sng">
                <a:solidFill>
                  <a:srgbClr val="000000"/>
                </a:solidFill>
              </a:rPr>
              <a:t>3 Attribute-based access control</a:t>
            </a:r>
          </a:p>
          <a:p>
            <a:pPr marL="107950" indent="0" algn="just">
              <a:lnSpc>
                <a:spcPct val="150000"/>
              </a:lnSpc>
              <a:buFont typeface="Georgia" panose="02040502050405020303" pitchFamily="18" charset="0"/>
              <a:buNone/>
            </a:pPr>
            <a:r>
              <a:rPr lang="en-US" altLang="en-US" sz="2400"/>
              <a:t>Instead of defining permissions based on roles only, one should be able to use attributes.</a:t>
            </a:r>
          </a:p>
          <a:p>
            <a:pPr marL="107950" indent="0" algn="just">
              <a:lnSpc>
                <a:spcPct val="150000"/>
              </a:lnSpc>
              <a:buFont typeface="Georgia" panose="02040502050405020303" pitchFamily="18" charset="0"/>
              <a:buNone/>
            </a:pPr>
            <a:r>
              <a:rPr lang="en-US" altLang="en-US" sz="2400"/>
              <a:t> This is Attribute Based Access Control (ABAC). </a:t>
            </a:r>
          </a:p>
          <a:p>
            <a:pPr marL="107950" indent="0" algn="just">
              <a:lnSpc>
                <a:spcPct val="150000"/>
              </a:lnSpc>
              <a:buFont typeface="Georgia" panose="02040502050405020303" pitchFamily="18" charset="0"/>
              <a:buNone/>
            </a:pPr>
            <a:r>
              <a:rPr lang="en-US" altLang="en-US" sz="2400"/>
              <a:t>Attributes are any bit of data, or label that describes a user, resource, target, object, environment, or action.</a:t>
            </a:r>
          </a:p>
          <a:p>
            <a:pPr marL="107950" indent="0" algn="just">
              <a:buFont typeface="Georgia" panose="02040502050405020303" pitchFamily="18" charset="0"/>
              <a:buNone/>
            </a:pPr>
            <a:endParaRPr lang="en-US" altLang="en-US" sz="2400" b="1" u="sng">
              <a:solidFill>
                <a:srgbClr val="000000"/>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1625F2-033B-90A5-8102-58A2D29A7840}"/>
              </a:ext>
            </a:extLst>
          </p:cNvPr>
          <p:cNvSpPr txBox="1"/>
          <p:nvPr/>
        </p:nvSpPr>
        <p:spPr>
          <a:xfrm>
            <a:off x="2133600" y="914400"/>
            <a:ext cx="4572000" cy="830263"/>
          </a:xfrm>
          <a:prstGeom prst="rect">
            <a:avLst/>
          </a:prstGeom>
          <a:noFill/>
        </p:spPr>
        <p:txBody>
          <a:bodyPr>
            <a:spAutoFit/>
          </a:bodyPr>
          <a:lstStyle/>
          <a:p>
            <a:pPr>
              <a:defRPr/>
            </a:pPr>
            <a:r>
              <a:rPr lang="en-US" sz="2400" b="1" dirty="0"/>
              <a:t>Identity-as-a-Service (</a:t>
            </a:r>
            <a:r>
              <a:rPr lang="en-US" sz="2400" b="1" dirty="0" err="1"/>
              <a:t>IDaaS</a:t>
            </a:r>
            <a:r>
              <a:rPr lang="en-US" sz="2400" b="1" dirty="0"/>
              <a:t>)</a:t>
            </a:r>
          </a:p>
          <a:p>
            <a:pPr marL="342900" indent="-342900">
              <a:buFont typeface="Arial" panose="020B0604020202020204" pitchFamily="34" charset="0"/>
              <a:buChar char="•"/>
              <a:defRPr/>
            </a:pPr>
            <a:endParaRPr lang="en-US" sz="2400" b="1" dirty="0"/>
          </a:p>
        </p:txBody>
      </p:sp>
      <p:sp>
        <p:nvSpPr>
          <p:cNvPr id="164867" name="TextBox 4">
            <a:extLst>
              <a:ext uri="{FF2B5EF4-FFF2-40B4-BE49-F238E27FC236}">
                <a16:creationId xmlns:a16="http://schemas.microsoft.com/office/drawing/2014/main" id="{FF209B03-9C3D-C7BC-0EB7-09B76B5150C5}"/>
              </a:ext>
            </a:extLst>
          </p:cNvPr>
          <p:cNvSpPr txBox="1">
            <a:spLocks noChangeArrowheads="1"/>
          </p:cNvSpPr>
          <p:nvPr/>
        </p:nvSpPr>
        <p:spPr bwMode="auto">
          <a:xfrm>
            <a:off x="762000" y="1981200"/>
            <a:ext cx="4572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400"/>
              <a:t>What is IDaaS?</a:t>
            </a:r>
          </a:p>
          <a:p>
            <a:r>
              <a:rPr lang="en-US" altLang="en-US" sz="2400"/>
              <a:t>What is Identity Management?</a:t>
            </a:r>
          </a:p>
          <a:p>
            <a:r>
              <a:rPr lang="en-US" altLang="en-US" sz="2400"/>
              <a:t>What are IDaaS Services?</a:t>
            </a:r>
          </a:p>
          <a:p>
            <a:endParaRPr lang="en-US" altLang="en-US" sz="2400"/>
          </a:p>
          <a:p>
            <a:endParaRPr lang="en-US" altLang="en-US" sz="2400"/>
          </a:p>
          <a:p>
            <a:endParaRPr lang="en-US" altLang="en-US" sz="2400"/>
          </a:p>
          <a:p>
            <a:endParaRPr lang="en-US" altLang="en-US" sz="24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757ED4-B511-A9A1-A4FA-D9DDD9472C25}"/>
              </a:ext>
            </a:extLst>
          </p:cNvPr>
          <p:cNvSpPr txBox="1"/>
          <p:nvPr/>
        </p:nvSpPr>
        <p:spPr>
          <a:xfrm>
            <a:off x="762000" y="914400"/>
            <a:ext cx="7467600" cy="4154488"/>
          </a:xfrm>
          <a:prstGeom prst="rect">
            <a:avLst/>
          </a:prstGeom>
          <a:noFill/>
        </p:spPr>
        <p:txBody>
          <a:bodyPr>
            <a:spAutoFit/>
          </a:bodyPr>
          <a:lstStyle/>
          <a:p>
            <a:pPr>
              <a:defRPr/>
            </a:pPr>
            <a:r>
              <a:rPr lang="en-US" sz="2400" b="1" dirty="0"/>
              <a:t>What are </a:t>
            </a:r>
            <a:r>
              <a:rPr lang="en-US" sz="2400" b="1" dirty="0" err="1"/>
              <a:t>IDaaS</a:t>
            </a:r>
            <a:r>
              <a:rPr lang="en-US" sz="2400" b="1" dirty="0"/>
              <a:t> Services?</a:t>
            </a:r>
          </a:p>
          <a:p>
            <a:pPr marL="342900" indent="-342900">
              <a:buFont typeface="Arial" panose="020B0604020202020204" pitchFamily="34" charset="0"/>
              <a:buChar char="•"/>
              <a:defRPr/>
            </a:pPr>
            <a:r>
              <a:rPr lang="en-US" sz="2400" dirty="0"/>
              <a:t>Single Sign-On (SSO)</a:t>
            </a:r>
          </a:p>
          <a:p>
            <a:pPr marL="342900" indent="-342900">
              <a:buFont typeface="Arial" panose="020B0604020202020204" pitchFamily="34" charset="0"/>
              <a:buChar char="•"/>
              <a:defRPr/>
            </a:pPr>
            <a:r>
              <a:rPr lang="en-US" sz="2400" dirty="0"/>
              <a:t>Identity Management</a:t>
            </a:r>
          </a:p>
          <a:p>
            <a:pPr marL="342900" indent="-342900">
              <a:buFont typeface="Arial" panose="020B0604020202020204" pitchFamily="34" charset="0"/>
              <a:buChar char="•"/>
              <a:defRPr/>
            </a:pPr>
            <a:r>
              <a:rPr lang="en-US" sz="2400" dirty="0"/>
              <a:t>Multi-Factor Authentication (MFA)</a:t>
            </a:r>
          </a:p>
          <a:p>
            <a:pPr marL="342900" indent="-342900">
              <a:buFont typeface="Arial" panose="020B0604020202020204" pitchFamily="34" charset="0"/>
              <a:buChar char="•"/>
              <a:defRPr/>
            </a:pPr>
            <a:r>
              <a:rPr lang="en-US" sz="2400" dirty="0"/>
              <a:t>Directory</a:t>
            </a:r>
          </a:p>
          <a:p>
            <a:pPr marL="342900" indent="-342900">
              <a:buFont typeface="Arial" panose="020B0604020202020204" pitchFamily="34" charset="0"/>
              <a:buChar char="•"/>
              <a:defRPr/>
            </a:pPr>
            <a:r>
              <a:rPr lang="en-US" sz="2400" dirty="0"/>
              <a:t>Access Control</a:t>
            </a:r>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BEDBD7-3DE8-E1C5-48A4-F2BCD1A93ABC}"/>
              </a:ext>
            </a:extLst>
          </p:cNvPr>
          <p:cNvSpPr txBox="1"/>
          <p:nvPr/>
        </p:nvSpPr>
        <p:spPr>
          <a:xfrm>
            <a:off x="152400" y="612775"/>
            <a:ext cx="8153400" cy="5632450"/>
          </a:xfrm>
          <a:prstGeom prst="rect">
            <a:avLst/>
          </a:prstGeom>
          <a:noFill/>
        </p:spPr>
        <p:txBody>
          <a:bodyPr>
            <a:spAutoFit/>
          </a:bodyPr>
          <a:lstStyle/>
          <a:p>
            <a:pPr>
              <a:defRPr/>
            </a:pPr>
            <a:r>
              <a:rPr lang="en-US" sz="2400" dirty="0"/>
              <a:t>Single Sign-On (SSO)</a:t>
            </a:r>
          </a:p>
          <a:p>
            <a:pPr marL="342900" indent="-342900">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To solve the problem of using different username and password combinations for different servers, companies now employ Single Sign-On software, </a:t>
            </a:r>
            <a:r>
              <a:rPr lang="en-US" sz="2400" b="1" dirty="0"/>
              <a:t>which allows the user to login only one time and manage the access to other systems.</a:t>
            </a:r>
          </a:p>
          <a:p>
            <a:pPr marL="342900" indent="-342900">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SSO has single authentication server, managing multiple accesses to other systems, as shown in the following diagram:</a:t>
            </a:r>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p:txBody>
      </p:sp>
      <p:pic>
        <p:nvPicPr>
          <p:cNvPr id="168963" name="Picture 4">
            <a:extLst>
              <a:ext uri="{FF2B5EF4-FFF2-40B4-BE49-F238E27FC236}">
                <a16:creationId xmlns:a16="http://schemas.microsoft.com/office/drawing/2014/main" id="{450246C2-6641-0DA8-2E9B-2A3A418844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4543425"/>
            <a:ext cx="53340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D32688-6BCF-184A-C23F-D84F5FC1E57B}"/>
              </a:ext>
            </a:extLst>
          </p:cNvPr>
          <p:cNvSpPr txBox="1"/>
          <p:nvPr/>
        </p:nvSpPr>
        <p:spPr>
          <a:xfrm>
            <a:off x="762000" y="914400"/>
            <a:ext cx="7467600" cy="2678113"/>
          </a:xfrm>
          <a:prstGeom prst="rect">
            <a:avLst/>
          </a:prstGeom>
          <a:noFill/>
        </p:spPr>
        <p:txBody>
          <a:bodyPr>
            <a:spAutoFit/>
          </a:bodyPr>
          <a:lstStyle/>
          <a:p>
            <a:pPr>
              <a:defRPr/>
            </a:pPr>
            <a:r>
              <a:rPr lang="en-US" sz="2400" dirty="0"/>
              <a:t>Single Sign-On (SSO)</a:t>
            </a:r>
          </a:p>
          <a:p>
            <a:pPr marL="342900" indent="-342900">
              <a:buFont typeface="Arial" panose="020B0604020202020204" pitchFamily="34" charset="0"/>
              <a:buChar char="•"/>
              <a:defRPr/>
            </a:pPr>
            <a:endParaRPr lang="en-US" sz="2400" dirty="0"/>
          </a:p>
          <a:p>
            <a:pP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p:txBody>
      </p:sp>
      <p:pic>
        <p:nvPicPr>
          <p:cNvPr id="171011" name="Picture 1">
            <a:extLst>
              <a:ext uri="{FF2B5EF4-FFF2-40B4-BE49-F238E27FC236}">
                <a16:creationId xmlns:a16="http://schemas.microsoft.com/office/drawing/2014/main" id="{922E9056-D022-53C2-2559-FF8F6BA454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493838"/>
            <a:ext cx="5334000"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Content Placeholder 2">
            <a:extLst>
              <a:ext uri="{FF2B5EF4-FFF2-40B4-BE49-F238E27FC236}">
                <a16:creationId xmlns:a16="http://schemas.microsoft.com/office/drawing/2014/main" id="{3DC2685A-48DC-9B67-BF56-55BA8D6467B4}"/>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pPr>
            <a:r>
              <a:rPr lang="en-US" altLang="en-US" sz="1800" b="1" u="sng">
                <a:solidFill>
                  <a:srgbClr val="000000"/>
                </a:solidFill>
              </a:rPr>
              <a:t>Cloud Authorization Management</a:t>
            </a:r>
          </a:p>
        </p:txBody>
      </p:sp>
      <p:pic>
        <p:nvPicPr>
          <p:cNvPr id="173059" name="Picture 2">
            <a:extLst>
              <a:ext uri="{FF2B5EF4-FFF2-40B4-BE49-F238E27FC236}">
                <a16:creationId xmlns:a16="http://schemas.microsoft.com/office/drawing/2014/main" id="{65DE391C-B540-6F9D-A932-7D909CF5B3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13" y="1447800"/>
            <a:ext cx="8736013" cy="620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E0AB2BC5732E498C82E0889B56EE47" ma:contentTypeVersion="3" ma:contentTypeDescription="Create a new document." ma:contentTypeScope="" ma:versionID="5892355f9cb8f4d06364f44765d348e8">
  <xsd:schema xmlns:xsd="http://www.w3.org/2001/XMLSchema" xmlns:xs="http://www.w3.org/2001/XMLSchema" xmlns:p="http://schemas.microsoft.com/office/2006/metadata/properties" xmlns:ns2="edc90921-6836-4a7a-a96f-40c69ed4e8a8" targetNamespace="http://schemas.microsoft.com/office/2006/metadata/properties" ma:root="true" ma:fieldsID="c6d809e1cabde9448b78a3f00d14449d" ns2:_="">
    <xsd:import namespace="edc90921-6836-4a7a-a96f-40c69ed4e8a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c90921-6836-4a7a-a96f-40c69ed4e8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2ACA00-5B49-4AD1-80B2-2ABF30A552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c90921-6836-4a7a-a96f-40c69ed4e8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24D6C5A-B211-436F-B9E4-FAB7618967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Urban</Template>
  <TotalTime>20614</TotalTime>
  <Words>8625</Words>
  <Application>Microsoft Office PowerPoint</Application>
  <PresentationFormat>On-screen Show (4:3)</PresentationFormat>
  <Paragraphs>683</Paragraphs>
  <Slides>98</Slides>
  <Notes>67</Notes>
  <HiddenSlides>11</HiddenSlides>
  <MMClips>0</MMClips>
  <ScaleCrop>false</ScaleCrop>
  <HeadingPairs>
    <vt:vector size="4" baseType="variant">
      <vt:variant>
        <vt:lpstr>Theme</vt:lpstr>
      </vt:variant>
      <vt:variant>
        <vt:i4>1</vt:i4>
      </vt:variant>
      <vt:variant>
        <vt:lpstr>Slide Titles</vt:lpstr>
      </vt:variant>
      <vt:variant>
        <vt:i4>98</vt:i4>
      </vt:variant>
    </vt:vector>
  </HeadingPairs>
  <TitlesOfParts>
    <vt:vector size="99" baseType="lpstr">
      <vt:lpstr>Urban</vt:lpstr>
      <vt:lpstr>EXPLORING CLOUD INFRASTRUCTURE</vt:lpstr>
      <vt:lpstr>EXPLORING CLOUD INFRASTRUCTURE</vt:lpstr>
      <vt:lpstr>Administrating the Clouds</vt:lpstr>
      <vt:lpstr>Administrating the Clouds</vt:lpstr>
      <vt:lpstr>Describing virtualization </vt:lpstr>
      <vt:lpstr>Describing virtualization </vt:lpstr>
      <vt:lpstr>Administrating the Clouds </vt:lpstr>
      <vt:lpstr>Administrating the Clouds </vt:lpstr>
      <vt:lpstr>Administrating the Clouds </vt:lpstr>
      <vt:lpstr>Administrating the Clouds </vt:lpstr>
      <vt:lpstr>Administrating the Clouds </vt:lpstr>
      <vt:lpstr>PowerPoint Presentation</vt:lpstr>
      <vt:lpstr>Managing the Cloud Management lifecycle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Auditing and Compliance </vt:lpstr>
      <vt:lpstr>Auditing and Compliance </vt:lpstr>
      <vt:lpstr>Auditing and Compliance</vt:lpstr>
      <vt:lpstr>Auditing and Compliance</vt:lpstr>
      <vt:lpstr>Auditing and Compliance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Virtualization</dc:title>
  <dc:creator>bina</dc:creator>
  <cp:lastModifiedBy>Mamatha Balachandra [MAHE-MIT]</cp:lastModifiedBy>
  <cp:revision>531</cp:revision>
  <dcterms:created xsi:type="dcterms:W3CDTF">2010-10-04T00:47:52Z</dcterms:created>
  <dcterms:modified xsi:type="dcterms:W3CDTF">2026-03-01T08:10:58Z</dcterms:modified>
</cp:coreProperties>
</file>