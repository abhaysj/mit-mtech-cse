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3"/>
  </p:notesMasterIdLst>
  <p:sldIdLst>
    <p:sldId id="257" r:id="rId2"/>
    <p:sldId id="258" r:id="rId3"/>
    <p:sldId id="272" r:id="rId4"/>
    <p:sldId id="274" r:id="rId5"/>
    <p:sldId id="275" r:id="rId6"/>
    <p:sldId id="276" r:id="rId7"/>
    <p:sldId id="280" r:id="rId8"/>
    <p:sldId id="281" r:id="rId9"/>
    <p:sldId id="259" r:id="rId10"/>
    <p:sldId id="260" r:id="rId11"/>
    <p:sldId id="282" r:id="rId12"/>
    <p:sldId id="284" r:id="rId13"/>
    <p:sldId id="285" r:id="rId14"/>
    <p:sldId id="286" r:id="rId15"/>
    <p:sldId id="287" r:id="rId16"/>
    <p:sldId id="261" r:id="rId17"/>
    <p:sldId id="262" r:id="rId18"/>
    <p:sldId id="263" r:id="rId19"/>
    <p:sldId id="264" r:id="rId20"/>
    <p:sldId id="265" r:id="rId21"/>
    <p:sldId id="291" r:id="rId22"/>
    <p:sldId id="292" r:id="rId23"/>
    <p:sldId id="288" r:id="rId24"/>
    <p:sldId id="289" r:id="rId25"/>
    <p:sldId id="290" r:id="rId26"/>
    <p:sldId id="266" r:id="rId27"/>
    <p:sldId id="267" r:id="rId28"/>
    <p:sldId id="268" r:id="rId29"/>
    <p:sldId id="269" r:id="rId30"/>
    <p:sldId id="270" r:id="rId31"/>
    <p:sldId id="271" r:id="rId3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Nunito" pitchFamily="2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5196" autoAdjust="0"/>
  </p:normalViewPr>
  <p:slideViewPr>
    <p:cSldViewPr snapToGrid="0">
      <p:cViewPr varScale="1">
        <p:scale>
          <a:sx n="98" d="100"/>
          <a:sy n="98" d="100"/>
        </p:scale>
        <p:origin x="40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3c5d1b31bb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3c5d1b31bb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0548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3c5d1b31bb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23c5d1b31bb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3c5d1b31bb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23c5d1b31bb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3c5d1b31bb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g23c5d1b31bb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3c5d1b31bb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g23c5d1b31bb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3c5d1b31bb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" name="Google Shape;205;g23c5d1b31bb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3c5d1b31bb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g23c5d1b31bb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3c5d1b31bb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23c5d1b31bb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3c5d1b31bb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1" name="Google Shape;231;g23c5d1b31bb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3c5d1b31bb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g23c5d1b31bb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3c5d1b31bb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0" name="Google Shape;250;g23c5d1b31bb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3c5d1b31bb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g23c5d1b31bb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3c5d1b31bb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23c5d1b31bb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3c5d1b31bb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4" name="Google Shape;274;g23c5d1b31bb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3c5d1b31bb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g23c5d1b31bb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322F-67EE-BAE0-6237-E4CB6BE31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6CFDE-7D9D-3C62-CC05-1B245BC40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8E52A-FC2B-D338-744D-A5325747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594E-7F68-D4AE-95C4-0E0B312A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78DFD-1806-CE04-AC3F-AAF323D7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7914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CDAD-1250-5503-EC07-91080D1F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4C32-6ACE-57E9-AD9F-667E5A685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9D4E1-1025-37AB-C206-B410B367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67703-6872-99A5-8EA3-1B68540E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CE648-A321-3B2D-EA67-B32416FC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883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0BC0D-32E3-BA4D-A0F7-C490BD63E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7BF8D-F63E-F416-DB63-43C2AFFD8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3A341-9886-5465-3322-86B2A715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0876F-331D-5EBF-9B96-029FEEC9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4CBA2-30D3-F1D0-7E62-88BCC115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20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6B408-BABD-5EC4-88DD-0018CF74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3D2D1-5EAF-99AC-B219-EFDE15BFD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63009-CFA0-9A97-650B-2D32DFC9E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0A255-85F0-8F01-F279-023C9E20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0790F-B689-FA95-4FEA-EF3F8841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779C2-7A0D-5786-9AA1-2CACCC39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28774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6DD6-BB5E-02D4-BE01-0AE41B7A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2CAEC-D49E-5B3F-615B-FDE18A959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39C13-7298-AC2E-5297-8EA8C8BB2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4F165-413B-2494-68A9-6159FD2C9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82303-87BF-FA9C-7D57-61A1AAF02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0D8B02-6951-83AC-C550-67F55DB42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62FA83-5E6C-1039-7BAD-6ADF564B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3E8B0-7F2A-ACB7-57DE-0B586E2A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4941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A6EDA-BF14-4EA7-C078-9CE447E0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658A-3528-357E-3B2C-CB18731B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00412-3389-EDB1-71AD-6EA225D5B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93115-053B-74C7-032A-DE206CEC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9474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90EF14-8710-8C48-8052-212D65C80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D835C-FAA3-982F-5D17-25873679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4B5A1-CEC5-21C2-3AE6-F450CE05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090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7B03-1D51-F000-99DD-64D886E8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E7FD-D15C-84C9-6791-5333FCC76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EC25B-6E1F-6861-EC94-20D4C3F69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F346B-B490-D13A-7757-65339ED4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B78BA-37ED-027E-9747-912DAC64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F77A-5A8A-C9E2-9C57-E232370D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3025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E-7C5F-40F4-3CB7-9D7B874E6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CF87B-3470-EF3C-4A30-2659AE2E6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27557-2F6C-099B-305F-45BC094C6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E8427-F891-2E57-C641-CAAD8572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F1FC-6121-C78B-BD36-E3BAC8A4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A6A47-398D-EEF1-223B-C756566A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362528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ADDA-C0A0-B317-FBEF-27D72B53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F1704-D571-2FE2-248D-0C3AA88DA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C76FA-181F-E6F5-C939-FC8FAC00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516CB-9523-F71E-DA51-B130A776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E634E-ED56-8CAF-832D-4AA8E588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35406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37B440-BADB-5857-EED0-AE881998D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2A7FB-8C84-BDD2-BB0D-3693E509B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2272A-11FF-F991-739E-2D63DC028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B0412-9FA2-05C9-492A-D75A4C28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DAAEF-02F3-A79E-463B-3767FEBD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10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9BEB5-055D-9472-B13E-AF6EEA20F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6D81B-2D7B-D064-0127-B90623ABD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35E6B-AC48-F12C-6F1F-AA89D0A40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643F7-8728-6E81-0E46-45D61B2C7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AD33E-B858-21FD-4602-6F81AC2A1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805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geeksforgeeks.org/machine-learning/derivative-of-the-sigmoid-functio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geeksforgeeks.org/deep-learning/tanh-activation-in-neural-networ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geeksforgeeks.org/deep-learning/relu-activation-function-in-deep-learnin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geeksforgeeks.org/deep-learning/the-role-of-softmax-in-neural-networks-detailed-explanation-and-application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847703" y="714993"/>
            <a:ext cx="7202400" cy="7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Biological Neuron Vs Artificial Neuron</a:t>
            </a:r>
            <a:endParaRPr/>
          </a:p>
        </p:txBody>
      </p:sp>
      <p:pic>
        <p:nvPicPr>
          <p:cNvPr id="165" name="Google Shape;165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7713" y="1189556"/>
            <a:ext cx="7699200" cy="330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657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Artificial neuron</a:t>
            </a:r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76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pic>
        <p:nvPicPr>
          <p:cNvPr id="173" name="Google Shape;173;p27" descr="Single neuron in neural network using c++ - Stack Overflow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078" y="1228725"/>
            <a:ext cx="7733220" cy="3355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D07E-887C-5B13-F7F7-7ACC48CC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202400" cy="786900"/>
          </a:xfrm>
        </p:spPr>
        <p:txBody>
          <a:bodyPr/>
          <a:lstStyle/>
          <a:p>
            <a:r>
              <a:rPr lang="en-IN" dirty="0"/>
              <a:t>Important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6D2E4-8692-8616-0AD1-2AEBA4DFE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1416"/>
            <a:ext cx="9144000" cy="4576924"/>
          </a:xfrm>
        </p:spPr>
        <p:txBody>
          <a:bodyPr/>
          <a:lstStyle/>
          <a:p>
            <a:r>
              <a:rPr lang="en-US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artificial neuron, also known as a perceptron or a node, is a </a:t>
            </a:r>
            <a:r>
              <a:rPr lang="en-US" b="1" i="0" u="sng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fundamental unit in artificial neural networks</a:t>
            </a:r>
            <a:r>
              <a:rPr lang="en-US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artificial neuron takes multiple input values, applies weights to these inputs, computes a weighted sum, adds a bias, and then passes the result through an activation function to produce an output.</a:t>
            </a:r>
          </a:p>
          <a:p>
            <a:r>
              <a:rPr lang="en-US" b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  <a:r>
              <a:rPr lang="en-US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crucial for introducing non-linearity to neural networks, allowing them to learn complex patterns. </a:t>
            </a:r>
          </a:p>
          <a:p>
            <a:endParaRPr lang="en-US" b="1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187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122C-E865-A182-4445-84A661F1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" y="129064"/>
            <a:ext cx="7886700" cy="994172"/>
          </a:xfrm>
        </p:spPr>
        <p:txBody>
          <a:bodyPr/>
          <a:lstStyle/>
          <a:p>
            <a:r>
              <a:rPr lang="en-US" dirty="0"/>
              <a:t>Weights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56955-5F33-07B7-8854-62A393534C17}"/>
              </a:ext>
            </a:extLst>
          </p:cNvPr>
          <p:cNvSpPr txBox="1"/>
          <p:nvPr/>
        </p:nvSpPr>
        <p:spPr>
          <a:xfrm>
            <a:off x="266700" y="969854"/>
            <a:ext cx="84353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Weights are numerical values assigned to the connections between neurons in a neural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forward propagation, each input is multiplied by its corresponding weight, influencing how strongly that input contributes to the neuron's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Mechanism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Weights are updated during training using optimization algorithms (e.g., gradient descent) to minimize the error between predicted and actual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in Generalization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Well-tuned weights enable the neural network to generalize effectively to new, unseen data beyond the training set.</a:t>
            </a:r>
          </a:p>
        </p:txBody>
      </p:sp>
    </p:spTree>
    <p:extLst>
      <p:ext uri="{BB962C8B-B14F-4D97-AF65-F5344CB8AC3E}">
        <p14:creationId xmlns:p14="http://schemas.microsoft.com/office/powerpoint/2010/main" val="389077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0F65DA-52C4-114B-9224-979B1991E809}"/>
              </a:ext>
            </a:extLst>
          </p:cNvPr>
          <p:cNvSpPr txBox="1"/>
          <p:nvPr/>
        </p:nvSpPr>
        <p:spPr>
          <a:xfrm>
            <a:off x="106680" y="952857"/>
            <a:ext cx="89306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bias is a constant added to a neuron's weighted input. It is not associated with any specific input feature.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Biases allow neurons to learn patterns even when the weighted sum of inputs is insufficient, enabling the model to recognize patterns that do not pass through the origin.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biases, neurons activate only when the input reaches a specific threshold.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biases, the activation function can shift, allowing greater flexibility in neuron activation.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in Learning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Biases enhance the flexibility and learning capacity of neural networks by acting as adjustable offsets.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backpropagation, both weights and biases are updated to minimize prediction error and improve model accuracy.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3F3DC6-91AA-F7AC-A93C-01A3B3C80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" y="129064"/>
            <a:ext cx="7886700" cy="994172"/>
          </a:xfrm>
        </p:spPr>
        <p:txBody>
          <a:bodyPr/>
          <a:lstStyle/>
          <a:p>
            <a:r>
              <a:rPr lang="en-US" dirty="0"/>
              <a:t>Biases</a:t>
            </a:r>
          </a:p>
        </p:txBody>
      </p:sp>
    </p:spTree>
    <p:extLst>
      <p:ext uri="{BB962C8B-B14F-4D97-AF65-F5344CB8AC3E}">
        <p14:creationId xmlns:p14="http://schemas.microsoft.com/office/powerpoint/2010/main" val="1001289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BEF1-4C94-837C-7571-3853EA4C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Activation functions in Neural Networks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3F75-24C1-92A2-56EB-6C5CABD3E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mathematical function applied to the output of a neuron.</a:t>
            </a:r>
          </a:p>
          <a:p>
            <a:r>
              <a:rPr lang="en-US" dirty="0"/>
              <a:t> It introduces non-linearity into the model, allowing the network to learn and represent complex patterns in the data.</a:t>
            </a:r>
          </a:p>
          <a:p>
            <a:r>
              <a:rPr lang="en-US" dirty="0"/>
              <a:t> Without this non-linearity feature a neural network would behave like a linear regression model no matter how many layers it has.</a:t>
            </a:r>
          </a:p>
        </p:txBody>
      </p:sp>
    </p:spTree>
    <p:extLst>
      <p:ext uri="{BB962C8B-B14F-4D97-AF65-F5344CB8AC3E}">
        <p14:creationId xmlns:p14="http://schemas.microsoft.com/office/powerpoint/2010/main" val="3483534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EE6E-351D-FBB6-595F-6FC45D33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Mathematical Proof of Need of Non-Linearity in Neural Networks</a:t>
            </a:r>
            <a:br>
              <a:rPr lang="en-US" b="1" dirty="0"/>
            </a:br>
            <a:endParaRPr lang="en-US" dirty="0"/>
          </a:p>
        </p:txBody>
      </p:sp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A7EF8BEA-A941-A48A-A14B-E6DD212AEC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867" y="3047227"/>
            <a:ext cx="2856154" cy="17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8433CA-088C-4E3B-C9C4-D1CDC7955380}"/>
              </a:ext>
            </a:extLst>
          </p:cNvPr>
          <p:cNvSpPr txBox="1"/>
          <p:nvPr/>
        </p:nvSpPr>
        <p:spPr>
          <a:xfrm>
            <a:off x="628650" y="1105765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Input Layer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Two inputs </a:t>
            </a:r>
            <a:r>
              <a:rPr lang="en-US" b="0" i="0" dirty="0">
                <a:solidFill>
                  <a:srgbClr val="273239"/>
                </a:solidFill>
                <a:effectLst/>
                <a:latin typeface="KaTeX_Main"/>
              </a:rPr>
              <a:t>i1​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and </a:t>
            </a:r>
            <a:r>
              <a:rPr lang="en-US" b="0" i="0" dirty="0">
                <a:solidFill>
                  <a:srgbClr val="273239"/>
                </a:solidFill>
                <a:effectLst/>
                <a:latin typeface="KaTeX_Main"/>
              </a:rPr>
              <a:t>i2​​​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Hidden Layer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Two neuron </a:t>
            </a:r>
            <a:r>
              <a:rPr lang="en-US" b="0" i="1" dirty="0">
                <a:solidFill>
                  <a:srgbClr val="273239"/>
                </a:solidFill>
                <a:effectLst/>
                <a:latin typeface="KaTeX_Math"/>
              </a:rPr>
              <a:t>h</a:t>
            </a:r>
            <a:r>
              <a:rPr lang="en-US" b="0" i="0" dirty="0">
                <a:solidFill>
                  <a:srgbClr val="273239"/>
                </a:solidFill>
                <a:effectLst/>
                <a:latin typeface="KaTeX_Main"/>
              </a:rPr>
              <a:t>1​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​ and </a:t>
            </a:r>
            <a:r>
              <a:rPr lang="en-US" b="0" i="0" dirty="0">
                <a:solidFill>
                  <a:srgbClr val="273239"/>
                </a:solidFill>
                <a:effectLst/>
                <a:latin typeface="KaTeX_Main"/>
              </a:rPr>
              <a:t>h2​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Output Layer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One output neuron.</a:t>
            </a:r>
          </a:p>
        </p:txBody>
      </p:sp>
    </p:spTree>
    <p:extLst>
      <p:ext uri="{BB962C8B-B14F-4D97-AF65-F5344CB8AC3E}">
        <p14:creationId xmlns:p14="http://schemas.microsoft.com/office/powerpoint/2010/main" val="255872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FF80-D5A3-5096-A7C9-19282E347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749"/>
            <a:ext cx="7886700" cy="4505974"/>
          </a:xfrm>
        </p:spPr>
        <p:txBody>
          <a:bodyPr>
            <a:normAutofit/>
          </a:bodyPr>
          <a:lstStyle/>
          <a:p>
            <a:r>
              <a:rPr lang="en-US" dirty="0"/>
              <a:t>The input to the hidden neuron </a:t>
            </a:r>
            <a:r>
              <a:rPr lang="en-US" i="1" dirty="0"/>
              <a:t>h</a:t>
            </a:r>
            <a:r>
              <a:rPr lang="en-US" dirty="0"/>
              <a:t>1​ is calculated as a weighted sum of the inputs plus a bias: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order to add non-linearity, we will be using sigmoid activation function in the output layer: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68AA1-01EE-591B-B9D4-7EAC7ED04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441" y="835638"/>
            <a:ext cx="2101958" cy="692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8E3303-897B-8B40-F536-1584C20A30A0}"/>
              </a:ext>
            </a:extLst>
          </p:cNvPr>
          <p:cNvSpPr txBox="1"/>
          <p:nvPr/>
        </p:nvSpPr>
        <p:spPr>
          <a:xfrm>
            <a:off x="628650" y="1496636"/>
            <a:ext cx="7776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output neuron is then a weighted sum of the hidden neuron's output plus a bias: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D8D071-B73C-3B1D-85F2-A5AB151C9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788" y="1944655"/>
            <a:ext cx="2978303" cy="3302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89E232-2ACE-01DC-2B9C-5B03E79CD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162" y="2974670"/>
            <a:ext cx="3943553" cy="11875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B8389B-0AB2-EE72-0D7B-90CE14541D4F}"/>
              </a:ext>
            </a:extLst>
          </p:cNvPr>
          <p:cNvSpPr txBox="1"/>
          <p:nvPr/>
        </p:nvSpPr>
        <p:spPr>
          <a:xfrm>
            <a:off x="512445" y="4194807"/>
            <a:ext cx="826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gives the final output of the network after applying the sigmoid activation function in output layers, introducing the desired non-linearity.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64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Artificial neuron</a:t>
            </a:r>
            <a:endParaRPr/>
          </a:p>
        </p:txBody>
      </p:sp>
      <p:pic>
        <p:nvPicPr>
          <p:cNvPr id="180" name="Google Shape;180;p28" descr="Neural Network— Must know Model Training Tricks - abhishek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8465" y="1184287"/>
            <a:ext cx="2550322" cy="184045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4120394" y="1184287"/>
            <a:ext cx="2329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inputs,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x1= 0.2, x2=0.4, x3=0.6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weights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W1= -0.3, w2= 0.4, w3= -0.8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 function: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 (threshold)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	if  wixi  &gt; 0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	 if wixi ≤ 0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8" descr="Laplace Transforms - 1a. The Unit Step Function (Heaviside Function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8465" y="3097715"/>
            <a:ext cx="2273067" cy="146125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6521072" y="1006470"/>
            <a:ext cx="2329500" cy="24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sum: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x1w1 + x2w2 + x3w3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0.2*-0.3 + 0.4*0.4 + 0.6*-0.8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-0.06+0.16-0.48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-0.38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 f(x1w1 + x2w2 + x3w3)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= f(-0.38) =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Artificial neuron</a:t>
            </a:r>
            <a:endParaRPr/>
          </a:p>
        </p:txBody>
      </p:sp>
      <p:sp>
        <p:nvSpPr>
          <p:cNvPr id="190" name="Google Shape;190;p29"/>
          <p:cNvSpPr txBox="1"/>
          <p:nvPr/>
        </p:nvSpPr>
        <p:spPr>
          <a:xfrm>
            <a:off x="4120394" y="1184287"/>
            <a:ext cx="2329500" cy="3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inputs,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x1= 0.2, x2=0.4, x3=0.6, </a:t>
            </a:r>
            <a:r>
              <a:rPr lang="en" sz="1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b=0.5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weights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W1= -0.3, w2= 0.4, w3= -0.8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 function: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Function (threshold)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	if  wixi  &gt; 0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	 if wixi ≤ 0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9" descr="Laplace Transforms - 1a. The Unit Step Function (Heaviside Function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7650" y="3392906"/>
            <a:ext cx="1813881" cy="116606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 txBox="1"/>
          <p:nvPr/>
        </p:nvSpPr>
        <p:spPr>
          <a:xfrm>
            <a:off x="6521072" y="1006470"/>
            <a:ext cx="2329500" cy="3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sum: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x1w1 + x2w2 + x3w3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0.2*-0.3 + 0.4*0.4 + 0.6*-0.8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-0.06+0.16-0.48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-0.38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 f(x1w1 + x2w2 + x3w3)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= f(-0.38) =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output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 f(x1w1 + x2w2 + x3w3</a:t>
            </a: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Y=f(-0.38+ </a:t>
            </a:r>
            <a:r>
              <a:rPr lang="en" sz="1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Y=f(0.12) =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9" descr="RGL | Homework 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1354" y="1257038"/>
            <a:ext cx="2329313" cy="2063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1" name="Rectangle 41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1536F-8C75-1B73-392F-C35EAD08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80060"/>
            <a:ext cx="3614166" cy="1110996"/>
          </a:xfrm>
        </p:spPr>
        <p:txBody>
          <a:bodyPr anchor="b">
            <a:normAutofit/>
          </a:bodyPr>
          <a:lstStyle/>
          <a:p>
            <a:r>
              <a:rPr lang="en-US" sz="2300" b="1"/>
              <a:t>Types of Activation Functions in Deep Learning</a:t>
            </a:r>
            <a:br>
              <a:rPr lang="en-US" sz="2300" b="1"/>
            </a:br>
            <a:endParaRPr lang="en-US" sz="2300"/>
          </a:p>
        </p:txBody>
      </p:sp>
      <p:sp>
        <p:nvSpPr>
          <p:cNvPr id="41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779651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DD60-2202-7EB8-3CA1-57BF722D0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1995678"/>
            <a:ext cx="3614166" cy="2660904"/>
          </a:xfrm>
        </p:spPr>
        <p:txBody>
          <a:bodyPr anchor="t">
            <a:normAutofit/>
          </a:bodyPr>
          <a:lstStyle/>
          <a:p>
            <a:pPr fontAlgn="base"/>
            <a:r>
              <a:rPr lang="en-US" sz="1100" b="1" dirty="0"/>
              <a:t>1. Linear Activation Function</a:t>
            </a:r>
          </a:p>
          <a:p>
            <a:pPr fontAlgn="base"/>
            <a:r>
              <a:rPr lang="en-US" sz="1100" dirty="0"/>
              <a:t>Linear Activation Function resembles straight line define by y=x. </a:t>
            </a:r>
          </a:p>
          <a:p>
            <a:pPr fontAlgn="base"/>
            <a:r>
              <a:rPr lang="en-US" sz="1100" dirty="0"/>
              <a:t>The range of the output spans from (−∞ to +∞.</a:t>
            </a:r>
          </a:p>
          <a:p>
            <a:pPr fontAlgn="base"/>
            <a:r>
              <a:rPr lang="en-US" sz="1100" dirty="0"/>
              <a:t>Linear activation function is used at just one place i.e. output layer.</a:t>
            </a:r>
          </a:p>
          <a:p>
            <a:pPr fontAlgn="base"/>
            <a:r>
              <a:rPr lang="en-US" sz="1100" dirty="0"/>
              <a:t>Using linear activation across all layers makes the network's ability to learn complex patterns limited.</a:t>
            </a:r>
          </a:p>
          <a:p>
            <a:pPr fontAlgn="base"/>
            <a:r>
              <a:rPr lang="en-US" sz="1100" dirty="0"/>
              <a:t>Linear activation functions are useful for specific tasks but must be combined with non-linear functions to enhance the neural network’s learning and predictive capabilities.</a:t>
            </a:r>
          </a:p>
          <a:p>
            <a:endParaRPr lang="en-US" sz="1100" dirty="0"/>
          </a:p>
        </p:txBody>
      </p:sp>
      <p:pic>
        <p:nvPicPr>
          <p:cNvPr id="4098" name="Picture 2" descr="Linear-Activation-Function">
            <a:extLst>
              <a:ext uri="{FF2B5EF4-FFF2-40B4-BE49-F238E27FC236}">
                <a16:creationId xmlns:a16="http://schemas.microsoft.com/office/drawing/2014/main" id="{69B881CE-CF90-4CA7-2DE4-4013A5EB5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4286" y="1282069"/>
            <a:ext cx="4094226" cy="257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83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3FFC-708E-1F96-54F6-E04F6CE6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80060"/>
            <a:ext cx="3614166" cy="1110996"/>
          </a:xfrm>
        </p:spPr>
        <p:txBody>
          <a:bodyPr anchor="b">
            <a:normAutofit/>
          </a:bodyPr>
          <a:lstStyle/>
          <a:p>
            <a:pPr fontAlgn="base"/>
            <a:r>
              <a:rPr lang="en-US" sz="1800" b="1" dirty="0"/>
              <a:t>Non-Linear Activation Functions</a:t>
            </a:r>
            <a:br>
              <a:rPr lang="en-US" sz="1800" b="1" dirty="0"/>
            </a:br>
            <a:r>
              <a:rPr lang="en-US" sz="1800" b="1" dirty="0"/>
              <a:t>1. Sigmoid Function 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BE43B-9AA2-33E1-6C40-FBBB86300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1995678"/>
            <a:ext cx="3614166" cy="2660904"/>
          </a:xfrm>
        </p:spPr>
        <p:txBody>
          <a:bodyPr anchor="t">
            <a:normAutofit fontScale="85000" lnSpcReduction="20000"/>
          </a:bodyPr>
          <a:lstStyle/>
          <a:p>
            <a:pPr fontAlgn="base"/>
            <a:r>
              <a:rPr lang="en-US" sz="1800" b="1" u="sng" dirty="0">
                <a:hlinkClick r:id="rId2"/>
              </a:rPr>
              <a:t>Sigmoid Activation Function</a:t>
            </a:r>
            <a:r>
              <a:rPr lang="en-US" sz="1800" dirty="0"/>
              <a:t> is characterized by 'S' shape. It is mathematically defined as  </a:t>
            </a:r>
          </a:p>
          <a:p>
            <a:pPr fontAlgn="base"/>
            <a:r>
              <a:rPr lang="en-US" sz="1800" dirty="0"/>
              <a:t>This formula ensures a smooth and continuous output that is essential for gradient-based optimization methods.</a:t>
            </a:r>
          </a:p>
          <a:p>
            <a:pPr fontAlgn="base"/>
            <a:r>
              <a:rPr lang="en-US" sz="1800" dirty="0"/>
              <a:t>It allows neural networks to handle and model complex patterns that linear equations cannot.</a:t>
            </a:r>
          </a:p>
          <a:p>
            <a:pPr fontAlgn="base"/>
            <a:r>
              <a:rPr lang="en-US" sz="1800" dirty="0"/>
              <a:t>The output ranges between 0 and 1, hence useful for binary classification.</a:t>
            </a:r>
          </a:p>
          <a:p>
            <a:pPr fontAlgn="base"/>
            <a:r>
              <a:rPr lang="en-US" sz="1800" dirty="0"/>
              <a:t>.</a:t>
            </a:r>
          </a:p>
          <a:p>
            <a:endParaRPr lang="en-US" sz="1700" dirty="0"/>
          </a:p>
        </p:txBody>
      </p:sp>
      <p:pic>
        <p:nvPicPr>
          <p:cNvPr id="5122" name="Picture 2" descr="Sigmoid-Activation-Function">
            <a:extLst>
              <a:ext uri="{FF2B5EF4-FFF2-40B4-BE49-F238E27FC236}">
                <a16:creationId xmlns:a16="http://schemas.microsoft.com/office/drawing/2014/main" id="{4D990CE4-8A0D-7A2C-9811-286F0C057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4286" y="1133653"/>
            <a:ext cx="4094226" cy="287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19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61CE0-2964-70FB-F543-ADD4F801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246888"/>
            <a:ext cx="5170932" cy="1337310"/>
          </a:xfrm>
        </p:spPr>
        <p:txBody>
          <a:bodyPr anchor="b">
            <a:normAutofit/>
          </a:bodyPr>
          <a:lstStyle/>
          <a:p>
            <a:endParaRPr lang="en-US" sz="4100"/>
          </a:p>
        </p:txBody>
      </p:sp>
      <p:sp>
        <p:nvSpPr>
          <p:cNvPr id="615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1796796"/>
            <a:ext cx="3182691" cy="13716"/>
          </a:xfrm>
          <a:custGeom>
            <a:avLst/>
            <a:gdLst>
              <a:gd name="csX0" fmla="*/ 0 w 3182691"/>
              <a:gd name="csY0" fmla="*/ 0 h 13716"/>
              <a:gd name="csX1" fmla="*/ 636538 w 3182691"/>
              <a:gd name="csY1" fmla="*/ 0 h 13716"/>
              <a:gd name="csX2" fmla="*/ 1273076 w 3182691"/>
              <a:gd name="csY2" fmla="*/ 0 h 13716"/>
              <a:gd name="csX3" fmla="*/ 1909615 w 3182691"/>
              <a:gd name="csY3" fmla="*/ 0 h 13716"/>
              <a:gd name="csX4" fmla="*/ 2482499 w 3182691"/>
              <a:gd name="csY4" fmla="*/ 0 h 13716"/>
              <a:gd name="csX5" fmla="*/ 3182691 w 3182691"/>
              <a:gd name="csY5" fmla="*/ 0 h 13716"/>
              <a:gd name="csX6" fmla="*/ 3182691 w 3182691"/>
              <a:gd name="csY6" fmla="*/ 13716 h 13716"/>
              <a:gd name="csX7" fmla="*/ 2609807 w 3182691"/>
              <a:gd name="csY7" fmla="*/ 13716 h 13716"/>
              <a:gd name="csX8" fmla="*/ 2068749 w 3182691"/>
              <a:gd name="csY8" fmla="*/ 13716 h 13716"/>
              <a:gd name="csX9" fmla="*/ 1432211 w 3182691"/>
              <a:gd name="csY9" fmla="*/ 13716 h 13716"/>
              <a:gd name="csX10" fmla="*/ 859327 w 3182691"/>
              <a:gd name="csY10" fmla="*/ 13716 h 13716"/>
              <a:gd name="csX11" fmla="*/ 0 w 3182691"/>
              <a:gd name="csY11" fmla="*/ 13716 h 13716"/>
              <a:gd name="csX12" fmla="*/ 0 w 3182691"/>
              <a:gd name="csY12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3716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2905" y="4075"/>
                  <a:pt x="3183007" y="9784"/>
                  <a:pt x="3182691" y="13716"/>
                </a:cubicBezTo>
                <a:cubicBezTo>
                  <a:pt x="2947041" y="12115"/>
                  <a:pt x="2875741" y="18365"/>
                  <a:pt x="2609807" y="13716"/>
                </a:cubicBezTo>
                <a:cubicBezTo>
                  <a:pt x="2343873" y="9067"/>
                  <a:pt x="2331203" y="27157"/>
                  <a:pt x="2068749" y="13716"/>
                </a:cubicBezTo>
                <a:cubicBezTo>
                  <a:pt x="1806295" y="275"/>
                  <a:pt x="1713773" y="42516"/>
                  <a:pt x="1432211" y="13716"/>
                </a:cubicBezTo>
                <a:cubicBezTo>
                  <a:pt x="1150649" y="-15084"/>
                  <a:pt x="982765" y="-825"/>
                  <a:pt x="859327" y="13716"/>
                </a:cubicBezTo>
                <a:cubicBezTo>
                  <a:pt x="735889" y="28257"/>
                  <a:pt x="254183" y="30659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182691" h="13716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2125" y="5320"/>
                  <a:pt x="3182367" y="9001"/>
                  <a:pt x="3182691" y="13716"/>
                </a:cubicBezTo>
                <a:cubicBezTo>
                  <a:pt x="3026064" y="-15421"/>
                  <a:pt x="2775005" y="18495"/>
                  <a:pt x="2546153" y="13716"/>
                </a:cubicBezTo>
                <a:cubicBezTo>
                  <a:pt x="2317301" y="8937"/>
                  <a:pt x="2164351" y="-14456"/>
                  <a:pt x="1845961" y="13716"/>
                </a:cubicBezTo>
                <a:cubicBezTo>
                  <a:pt x="1527571" y="41888"/>
                  <a:pt x="1455006" y="1252"/>
                  <a:pt x="1304903" y="13716"/>
                </a:cubicBezTo>
                <a:cubicBezTo>
                  <a:pt x="1154800" y="26180"/>
                  <a:pt x="942107" y="-16628"/>
                  <a:pt x="604711" y="13716"/>
                </a:cubicBezTo>
                <a:cubicBezTo>
                  <a:pt x="267315" y="44060"/>
                  <a:pt x="141927" y="-12967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79BDF-7557-666E-C379-B6A87F3BC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029968"/>
            <a:ext cx="5170932" cy="2612898"/>
          </a:xfrm>
        </p:spPr>
        <p:txBody>
          <a:bodyPr>
            <a:normAutofit/>
          </a:bodyPr>
          <a:lstStyle/>
          <a:p>
            <a:pPr fontAlgn="base"/>
            <a:r>
              <a:rPr lang="en-US" sz="1400" b="1"/>
              <a:t>2. </a:t>
            </a:r>
            <a:r>
              <a:rPr lang="en-US" sz="1400" b="1" dirty="0"/>
              <a:t>Tanh Activation Function </a:t>
            </a:r>
            <a:endParaRPr lang="en-US" sz="1400" dirty="0"/>
          </a:p>
          <a:p>
            <a:pPr fontAlgn="base"/>
            <a:r>
              <a:rPr lang="en-US" sz="1400" b="1" u="sng" dirty="0">
                <a:hlinkClick r:id="rId2"/>
              </a:rPr>
              <a:t>Tanh function</a:t>
            </a:r>
            <a:r>
              <a:rPr lang="en-US" sz="1400" b="1" dirty="0"/>
              <a:t> </a:t>
            </a:r>
            <a:r>
              <a:rPr lang="en-US" sz="1400" dirty="0"/>
              <a:t>(hyperbolic tangent function) is a shifted version of the sigmoid, allowing it to stretch across the y-axis. It is defined as:</a:t>
            </a:r>
          </a:p>
          <a:p>
            <a:pPr fontAlgn="base"/>
            <a:endParaRPr lang="en-US" sz="1400" dirty="0"/>
          </a:p>
          <a:p>
            <a:pPr fontAlgn="base"/>
            <a:r>
              <a:rPr lang="en-US" sz="1400" b="1" dirty="0"/>
              <a:t>Value Range</a:t>
            </a:r>
            <a:r>
              <a:rPr lang="en-US" sz="1400" dirty="0"/>
              <a:t>: Outputs values from -1 to +1.</a:t>
            </a:r>
          </a:p>
          <a:p>
            <a:pPr fontAlgn="base"/>
            <a:r>
              <a:rPr lang="en-US" sz="1400" b="1" dirty="0"/>
              <a:t>Non-linear</a:t>
            </a:r>
            <a:r>
              <a:rPr lang="en-US" sz="1400" dirty="0"/>
              <a:t>: Enables modeling of complex data patterns.</a:t>
            </a:r>
          </a:p>
          <a:p>
            <a:pPr fontAlgn="base"/>
            <a:r>
              <a:rPr lang="en-US" sz="1400" b="1" dirty="0"/>
              <a:t>Use in Hidden Layers</a:t>
            </a:r>
            <a:r>
              <a:rPr lang="en-US" sz="1400" dirty="0"/>
              <a:t>: Commonly used in hidden layers due to its zero-centered output, facilitating easier learning for subsequent layers.</a:t>
            </a:r>
          </a:p>
          <a:p>
            <a:endParaRPr lang="en-US" sz="1400"/>
          </a:p>
        </p:txBody>
      </p:sp>
      <p:pic>
        <p:nvPicPr>
          <p:cNvPr id="6146" name="Picture 2" descr="Tanh-Activation-Function">
            <a:extLst>
              <a:ext uri="{FF2B5EF4-FFF2-40B4-BE49-F238E27FC236}">
                <a16:creationId xmlns:a16="http://schemas.microsoft.com/office/drawing/2014/main" id="{248E5817-B2BE-017F-8A04-32BCF767A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494447"/>
            <a:ext cx="3010662" cy="207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A2C179-D2F0-0B98-799B-ADD4B025D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553324"/>
            <a:ext cx="2996946" cy="64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31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F87D1-1D5B-3860-C429-DE48D8EB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80060"/>
            <a:ext cx="3614166" cy="1110996"/>
          </a:xfrm>
        </p:spPr>
        <p:txBody>
          <a:bodyPr anchor="b">
            <a:normAutofit/>
          </a:bodyPr>
          <a:lstStyle/>
          <a:p>
            <a:r>
              <a:rPr lang="en-US" sz="1800" b="1" dirty="0"/>
              <a:t>3. </a:t>
            </a:r>
            <a:r>
              <a:rPr lang="en-US" sz="1800" b="1" dirty="0" err="1"/>
              <a:t>ReLU</a:t>
            </a:r>
            <a:r>
              <a:rPr lang="en-US" sz="1800" dirty="0"/>
              <a:t> (Rectified Linear Unit) </a:t>
            </a:r>
            <a:r>
              <a:rPr lang="en-US" sz="1800" b="1" dirty="0"/>
              <a:t>Function 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1127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779651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7CC87-7115-502A-DA00-EA7875917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1995678"/>
            <a:ext cx="3614166" cy="2660904"/>
          </a:xfrm>
        </p:spPr>
        <p:txBody>
          <a:bodyPr anchor="t">
            <a:normAutofit lnSpcReduction="10000"/>
          </a:bodyPr>
          <a:lstStyle/>
          <a:p>
            <a:pPr fontAlgn="base"/>
            <a:r>
              <a:rPr lang="en-US" sz="1200" b="1" u="sng" dirty="0" err="1">
                <a:hlinkClick r:id="rId2"/>
              </a:rPr>
              <a:t>ReLU</a:t>
            </a:r>
            <a:r>
              <a:rPr lang="en-US" sz="1200" b="1" u="sng" dirty="0">
                <a:hlinkClick r:id="rId2"/>
              </a:rPr>
              <a:t> activation</a:t>
            </a:r>
            <a:r>
              <a:rPr lang="en-US" sz="1200" dirty="0"/>
              <a:t> is defined by A(x)=max⁡(0,x), this means that if the input x is positive, </a:t>
            </a:r>
            <a:r>
              <a:rPr lang="en-US" sz="1200" dirty="0" err="1"/>
              <a:t>ReLU</a:t>
            </a:r>
            <a:r>
              <a:rPr lang="en-US" sz="1200" dirty="0"/>
              <a:t> returns x, if the input is negative, it returns 0.</a:t>
            </a:r>
          </a:p>
          <a:p>
            <a:pPr fontAlgn="base"/>
            <a:r>
              <a:rPr lang="en-US" sz="1200" b="1" dirty="0"/>
              <a:t>Value Range</a:t>
            </a:r>
            <a:r>
              <a:rPr lang="en-US" sz="1200" dirty="0"/>
              <a:t>: [0,∞), meaning the function only outputs non-negative values.</a:t>
            </a:r>
          </a:p>
          <a:p>
            <a:pPr fontAlgn="base"/>
            <a:r>
              <a:rPr lang="en-US" sz="1200" b="1" dirty="0"/>
              <a:t>Nature</a:t>
            </a:r>
            <a:r>
              <a:rPr lang="en-US" sz="1200" dirty="0"/>
              <a:t>: It is a non-linear activation function, allowing neural networks to learn complex patterns and making backpropagation more efficient.</a:t>
            </a:r>
          </a:p>
          <a:p>
            <a:pPr fontAlgn="base"/>
            <a:r>
              <a:rPr lang="en-US" sz="1200" b="1" dirty="0"/>
              <a:t>Advantage over other Activation: </a:t>
            </a:r>
            <a:r>
              <a:rPr lang="en-US" sz="1200" dirty="0" err="1"/>
              <a:t>ReLU</a:t>
            </a:r>
            <a:r>
              <a:rPr lang="en-US" sz="1200" dirty="0"/>
              <a:t> is less computationally expensive than tanh and sigmoid because it involves simpler mathematical operations. At a time only a few neurons are activated making the network sparse making it efficient and easy for computation.</a:t>
            </a:r>
          </a:p>
          <a:p>
            <a:endParaRPr lang="en-US" sz="900" dirty="0"/>
          </a:p>
        </p:txBody>
      </p:sp>
      <p:pic>
        <p:nvPicPr>
          <p:cNvPr id="11266" name="Picture 2" descr="Lightbox">
            <a:extLst>
              <a:ext uri="{FF2B5EF4-FFF2-40B4-BE49-F238E27FC236}">
                <a16:creationId xmlns:a16="http://schemas.microsoft.com/office/drawing/2014/main" id="{8312419A-EC60-1A7D-8350-F8892F74C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4286" y="1102946"/>
            <a:ext cx="4094226" cy="2937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929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36E15-777A-3406-3350-2480C150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80060"/>
            <a:ext cx="3614166" cy="1110996"/>
          </a:xfrm>
        </p:spPr>
        <p:txBody>
          <a:bodyPr anchor="b">
            <a:normAutofit/>
          </a:bodyPr>
          <a:lstStyle/>
          <a:p>
            <a:pPr fontAlgn="base"/>
            <a:r>
              <a:rPr lang="en-US" sz="2000" b="1" dirty="0"/>
              <a:t> Exponential Linear Units</a:t>
            </a:r>
            <a:br>
              <a:rPr lang="en-US" sz="2000" b="1" dirty="0"/>
            </a:br>
            <a:r>
              <a:rPr lang="en-US" sz="2000" b="1" dirty="0"/>
              <a:t>1. </a:t>
            </a:r>
            <a:r>
              <a:rPr lang="en-US" sz="2000" b="1" dirty="0" err="1"/>
              <a:t>Softmax</a:t>
            </a:r>
            <a:r>
              <a:rPr lang="en-US" sz="2000" b="1" dirty="0"/>
              <a:t> Function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332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779651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B3A9E-EE25-C56F-C4C6-5A732871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1995678"/>
            <a:ext cx="3614166" cy="2660904"/>
          </a:xfrm>
        </p:spPr>
        <p:txBody>
          <a:bodyPr anchor="t">
            <a:normAutofit/>
          </a:bodyPr>
          <a:lstStyle/>
          <a:p>
            <a:pPr fontAlgn="base"/>
            <a:r>
              <a:rPr lang="en-US" sz="1200" b="1" u="sng" dirty="0" err="1">
                <a:hlinkClick r:id="rId2"/>
              </a:rPr>
              <a:t>Softmax</a:t>
            </a:r>
            <a:r>
              <a:rPr lang="en-US" sz="1200" b="1" u="sng" dirty="0">
                <a:hlinkClick r:id="rId2"/>
              </a:rPr>
              <a:t> function</a:t>
            </a:r>
            <a:r>
              <a:rPr lang="en-US" sz="1200" dirty="0"/>
              <a:t> is designed to handle multi-class classification problems. It transforms raw output scores from a neural network into probabilities. It works by squashing the output values of each class into the range of 0 to 1 while ensuring that the sum of all probabilities equals 1.</a:t>
            </a:r>
          </a:p>
          <a:p>
            <a:pPr fontAlgn="base"/>
            <a:r>
              <a:rPr lang="en-US" sz="1200" dirty="0" err="1"/>
              <a:t>Softmax</a:t>
            </a:r>
            <a:r>
              <a:rPr lang="en-US" sz="1200" dirty="0"/>
              <a:t> is a non-linear activation function.</a:t>
            </a:r>
          </a:p>
          <a:p>
            <a:pPr fontAlgn="base"/>
            <a:r>
              <a:rPr lang="en-US" sz="1200" dirty="0"/>
              <a:t>The </a:t>
            </a:r>
            <a:r>
              <a:rPr lang="en-US" sz="1200" dirty="0" err="1"/>
              <a:t>Softmax</a:t>
            </a:r>
            <a:r>
              <a:rPr lang="en-US" sz="1200" dirty="0"/>
              <a:t> function ensures that each class is assigned a probability, helping to identify which class the input belongs to.</a:t>
            </a:r>
          </a:p>
          <a:p>
            <a:endParaRPr lang="en-US" sz="1200" dirty="0"/>
          </a:p>
        </p:txBody>
      </p:sp>
      <p:pic>
        <p:nvPicPr>
          <p:cNvPr id="13314" name="Picture 2" descr="Lightbox">
            <a:extLst>
              <a:ext uri="{FF2B5EF4-FFF2-40B4-BE49-F238E27FC236}">
                <a16:creationId xmlns:a16="http://schemas.microsoft.com/office/drawing/2014/main" id="{A8E8CEE9-220F-77F7-082B-0B443C22F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4286" y="1005709"/>
            <a:ext cx="4094226" cy="313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63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Perceptron </a:t>
            </a:r>
            <a:endParaRPr dirty="0"/>
          </a:p>
        </p:txBody>
      </p:sp>
      <p:sp>
        <p:nvSpPr>
          <p:cNvPr id="200" name="Google Shape;200;p30"/>
          <p:cNvSpPr txBox="1"/>
          <p:nvPr/>
        </p:nvSpPr>
        <p:spPr>
          <a:xfrm>
            <a:off x="0" y="758090"/>
            <a:ext cx="4923300" cy="410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lvl="0" indent="-215900" algn="just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dirty="0"/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 is a fundamental building block in neural networks, designed to mimic the function of a biological neuron. It's a simple model that takes multiple inputs, assigns weights to them, sums them up, and then applies an activation function to produce a binary output (0 or 1). </a:t>
            </a:r>
          </a:p>
          <a:p>
            <a:pPr marL="215900" lvl="0" indent="-215900" algn="just">
              <a:buClr>
                <a:schemeClr val="dk1"/>
              </a:buClr>
              <a:buSzPts val="1400"/>
              <a:buFont typeface="Arial"/>
              <a:buChar char="•"/>
            </a:pPr>
            <a:endParaRPr lang="en" sz="1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15900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 the equation given above:</a:t>
            </a:r>
            <a:endParaRPr sz="11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58800" marR="0" lvl="1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“w” = vector of real-valued weights</a:t>
            </a:r>
            <a:endParaRPr sz="11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58800" marR="0" lvl="1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58800" marR="0" lvl="1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“b” = bias (an element that adjusts the boundary away from origin without any dependence on the input value)</a:t>
            </a:r>
            <a:endParaRPr sz="11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58800" marR="0" lvl="1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58800" marR="0" lvl="1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“x” = vector of input x values</a:t>
            </a:r>
            <a:endParaRPr sz="11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58800" marR="0" lvl="1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58800" marR="0" lvl="1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“f” = activation function that decides whether a neuron will fire or not based on threshold</a:t>
            </a:r>
            <a:endParaRPr sz="1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01" name="Google Shape;201;p30" descr="Multi-Layer Neural Networks with Sigmoid Function— Deep Learning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3738" y="1877305"/>
            <a:ext cx="3910263" cy="213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Perceptron network learning</a:t>
            </a:r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idx="1"/>
          </p:nvPr>
        </p:nvSpPr>
        <p:spPr>
          <a:xfrm>
            <a:off x="259882" y="1628827"/>
            <a:ext cx="4312200" cy="24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 perceptron network to learn any function. 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Learning process of any neural network has following steps:</a:t>
            </a:r>
            <a:endParaRPr/>
          </a:p>
          <a:p>
            <a:pPr marL="520700" lvl="1" indent="-171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Initialize weight values and bias</a:t>
            </a:r>
            <a:endParaRPr/>
          </a:p>
          <a:p>
            <a:pPr marL="520700" lvl="1" indent="-171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Forward Propagate</a:t>
            </a:r>
            <a:endParaRPr/>
          </a:p>
          <a:p>
            <a:pPr marL="520700" lvl="1" indent="-171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Check the error</a:t>
            </a:r>
            <a:endParaRPr/>
          </a:p>
          <a:p>
            <a:pPr marL="520700" lvl="1" indent="-171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Backpropagate and Adjust weights and bias</a:t>
            </a:r>
            <a:endParaRPr/>
          </a:p>
          <a:p>
            <a:pPr marL="520700" lvl="1" indent="-171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Repeat for all training examples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3949" y="1628827"/>
            <a:ext cx="4236568" cy="279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“And Gate” implementation using perceptron</a:t>
            </a:r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idx="1"/>
          </p:nvPr>
        </p:nvSpPr>
        <p:spPr>
          <a:xfrm>
            <a:off x="100277" y="1246664"/>
            <a:ext cx="3984900" cy="344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 1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w1*x1+w2*x2+b, initializing w1, w2, as 1 and b as –1, we get;</a:t>
            </a:r>
            <a:endParaRPr/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x1(1)+x2(1)–1</a:t>
            </a:r>
            <a:endParaRPr/>
          </a:p>
          <a:p>
            <a:pPr marL="17780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Passing the first row of the AND logic table (x1=0, x2=0), we get;</a:t>
            </a:r>
            <a:endParaRPr/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0+0–1 = –1</a:t>
            </a:r>
            <a:endParaRPr/>
          </a:p>
          <a:p>
            <a:pPr marL="17780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Perceptron rule, if Wx+b≤0, then y`=0.</a:t>
            </a:r>
            <a:endParaRPr/>
          </a:p>
          <a:p>
            <a:pPr marL="17780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this row is correct, and no need for Backpropagation.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4693" y="1646278"/>
            <a:ext cx="1713272" cy="272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5136" y="1849467"/>
            <a:ext cx="3264571" cy="251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“And Gate” implementation using perceptron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idx="1"/>
          </p:nvPr>
        </p:nvSpPr>
        <p:spPr>
          <a:xfrm>
            <a:off x="75656" y="1668445"/>
            <a:ext cx="3851700" cy="28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 2 and Row 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Passing (x1=0 and x2=1), we get;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" sz="1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0+1–1 = 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Perceptron rule, if Wx+b≤0, then y`=0. This row is correct, as the output is 0 for the AND gate.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Perceptron rule, this works (for both row 1, row 2 and 3).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b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4693" y="1646278"/>
            <a:ext cx="1713272" cy="272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5136" y="1849467"/>
            <a:ext cx="3264571" cy="251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“And Gate” implementation using perceptron</a:t>
            </a:r>
            <a:endParaRPr/>
          </a:p>
        </p:txBody>
      </p:sp>
      <p:sp>
        <p:nvSpPr>
          <p:cNvPr id="236" name="Google Shape;236;p34"/>
          <p:cNvSpPr txBox="1">
            <a:spLocks noGrp="1"/>
          </p:cNvSpPr>
          <p:nvPr>
            <p:ph idx="1"/>
          </p:nvPr>
        </p:nvSpPr>
        <p:spPr>
          <a:xfrm>
            <a:off x="72190" y="1476378"/>
            <a:ext cx="3912900" cy="301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 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Passing (x1=1 and x2=1), we get;</a:t>
            </a:r>
            <a:endParaRPr/>
          </a:p>
          <a:p>
            <a:pPr marL="3429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" sz="1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	1+1–1 =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Again, from the perceptron rule, this is still valid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Therefore, we can conclude that the model to achieve an AND gate, using the Perceptron algorithm is;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                  x1+x2-1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4693" y="1646278"/>
            <a:ext cx="1713272" cy="272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5136" y="1849467"/>
            <a:ext cx="3264571" cy="251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488" y="319473"/>
            <a:ext cx="5915025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OR</a:t>
            </a:r>
            <a:r>
              <a:rPr spc="-45" dirty="0"/>
              <a:t> </a:t>
            </a:r>
            <a:r>
              <a:rPr spc="-8" dirty="0"/>
              <a:t>Function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6040" y="1309637"/>
          <a:ext cx="2201703" cy="2436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204">
                <a:tc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i="1" spc="5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100" spc="75" baseline="-24024" dirty="0">
                          <a:latin typeface="Times New Roman"/>
                          <a:cs typeface="Times New Roman"/>
                        </a:rPr>
                        <a:t>1</a:t>
                      </a:r>
                      <a:endParaRPr sz="2100" baseline="-24024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400" i="1" spc="-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75" baseline="-24024" dirty="0">
                          <a:latin typeface="Times New Roman"/>
                          <a:cs typeface="Times New Roman"/>
                        </a:rPr>
                        <a:t>2</a:t>
                      </a:r>
                      <a:endParaRPr sz="2100" baseline="-24024">
                        <a:latin typeface="Times New Roman"/>
                        <a:cs typeface="Times New Roman"/>
                      </a:endParaRPr>
                    </a:p>
                  </a:txBody>
                  <a:tcPr marL="0" marR="0" marT="1571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ts val="3540"/>
                        </a:lnSpc>
                      </a:pPr>
                      <a:r>
                        <a:rPr sz="2300" i="1" spc="-50" dirty="0">
                          <a:latin typeface="Times New Roman"/>
                          <a:cs typeface="Times New Roman"/>
                        </a:rPr>
                        <a:t>y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04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204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204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781841" y="1274690"/>
            <a:ext cx="2495550" cy="2064544"/>
            <a:chOff x="5042455" y="1699586"/>
            <a:chExt cx="3327400" cy="2752725"/>
          </a:xfrm>
        </p:grpSpPr>
        <p:sp>
          <p:nvSpPr>
            <p:cNvPr id="5" name="object 5"/>
            <p:cNvSpPr/>
            <p:nvPr/>
          </p:nvSpPr>
          <p:spPr>
            <a:xfrm>
              <a:off x="5056742" y="4285560"/>
              <a:ext cx="3298825" cy="33020"/>
            </a:xfrm>
            <a:custGeom>
              <a:avLst/>
              <a:gdLst/>
              <a:ahLst/>
              <a:cxnLst/>
              <a:rect l="l" t="t" r="r" b="b"/>
              <a:pathLst>
                <a:path w="3298825" h="33020">
                  <a:moveTo>
                    <a:pt x="0" y="0"/>
                  </a:moveTo>
                  <a:lnTo>
                    <a:pt x="3298812" y="32766"/>
                  </a:lnTo>
                </a:path>
              </a:pathLst>
            </a:custGeom>
            <a:ln w="28574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8269323" y="4267470"/>
              <a:ext cx="86360" cy="100330"/>
            </a:xfrm>
            <a:custGeom>
              <a:avLst/>
              <a:gdLst/>
              <a:ahLst/>
              <a:cxnLst/>
              <a:rect l="l" t="t" r="r" b="b"/>
              <a:pathLst>
                <a:path w="86359" h="100329">
                  <a:moveTo>
                    <a:pt x="1003" y="0"/>
                  </a:moveTo>
                  <a:lnTo>
                    <a:pt x="86220" y="50863"/>
                  </a:lnTo>
                  <a:lnTo>
                    <a:pt x="0" y="100012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5209142" y="1713873"/>
              <a:ext cx="0" cy="2724150"/>
            </a:xfrm>
            <a:custGeom>
              <a:avLst/>
              <a:gdLst/>
              <a:ahLst/>
              <a:cxnLst/>
              <a:rect l="l" t="t" r="r" b="b"/>
              <a:pathLst>
                <a:path h="2724150">
                  <a:moveTo>
                    <a:pt x="0" y="2724086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5159146" y="1713875"/>
              <a:ext cx="100330" cy="85725"/>
            </a:xfrm>
            <a:custGeom>
              <a:avLst/>
              <a:gdLst/>
              <a:ahLst/>
              <a:cxnLst/>
              <a:rect l="l" t="t" r="r" b="b"/>
              <a:pathLst>
                <a:path w="100329" h="85725">
                  <a:moveTo>
                    <a:pt x="0" y="85725"/>
                  </a:moveTo>
                  <a:lnTo>
                    <a:pt x="49999" y="0"/>
                  </a:lnTo>
                  <a:lnTo>
                    <a:pt x="100012" y="85712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71206" y="3391690"/>
            <a:ext cx="304324" cy="31842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1988" i="1" spc="53" dirty="0">
                <a:latin typeface="Times New Roman"/>
                <a:cs typeface="Times New Roman"/>
              </a:rPr>
              <a:t>X</a:t>
            </a:r>
            <a:r>
              <a:rPr sz="1744" spc="78" baseline="-23297" dirty="0">
                <a:latin typeface="Times New Roman"/>
                <a:cs typeface="Times New Roman"/>
              </a:rPr>
              <a:t>1</a:t>
            </a:r>
            <a:endParaRPr sz="1744" baseline="-23297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5862" y="1448028"/>
            <a:ext cx="291941" cy="18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410"/>
              </a:lnSpc>
            </a:pPr>
            <a:r>
              <a:rPr i="1" dirty="0">
                <a:latin typeface="Times New Roman"/>
                <a:cs typeface="Times New Roman"/>
              </a:rPr>
              <a:t>X</a:t>
            </a:r>
            <a:r>
              <a:rPr i="1" spc="-229" dirty="0">
                <a:latin typeface="Times New Roman"/>
                <a:cs typeface="Times New Roman"/>
              </a:rPr>
              <a:t> </a:t>
            </a:r>
            <a:r>
              <a:rPr sz="1575" spc="-56" baseline="-23809" dirty="0">
                <a:latin typeface="Times New Roman"/>
                <a:cs typeface="Times New Roman"/>
              </a:rPr>
              <a:t>2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1612" y="3089006"/>
            <a:ext cx="10620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38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1612" y="1990011"/>
            <a:ext cx="10620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38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6230" y="1990011"/>
            <a:ext cx="10620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38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29000" y="2253638"/>
            <a:ext cx="1562100" cy="1339691"/>
          </a:xfrm>
          <a:custGeom>
            <a:avLst/>
            <a:gdLst/>
            <a:ahLst/>
            <a:cxnLst/>
            <a:rect l="l" t="t" r="r" b="b"/>
            <a:pathLst>
              <a:path w="2082800" h="1786254">
                <a:moveTo>
                  <a:pt x="0" y="0"/>
                </a:moveTo>
                <a:lnTo>
                  <a:pt x="2082177" y="1785658"/>
                </a:lnTo>
              </a:path>
            </a:pathLst>
          </a:custGeom>
          <a:ln w="19050">
            <a:solidFill>
              <a:srgbClr val="203864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4644068" y="2577706"/>
            <a:ext cx="1646396" cy="74578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575">
              <a:spcBef>
                <a:spcPts val="90"/>
              </a:spcBef>
            </a:pPr>
            <a:r>
              <a:rPr sz="1838" i="1" spc="56" dirty="0">
                <a:latin typeface="Times New Roman"/>
                <a:cs typeface="Times New Roman"/>
              </a:rPr>
              <a:t>X</a:t>
            </a:r>
            <a:r>
              <a:rPr sz="1631" spc="84" baseline="-22988" dirty="0">
                <a:latin typeface="Times New Roman"/>
                <a:cs typeface="Times New Roman"/>
              </a:rPr>
              <a:t>1</a:t>
            </a:r>
            <a:r>
              <a:rPr sz="1631" spc="225" baseline="-22988" dirty="0">
                <a:latin typeface="Times New Roman"/>
                <a:cs typeface="Times New Roman"/>
              </a:rPr>
              <a:t> </a:t>
            </a:r>
            <a:r>
              <a:rPr sz="1838" dirty="0">
                <a:latin typeface="Symbol"/>
                <a:cs typeface="Symbol"/>
              </a:rPr>
              <a:t></a:t>
            </a:r>
            <a:r>
              <a:rPr sz="1838" spc="41" dirty="0">
                <a:latin typeface="Times New Roman"/>
                <a:cs typeface="Times New Roman"/>
              </a:rPr>
              <a:t> </a:t>
            </a:r>
            <a:r>
              <a:rPr sz="1838" i="1" dirty="0">
                <a:latin typeface="Times New Roman"/>
                <a:cs typeface="Times New Roman"/>
              </a:rPr>
              <a:t>X</a:t>
            </a:r>
            <a:r>
              <a:rPr sz="1838" i="1" spc="-225" dirty="0">
                <a:latin typeface="Times New Roman"/>
                <a:cs typeface="Times New Roman"/>
              </a:rPr>
              <a:t> </a:t>
            </a:r>
            <a:r>
              <a:rPr sz="1631" baseline="-22988" dirty="0">
                <a:latin typeface="Times New Roman"/>
                <a:cs typeface="Times New Roman"/>
              </a:rPr>
              <a:t>2</a:t>
            </a:r>
            <a:r>
              <a:rPr sz="1631" spc="354" baseline="-22988" dirty="0">
                <a:latin typeface="Times New Roman"/>
                <a:cs typeface="Times New Roman"/>
              </a:rPr>
              <a:t> </a:t>
            </a:r>
            <a:r>
              <a:rPr sz="1838" dirty="0">
                <a:latin typeface="Symbol"/>
                <a:cs typeface="Symbol"/>
              </a:rPr>
              <a:t></a:t>
            </a:r>
            <a:r>
              <a:rPr sz="1838" spc="-169" dirty="0">
                <a:latin typeface="Times New Roman"/>
                <a:cs typeface="Times New Roman"/>
              </a:rPr>
              <a:t> </a:t>
            </a:r>
            <a:r>
              <a:rPr sz="1838" dirty="0">
                <a:latin typeface="Times New Roman"/>
                <a:cs typeface="Times New Roman"/>
              </a:rPr>
              <a:t>0.5</a:t>
            </a:r>
            <a:r>
              <a:rPr sz="1838" spc="-75" dirty="0">
                <a:latin typeface="Times New Roman"/>
                <a:cs typeface="Times New Roman"/>
              </a:rPr>
              <a:t> </a:t>
            </a:r>
            <a:r>
              <a:rPr sz="1838" dirty="0">
                <a:latin typeface="Symbol"/>
                <a:cs typeface="Symbol"/>
              </a:rPr>
              <a:t></a:t>
            </a:r>
            <a:r>
              <a:rPr sz="1838" spc="-45" dirty="0">
                <a:latin typeface="Times New Roman"/>
                <a:cs typeface="Times New Roman"/>
              </a:rPr>
              <a:t> </a:t>
            </a:r>
            <a:r>
              <a:rPr sz="1838" spc="-38" dirty="0">
                <a:latin typeface="Times New Roman"/>
                <a:cs typeface="Times New Roman"/>
              </a:rPr>
              <a:t>0</a:t>
            </a:r>
            <a:endParaRPr sz="1838">
              <a:latin typeface="Times New Roman"/>
              <a:cs typeface="Times New Roman"/>
            </a:endParaRPr>
          </a:p>
          <a:p>
            <a:pPr marL="511493">
              <a:spcBef>
                <a:spcPts val="1939"/>
              </a:spcBef>
            </a:pPr>
            <a:r>
              <a:rPr sz="1350" b="1" spc="-38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488" y="319473"/>
            <a:ext cx="5915025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OR</a:t>
            </a:r>
            <a:r>
              <a:rPr spc="-45" dirty="0"/>
              <a:t> </a:t>
            </a:r>
            <a:r>
              <a:rPr spc="-8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1413" y="2568178"/>
            <a:ext cx="85582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728663" algn="l"/>
              </a:tabLst>
            </a:pPr>
            <a:r>
              <a:rPr sz="2400" spc="-38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8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2785" y="2499902"/>
            <a:ext cx="136208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-38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3735" y="1984181"/>
            <a:ext cx="612933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3600" baseline="-40798" dirty="0">
                <a:latin typeface="Symbol"/>
                <a:cs typeface="Symbol"/>
              </a:rPr>
              <a:t></a:t>
            </a:r>
            <a:r>
              <a:rPr sz="3600" spc="11" baseline="-40798" dirty="0">
                <a:latin typeface="Times New Roman"/>
                <a:cs typeface="Times New Roman"/>
              </a:rPr>
              <a:t> </a:t>
            </a:r>
            <a:r>
              <a:rPr sz="3600" baseline="-13888" dirty="0">
                <a:latin typeface="Symbol"/>
                <a:cs typeface="Symbol"/>
              </a:rPr>
              <a:t></a:t>
            </a:r>
            <a:r>
              <a:rPr sz="3600" spc="-23" baseline="-13888" dirty="0">
                <a:latin typeface="Times New Roman"/>
                <a:cs typeface="Times New Roman"/>
              </a:rPr>
              <a:t> </a:t>
            </a:r>
            <a:r>
              <a:rPr sz="2400" spc="-38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2785" y="1915906"/>
            <a:ext cx="136208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-38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2785" y="2598658"/>
            <a:ext cx="136208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-38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1501" y="2568788"/>
            <a:ext cx="308134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dirty="0">
                <a:latin typeface="Symbol"/>
                <a:cs typeface="Symbol"/>
              </a:rPr>
              <a:t></a:t>
            </a:r>
            <a:r>
              <a:rPr sz="2400" spc="-172" dirty="0">
                <a:latin typeface="Times New Roman"/>
                <a:cs typeface="Times New Roman"/>
              </a:rPr>
              <a:t> </a:t>
            </a:r>
            <a:r>
              <a:rPr sz="3600" spc="-56" baseline="-5208" dirty="0">
                <a:latin typeface="Symbol"/>
                <a:cs typeface="Symbol"/>
              </a:rPr>
              <a:t></a:t>
            </a:r>
            <a:endParaRPr sz="3600" baseline="-5208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2451" y="1984791"/>
            <a:ext cx="346234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400" dirty="0">
                <a:latin typeface="Symbol"/>
                <a:cs typeface="Symbol"/>
              </a:rPr>
              <a:t></a:t>
            </a:r>
            <a:r>
              <a:rPr sz="2400" spc="-172" dirty="0">
                <a:latin typeface="Times New Roman"/>
                <a:cs typeface="Times New Roman"/>
              </a:rPr>
              <a:t> </a:t>
            </a:r>
            <a:r>
              <a:rPr sz="3600" spc="-56" baseline="-40798" dirty="0">
                <a:latin typeface="Symbol"/>
                <a:cs typeface="Symbol"/>
              </a:rPr>
              <a:t></a:t>
            </a:r>
            <a:endParaRPr sz="3600" baseline="-40798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0118" y="2568788"/>
            <a:ext cx="136208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-38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2363" y="2201199"/>
            <a:ext cx="893921" cy="930383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8575">
              <a:spcBef>
                <a:spcPts val="795"/>
              </a:spcBef>
            </a:pPr>
            <a:r>
              <a:rPr sz="3600" baseline="2604" dirty="0">
                <a:latin typeface="Symbol"/>
                <a:cs typeface="Symbol"/>
              </a:rPr>
              <a:t></a:t>
            </a:r>
            <a:r>
              <a:rPr sz="3600" spc="416" baseline="26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0.5</a:t>
            </a:r>
            <a:r>
              <a:rPr sz="2400" spc="259" dirty="0">
                <a:latin typeface="Times New Roman"/>
                <a:cs typeface="Times New Roman"/>
              </a:rPr>
              <a:t> </a:t>
            </a:r>
            <a:r>
              <a:rPr sz="3600" spc="-56" baseline="2604" dirty="0">
                <a:latin typeface="Symbol"/>
                <a:cs typeface="Symbol"/>
              </a:rPr>
              <a:t></a:t>
            </a:r>
            <a:endParaRPr sz="3600" baseline="2604">
              <a:latin typeface="Symbol"/>
              <a:cs typeface="Symbol"/>
            </a:endParaRPr>
          </a:p>
          <a:p>
            <a:pPr marL="28575">
              <a:spcBef>
                <a:spcPts val="720"/>
              </a:spcBef>
              <a:tabLst>
                <a:tab pos="747713" algn="l"/>
              </a:tabLst>
            </a:pPr>
            <a:r>
              <a:rPr sz="3600" baseline="-13020" dirty="0">
                <a:latin typeface="Symbol"/>
                <a:cs typeface="Symbol"/>
              </a:rPr>
              <a:t></a:t>
            </a:r>
            <a:r>
              <a:rPr sz="3600" spc="236" baseline="-13020" dirty="0">
                <a:latin typeface="Times New Roman"/>
                <a:cs typeface="Times New Roman"/>
              </a:rPr>
              <a:t> </a:t>
            </a:r>
            <a:r>
              <a:rPr sz="2400" spc="-19" dirty="0">
                <a:latin typeface="Times New Roman"/>
                <a:cs typeface="Times New Roman"/>
              </a:rPr>
              <a:t>1.5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56" baseline="-13020" dirty="0">
                <a:latin typeface="Symbol"/>
                <a:cs typeface="Symbol"/>
              </a:rPr>
              <a:t></a:t>
            </a:r>
            <a:endParaRPr sz="3600" baseline="-1302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2363" y="1835438"/>
            <a:ext cx="89392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3600" baseline="26041" dirty="0">
                <a:latin typeface="Symbol"/>
                <a:cs typeface="Symbol"/>
              </a:rPr>
              <a:t></a:t>
            </a:r>
            <a:r>
              <a:rPr sz="3600" spc="416" baseline="2604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0.5</a:t>
            </a:r>
            <a:r>
              <a:rPr sz="2400" spc="259" dirty="0">
                <a:latin typeface="Times New Roman"/>
                <a:cs typeface="Times New Roman"/>
              </a:rPr>
              <a:t> </a:t>
            </a:r>
            <a:r>
              <a:rPr sz="3600" spc="-56" baseline="26041" dirty="0">
                <a:latin typeface="Symbol"/>
                <a:cs typeface="Symbol"/>
              </a:rPr>
              <a:t></a:t>
            </a:r>
            <a:endParaRPr sz="3600" baseline="26041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1413" y="1378238"/>
            <a:ext cx="85582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600" baseline="-4340" dirty="0">
                <a:latin typeface="Symbol"/>
                <a:cs typeface="Symbol"/>
              </a:rPr>
              <a:t>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0.5</a:t>
            </a:r>
            <a:r>
              <a:rPr sz="3600" spc="-23" baseline="-4340" dirty="0">
                <a:latin typeface="Symbol"/>
                <a:cs typeface="Symbol"/>
              </a:rPr>
              <a:t></a:t>
            </a:r>
            <a:endParaRPr sz="3600" baseline="-434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41504" y="1967722"/>
            <a:ext cx="171926" cy="930383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9525">
              <a:spcBef>
                <a:spcPts val="795"/>
              </a:spcBef>
            </a:pPr>
            <a:r>
              <a:rPr sz="2400" spc="-38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9525">
              <a:spcBef>
                <a:spcPts val="720"/>
              </a:spcBef>
            </a:pPr>
            <a:r>
              <a:rPr sz="2400" spc="-38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5363" y="2276789"/>
            <a:ext cx="503396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3600" baseline="-2604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Symbol"/>
                <a:cs typeface="Symbol"/>
              </a:rPr>
              <a:t></a:t>
            </a:r>
            <a:r>
              <a:rPr sz="2400" spc="-139" dirty="0">
                <a:latin typeface="Times New Roman"/>
                <a:cs typeface="Times New Roman"/>
              </a:rPr>
              <a:t> </a:t>
            </a:r>
            <a:r>
              <a:rPr sz="3600" spc="-56" baseline="-40798" dirty="0">
                <a:latin typeface="Symbol"/>
                <a:cs typeface="Symbol"/>
              </a:rPr>
              <a:t></a:t>
            </a:r>
            <a:endParaRPr sz="3600" baseline="-40798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2921" y="1692792"/>
            <a:ext cx="505778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3600" baseline="-2604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Symbol"/>
                <a:cs typeface="Symbol"/>
              </a:rPr>
              <a:t>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3600" spc="-56" baseline="-40798" dirty="0">
                <a:latin typeface="Symbol"/>
                <a:cs typeface="Symbol"/>
              </a:rPr>
              <a:t></a:t>
            </a:r>
            <a:endParaRPr sz="3600" baseline="-40798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55362" y="1601962"/>
            <a:ext cx="1223010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3600" baseline="40798" dirty="0">
                <a:latin typeface="Times New Roman"/>
                <a:cs typeface="Times New Roman"/>
              </a:rPr>
              <a:t>0</a:t>
            </a:r>
            <a:r>
              <a:rPr sz="3600" baseline="36458" dirty="0">
                <a:latin typeface="Symbol"/>
                <a:cs typeface="Symbol"/>
              </a:rPr>
              <a:t></a:t>
            </a:r>
            <a:r>
              <a:rPr sz="3600" spc="-203" baseline="36458" dirty="0">
                <a:latin typeface="Times New Roman"/>
                <a:cs typeface="Times New Roman"/>
              </a:rPr>
              <a:t> </a:t>
            </a:r>
            <a:r>
              <a:rPr sz="3600" baseline="-4340" dirty="0">
                <a:latin typeface="Symbol"/>
                <a:cs typeface="Symbol"/>
              </a:rPr>
              <a:t>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199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0.5</a:t>
            </a:r>
            <a:r>
              <a:rPr sz="3600" spc="-23" baseline="-4340" dirty="0">
                <a:latin typeface="Symbol"/>
                <a:cs typeface="Symbol"/>
              </a:rPr>
              <a:t></a:t>
            </a:r>
            <a:endParaRPr sz="3600" baseline="-434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2493" y="1286799"/>
            <a:ext cx="1303973" cy="1848583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57150">
              <a:spcBef>
                <a:spcPts val="795"/>
              </a:spcBef>
              <a:tabLst>
                <a:tab pos="557213" algn="l"/>
              </a:tabLst>
            </a:pPr>
            <a:r>
              <a:rPr sz="3600" spc="-28" baseline="-4340" dirty="0">
                <a:latin typeface="Symbol"/>
                <a:cs typeface="Symbol"/>
              </a:rPr>
              <a:t></a:t>
            </a:r>
            <a:r>
              <a:rPr sz="2400" spc="-19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8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57150">
              <a:spcBef>
                <a:spcPts val="720"/>
              </a:spcBef>
              <a:tabLst>
                <a:tab pos="557213" algn="l"/>
              </a:tabLst>
            </a:pPr>
            <a:r>
              <a:rPr sz="3600" spc="-28" baseline="26041" dirty="0">
                <a:latin typeface="Symbol"/>
                <a:cs typeface="Symbol"/>
              </a:rPr>
              <a:t></a:t>
            </a:r>
            <a:r>
              <a:rPr sz="2400" spc="-19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8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57150">
              <a:spcBef>
                <a:spcPts val="720"/>
              </a:spcBef>
              <a:tabLst>
                <a:tab pos="554831" algn="l"/>
              </a:tabLst>
            </a:pPr>
            <a:r>
              <a:rPr sz="3600" spc="-28" baseline="2604" dirty="0">
                <a:latin typeface="Symbol"/>
                <a:cs typeface="Symbol"/>
              </a:rPr>
              <a:t></a:t>
            </a:r>
            <a:r>
              <a:rPr sz="2400" spc="-19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8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57150">
              <a:spcBef>
                <a:spcPts val="720"/>
              </a:spcBef>
              <a:tabLst>
                <a:tab pos="554831" algn="l"/>
                <a:tab pos="988695" algn="l"/>
              </a:tabLst>
            </a:pPr>
            <a:r>
              <a:rPr sz="3600" spc="-28" baseline="-13020" dirty="0">
                <a:latin typeface="Symbol"/>
                <a:cs typeface="Symbol"/>
              </a:rPr>
              <a:t></a:t>
            </a:r>
            <a:r>
              <a:rPr sz="2400" spc="-19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8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9" dirty="0">
                <a:latin typeface="Times New Roman"/>
                <a:cs typeface="Times New Roman"/>
              </a:rPr>
              <a:t>1</a:t>
            </a:r>
            <a:r>
              <a:rPr sz="3600" spc="-28" baseline="-13020" dirty="0">
                <a:latin typeface="Symbol"/>
                <a:cs typeface="Symbol"/>
              </a:rPr>
              <a:t></a:t>
            </a:r>
            <a:endParaRPr sz="3600" baseline="-1302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8802" y="2059162"/>
            <a:ext cx="107680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150" dirty="0">
                <a:latin typeface="Times New Roman"/>
                <a:cs typeface="Times New Roman"/>
              </a:rPr>
              <a:t> </a:t>
            </a:r>
            <a:r>
              <a:rPr sz="2081" i="1" baseline="43543" dirty="0">
                <a:latin typeface="Times New Roman"/>
                <a:cs typeface="Times New Roman"/>
              </a:rPr>
              <a:t>t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27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3600" spc="-56" baseline="13888" dirty="0">
                <a:latin typeface="Symbol"/>
                <a:cs typeface="Symbol"/>
              </a:rPr>
              <a:t></a:t>
            </a:r>
            <a:endParaRPr sz="3600" baseline="13888">
              <a:latin typeface="Symbol"/>
              <a:cs typeface="Symbo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91138" y="2006917"/>
            <a:ext cx="695325" cy="702945"/>
            <a:chOff x="7054850" y="2675889"/>
            <a:chExt cx="927100" cy="937260"/>
          </a:xfrm>
        </p:grpSpPr>
        <p:sp>
          <p:nvSpPr>
            <p:cNvPr id="21" name="object 21"/>
            <p:cNvSpPr/>
            <p:nvPr/>
          </p:nvSpPr>
          <p:spPr>
            <a:xfrm>
              <a:off x="7061200" y="2682239"/>
              <a:ext cx="914400" cy="924560"/>
            </a:xfrm>
            <a:custGeom>
              <a:avLst/>
              <a:gdLst/>
              <a:ahLst/>
              <a:cxnLst/>
              <a:rect l="l" t="t" r="r" b="b"/>
              <a:pathLst>
                <a:path w="914400" h="924560">
                  <a:moveTo>
                    <a:pt x="914400" y="0"/>
                  </a:moveTo>
                  <a:lnTo>
                    <a:pt x="0" y="0"/>
                  </a:lnTo>
                  <a:lnTo>
                    <a:pt x="0" y="924560"/>
                  </a:lnTo>
                  <a:lnTo>
                    <a:pt x="914400" y="92456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61200" y="2682239"/>
              <a:ext cx="914400" cy="924560"/>
            </a:xfrm>
            <a:custGeom>
              <a:avLst/>
              <a:gdLst/>
              <a:ahLst/>
              <a:cxnLst/>
              <a:rect l="l" t="t" r="r" b="b"/>
              <a:pathLst>
                <a:path w="914400" h="924560">
                  <a:moveTo>
                    <a:pt x="0" y="0"/>
                  </a:moveTo>
                  <a:lnTo>
                    <a:pt x="914400" y="0"/>
                  </a:lnTo>
                  <a:lnTo>
                    <a:pt x="914400" y="924560"/>
                  </a:lnTo>
                  <a:lnTo>
                    <a:pt x="0" y="9245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498080" y="2844799"/>
              <a:ext cx="294640" cy="20320"/>
            </a:xfrm>
            <a:custGeom>
              <a:avLst/>
              <a:gdLst/>
              <a:ahLst/>
              <a:cxnLst/>
              <a:rect l="l" t="t" r="r" b="b"/>
              <a:pathLst>
                <a:path w="294640" h="20319">
                  <a:moveTo>
                    <a:pt x="0" y="20320"/>
                  </a:moveTo>
                  <a:lnTo>
                    <a:pt x="294640" y="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4" name="object 24"/>
            <p:cNvSpPr/>
            <p:nvPr/>
          </p:nvSpPr>
          <p:spPr>
            <a:xfrm>
              <a:off x="7213600" y="3403599"/>
              <a:ext cx="294640" cy="0"/>
            </a:xfrm>
            <a:custGeom>
              <a:avLst/>
              <a:gdLst/>
              <a:ahLst/>
              <a:cxnLst/>
              <a:rect l="l" t="t" r="r" b="b"/>
              <a:pathLst>
                <a:path w="294640">
                  <a:moveTo>
                    <a:pt x="0" y="0"/>
                  </a:moveTo>
                  <a:lnTo>
                    <a:pt x="294640" y="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5" name="object 25"/>
            <p:cNvSpPr/>
            <p:nvPr/>
          </p:nvSpPr>
          <p:spPr>
            <a:xfrm>
              <a:off x="7508240" y="2875279"/>
              <a:ext cx="20320" cy="538480"/>
            </a:xfrm>
            <a:custGeom>
              <a:avLst/>
              <a:gdLst/>
              <a:ahLst/>
              <a:cxnLst/>
              <a:rect l="l" t="t" r="r" b="b"/>
              <a:pathLst>
                <a:path w="20320" h="538479">
                  <a:moveTo>
                    <a:pt x="0" y="0"/>
                  </a:moveTo>
                  <a:lnTo>
                    <a:pt x="20320" y="53848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091680" y="3119119"/>
              <a:ext cx="782320" cy="10160"/>
            </a:xfrm>
            <a:custGeom>
              <a:avLst/>
              <a:gdLst/>
              <a:ahLst/>
              <a:cxnLst/>
              <a:rect l="l" t="t" r="r" b="b"/>
              <a:pathLst>
                <a:path w="782320" h="10160">
                  <a:moveTo>
                    <a:pt x="0" y="0"/>
                  </a:moveTo>
                  <a:lnTo>
                    <a:pt x="782320" y="1016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927609" y="2591514"/>
            <a:ext cx="41005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83845" algn="l"/>
              </a:tabLst>
            </a:pPr>
            <a:r>
              <a:rPr sz="2400" spc="-38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8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08559" y="2845718"/>
            <a:ext cx="44815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400" spc="-19" dirty="0">
                <a:latin typeface="Symbol"/>
                <a:cs typeface="Symbol"/>
              </a:rPr>
              <a:t></a:t>
            </a:r>
            <a:r>
              <a:rPr sz="3600" spc="-28" baseline="13020" dirty="0">
                <a:latin typeface="Times New Roman"/>
                <a:cs typeface="Times New Roman"/>
              </a:rPr>
              <a:t>1</a:t>
            </a:r>
            <a:r>
              <a:rPr sz="2400" spc="-19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27609" y="2299516"/>
            <a:ext cx="41005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-19" dirty="0">
                <a:latin typeface="Symbol"/>
                <a:cs typeface="Symbol"/>
              </a:rPr>
              <a:t></a:t>
            </a:r>
            <a:r>
              <a:rPr sz="3600" spc="-28" baseline="-2604" dirty="0">
                <a:latin typeface="Times New Roman"/>
                <a:cs typeface="Times New Roman"/>
              </a:rPr>
              <a:t>1</a:t>
            </a:r>
            <a:r>
              <a:rPr sz="2400" spc="-19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08559" y="1423216"/>
            <a:ext cx="448151" cy="6764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2591"/>
              </a:lnSpc>
              <a:spcBef>
                <a:spcPts val="75"/>
              </a:spcBef>
            </a:pPr>
            <a:r>
              <a:rPr sz="2400" spc="-19" dirty="0">
                <a:latin typeface="Symbol"/>
                <a:cs typeface="Symbol"/>
              </a:rPr>
              <a:t></a:t>
            </a:r>
            <a:r>
              <a:rPr sz="3600" spc="-28" baseline="4340" dirty="0">
                <a:latin typeface="Times New Roman"/>
                <a:cs typeface="Times New Roman"/>
              </a:rPr>
              <a:t>0</a:t>
            </a:r>
            <a:r>
              <a:rPr sz="2400" spc="-19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  <a:p>
            <a:pPr marL="28575">
              <a:lnSpc>
                <a:spcPts val="2591"/>
              </a:lnSpc>
            </a:pPr>
            <a:r>
              <a:rPr sz="2400" spc="-19" dirty="0">
                <a:latin typeface="Symbol"/>
                <a:cs typeface="Symbol"/>
              </a:rPr>
              <a:t></a:t>
            </a:r>
            <a:r>
              <a:rPr sz="3600" spc="-28" baseline="-26041" dirty="0">
                <a:latin typeface="Times New Roman"/>
                <a:cs typeface="Times New Roman"/>
              </a:rPr>
              <a:t>1</a:t>
            </a:r>
            <a:r>
              <a:rPr sz="2400" spc="-19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61919" y="1850831"/>
            <a:ext cx="710089" cy="54053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2400" dirty="0">
                <a:latin typeface="Symbol"/>
                <a:cs typeface="Symbol"/>
              </a:rPr>
              <a:t>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5175" spc="-56" baseline="-23550" dirty="0">
                <a:latin typeface="Symbol"/>
                <a:cs typeface="Symbol"/>
              </a:rPr>
              <a:t></a:t>
            </a:r>
            <a:endParaRPr sz="5175" baseline="-235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85150" y="1874168"/>
            <a:ext cx="1071563" cy="54053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  <a:tabLst>
                <a:tab pos="651510" algn="l"/>
                <a:tab pos="926306" algn="l"/>
              </a:tabLst>
            </a:pPr>
            <a:r>
              <a:rPr sz="5175" spc="-56" baseline="-16908" dirty="0">
                <a:latin typeface="Symbol"/>
                <a:cs typeface="Symbol"/>
              </a:rPr>
              <a:t></a:t>
            </a:r>
            <a:r>
              <a:rPr sz="5175" baseline="-16908" dirty="0">
                <a:latin typeface="Times New Roman"/>
                <a:cs typeface="Times New Roman"/>
              </a:rPr>
              <a:t>	</a:t>
            </a:r>
            <a:r>
              <a:rPr sz="2400" spc="-38" dirty="0">
                <a:latin typeface="Symbol"/>
                <a:cs typeface="Symbol"/>
              </a:rPr>
              <a:t>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8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488" y="319473"/>
            <a:ext cx="5915025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XOR</a:t>
            </a:r>
            <a:r>
              <a:rPr spc="-68" dirty="0"/>
              <a:t> </a:t>
            </a:r>
            <a:r>
              <a:rPr spc="-8" dirty="0"/>
              <a:t>Function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3838" y="1228511"/>
          <a:ext cx="2201703" cy="2436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204">
                <a:tc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400" i="1" spc="5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100" spc="75" baseline="-24024" dirty="0">
                          <a:latin typeface="Times New Roman"/>
                          <a:cs typeface="Times New Roman"/>
                        </a:rPr>
                        <a:t>1</a:t>
                      </a:r>
                      <a:endParaRPr sz="2100" baseline="-24024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400" i="1" spc="-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75" baseline="-24024" dirty="0">
                          <a:latin typeface="Times New Roman"/>
                          <a:cs typeface="Times New Roman"/>
                        </a:rPr>
                        <a:t>2</a:t>
                      </a:r>
                      <a:endParaRPr sz="2100" baseline="-24024">
                        <a:latin typeface="Times New Roman"/>
                        <a:cs typeface="Times New Roman"/>
                      </a:endParaRPr>
                    </a:p>
                  </a:txBody>
                  <a:tcPr marL="0" marR="0" marT="1571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ts val="3540"/>
                        </a:lnSpc>
                      </a:pPr>
                      <a:r>
                        <a:rPr sz="2300" i="1" spc="-50" dirty="0">
                          <a:latin typeface="Times New Roman"/>
                          <a:cs typeface="Times New Roman"/>
                        </a:rPr>
                        <a:t>y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04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204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204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781841" y="1274690"/>
            <a:ext cx="2495550" cy="2064544"/>
            <a:chOff x="5042455" y="1699586"/>
            <a:chExt cx="3327400" cy="2752725"/>
          </a:xfrm>
        </p:grpSpPr>
        <p:sp>
          <p:nvSpPr>
            <p:cNvPr id="5" name="object 5"/>
            <p:cNvSpPr/>
            <p:nvPr/>
          </p:nvSpPr>
          <p:spPr>
            <a:xfrm>
              <a:off x="5056742" y="4285560"/>
              <a:ext cx="3298825" cy="33020"/>
            </a:xfrm>
            <a:custGeom>
              <a:avLst/>
              <a:gdLst/>
              <a:ahLst/>
              <a:cxnLst/>
              <a:rect l="l" t="t" r="r" b="b"/>
              <a:pathLst>
                <a:path w="3298825" h="33020">
                  <a:moveTo>
                    <a:pt x="0" y="0"/>
                  </a:moveTo>
                  <a:lnTo>
                    <a:pt x="3298812" y="32766"/>
                  </a:lnTo>
                </a:path>
              </a:pathLst>
            </a:custGeom>
            <a:ln w="28574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8269323" y="4267470"/>
              <a:ext cx="86360" cy="100330"/>
            </a:xfrm>
            <a:custGeom>
              <a:avLst/>
              <a:gdLst/>
              <a:ahLst/>
              <a:cxnLst/>
              <a:rect l="l" t="t" r="r" b="b"/>
              <a:pathLst>
                <a:path w="86359" h="100329">
                  <a:moveTo>
                    <a:pt x="1003" y="0"/>
                  </a:moveTo>
                  <a:lnTo>
                    <a:pt x="86220" y="50863"/>
                  </a:lnTo>
                  <a:lnTo>
                    <a:pt x="0" y="100012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5209142" y="1713873"/>
              <a:ext cx="0" cy="2724150"/>
            </a:xfrm>
            <a:custGeom>
              <a:avLst/>
              <a:gdLst/>
              <a:ahLst/>
              <a:cxnLst/>
              <a:rect l="l" t="t" r="r" b="b"/>
              <a:pathLst>
                <a:path h="2724150">
                  <a:moveTo>
                    <a:pt x="0" y="2724086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5159146" y="1713875"/>
              <a:ext cx="100330" cy="85725"/>
            </a:xfrm>
            <a:custGeom>
              <a:avLst/>
              <a:gdLst/>
              <a:ahLst/>
              <a:cxnLst/>
              <a:rect l="l" t="t" r="r" b="b"/>
              <a:pathLst>
                <a:path w="100329" h="85725">
                  <a:moveTo>
                    <a:pt x="0" y="85725"/>
                  </a:moveTo>
                  <a:lnTo>
                    <a:pt x="49999" y="0"/>
                  </a:lnTo>
                  <a:lnTo>
                    <a:pt x="100012" y="85712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71206" y="3391690"/>
            <a:ext cx="304324" cy="31842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1988" i="1" spc="53" dirty="0">
                <a:latin typeface="Times New Roman"/>
                <a:cs typeface="Times New Roman"/>
              </a:rPr>
              <a:t>X</a:t>
            </a:r>
            <a:r>
              <a:rPr sz="1744" spc="78" baseline="-23297" dirty="0">
                <a:latin typeface="Times New Roman"/>
                <a:cs typeface="Times New Roman"/>
              </a:rPr>
              <a:t>1</a:t>
            </a:r>
            <a:endParaRPr sz="1744" baseline="-23297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5862" y="1448028"/>
            <a:ext cx="291941" cy="18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410"/>
              </a:lnSpc>
            </a:pPr>
            <a:r>
              <a:rPr i="1" dirty="0">
                <a:latin typeface="Times New Roman"/>
                <a:cs typeface="Times New Roman"/>
              </a:rPr>
              <a:t>X</a:t>
            </a:r>
            <a:r>
              <a:rPr i="1" spc="-229" dirty="0">
                <a:latin typeface="Times New Roman"/>
                <a:cs typeface="Times New Roman"/>
              </a:rPr>
              <a:t> </a:t>
            </a:r>
            <a:r>
              <a:rPr sz="1575" spc="-56" baseline="-23809" dirty="0">
                <a:latin typeface="Times New Roman"/>
                <a:cs typeface="Times New Roman"/>
              </a:rPr>
              <a:t>2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1612" y="3052527"/>
            <a:ext cx="13525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38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6402" y="3061442"/>
            <a:ext cx="13525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38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51612" y="1986565"/>
            <a:ext cx="13525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38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6402" y="1986565"/>
            <a:ext cx="13525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38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13593" y="1579285"/>
            <a:ext cx="2476976" cy="2126933"/>
            <a:chOff x="4551457" y="2105714"/>
            <a:chExt cx="3302635" cy="2835910"/>
          </a:xfrm>
        </p:grpSpPr>
        <p:sp>
          <p:nvSpPr>
            <p:cNvPr id="16" name="object 16"/>
            <p:cNvSpPr/>
            <p:nvPr/>
          </p:nvSpPr>
          <p:spPr>
            <a:xfrm>
              <a:off x="5111827" y="2115239"/>
              <a:ext cx="2732405" cy="2322830"/>
            </a:xfrm>
            <a:custGeom>
              <a:avLst/>
              <a:gdLst/>
              <a:ahLst/>
              <a:cxnLst/>
              <a:rect l="l" t="t" r="r" b="b"/>
              <a:pathLst>
                <a:path w="2732404" h="2322829">
                  <a:moveTo>
                    <a:pt x="0" y="0"/>
                  </a:moveTo>
                  <a:lnTo>
                    <a:pt x="2732189" y="2322715"/>
                  </a:lnTo>
                </a:path>
              </a:pathLst>
            </a:custGeom>
            <a:ln w="19050">
              <a:solidFill>
                <a:srgbClr val="20386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560982" y="3061771"/>
              <a:ext cx="2223770" cy="1870710"/>
            </a:xfrm>
            <a:custGeom>
              <a:avLst/>
              <a:gdLst/>
              <a:ahLst/>
              <a:cxnLst/>
              <a:rect l="l" t="t" r="r" b="b"/>
              <a:pathLst>
                <a:path w="2223770" h="1870710">
                  <a:moveTo>
                    <a:pt x="0" y="0"/>
                  </a:moveTo>
                  <a:lnTo>
                    <a:pt x="2223554" y="1870113"/>
                  </a:lnTo>
                </a:path>
              </a:pathLst>
            </a:custGeom>
            <a:ln w="19050">
              <a:solidFill>
                <a:srgbClr val="20386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488" y="319473"/>
            <a:ext cx="5915025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XOR</a:t>
            </a:r>
            <a:r>
              <a:rPr spc="-68" dirty="0"/>
              <a:t> </a:t>
            </a:r>
            <a:r>
              <a:rPr spc="-8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38396" y="951267"/>
            <a:ext cx="154781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0" y="0"/>
                </a:moveTo>
                <a:lnTo>
                  <a:pt x="205780" y="0"/>
                </a:lnTo>
              </a:path>
            </a:pathLst>
          </a:custGeom>
          <a:ln w="137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5044273" y="951267"/>
            <a:ext cx="154781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0" y="0"/>
                </a:moveTo>
                <a:lnTo>
                  <a:pt x="205780" y="0"/>
                </a:lnTo>
              </a:path>
            </a:pathLst>
          </a:custGeom>
          <a:ln w="137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2236557" y="901441"/>
            <a:ext cx="3169444" cy="3097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1950" i="1" spc="75" dirty="0">
                <a:latin typeface="Times New Roman"/>
                <a:cs typeface="Times New Roman"/>
              </a:rPr>
              <a:t>X</a:t>
            </a:r>
            <a:r>
              <a:rPr sz="1688" spc="113" baseline="-24074" dirty="0">
                <a:latin typeface="Times New Roman"/>
                <a:cs typeface="Times New Roman"/>
              </a:rPr>
              <a:t>1</a:t>
            </a:r>
            <a:r>
              <a:rPr sz="1688" spc="230" baseline="-2407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</a:t>
            </a:r>
            <a:r>
              <a:rPr sz="1950" spc="3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950" i="1" spc="-233" dirty="0">
                <a:latin typeface="Times New Roman"/>
                <a:cs typeface="Times New Roman"/>
              </a:rPr>
              <a:t> </a:t>
            </a:r>
            <a:r>
              <a:rPr sz="1688" baseline="-24074" dirty="0">
                <a:latin typeface="Times New Roman"/>
                <a:cs typeface="Times New Roman"/>
              </a:rPr>
              <a:t>2</a:t>
            </a:r>
            <a:r>
              <a:rPr sz="1688" spc="95" baseline="-24074" dirty="0">
                <a:latin typeface="Times New Roman"/>
                <a:cs typeface="Times New Roman"/>
              </a:rPr>
              <a:t> 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-38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(</a:t>
            </a:r>
            <a:r>
              <a:rPr sz="1950" spc="-270" dirty="0">
                <a:latin typeface="Times New Roman"/>
                <a:cs typeface="Times New Roman"/>
              </a:rPr>
              <a:t> </a:t>
            </a:r>
            <a:r>
              <a:rPr sz="1950" i="1" spc="75" dirty="0">
                <a:latin typeface="Times New Roman"/>
                <a:cs typeface="Times New Roman"/>
              </a:rPr>
              <a:t>X</a:t>
            </a:r>
            <a:r>
              <a:rPr sz="1688" spc="113" baseline="-24074" dirty="0">
                <a:latin typeface="Times New Roman"/>
                <a:cs typeface="Times New Roman"/>
              </a:rPr>
              <a:t>1</a:t>
            </a:r>
            <a:r>
              <a:rPr sz="1688" spc="281" baseline="-2407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950" i="1" spc="-233" dirty="0">
                <a:latin typeface="Times New Roman"/>
                <a:cs typeface="Times New Roman"/>
              </a:rPr>
              <a:t> </a:t>
            </a:r>
            <a:r>
              <a:rPr sz="1688" baseline="-24074" dirty="0">
                <a:latin typeface="Times New Roman"/>
                <a:cs typeface="Times New Roman"/>
              </a:rPr>
              <a:t>2</a:t>
            </a:r>
            <a:r>
              <a:rPr sz="1688" spc="-73" baseline="-2407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).(</a:t>
            </a:r>
            <a:r>
              <a:rPr sz="1950" spc="-278" dirty="0">
                <a:latin typeface="Times New Roman"/>
                <a:cs typeface="Times New Roman"/>
              </a:rPr>
              <a:t> </a:t>
            </a:r>
            <a:r>
              <a:rPr sz="1950" i="1" spc="75" dirty="0">
                <a:latin typeface="Times New Roman"/>
                <a:cs typeface="Times New Roman"/>
              </a:rPr>
              <a:t>X</a:t>
            </a:r>
            <a:r>
              <a:rPr sz="1688" spc="113" baseline="-24074" dirty="0">
                <a:latin typeface="Times New Roman"/>
                <a:cs typeface="Times New Roman"/>
              </a:rPr>
              <a:t>1</a:t>
            </a:r>
            <a:r>
              <a:rPr sz="1688" spc="281" baseline="-2407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56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950" i="1" spc="-229" dirty="0">
                <a:latin typeface="Times New Roman"/>
                <a:cs typeface="Times New Roman"/>
              </a:rPr>
              <a:t> </a:t>
            </a:r>
            <a:r>
              <a:rPr sz="1688" baseline="-24074" dirty="0">
                <a:latin typeface="Times New Roman"/>
                <a:cs typeface="Times New Roman"/>
              </a:rPr>
              <a:t>2</a:t>
            </a:r>
            <a:r>
              <a:rPr sz="1688" spc="-73" baseline="-24074" dirty="0">
                <a:latin typeface="Times New Roman"/>
                <a:cs typeface="Times New Roman"/>
              </a:rPr>
              <a:t> </a:t>
            </a:r>
            <a:r>
              <a:rPr sz="1950" spc="-38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40433" y="1465898"/>
          <a:ext cx="6406038" cy="2581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1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255">
                <a:tc>
                  <a:txBody>
                    <a:bodyPr/>
                    <a:lstStyle/>
                    <a:p>
                      <a:pPr marL="55499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000" i="1" spc="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spc="97" baseline="-24074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 baseline="-24074">
                        <a:latin typeface="Times New Roman"/>
                        <a:cs typeface="Times New Roman"/>
                      </a:endParaRPr>
                    </a:p>
                  </a:txBody>
                  <a:tcPr marL="0" marR="0" marT="12668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52641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9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900" i="1" spc="-3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5" baseline="-24904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 baseline="-24904">
                        <a:latin typeface="Times New Roman"/>
                        <a:cs typeface="Times New Roman"/>
                      </a:endParaRPr>
                    </a:p>
                  </a:txBody>
                  <a:tcPr marL="0" marR="0" marT="871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900" i="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baseline="-24904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405" baseline="-249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1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i="1" spc="7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spc="104" baseline="-24904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225" baseline="-249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Symbol"/>
                          <a:cs typeface="Symbol"/>
                        </a:rPr>
                        <a:t></a:t>
                      </a:r>
                      <a:r>
                        <a:rPr sz="1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900" i="1" spc="-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5" baseline="-24904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 baseline="-24904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900" i="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baseline="-24904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00" spc="719" baseline="-249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19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i="1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spc="142" baseline="-24904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315" baseline="-249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Symbol"/>
                          <a:cs typeface="Symbol"/>
                        </a:rPr>
                        <a:t></a:t>
                      </a:r>
                      <a:r>
                        <a:rPr sz="1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900" i="1" spc="-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5" baseline="-24904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 baseline="-24904">
                        <a:latin typeface="Times New Roman"/>
                        <a:cs typeface="Times New Roman"/>
                      </a:endParaRPr>
                    </a:p>
                  </a:txBody>
                  <a:tcPr marL="0" marR="0" marT="700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baseline="-24074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baseline="-24074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700" spc="652" baseline="-2407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20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i="1" spc="1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spc="150" baseline="-24074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700" spc="225" baseline="-2407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00" i="1" spc="-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75" baseline="-24074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 baseline="-24074">
                        <a:latin typeface="Times New Roman"/>
                        <a:cs typeface="Times New Roman"/>
                      </a:endParaRPr>
                    </a:p>
                  </a:txBody>
                  <a:tcPr marL="0" marR="0" marT="1062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 marL="5105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385723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 marL="5105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385723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 marL="5105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385723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 marL="5105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0" dirty="0">
                          <a:solidFill>
                            <a:srgbClr val="385723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5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103484" y="1576034"/>
            <a:ext cx="148114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0" y="0"/>
                </a:moveTo>
                <a:lnTo>
                  <a:pt x="197346" y="0"/>
                </a:lnTo>
              </a:path>
            </a:pathLst>
          </a:custGeom>
          <a:ln w="134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588627" y="1576034"/>
            <a:ext cx="148114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0" y="0"/>
                </a:moveTo>
                <a:lnTo>
                  <a:pt x="197346" y="0"/>
                </a:lnTo>
              </a:path>
            </a:pathLst>
          </a:custGeom>
          <a:ln w="134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488" y="319473"/>
            <a:ext cx="5915025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XOR</a:t>
            </a:r>
            <a:r>
              <a:rPr spc="-68" dirty="0"/>
              <a:t> </a:t>
            </a:r>
            <a:r>
              <a:rPr spc="-8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8517" y="1519165"/>
            <a:ext cx="99536" cy="261194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sz="1613" spc="-38" dirty="0">
                <a:latin typeface="Symbol"/>
                <a:cs typeface="Symbol"/>
              </a:rPr>
              <a:t></a:t>
            </a:r>
            <a:endParaRPr sz="1613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276" y="1479193"/>
            <a:ext cx="99536" cy="261194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sz="1613" spc="-38" dirty="0">
                <a:latin typeface="Symbol"/>
                <a:cs typeface="Symbol"/>
              </a:rPr>
              <a:t></a:t>
            </a:r>
            <a:endParaRPr sz="1613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0348" y="1576626"/>
            <a:ext cx="466249" cy="261194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28575">
              <a:spcBef>
                <a:spcPts val="101"/>
              </a:spcBef>
            </a:pPr>
            <a:r>
              <a:rPr sz="2419" baseline="-12919" dirty="0">
                <a:latin typeface="Symbol"/>
                <a:cs typeface="Symbol"/>
              </a:rPr>
              <a:t></a:t>
            </a:r>
            <a:r>
              <a:rPr sz="2419" spc="203" baseline="-12919" dirty="0">
                <a:latin typeface="Times New Roman"/>
                <a:cs typeface="Times New Roman"/>
              </a:rPr>
              <a:t> </a:t>
            </a:r>
            <a:r>
              <a:rPr sz="1613" spc="-19" dirty="0">
                <a:latin typeface="Times New Roman"/>
                <a:cs typeface="Times New Roman"/>
              </a:rPr>
              <a:t>1.5</a:t>
            </a:r>
            <a:endParaRPr sz="16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3622" y="1201886"/>
            <a:ext cx="1460659" cy="636521"/>
          </a:xfrm>
          <a:prstGeom prst="rect">
            <a:avLst/>
          </a:prstGeom>
        </p:spPr>
        <p:txBody>
          <a:bodyPr vert="horz" wrap="square" lIns="0" tIns="75248" rIns="0" bIns="0" rtlCol="0">
            <a:spAutoFit/>
          </a:bodyPr>
          <a:lstStyle/>
          <a:p>
            <a:pPr marL="28575">
              <a:spcBef>
                <a:spcPts val="593"/>
              </a:spcBef>
              <a:tabLst>
                <a:tab pos="479108" algn="l"/>
                <a:tab pos="995363" algn="l"/>
              </a:tabLst>
            </a:pPr>
            <a:r>
              <a:rPr sz="1613" spc="-19" dirty="0">
                <a:latin typeface="Times New Roman"/>
                <a:cs typeface="Times New Roman"/>
              </a:rPr>
              <a:t>0.5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-19" dirty="0">
                <a:latin typeface="Times New Roman"/>
                <a:cs typeface="Times New Roman"/>
              </a:rPr>
              <a:t>0.5</a:t>
            </a:r>
            <a:r>
              <a:rPr sz="1613" dirty="0">
                <a:latin typeface="Times New Roman"/>
                <a:cs typeface="Times New Roman"/>
              </a:rPr>
              <a:t>	1.5</a:t>
            </a:r>
            <a:r>
              <a:rPr sz="1613" spc="293" dirty="0">
                <a:latin typeface="Times New Roman"/>
                <a:cs typeface="Times New Roman"/>
              </a:rPr>
              <a:t> </a:t>
            </a:r>
            <a:r>
              <a:rPr sz="2419" spc="-56" baseline="-3875" dirty="0">
                <a:latin typeface="Symbol"/>
                <a:cs typeface="Symbol"/>
              </a:rPr>
              <a:t></a:t>
            </a:r>
            <a:endParaRPr sz="2419" baseline="-3875">
              <a:latin typeface="Symbol"/>
              <a:cs typeface="Symbol"/>
            </a:endParaRPr>
          </a:p>
          <a:p>
            <a:pPr marL="28575">
              <a:spcBef>
                <a:spcPts val="525"/>
              </a:spcBef>
              <a:tabLst>
                <a:tab pos="479108" algn="l"/>
                <a:tab pos="933450" algn="l"/>
              </a:tabLst>
            </a:pPr>
            <a:r>
              <a:rPr sz="1613" spc="-19" dirty="0">
                <a:latin typeface="Times New Roman"/>
                <a:cs typeface="Times New Roman"/>
              </a:rPr>
              <a:t>0.5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-19" dirty="0">
                <a:latin typeface="Times New Roman"/>
                <a:cs typeface="Times New Roman"/>
              </a:rPr>
              <a:t>0.5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dirty="0">
                <a:latin typeface="Symbol"/>
                <a:cs typeface="Symbol"/>
              </a:rPr>
              <a:t></a:t>
            </a:r>
            <a:r>
              <a:rPr sz="1613" spc="-135" dirty="0">
                <a:latin typeface="Times New Roman"/>
                <a:cs typeface="Times New Roman"/>
              </a:rPr>
              <a:t> </a:t>
            </a:r>
            <a:r>
              <a:rPr sz="1613" spc="-15" dirty="0">
                <a:latin typeface="Times New Roman"/>
                <a:cs typeface="Times New Roman"/>
              </a:rPr>
              <a:t>0.5</a:t>
            </a:r>
            <a:r>
              <a:rPr sz="2419" spc="-23" baseline="-14211" dirty="0">
                <a:latin typeface="Symbol"/>
                <a:cs typeface="Symbol"/>
              </a:rPr>
              <a:t></a:t>
            </a:r>
            <a:endParaRPr sz="2419" baseline="-14211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9398" y="1264342"/>
            <a:ext cx="512921" cy="261194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sz="2419" baseline="-3875" dirty="0">
                <a:latin typeface="Symbol"/>
                <a:cs typeface="Symbol"/>
              </a:rPr>
              <a:t></a:t>
            </a:r>
            <a:r>
              <a:rPr sz="1613" dirty="0">
                <a:latin typeface="Symbol"/>
                <a:cs typeface="Symbol"/>
              </a:rPr>
              <a:t></a:t>
            </a:r>
            <a:r>
              <a:rPr sz="1613" spc="-83" dirty="0">
                <a:latin typeface="Times New Roman"/>
                <a:cs typeface="Times New Roman"/>
              </a:rPr>
              <a:t> </a:t>
            </a:r>
            <a:r>
              <a:rPr sz="1613" spc="-19" dirty="0">
                <a:latin typeface="Times New Roman"/>
                <a:cs typeface="Times New Roman"/>
              </a:rPr>
              <a:t>0.5</a:t>
            </a:r>
            <a:endParaRPr sz="16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8072" y="1718611"/>
            <a:ext cx="229076" cy="261194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28575">
              <a:spcBef>
                <a:spcPts val="101"/>
              </a:spcBef>
            </a:pPr>
            <a:r>
              <a:rPr sz="2419" spc="-377" baseline="-2583" dirty="0">
                <a:latin typeface="Times New Roman"/>
                <a:cs typeface="Times New Roman"/>
              </a:rPr>
              <a:t>1</a:t>
            </a:r>
            <a:r>
              <a:rPr sz="1613" spc="-251" dirty="0">
                <a:latin typeface="Symbol"/>
                <a:cs typeface="Symbol"/>
              </a:rPr>
              <a:t></a:t>
            </a:r>
            <a:r>
              <a:rPr sz="2419" spc="-377" baseline="-18087" dirty="0">
                <a:latin typeface="Symbol"/>
                <a:cs typeface="Symbol"/>
              </a:rPr>
              <a:t></a:t>
            </a:r>
            <a:endParaRPr sz="2419" baseline="-18087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93746" y="1718819"/>
            <a:ext cx="243840" cy="261194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28575">
              <a:spcBef>
                <a:spcPts val="101"/>
              </a:spcBef>
            </a:pPr>
            <a:r>
              <a:rPr sz="1613" spc="-214" dirty="0">
                <a:latin typeface="Symbol"/>
                <a:cs typeface="Symbol"/>
              </a:rPr>
              <a:t></a:t>
            </a:r>
            <a:r>
              <a:rPr sz="2419" spc="-320" baseline="-18087" dirty="0">
                <a:latin typeface="Symbol"/>
                <a:cs typeface="Symbol"/>
              </a:rPr>
              <a:t></a:t>
            </a:r>
            <a:r>
              <a:rPr sz="2419" spc="-320" baseline="-2583" dirty="0">
                <a:latin typeface="Times New Roman"/>
                <a:cs typeface="Times New Roman"/>
              </a:rPr>
              <a:t>0</a:t>
            </a:r>
            <a:endParaRPr sz="2419" baseline="-258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6207" y="1319929"/>
            <a:ext cx="361474" cy="261194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28575">
              <a:spcBef>
                <a:spcPts val="101"/>
              </a:spcBef>
            </a:pPr>
            <a:r>
              <a:rPr sz="2419" baseline="-42635" dirty="0">
                <a:latin typeface="Symbol"/>
                <a:cs typeface="Symbol"/>
              </a:rPr>
              <a:t></a:t>
            </a:r>
            <a:r>
              <a:rPr sz="2419" spc="-152" baseline="-42635" dirty="0">
                <a:latin typeface="Times New Roman"/>
                <a:cs typeface="Times New Roman"/>
              </a:rPr>
              <a:t> </a:t>
            </a:r>
            <a:r>
              <a:rPr sz="1613" spc="-19" dirty="0">
                <a:latin typeface="Symbol"/>
                <a:cs typeface="Symbol"/>
              </a:rPr>
              <a:t></a:t>
            </a:r>
            <a:r>
              <a:rPr sz="2419" spc="-28" baseline="-25839" dirty="0">
                <a:latin typeface="Times New Roman"/>
                <a:cs typeface="Times New Roman"/>
              </a:rPr>
              <a:t>0</a:t>
            </a:r>
            <a:endParaRPr sz="2419" baseline="-2583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7233" y="1576626"/>
            <a:ext cx="474345" cy="261194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28575">
              <a:spcBef>
                <a:spcPts val="101"/>
              </a:spcBef>
            </a:pPr>
            <a:r>
              <a:rPr sz="1613" dirty="0">
                <a:latin typeface="Symbol"/>
                <a:cs typeface="Symbol"/>
              </a:rPr>
              <a:t></a:t>
            </a:r>
            <a:r>
              <a:rPr sz="1613" dirty="0">
                <a:latin typeface="Times New Roman"/>
                <a:cs typeface="Times New Roman"/>
              </a:rPr>
              <a:t>1</a:t>
            </a:r>
            <a:r>
              <a:rPr sz="2419" baseline="-14211" dirty="0">
                <a:latin typeface="Symbol"/>
                <a:cs typeface="Symbol"/>
              </a:rPr>
              <a:t></a:t>
            </a:r>
            <a:r>
              <a:rPr sz="2419" spc="-113" baseline="-14211" dirty="0">
                <a:latin typeface="Times New Roman"/>
                <a:cs typeface="Times New Roman"/>
              </a:rPr>
              <a:t> </a:t>
            </a:r>
            <a:r>
              <a:rPr sz="2419" spc="-56" baseline="15503" dirty="0">
                <a:latin typeface="Symbol"/>
                <a:cs typeface="Symbol"/>
              </a:rPr>
              <a:t></a:t>
            </a:r>
            <a:endParaRPr sz="2419" baseline="15503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701" y="1201886"/>
            <a:ext cx="984885" cy="636521"/>
          </a:xfrm>
          <a:prstGeom prst="rect">
            <a:avLst/>
          </a:prstGeom>
        </p:spPr>
        <p:txBody>
          <a:bodyPr vert="horz" wrap="square" lIns="0" tIns="75248" rIns="0" bIns="0" rtlCol="0">
            <a:spAutoFit/>
          </a:bodyPr>
          <a:lstStyle/>
          <a:p>
            <a:pPr marL="38100">
              <a:spcBef>
                <a:spcPts val="593"/>
              </a:spcBef>
              <a:tabLst>
                <a:tab pos="776288" algn="l"/>
              </a:tabLst>
            </a:pPr>
            <a:r>
              <a:rPr sz="2419" baseline="-3875" dirty="0">
                <a:latin typeface="Symbol"/>
                <a:cs typeface="Symbol"/>
              </a:rPr>
              <a:t></a:t>
            </a:r>
            <a:r>
              <a:rPr sz="1613" dirty="0">
                <a:latin typeface="Symbol"/>
                <a:cs typeface="Symbol"/>
              </a:rPr>
              <a:t></a:t>
            </a:r>
            <a:r>
              <a:rPr sz="1613" spc="-90" dirty="0">
                <a:latin typeface="Times New Roman"/>
                <a:cs typeface="Times New Roman"/>
              </a:rPr>
              <a:t> </a:t>
            </a:r>
            <a:r>
              <a:rPr sz="1613" spc="-19" dirty="0">
                <a:latin typeface="Times New Roman"/>
                <a:cs typeface="Times New Roman"/>
              </a:rPr>
              <a:t>0.5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-38" dirty="0">
                <a:latin typeface="Times New Roman"/>
                <a:cs typeface="Times New Roman"/>
              </a:rPr>
              <a:t>1</a:t>
            </a:r>
            <a:endParaRPr sz="1613">
              <a:latin typeface="Times New Roman"/>
              <a:cs typeface="Times New Roman"/>
            </a:endParaRPr>
          </a:p>
          <a:p>
            <a:pPr marL="38100">
              <a:spcBef>
                <a:spcPts val="525"/>
              </a:spcBef>
              <a:tabLst>
                <a:tab pos="723900" algn="l"/>
              </a:tabLst>
            </a:pPr>
            <a:r>
              <a:rPr sz="2419" baseline="-12919" dirty="0">
                <a:latin typeface="Symbol"/>
                <a:cs typeface="Symbol"/>
              </a:rPr>
              <a:t></a:t>
            </a:r>
            <a:r>
              <a:rPr sz="2419" spc="197" baseline="-12919" dirty="0">
                <a:latin typeface="Times New Roman"/>
                <a:cs typeface="Times New Roman"/>
              </a:rPr>
              <a:t> </a:t>
            </a:r>
            <a:r>
              <a:rPr sz="1613" spc="-19" dirty="0">
                <a:latin typeface="Times New Roman"/>
                <a:cs typeface="Times New Roman"/>
              </a:rPr>
              <a:t>1.5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45" dirty="0">
                <a:latin typeface="Symbol"/>
                <a:cs typeface="Symbol"/>
              </a:rPr>
              <a:t></a:t>
            </a:r>
            <a:r>
              <a:rPr sz="1613" spc="45" dirty="0">
                <a:latin typeface="Times New Roman"/>
                <a:cs typeface="Times New Roman"/>
              </a:rPr>
              <a:t>1</a:t>
            </a:r>
            <a:endParaRPr sz="1613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88304" y="1417625"/>
            <a:ext cx="325755" cy="356235"/>
            <a:chOff x="7717738" y="1890166"/>
            <a:chExt cx="434340" cy="474980"/>
          </a:xfrm>
        </p:grpSpPr>
        <p:sp>
          <p:nvSpPr>
            <p:cNvPr id="14" name="object 14"/>
            <p:cNvSpPr/>
            <p:nvPr/>
          </p:nvSpPr>
          <p:spPr>
            <a:xfrm>
              <a:off x="7724088" y="1896516"/>
              <a:ext cx="421640" cy="462280"/>
            </a:xfrm>
            <a:custGeom>
              <a:avLst/>
              <a:gdLst/>
              <a:ahLst/>
              <a:cxnLst/>
              <a:rect l="l" t="t" r="r" b="b"/>
              <a:pathLst>
                <a:path w="421640" h="462280">
                  <a:moveTo>
                    <a:pt x="421640" y="0"/>
                  </a:moveTo>
                  <a:lnTo>
                    <a:pt x="0" y="0"/>
                  </a:lnTo>
                  <a:lnTo>
                    <a:pt x="0" y="462279"/>
                  </a:lnTo>
                  <a:lnTo>
                    <a:pt x="421640" y="462279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724088" y="1896516"/>
              <a:ext cx="421640" cy="462280"/>
            </a:xfrm>
            <a:custGeom>
              <a:avLst/>
              <a:gdLst/>
              <a:ahLst/>
              <a:cxnLst/>
              <a:rect l="l" t="t" r="r" b="b"/>
              <a:pathLst>
                <a:path w="421640" h="462280">
                  <a:moveTo>
                    <a:pt x="0" y="0"/>
                  </a:moveTo>
                  <a:lnTo>
                    <a:pt x="421640" y="0"/>
                  </a:lnTo>
                  <a:lnTo>
                    <a:pt x="421640" y="462279"/>
                  </a:lnTo>
                  <a:lnTo>
                    <a:pt x="0" y="46227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5538" y="1977800"/>
              <a:ext cx="135890" cy="10160"/>
            </a:xfrm>
            <a:custGeom>
              <a:avLst/>
              <a:gdLst/>
              <a:ahLst/>
              <a:cxnLst/>
              <a:rect l="l" t="t" r="r" b="b"/>
              <a:pathLst>
                <a:path w="135890" h="10160">
                  <a:moveTo>
                    <a:pt x="0" y="10160"/>
                  </a:moveTo>
                  <a:lnTo>
                    <a:pt x="135864" y="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7794361" y="2257201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>
                  <a:moveTo>
                    <a:pt x="0" y="0"/>
                  </a:moveTo>
                  <a:lnTo>
                    <a:pt x="135864" y="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930223" y="1993041"/>
              <a:ext cx="9525" cy="269240"/>
            </a:xfrm>
            <a:custGeom>
              <a:avLst/>
              <a:gdLst/>
              <a:ahLst/>
              <a:cxnLst/>
              <a:rect l="l" t="t" r="r" b="b"/>
              <a:pathLst>
                <a:path w="9525" h="269239">
                  <a:moveTo>
                    <a:pt x="0" y="0"/>
                  </a:moveTo>
                  <a:lnTo>
                    <a:pt x="9372" y="26924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38144" y="2114960"/>
              <a:ext cx="361315" cy="5080"/>
            </a:xfrm>
            <a:custGeom>
              <a:avLst/>
              <a:gdLst/>
              <a:ahLst/>
              <a:cxnLst/>
              <a:rect l="l" t="t" r="r" b="b"/>
              <a:pathLst>
                <a:path w="361315" h="5080">
                  <a:moveTo>
                    <a:pt x="0" y="0"/>
                  </a:moveTo>
                  <a:lnTo>
                    <a:pt x="360730" y="508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57252" y="1250594"/>
            <a:ext cx="1047274" cy="598818"/>
          </a:xfrm>
          <a:prstGeom prst="rect">
            <a:avLst/>
          </a:prstGeom>
        </p:spPr>
        <p:txBody>
          <a:bodyPr vert="horz" wrap="square" lIns="0" tIns="63818" rIns="0" bIns="0" rtlCol="0">
            <a:spAutoFit/>
          </a:bodyPr>
          <a:lstStyle/>
          <a:p>
            <a:pPr marL="47625">
              <a:spcBef>
                <a:spcPts val="503"/>
              </a:spcBef>
              <a:tabLst>
                <a:tab pos="358140" algn="l"/>
                <a:tab pos="583883" algn="l"/>
                <a:tab pos="825818" algn="l"/>
              </a:tabLst>
            </a:pPr>
            <a:r>
              <a:rPr sz="2138" spc="-28" baseline="-4385" dirty="0">
                <a:latin typeface="Symbol"/>
                <a:cs typeface="Symbol"/>
              </a:rPr>
              <a:t></a:t>
            </a:r>
            <a:r>
              <a:rPr sz="1425" spc="-19" dirty="0">
                <a:latin typeface="Times New Roman"/>
                <a:cs typeface="Times New Roman"/>
              </a:rPr>
              <a:t>0</a:t>
            </a:r>
            <a:r>
              <a:rPr sz="1425" dirty="0">
                <a:latin typeface="Times New Roman"/>
                <a:cs typeface="Times New Roman"/>
              </a:rPr>
              <a:t>	</a:t>
            </a:r>
            <a:r>
              <a:rPr sz="1425" spc="-38" dirty="0">
                <a:latin typeface="Times New Roman"/>
                <a:cs typeface="Times New Roman"/>
              </a:rPr>
              <a:t>1</a:t>
            </a:r>
            <a:r>
              <a:rPr sz="1425" dirty="0">
                <a:latin typeface="Times New Roman"/>
                <a:cs typeface="Times New Roman"/>
              </a:rPr>
              <a:t>	</a:t>
            </a:r>
            <a:r>
              <a:rPr sz="1425" spc="-38" dirty="0">
                <a:latin typeface="Times New Roman"/>
                <a:cs typeface="Times New Roman"/>
              </a:rPr>
              <a:t>1</a:t>
            </a:r>
            <a:r>
              <a:rPr sz="1425" dirty="0">
                <a:latin typeface="Times New Roman"/>
                <a:cs typeface="Times New Roman"/>
              </a:rPr>
              <a:t>	</a:t>
            </a:r>
            <a:r>
              <a:rPr sz="1425" spc="-19" dirty="0">
                <a:latin typeface="Times New Roman"/>
                <a:cs typeface="Times New Roman"/>
              </a:rPr>
              <a:t>1</a:t>
            </a:r>
            <a:r>
              <a:rPr sz="2138" spc="-28" baseline="-4385" dirty="0">
                <a:latin typeface="Symbol"/>
                <a:cs typeface="Symbol"/>
              </a:rPr>
              <a:t></a:t>
            </a:r>
            <a:endParaRPr sz="2138" baseline="-4385">
              <a:latin typeface="Symbol"/>
              <a:cs typeface="Symbol"/>
            </a:endParaRPr>
          </a:p>
          <a:p>
            <a:pPr marL="47625">
              <a:lnSpc>
                <a:spcPts val="1028"/>
              </a:lnSpc>
              <a:spcBef>
                <a:spcPts val="428"/>
              </a:spcBef>
              <a:tabLst>
                <a:tab pos="358140" algn="l"/>
                <a:tab pos="583883" algn="l"/>
                <a:tab pos="827246" algn="l"/>
              </a:tabLst>
            </a:pPr>
            <a:r>
              <a:rPr sz="2138" spc="-28" baseline="-13157" dirty="0">
                <a:latin typeface="Symbol"/>
                <a:cs typeface="Symbol"/>
              </a:rPr>
              <a:t></a:t>
            </a:r>
            <a:r>
              <a:rPr sz="1425" spc="-19" dirty="0">
                <a:latin typeface="Times New Roman"/>
                <a:cs typeface="Times New Roman"/>
              </a:rPr>
              <a:t>1</a:t>
            </a:r>
            <a:r>
              <a:rPr sz="1425" dirty="0">
                <a:latin typeface="Times New Roman"/>
                <a:cs typeface="Times New Roman"/>
              </a:rPr>
              <a:t>	</a:t>
            </a:r>
            <a:r>
              <a:rPr sz="1425" spc="-38" dirty="0">
                <a:latin typeface="Times New Roman"/>
                <a:cs typeface="Times New Roman"/>
              </a:rPr>
              <a:t>1</a:t>
            </a:r>
            <a:r>
              <a:rPr sz="1425" dirty="0">
                <a:latin typeface="Times New Roman"/>
                <a:cs typeface="Times New Roman"/>
              </a:rPr>
              <a:t>	</a:t>
            </a:r>
            <a:r>
              <a:rPr sz="1425" spc="-38" dirty="0">
                <a:latin typeface="Times New Roman"/>
                <a:cs typeface="Times New Roman"/>
              </a:rPr>
              <a:t>1</a:t>
            </a:r>
            <a:r>
              <a:rPr sz="1425" dirty="0">
                <a:latin typeface="Times New Roman"/>
                <a:cs typeface="Times New Roman"/>
              </a:rPr>
              <a:t>	</a:t>
            </a:r>
            <a:r>
              <a:rPr sz="1425" spc="-19" dirty="0">
                <a:latin typeface="Times New Roman"/>
                <a:cs typeface="Times New Roman"/>
              </a:rPr>
              <a:t>0</a:t>
            </a:r>
            <a:r>
              <a:rPr sz="2138" spc="-28" baseline="26315" dirty="0">
                <a:latin typeface="Symbol"/>
                <a:cs typeface="Symbol"/>
              </a:rPr>
              <a:t></a:t>
            </a:r>
            <a:endParaRPr sz="2138" baseline="26315">
              <a:latin typeface="Symbol"/>
              <a:cs typeface="Symbol"/>
            </a:endParaRPr>
          </a:p>
          <a:p>
            <a:pPr marR="51435" algn="r">
              <a:lnSpc>
                <a:spcPts val="1028"/>
              </a:lnSpc>
            </a:pPr>
            <a:r>
              <a:rPr sz="1425" spc="-38" dirty="0">
                <a:latin typeface="Symbol"/>
                <a:cs typeface="Symbol"/>
              </a:rPr>
              <a:t></a:t>
            </a:r>
            <a:endParaRPr sz="1425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44890" y="3041229"/>
            <a:ext cx="95726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1538" spc="-38" dirty="0">
                <a:latin typeface="Symbol"/>
                <a:cs typeface="Symbol"/>
              </a:rPr>
              <a:t></a:t>
            </a:r>
            <a:endParaRPr sz="1538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75467" y="3586931"/>
            <a:ext cx="95726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1538" spc="-38" dirty="0">
                <a:latin typeface="Symbol"/>
                <a:cs typeface="Symbol"/>
              </a:rPr>
              <a:t></a:t>
            </a:r>
            <a:endParaRPr sz="1538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46891" y="3421435"/>
            <a:ext cx="612933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8100">
              <a:spcBef>
                <a:spcPts val="98"/>
              </a:spcBef>
              <a:tabLst>
                <a:tab pos="507206" algn="l"/>
              </a:tabLst>
            </a:pPr>
            <a:r>
              <a:rPr sz="1538" spc="-19" dirty="0">
                <a:latin typeface="Symbol"/>
                <a:cs typeface="Symbol"/>
              </a:rPr>
              <a:t></a:t>
            </a:r>
            <a:r>
              <a:rPr sz="2306" spc="-28" baseline="-33875" dirty="0">
                <a:latin typeface="Symbol"/>
                <a:cs typeface="Symbol"/>
              </a:rPr>
              <a:t></a:t>
            </a:r>
            <a:r>
              <a:rPr sz="2306" baseline="-33875" dirty="0">
                <a:latin typeface="Times New Roman"/>
                <a:cs typeface="Times New Roman"/>
              </a:rPr>
              <a:t>	</a:t>
            </a:r>
            <a:r>
              <a:rPr sz="1538" spc="-38" dirty="0">
                <a:latin typeface="Symbol"/>
                <a:cs typeface="Symbol"/>
              </a:rPr>
              <a:t></a:t>
            </a:r>
            <a:endParaRPr sz="1538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70266" y="3041229"/>
            <a:ext cx="420053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2306" baseline="-42005" dirty="0">
                <a:latin typeface="Symbol"/>
                <a:cs typeface="Symbol"/>
              </a:rPr>
              <a:t></a:t>
            </a:r>
            <a:r>
              <a:rPr sz="2306" spc="23" baseline="-42005" dirty="0">
                <a:latin typeface="Times New Roman"/>
                <a:cs typeface="Times New Roman"/>
              </a:rPr>
              <a:t> </a:t>
            </a:r>
            <a:r>
              <a:rPr sz="2306" baseline="-13550" dirty="0">
                <a:latin typeface="Symbol"/>
                <a:cs typeface="Symbol"/>
              </a:rPr>
              <a:t></a:t>
            </a:r>
            <a:r>
              <a:rPr sz="2306" spc="17" baseline="-13550" dirty="0">
                <a:latin typeface="Times New Roman"/>
                <a:cs typeface="Times New Roman"/>
              </a:rPr>
              <a:t> </a:t>
            </a:r>
            <a:r>
              <a:rPr sz="1538" spc="-38" dirty="0">
                <a:latin typeface="Symbol"/>
                <a:cs typeface="Symbol"/>
              </a:rPr>
              <a:t></a:t>
            </a:r>
            <a:endParaRPr sz="1538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89316" y="2996779"/>
            <a:ext cx="95726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1538" spc="-38" dirty="0">
                <a:latin typeface="Symbol"/>
                <a:cs typeface="Symbol"/>
              </a:rPr>
              <a:t></a:t>
            </a:r>
            <a:endParaRPr sz="1538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70266" y="3376984"/>
            <a:ext cx="133826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1538" spc="-311" dirty="0">
                <a:latin typeface="Symbol"/>
                <a:cs typeface="Symbol"/>
              </a:rPr>
              <a:t></a:t>
            </a:r>
            <a:r>
              <a:rPr sz="2306" spc="-467" baseline="-17615" dirty="0">
                <a:latin typeface="Symbol"/>
                <a:cs typeface="Symbol"/>
              </a:rPr>
              <a:t></a:t>
            </a:r>
            <a:endParaRPr sz="2306" baseline="-17615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07316" y="3377183"/>
            <a:ext cx="245745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2306" baseline="-12195" dirty="0">
                <a:latin typeface="Symbol"/>
                <a:cs typeface="Symbol"/>
              </a:rPr>
              <a:t></a:t>
            </a:r>
            <a:r>
              <a:rPr sz="2306" spc="-152" baseline="-12195" dirty="0">
                <a:latin typeface="Times New Roman"/>
                <a:cs typeface="Times New Roman"/>
              </a:rPr>
              <a:t> </a:t>
            </a:r>
            <a:r>
              <a:rPr sz="1538" spc="-311" dirty="0">
                <a:latin typeface="Symbol"/>
                <a:cs typeface="Symbol"/>
              </a:rPr>
              <a:t></a:t>
            </a:r>
            <a:r>
              <a:rPr sz="2306" spc="-467" baseline="-17615" dirty="0">
                <a:latin typeface="Symbol"/>
                <a:cs typeface="Symbol"/>
              </a:rPr>
              <a:t></a:t>
            </a:r>
            <a:endParaRPr sz="2306" baseline="-17615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07316" y="3041626"/>
            <a:ext cx="245745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1538" dirty="0">
                <a:latin typeface="Symbol"/>
                <a:cs typeface="Symbol"/>
              </a:rPr>
              <a:t></a:t>
            </a:r>
            <a:r>
              <a:rPr sz="1538" spc="-101" dirty="0">
                <a:latin typeface="Times New Roman"/>
                <a:cs typeface="Times New Roman"/>
              </a:rPr>
              <a:t> </a:t>
            </a:r>
            <a:r>
              <a:rPr sz="2306" spc="-56" baseline="-42005" dirty="0">
                <a:latin typeface="Symbol"/>
                <a:cs typeface="Symbol"/>
              </a:rPr>
              <a:t></a:t>
            </a:r>
            <a:endParaRPr sz="2306" baseline="-42005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14371" y="3421831"/>
            <a:ext cx="95726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1538" spc="-38" dirty="0">
                <a:latin typeface="Symbol"/>
                <a:cs typeface="Symbol"/>
              </a:rPr>
              <a:t></a:t>
            </a:r>
            <a:endParaRPr sz="1538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56417" y="3182516"/>
            <a:ext cx="603409" cy="610071"/>
          </a:xfrm>
          <a:prstGeom prst="rect">
            <a:avLst/>
          </a:prstGeom>
        </p:spPr>
        <p:txBody>
          <a:bodyPr vert="horz" wrap="square" lIns="0" tIns="71914" rIns="0" bIns="0" rtlCol="0">
            <a:spAutoFit/>
          </a:bodyPr>
          <a:lstStyle/>
          <a:p>
            <a:pPr marR="22860" algn="r">
              <a:spcBef>
                <a:spcPts val="566"/>
              </a:spcBef>
            </a:pPr>
            <a:r>
              <a:rPr sz="2306" baseline="2710" dirty="0">
                <a:latin typeface="Symbol"/>
                <a:cs typeface="Symbol"/>
              </a:rPr>
              <a:t></a:t>
            </a:r>
            <a:r>
              <a:rPr sz="2306" spc="287" baseline="2710" dirty="0">
                <a:latin typeface="Times New Roman"/>
                <a:cs typeface="Times New Roman"/>
              </a:rPr>
              <a:t> </a:t>
            </a:r>
            <a:r>
              <a:rPr sz="1538" dirty="0">
                <a:latin typeface="Times New Roman"/>
                <a:cs typeface="Times New Roman"/>
              </a:rPr>
              <a:t>0.5</a:t>
            </a:r>
            <a:r>
              <a:rPr sz="1538" spc="191" dirty="0">
                <a:latin typeface="Times New Roman"/>
                <a:cs typeface="Times New Roman"/>
              </a:rPr>
              <a:t> </a:t>
            </a:r>
            <a:r>
              <a:rPr sz="2306" spc="-56" baseline="2710" dirty="0">
                <a:latin typeface="Symbol"/>
                <a:cs typeface="Symbol"/>
              </a:rPr>
              <a:t></a:t>
            </a:r>
            <a:endParaRPr sz="2306" baseline="2710">
              <a:latin typeface="Symbol"/>
              <a:cs typeface="Symbol"/>
            </a:endParaRPr>
          </a:p>
          <a:p>
            <a:pPr marR="22860" algn="r">
              <a:spcBef>
                <a:spcPts val="499"/>
              </a:spcBef>
            </a:pPr>
            <a:r>
              <a:rPr sz="1538" spc="-15" dirty="0">
                <a:latin typeface="Times New Roman"/>
                <a:cs typeface="Times New Roman"/>
              </a:rPr>
              <a:t>0.5</a:t>
            </a:r>
            <a:r>
              <a:rPr sz="2306" spc="-23" baseline="-13550" dirty="0">
                <a:latin typeface="Symbol"/>
                <a:cs typeface="Symbol"/>
              </a:rPr>
              <a:t></a:t>
            </a:r>
            <a:endParaRPr sz="2306" baseline="-135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56417" y="2944391"/>
            <a:ext cx="603409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2306" baseline="27100" dirty="0">
                <a:latin typeface="Symbol"/>
                <a:cs typeface="Symbol"/>
              </a:rPr>
              <a:t></a:t>
            </a:r>
            <a:r>
              <a:rPr sz="2306" spc="287" baseline="27100" dirty="0">
                <a:latin typeface="Times New Roman"/>
                <a:cs typeface="Times New Roman"/>
              </a:rPr>
              <a:t> </a:t>
            </a:r>
            <a:r>
              <a:rPr sz="1538" dirty="0">
                <a:latin typeface="Times New Roman"/>
                <a:cs typeface="Times New Roman"/>
              </a:rPr>
              <a:t>0.5</a:t>
            </a:r>
            <a:r>
              <a:rPr sz="1538" spc="191" dirty="0">
                <a:latin typeface="Times New Roman"/>
                <a:cs typeface="Times New Roman"/>
              </a:rPr>
              <a:t> </a:t>
            </a:r>
            <a:r>
              <a:rPr sz="2306" spc="-56" baseline="27100" dirty="0">
                <a:latin typeface="Symbol"/>
                <a:cs typeface="Symbol"/>
              </a:rPr>
              <a:t></a:t>
            </a:r>
            <a:endParaRPr sz="2306" baseline="271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75467" y="2646736"/>
            <a:ext cx="565309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2306" baseline="-4065" dirty="0">
                <a:latin typeface="Symbol"/>
                <a:cs typeface="Symbol"/>
              </a:rPr>
              <a:t></a:t>
            </a:r>
            <a:r>
              <a:rPr sz="1538" dirty="0">
                <a:latin typeface="Symbol"/>
                <a:cs typeface="Symbol"/>
              </a:rPr>
              <a:t></a:t>
            </a:r>
            <a:r>
              <a:rPr sz="1538" spc="-101" dirty="0">
                <a:latin typeface="Times New Roman"/>
                <a:cs typeface="Times New Roman"/>
              </a:rPr>
              <a:t> </a:t>
            </a:r>
            <a:r>
              <a:rPr sz="1538" spc="-15" dirty="0">
                <a:latin typeface="Times New Roman"/>
                <a:cs typeface="Times New Roman"/>
              </a:rPr>
              <a:t>0.5</a:t>
            </a:r>
            <a:r>
              <a:rPr sz="2306" spc="-23" baseline="-4065" dirty="0">
                <a:latin typeface="Symbol"/>
                <a:cs typeface="Symbol"/>
              </a:rPr>
              <a:t></a:t>
            </a:r>
            <a:endParaRPr sz="2306" baseline="-4065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49729" y="3030512"/>
            <a:ext cx="118586" cy="610071"/>
          </a:xfrm>
          <a:prstGeom prst="rect">
            <a:avLst/>
          </a:prstGeom>
        </p:spPr>
        <p:txBody>
          <a:bodyPr vert="horz" wrap="square" lIns="0" tIns="71914" rIns="0" bIns="0" rtlCol="0">
            <a:spAutoFit/>
          </a:bodyPr>
          <a:lstStyle/>
          <a:p>
            <a:pPr marL="9525">
              <a:spcBef>
                <a:spcPts val="566"/>
              </a:spcBef>
            </a:pPr>
            <a:r>
              <a:rPr sz="1538" spc="-38" dirty="0">
                <a:latin typeface="Times New Roman"/>
                <a:cs typeface="Times New Roman"/>
              </a:rPr>
              <a:t>1</a:t>
            </a:r>
            <a:endParaRPr sz="1538">
              <a:latin typeface="Times New Roman"/>
              <a:cs typeface="Times New Roman"/>
            </a:endParaRPr>
          </a:p>
          <a:p>
            <a:pPr marL="9525">
              <a:spcBef>
                <a:spcPts val="499"/>
              </a:spcBef>
            </a:pPr>
            <a:r>
              <a:rPr sz="1538" spc="-38" dirty="0">
                <a:latin typeface="Times New Roman"/>
                <a:cs typeface="Times New Roman"/>
              </a:rPr>
              <a:t>1</a:t>
            </a:r>
            <a:endParaRPr sz="1538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22094" y="3231729"/>
            <a:ext cx="200025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2306" spc="-28" baseline="-2710" dirty="0">
                <a:latin typeface="Times New Roman"/>
                <a:cs typeface="Times New Roman"/>
              </a:rPr>
              <a:t>1</a:t>
            </a:r>
            <a:r>
              <a:rPr sz="1538" spc="-19" dirty="0">
                <a:latin typeface="Symbol"/>
                <a:cs typeface="Symbol"/>
              </a:rPr>
              <a:t></a:t>
            </a:r>
            <a:endParaRPr sz="1538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03044" y="2851523"/>
            <a:ext cx="350044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2306" baseline="-25745" dirty="0">
                <a:latin typeface="Times New Roman"/>
                <a:cs typeface="Times New Roman"/>
              </a:rPr>
              <a:t>1</a:t>
            </a:r>
            <a:r>
              <a:rPr sz="1538" dirty="0">
                <a:latin typeface="Symbol"/>
                <a:cs typeface="Symbol"/>
              </a:rPr>
              <a:t></a:t>
            </a:r>
            <a:r>
              <a:rPr sz="1538" spc="-56" dirty="0">
                <a:latin typeface="Times New Roman"/>
                <a:cs typeface="Times New Roman"/>
              </a:rPr>
              <a:t> </a:t>
            </a:r>
            <a:r>
              <a:rPr sz="2306" spc="-56" baseline="-42005" dirty="0">
                <a:latin typeface="Symbol"/>
                <a:cs typeface="Symbol"/>
              </a:rPr>
              <a:t></a:t>
            </a:r>
            <a:endParaRPr sz="2306" baseline="-42005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95321" y="2851523"/>
            <a:ext cx="215741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1538" spc="-19" dirty="0">
                <a:latin typeface="Symbol"/>
                <a:cs typeface="Symbol"/>
              </a:rPr>
              <a:t></a:t>
            </a:r>
            <a:r>
              <a:rPr sz="2306" spc="-28" baseline="-25745" dirty="0">
                <a:latin typeface="Times New Roman"/>
                <a:cs typeface="Times New Roman"/>
              </a:rPr>
              <a:t>1</a:t>
            </a:r>
            <a:endParaRPr sz="2306" baseline="-2574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03044" y="2792389"/>
            <a:ext cx="801053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2306" baseline="42005" dirty="0">
                <a:latin typeface="Times New Roman"/>
                <a:cs typeface="Times New Roman"/>
              </a:rPr>
              <a:t>1</a:t>
            </a:r>
            <a:r>
              <a:rPr sz="2306" baseline="37940" dirty="0">
                <a:latin typeface="Symbol"/>
                <a:cs typeface="Symbol"/>
              </a:rPr>
              <a:t></a:t>
            </a:r>
            <a:r>
              <a:rPr sz="2306" spc="-84" baseline="37940" dirty="0">
                <a:latin typeface="Times New Roman"/>
                <a:cs typeface="Times New Roman"/>
              </a:rPr>
              <a:t> </a:t>
            </a:r>
            <a:r>
              <a:rPr sz="2306" spc="-11" baseline="-4065" dirty="0">
                <a:latin typeface="Symbol"/>
                <a:cs typeface="Symbol"/>
              </a:rPr>
              <a:t></a:t>
            </a:r>
            <a:r>
              <a:rPr sz="1538" spc="-8" dirty="0">
                <a:latin typeface="Symbol"/>
                <a:cs typeface="Symbol"/>
              </a:rPr>
              <a:t></a:t>
            </a:r>
            <a:r>
              <a:rPr sz="1538" spc="-8" dirty="0">
                <a:latin typeface="Times New Roman"/>
                <a:cs typeface="Times New Roman"/>
              </a:rPr>
              <a:t>1.5</a:t>
            </a:r>
            <a:r>
              <a:rPr sz="2306" spc="-11" baseline="-4065" dirty="0">
                <a:latin typeface="Symbol"/>
                <a:cs typeface="Symbol"/>
              </a:rPr>
              <a:t></a:t>
            </a:r>
            <a:endParaRPr sz="2306" baseline="-4065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76271" y="2587204"/>
            <a:ext cx="874395" cy="1211646"/>
          </a:xfrm>
          <a:prstGeom prst="rect">
            <a:avLst/>
          </a:prstGeom>
        </p:spPr>
        <p:txBody>
          <a:bodyPr vert="horz" wrap="square" lIns="0" tIns="71914" rIns="0" bIns="0" rtlCol="0">
            <a:spAutoFit/>
          </a:bodyPr>
          <a:lstStyle/>
          <a:p>
            <a:pPr marL="47625">
              <a:spcBef>
                <a:spcPts val="566"/>
              </a:spcBef>
              <a:tabLst>
                <a:tab pos="373856" algn="l"/>
              </a:tabLst>
            </a:pPr>
            <a:r>
              <a:rPr sz="2306" spc="-28" baseline="-4065" dirty="0">
                <a:latin typeface="Symbol"/>
                <a:cs typeface="Symbol"/>
              </a:rPr>
              <a:t></a:t>
            </a:r>
            <a:r>
              <a:rPr sz="1538" spc="-19" dirty="0">
                <a:latin typeface="Times New Roman"/>
                <a:cs typeface="Times New Roman"/>
              </a:rPr>
              <a:t>1</a:t>
            </a:r>
            <a:r>
              <a:rPr sz="1538" dirty="0">
                <a:latin typeface="Times New Roman"/>
                <a:cs typeface="Times New Roman"/>
              </a:rPr>
              <a:t>	</a:t>
            </a:r>
            <a:r>
              <a:rPr sz="1538" spc="-38" dirty="0">
                <a:latin typeface="Times New Roman"/>
                <a:cs typeface="Times New Roman"/>
              </a:rPr>
              <a:t>0</a:t>
            </a:r>
            <a:endParaRPr sz="1538">
              <a:latin typeface="Times New Roman"/>
              <a:cs typeface="Times New Roman"/>
            </a:endParaRPr>
          </a:p>
          <a:p>
            <a:pPr marL="47625">
              <a:spcBef>
                <a:spcPts val="499"/>
              </a:spcBef>
              <a:tabLst>
                <a:tab pos="371951" algn="l"/>
              </a:tabLst>
            </a:pPr>
            <a:r>
              <a:rPr sz="2306" spc="-56" baseline="-27100" dirty="0">
                <a:latin typeface="Symbol"/>
                <a:cs typeface="Symbol"/>
              </a:rPr>
              <a:t></a:t>
            </a:r>
            <a:r>
              <a:rPr sz="2306" baseline="-27100" dirty="0">
                <a:latin typeface="Times New Roman"/>
                <a:cs typeface="Times New Roman"/>
              </a:rPr>
              <a:t>	</a:t>
            </a:r>
            <a:r>
              <a:rPr sz="1538" spc="-38" dirty="0">
                <a:latin typeface="Times New Roman"/>
                <a:cs typeface="Times New Roman"/>
              </a:rPr>
              <a:t>1</a:t>
            </a:r>
            <a:endParaRPr sz="1538">
              <a:latin typeface="Times New Roman"/>
              <a:cs typeface="Times New Roman"/>
            </a:endParaRPr>
          </a:p>
          <a:p>
            <a:pPr marL="47625">
              <a:spcBef>
                <a:spcPts val="499"/>
              </a:spcBef>
              <a:tabLst>
                <a:tab pos="371951" algn="l"/>
              </a:tabLst>
            </a:pPr>
            <a:r>
              <a:rPr sz="2306" spc="-28" baseline="2710" dirty="0">
                <a:latin typeface="Symbol"/>
                <a:cs typeface="Symbol"/>
              </a:rPr>
              <a:t></a:t>
            </a:r>
            <a:r>
              <a:rPr sz="1538" spc="-19" dirty="0">
                <a:latin typeface="Times New Roman"/>
                <a:cs typeface="Times New Roman"/>
              </a:rPr>
              <a:t>1</a:t>
            </a:r>
            <a:r>
              <a:rPr sz="1538" dirty="0">
                <a:latin typeface="Times New Roman"/>
                <a:cs typeface="Times New Roman"/>
              </a:rPr>
              <a:t>	</a:t>
            </a:r>
            <a:r>
              <a:rPr sz="1538" spc="-38" dirty="0">
                <a:latin typeface="Times New Roman"/>
                <a:cs typeface="Times New Roman"/>
              </a:rPr>
              <a:t>1</a:t>
            </a:r>
            <a:endParaRPr sz="1538">
              <a:latin typeface="Times New Roman"/>
              <a:cs typeface="Times New Roman"/>
            </a:endParaRPr>
          </a:p>
          <a:p>
            <a:pPr marL="47625">
              <a:spcBef>
                <a:spcPts val="499"/>
              </a:spcBef>
              <a:tabLst>
                <a:tab pos="371951" algn="l"/>
                <a:tab pos="656749" algn="l"/>
              </a:tabLst>
            </a:pPr>
            <a:r>
              <a:rPr sz="2306" spc="-28" baseline="-13550" dirty="0">
                <a:latin typeface="Symbol"/>
                <a:cs typeface="Symbol"/>
              </a:rPr>
              <a:t></a:t>
            </a:r>
            <a:r>
              <a:rPr sz="1538" spc="-19" dirty="0">
                <a:latin typeface="Times New Roman"/>
                <a:cs typeface="Times New Roman"/>
              </a:rPr>
              <a:t>1</a:t>
            </a:r>
            <a:r>
              <a:rPr sz="1538" dirty="0">
                <a:latin typeface="Times New Roman"/>
                <a:cs typeface="Times New Roman"/>
              </a:rPr>
              <a:t>	</a:t>
            </a:r>
            <a:r>
              <a:rPr sz="1538" spc="-38" dirty="0">
                <a:latin typeface="Times New Roman"/>
                <a:cs typeface="Times New Roman"/>
              </a:rPr>
              <a:t>1</a:t>
            </a:r>
            <a:r>
              <a:rPr sz="1538" dirty="0">
                <a:latin typeface="Times New Roman"/>
                <a:cs typeface="Times New Roman"/>
              </a:rPr>
              <a:t>	</a:t>
            </a:r>
            <a:r>
              <a:rPr sz="1538" spc="-19" dirty="0">
                <a:latin typeface="Times New Roman"/>
                <a:cs typeface="Times New Roman"/>
              </a:rPr>
              <a:t>0</a:t>
            </a:r>
            <a:r>
              <a:rPr sz="2306" spc="-28" baseline="-13550" dirty="0">
                <a:latin typeface="Symbol"/>
                <a:cs typeface="Symbol"/>
              </a:rPr>
              <a:t></a:t>
            </a:r>
            <a:endParaRPr sz="2306" baseline="-1355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32120" y="3221959"/>
            <a:ext cx="77153" cy="149559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900" spc="-38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32537" y="3090044"/>
            <a:ext cx="551498" cy="2491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  <a:tabLst>
                <a:tab pos="432435" algn="l"/>
              </a:tabLst>
            </a:pPr>
            <a:r>
              <a:rPr sz="1538" i="1" dirty="0">
                <a:latin typeface="Times New Roman"/>
                <a:cs typeface="Times New Roman"/>
              </a:rPr>
              <a:t>h</a:t>
            </a:r>
            <a:r>
              <a:rPr sz="1538" i="1" spc="-75" dirty="0">
                <a:latin typeface="Times New Roman"/>
                <a:cs typeface="Times New Roman"/>
              </a:rPr>
              <a:t> </a:t>
            </a:r>
            <a:r>
              <a:rPr sz="1538" i="1" spc="-45" dirty="0">
                <a:latin typeface="Times New Roman"/>
                <a:cs typeface="Times New Roman"/>
              </a:rPr>
              <a:t>W</a:t>
            </a:r>
            <a:r>
              <a:rPr sz="1538" i="1" dirty="0">
                <a:latin typeface="Times New Roman"/>
                <a:cs typeface="Times New Roman"/>
              </a:rPr>
              <a:t>	</a:t>
            </a:r>
            <a:r>
              <a:rPr sz="1538" spc="-38" dirty="0">
                <a:latin typeface="Symbol"/>
                <a:cs typeface="Symbol"/>
              </a:rPr>
              <a:t></a:t>
            </a:r>
            <a:endParaRPr sz="1538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39346" y="3083466"/>
            <a:ext cx="51435" cy="149559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900" i="1" spc="-38" dirty="0">
                <a:latin typeface="Times New Roman"/>
                <a:cs typeface="Times New Roman"/>
              </a:rPr>
              <a:t>t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668269" y="3122666"/>
            <a:ext cx="390525" cy="384810"/>
            <a:chOff x="6224358" y="4163555"/>
            <a:chExt cx="520700" cy="513080"/>
          </a:xfrm>
        </p:grpSpPr>
        <p:sp>
          <p:nvSpPr>
            <p:cNvPr id="43" name="object 43"/>
            <p:cNvSpPr/>
            <p:nvPr/>
          </p:nvSpPr>
          <p:spPr>
            <a:xfrm>
              <a:off x="6230708" y="4169905"/>
              <a:ext cx="508000" cy="500380"/>
            </a:xfrm>
            <a:custGeom>
              <a:avLst/>
              <a:gdLst/>
              <a:ahLst/>
              <a:cxnLst/>
              <a:rect l="l" t="t" r="r" b="b"/>
              <a:pathLst>
                <a:path w="508000" h="500379">
                  <a:moveTo>
                    <a:pt x="507390" y="0"/>
                  </a:moveTo>
                  <a:lnTo>
                    <a:pt x="0" y="0"/>
                  </a:lnTo>
                  <a:lnTo>
                    <a:pt x="0" y="500240"/>
                  </a:lnTo>
                  <a:lnTo>
                    <a:pt x="507390" y="500240"/>
                  </a:lnTo>
                  <a:lnTo>
                    <a:pt x="507390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4" name="object 44"/>
            <p:cNvSpPr/>
            <p:nvPr/>
          </p:nvSpPr>
          <p:spPr>
            <a:xfrm>
              <a:off x="6230708" y="4169905"/>
              <a:ext cx="508000" cy="500380"/>
            </a:xfrm>
            <a:custGeom>
              <a:avLst/>
              <a:gdLst/>
              <a:ahLst/>
              <a:cxnLst/>
              <a:rect l="l" t="t" r="r" b="b"/>
              <a:pathLst>
                <a:path w="508000" h="500379">
                  <a:moveTo>
                    <a:pt x="0" y="0"/>
                  </a:moveTo>
                  <a:lnTo>
                    <a:pt x="507390" y="0"/>
                  </a:lnTo>
                  <a:lnTo>
                    <a:pt x="507390" y="500240"/>
                  </a:lnTo>
                  <a:lnTo>
                    <a:pt x="0" y="50024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5" name="object 45"/>
            <p:cNvSpPr/>
            <p:nvPr/>
          </p:nvSpPr>
          <p:spPr>
            <a:xfrm>
              <a:off x="6473121" y="4257852"/>
              <a:ext cx="163830" cy="11430"/>
            </a:xfrm>
            <a:custGeom>
              <a:avLst/>
              <a:gdLst/>
              <a:ahLst/>
              <a:cxnLst/>
              <a:rect l="l" t="t" r="r" b="b"/>
              <a:pathLst>
                <a:path w="163829" h="11429">
                  <a:moveTo>
                    <a:pt x="0" y="10998"/>
                  </a:moveTo>
                  <a:lnTo>
                    <a:pt x="163487" y="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6" name="object 46"/>
            <p:cNvSpPr/>
            <p:nvPr/>
          </p:nvSpPr>
          <p:spPr>
            <a:xfrm>
              <a:off x="6315267" y="4560199"/>
              <a:ext cx="163830" cy="0"/>
            </a:xfrm>
            <a:custGeom>
              <a:avLst/>
              <a:gdLst/>
              <a:ahLst/>
              <a:cxnLst/>
              <a:rect l="l" t="t" r="r" b="b"/>
              <a:pathLst>
                <a:path w="163829">
                  <a:moveTo>
                    <a:pt x="0" y="0"/>
                  </a:moveTo>
                  <a:lnTo>
                    <a:pt x="163487" y="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7" name="object 47"/>
            <p:cNvSpPr/>
            <p:nvPr/>
          </p:nvSpPr>
          <p:spPr>
            <a:xfrm>
              <a:off x="6478758" y="4274348"/>
              <a:ext cx="11430" cy="291465"/>
            </a:xfrm>
            <a:custGeom>
              <a:avLst/>
              <a:gdLst/>
              <a:ahLst/>
              <a:cxnLst/>
              <a:rect l="l" t="t" r="r" b="b"/>
              <a:pathLst>
                <a:path w="11429" h="291464">
                  <a:moveTo>
                    <a:pt x="0" y="0"/>
                  </a:moveTo>
                  <a:lnTo>
                    <a:pt x="11277" y="291350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8" name="object 48"/>
            <p:cNvSpPr/>
            <p:nvPr/>
          </p:nvSpPr>
          <p:spPr>
            <a:xfrm>
              <a:off x="6247616" y="4406280"/>
              <a:ext cx="434340" cy="5715"/>
            </a:xfrm>
            <a:custGeom>
              <a:avLst/>
              <a:gdLst/>
              <a:ahLst/>
              <a:cxnLst/>
              <a:rect l="l" t="t" r="r" b="b"/>
              <a:pathLst>
                <a:path w="434340" h="5714">
                  <a:moveTo>
                    <a:pt x="0" y="0"/>
                  </a:moveTo>
                  <a:lnTo>
                    <a:pt x="434098" y="5499"/>
                  </a:lnTo>
                </a:path>
              </a:pathLst>
            </a:custGeom>
            <a:ln w="317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740132" y="3497012"/>
            <a:ext cx="284798" cy="2635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195739" algn="l"/>
              </a:tabLst>
            </a:pPr>
            <a:r>
              <a:rPr sz="1650" spc="-38" dirty="0">
                <a:latin typeface="Symbol"/>
                <a:cs typeface="Symbol"/>
              </a:rPr>
              <a:t>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38" dirty="0">
                <a:latin typeface="Symbol"/>
                <a:cs typeface="Symbol"/>
              </a:rPr>
              <a:t>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40132" y="2894765"/>
            <a:ext cx="284798" cy="2635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195739" algn="l"/>
              </a:tabLst>
            </a:pPr>
            <a:r>
              <a:rPr sz="1650" spc="-38" dirty="0">
                <a:latin typeface="Symbol"/>
                <a:cs typeface="Symbol"/>
              </a:rPr>
              <a:t>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38" dirty="0">
                <a:latin typeface="Symbol"/>
                <a:cs typeface="Symbol"/>
              </a:rPr>
              <a:t>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721082" y="3095514"/>
            <a:ext cx="322898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lnSpc>
                <a:spcPts val="1781"/>
              </a:lnSpc>
              <a:spcBef>
                <a:spcPts val="75"/>
              </a:spcBef>
            </a:pPr>
            <a:r>
              <a:rPr sz="1650" spc="-19" dirty="0">
                <a:latin typeface="Symbol"/>
                <a:cs typeface="Symbol"/>
              </a:rPr>
              <a:t></a:t>
            </a:r>
            <a:r>
              <a:rPr sz="2475" spc="-28" baseline="27777" dirty="0">
                <a:latin typeface="Times New Roman"/>
                <a:cs typeface="Times New Roman"/>
              </a:rPr>
              <a:t>1</a:t>
            </a:r>
            <a:r>
              <a:rPr sz="1650" spc="-19" dirty="0">
                <a:latin typeface="Symbol"/>
                <a:cs typeface="Symbol"/>
              </a:rPr>
              <a:t></a:t>
            </a:r>
            <a:endParaRPr sz="1650">
              <a:latin typeface="Symbol"/>
              <a:cs typeface="Symbol"/>
            </a:endParaRPr>
          </a:p>
          <a:p>
            <a:pPr marL="28575">
              <a:lnSpc>
                <a:spcPts val="1781"/>
              </a:lnSpc>
            </a:pPr>
            <a:r>
              <a:rPr sz="1650" spc="-19" dirty="0">
                <a:latin typeface="Symbol"/>
                <a:cs typeface="Symbol"/>
              </a:rPr>
              <a:t></a:t>
            </a:r>
            <a:r>
              <a:rPr sz="2475" spc="-28" baseline="-2525" dirty="0">
                <a:latin typeface="Times New Roman"/>
                <a:cs typeface="Times New Roman"/>
              </a:rPr>
              <a:t>1</a:t>
            </a:r>
            <a:r>
              <a:rPr sz="1650" spc="-19" dirty="0">
                <a:latin typeface="Symbol"/>
                <a:cs typeface="Symbol"/>
              </a:rPr>
              <a:t>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740132" y="2693807"/>
            <a:ext cx="284798" cy="26353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650" spc="-19" dirty="0">
                <a:latin typeface="Symbol"/>
                <a:cs typeface="Symbol"/>
              </a:rPr>
              <a:t></a:t>
            </a:r>
            <a:r>
              <a:rPr sz="2475" spc="-28" baseline="3787" dirty="0">
                <a:latin typeface="Times New Roman"/>
                <a:cs typeface="Times New Roman"/>
              </a:rPr>
              <a:t>0</a:t>
            </a:r>
            <a:r>
              <a:rPr sz="1650" spc="-19" dirty="0">
                <a:latin typeface="Symbol"/>
                <a:cs typeface="Symbol"/>
              </a:rPr>
              <a:t>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22421" y="3079123"/>
            <a:ext cx="320040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-38" dirty="0">
                <a:latin typeface="Symbol"/>
                <a:cs typeface="Symbol"/>
              </a:rPr>
              <a:t>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226976" y="3110048"/>
            <a:ext cx="320040" cy="36740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325" spc="30" dirty="0">
                <a:latin typeface="Symbol"/>
                <a:cs typeface="Symbol"/>
              </a:rPr>
              <a:t></a:t>
            </a:r>
            <a:endParaRPr sz="2325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36098" y="1382791"/>
            <a:ext cx="457200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613" dirty="0">
                <a:latin typeface="Symbol"/>
                <a:cs typeface="Symbol"/>
              </a:rPr>
              <a:t></a:t>
            </a:r>
            <a:r>
              <a:rPr sz="1613" spc="53" dirty="0">
                <a:latin typeface="Times New Roman"/>
                <a:cs typeface="Times New Roman"/>
              </a:rPr>
              <a:t> </a:t>
            </a:r>
            <a:r>
              <a:rPr sz="2400" spc="-38" dirty="0">
                <a:latin typeface="Symbol"/>
                <a:cs typeface="Symbol"/>
              </a:rPr>
              <a:t>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207735" y="1357025"/>
            <a:ext cx="476250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56" dirty="0">
                <a:latin typeface="Times New Roman"/>
                <a:cs typeface="Times New Roman"/>
              </a:rPr>
              <a:t> </a:t>
            </a:r>
            <a:r>
              <a:rPr sz="2138" spc="-56" baseline="-2923" dirty="0">
                <a:latin typeface="Symbol"/>
                <a:cs typeface="Symbol"/>
              </a:rPr>
              <a:t></a:t>
            </a:r>
            <a:endParaRPr sz="2138" baseline="-2923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9783" y="1933640"/>
            <a:ext cx="331946" cy="293830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28575">
              <a:spcBef>
                <a:spcPts val="86"/>
              </a:spcBef>
            </a:pPr>
            <a:r>
              <a:rPr sz="2756" i="1" baseline="-24943" dirty="0">
                <a:latin typeface="Times New Roman"/>
                <a:cs typeface="Times New Roman"/>
              </a:rPr>
              <a:t>W</a:t>
            </a:r>
            <a:r>
              <a:rPr sz="2756" i="1" spc="-191" baseline="-24943" dirty="0">
                <a:latin typeface="Times New Roman"/>
                <a:cs typeface="Times New Roman"/>
              </a:rPr>
              <a:t> </a:t>
            </a:r>
            <a:r>
              <a:rPr sz="1050" i="1" spc="-38" dirty="0">
                <a:latin typeface="Times New Roman"/>
                <a:cs typeface="Times New Roman"/>
              </a:rPr>
              <a:t>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84712" y="2195512"/>
            <a:ext cx="88106" cy="174567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sz="1050" spc="-38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90260" y="1042413"/>
            <a:ext cx="1777365" cy="1315618"/>
          </a:xfrm>
          <a:prstGeom prst="rect">
            <a:avLst/>
          </a:prstGeom>
        </p:spPr>
        <p:txBody>
          <a:bodyPr vert="horz" wrap="square" lIns="0" tIns="75248" rIns="0" bIns="0" rtlCol="0">
            <a:spAutoFit/>
          </a:bodyPr>
          <a:lstStyle/>
          <a:p>
            <a:pPr marL="47625">
              <a:spcBef>
                <a:spcPts val="593"/>
              </a:spcBef>
              <a:tabLst>
                <a:tab pos="709136" algn="l"/>
                <a:tab pos="1006793" algn="l"/>
                <a:tab pos="1285875" algn="l"/>
              </a:tabLst>
            </a:pPr>
            <a:r>
              <a:rPr sz="2419" baseline="-42635" dirty="0">
                <a:latin typeface="Times New Roman"/>
                <a:cs typeface="Times New Roman"/>
              </a:rPr>
              <a:t>1</a:t>
            </a:r>
            <a:r>
              <a:rPr sz="2419" spc="157" baseline="-42635" dirty="0">
                <a:latin typeface="Times New Roman"/>
                <a:cs typeface="Times New Roman"/>
              </a:rPr>
              <a:t> </a:t>
            </a:r>
            <a:r>
              <a:rPr sz="2419" baseline="-47803" dirty="0">
                <a:latin typeface="Symbol"/>
                <a:cs typeface="Symbol"/>
              </a:rPr>
              <a:t></a:t>
            </a:r>
            <a:r>
              <a:rPr sz="2419" spc="-157" baseline="-47803" dirty="0">
                <a:latin typeface="Times New Roman"/>
                <a:cs typeface="Times New Roman"/>
              </a:rPr>
              <a:t> </a:t>
            </a:r>
            <a:r>
              <a:rPr sz="2419" spc="-28" baseline="-3875" dirty="0">
                <a:latin typeface="Symbol"/>
                <a:cs typeface="Symbol"/>
              </a:rPr>
              <a:t></a:t>
            </a:r>
            <a:r>
              <a:rPr sz="1613" spc="-19" dirty="0">
                <a:latin typeface="Times New Roman"/>
                <a:cs typeface="Times New Roman"/>
              </a:rPr>
              <a:t>1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-38" dirty="0">
                <a:latin typeface="Times New Roman"/>
                <a:cs typeface="Times New Roman"/>
              </a:rPr>
              <a:t>1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-38" dirty="0">
                <a:latin typeface="Times New Roman"/>
                <a:cs typeface="Times New Roman"/>
              </a:rPr>
              <a:t>1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-19" dirty="0">
                <a:latin typeface="Times New Roman"/>
                <a:cs typeface="Times New Roman"/>
              </a:rPr>
              <a:t>1</a:t>
            </a:r>
            <a:r>
              <a:rPr sz="2419" spc="-28" baseline="-3875" dirty="0">
                <a:latin typeface="Symbol"/>
                <a:cs typeface="Symbol"/>
              </a:rPr>
              <a:t></a:t>
            </a:r>
            <a:endParaRPr sz="2419" baseline="-3875">
              <a:latin typeface="Symbol"/>
              <a:cs typeface="Symbol"/>
            </a:endParaRPr>
          </a:p>
          <a:p>
            <a:pPr marL="711041">
              <a:spcBef>
                <a:spcPts val="525"/>
              </a:spcBef>
              <a:tabLst>
                <a:tab pos="1006793" algn="l"/>
                <a:tab pos="1285875" algn="l"/>
              </a:tabLst>
            </a:pPr>
            <a:r>
              <a:rPr sz="1613" spc="-38" dirty="0">
                <a:latin typeface="Times New Roman"/>
                <a:cs typeface="Times New Roman"/>
              </a:rPr>
              <a:t>0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-38" dirty="0">
                <a:latin typeface="Times New Roman"/>
                <a:cs typeface="Times New Roman"/>
              </a:rPr>
              <a:t>1</a:t>
            </a:r>
            <a:r>
              <a:rPr sz="1613" dirty="0">
                <a:latin typeface="Times New Roman"/>
                <a:cs typeface="Times New Roman"/>
              </a:rPr>
              <a:t>	1</a:t>
            </a:r>
            <a:r>
              <a:rPr sz="2419" baseline="25839" dirty="0">
                <a:latin typeface="Symbol"/>
                <a:cs typeface="Symbol"/>
              </a:rPr>
              <a:t></a:t>
            </a:r>
            <a:r>
              <a:rPr sz="2419" spc="-62" baseline="25839" dirty="0">
                <a:latin typeface="Times New Roman"/>
                <a:cs typeface="Times New Roman"/>
              </a:rPr>
              <a:t> </a:t>
            </a:r>
            <a:r>
              <a:rPr sz="1613" dirty="0">
                <a:latin typeface="Symbol"/>
                <a:cs typeface="Symbol"/>
              </a:rPr>
              <a:t></a:t>
            </a:r>
            <a:r>
              <a:rPr sz="1613" spc="-153" dirty="0">
                <a:latin typeface="Times New Roman"/>
                <a:cs typeface="Times New Roman"/>
              </a:rPr>
              <a:t> </a:t>
            </a:r>
            <a:r>
              <a:rPr sz="2419" spc="-56" baseline="-16795" dirty="0">
                <a:latin typeface="Symbol"/>
                <a:cs typeface="Symbol"/>
              </a:rPr>
              <a:t></a:t>
            </a:r>
            <a:endParaRPr sz="2419" baseline="-16795">
              <a:latin typeface="Symbol"/>
              <a:cs typeface="Symbol"/>
            </a:endParaRPr>
          </a:p>
          <a:p>
            <a:pPr marL="709136">
              <a:spcBef>
                <a:spcPts val="521"/>
              </a:spcBef>
              <a:tabLst>
                <a:tab pos="1008221" algn="l"/>
              </a:tabLst>
            </a:pPr>
            <a:r>
              <a:rPr sz="1613" spc="-38" dirty="0">
                <a:latin typeface="Times New Roman"/>
                <a:cs typeface="Times New Roman"/>
              </a:rPr>
              <a:t>1</a:t>
            </a:r>
            <a:r>
              <a:rPr sz="1613" dirty="0">
                <a:latin typeface="Times New Roman"/>
                <a:cs typeface="Times New Roman"/>
              </a:rPr>
              <a:t>	</a:t>
            </a:r>
            <a:r>
              <a:rPr sz="1613" spc="-38" dirty="0">
                <a:latin typeface="Times New Roman"/>
                <a:cs typeface="Times New Roman"/>
              </a:rPr>
              <a:t>0</a:t>
            </a:r>
            <a:endParaRPr sz="1613">
              <a:latin typeface="Times New Roman"/>
              <a:cs typeface="Times New Roman"/>
            </a:endParaRPr>
          </a:p>
          <a:p>
            <a:pPr marR="140970" algn="ctr">
              <a:spcBef>
                <a:spcPts val="679"/>
              </a:spcBef>
            </a:pPr>
            <a:r>
              <a:rPr i="1" spc="-38" dirty="0">
                <a:latin typeface="Times New Roman"/>
                <a:cs typeface="Times New Roman"/>
              </a:rPr>
              <a:t>X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094934" y="1945992"/>
            <a:ext cx="133350" cy="295819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sz="1838" i="1" spc="-38" dirty="0">
                <a:latin typeface="Times New Roman"/>
                <a:cs typeface="Times New Roman"/>
              </a:rPr>
              <a:t>h</a:t>
            </a:r>
            <a:endParaRPr sz="1838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60239" y="3593134"/>
            <a:ext cx="680561" cy="656494"/>
          </a:xfrm>
          <a:prstGeom prst="rect">
            <a:avLst/>
          </a:prstGeom>
        </p:spPr>
        <p:txBody>
          <a:bodyPr vert="horz" wrap="square" lIns="0" tIns="88106" rIns="0" bIns="0" rtlCol="0">
            <a:spAutoFit/>
          </a:bodyPr>
          <a:lstStyle/>
          <a:p>
            <a:pPr marR="30004" algn="ctr">
              <a:spcBef>
                <a:spcPts val="694"/>
              </a:spcBef>
            </a:pPr>
            <a:r>
              <a:rPr sz="1650" spc="-19" dirty="0">
                <a:latin typeface="Symbol"/>
                <a:cs typeface="Symbol"/>
              </a:rPr>
              <a:t></a:t>
            </a:r>
            <a:r>
              <a:rPr sz="2475" spc="-28" baseline="13888" dirty="0">
                <a:latin typeface="Times New Roman"/>
                <a:cs typeface="Times New Roman"/>
              </a:rPr>
              <a:t>0</a:t>
            </a:r>
            <a:r>
              <a:rPr sz="1650" spc="-19" dirty="0">
                <a:latin typeface="Symbol"/>
                <a:cs typeface="Symbol"/>
              </a:rPr>
              <a:t></a:t>
            </a:r>
            <a:endParaRPr sz="1650">
              <a:latin typeface="Symbol"/>
              <a:cs typeface="Symbol"/>
            </a:endParaRPr>
          </a:p>
          <a:p>
            <a:pPr algn="ctr">
              <a:spcBef>
                <a:spcPts val="574"/>
              </a:spcBef>
            </a:pPr>
            <a:r>
              <a:rPr sz="1538" i="1" dirty="0">
                <a:latin typeface="Times New Roman"/>
                <a:cs typeface="Times New Roman"/>
              </a:rPr>
              <a:t>X</a:t>
            </a:r>
            <a:r>
              <a:rPr sz="1350" baseline="-23148" dirty="0">
                <a:latin typeface="Times New Roman"/>
                <a:cs typeface="Times New Roman"/>
              </a:rPr>
              <a:t>1</a:t>
            </a:r>
            <a:r>
              <a:rPr sz="1350" spc="169" baseline="-23148" dirty="0">
                <a:latin typeface="Times New Roman"/>
                <a:cs typeface="Times New Roman"/>
              </a:rPr>
              <a:t> </a:t>
            </a:r>
            <a:r>
              <a:rPr sz="1538" dirty="0">
                <a:latin typeface="Symbol"/>
                <a:cs typeface="Symbol"/>
              </a:rPr>
              <a:t></a:t>
            </a:r>
            <a:r>
              <a:rPr sz="1538" spc="23" dirty="0">
                <a:latin typeface="Times New Roman"/>
                <a:cs typeface="Times New Roman"/>
              </a:rPr>
              <a:t> </a:t>
            </a:r>
            <a:r>
              <a:rPr sz="1538" i="1" spc="-15" dirty="0">
                <a:latin typeface="Times New Roman"/>
                <a:cs typeface="Times New Roman"/>
              </a:rPr>
              <a:t>X</a:t>
            </a:r>
            <a:r>
              <a:rPr sz="1538" i="1" spc="-188" dirty="0">
                <a:latin typeface="Times New Roman"/>
                <a:cs typeface="Times New Roman"/>
              </a:rPr>
              <a:t> </a:t>
            </a:r>
            <a:r>
              <a:rPr sz="1350" spc="-67" baseline="-23148" dirty="0">
                <a:latin typeface="Times New Roman"/>
                <a:cs typeface="Times New Roman"/>
              </a:rPr>
              <a:t>2</a:t>
            </a:r>
            <a:endParaRPr sz="1350" baseline="-2314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“XOR Gate” implementation using perceptron</a:t>
            </a:r>
            <a:endParaRPr/>
          </a:p>
        </p:txBody>
      </p:sp>
      <p:pic>
        <p:nvPicPr>
          <p:cNvPr id="243" name="Google Shape;24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5136" y="1849467"/>
            <a:ext cx="2890198" cy="2229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2169" y="1849467"/>
            <a:ext cx="1918794" cy="25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533" y="1654555"/>
            <a:ext cx="3735719" cy="28861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5"/>
          <p:cNvSpPr txBox="1"/>
          <p:nvPr/>
        </p:nvSpPr>
        <p:spPr>
          <a:xfrm>
            <a:off x="4093143" y="4201427"/>
            <a:ext cx="2889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perceptron can not implement XOR gate 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“XOR Gate” implementation using perceptron</a:t>
            </a:r>
            <a:endParaRPr/>
          </a:p>
        </p:txBody>
      </p:sp>
      <p:pic>
        <p:nvPicPr>
          <p:cNvPr id="253" name="Google Shape;25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2169" y="1849467"/>
            <a:ext cx="1918794" cy="25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533" y="1654555"/>
            <a:ext cx="3735719" cy="288616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6"/>
          <p:cNvSpPr txBox="1"/>
          <p:nvPr/>
        </p:nvSpPr>
        <p:spPr>
          <a:xfrm>
            <a:off x="4093143" y="4201427"/>
            <a:ext cx="2889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perceptrons to implement XOR gate 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3789" y="1573731"/>
            <a:ext cx="2777841" cy="268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Multilayer perceptron network (fully connected network)</a:t>
            </a:r>
            <a:endParaRPr/>
          </a:p>
        </p:txBody>
      </p:sp>
      <p:pic>
        <p:nvPicPr>
          <p:cNvPr id="263" name="Google Shape;263;p37" descr="Multi layer Perceptron (MLP) Models on Real World Banking Dat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4204" y="1204352"/>
            <a:ext cx="4894444" cy="3224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Multilayer perceptron network (fully connected network)</a:t>
            </a:r>
            <a:endParaRPr/>
          </a:p>
        </p:txBody>
      </p:sp>
      <p:pic>
        <p:nvPicPr>
          <p:cNvPr id="270" name="Google Shape;270;p38" descr="MLP-Multilayer perceptron based on backpropagation technique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458" y="1108456"/>
            <a:ext cx="8016942" cy="33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>
            <a:spLocks noGrp="1"/>
          </p:cNvSpPr>
          <p:nvPr>
            <p:ph type="title"/>
          </p:nvPr>
        </p:nvSpPr>
        <p:spPr>
          <a:xfrm>
            <a:off x="0" y="716780"/>
            <a:ext cx="7202400" cy="7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Formal definition of Deep Learning</a:t>
            </a:r>
            <a:endParaRPr dirty="0"/>
          </a:p>
        </p:txBody>
      </p:sp>
      <p:sp>
        <p:nvSpPr>
          <p:cNvPr id="277" name="Google Shape;277;p39"/>
          <p:cNvSpPr txBox="1">
            <a:spLocks noGrp="1"/>
          </p:cNvSpPr>
          <p:nvPr>
            <p:ph idx="1"/>
          </p:nvPr>
        </p:nvSpPr>
        <p:spPr>
          <a:xfrm>
            <a:off x="379308" y="1381760"/>
            <a:ext cx="8764692" cy="315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0000" lnSpcReduction="20000"/>
          </a:bodyPr>
          <a:lstStyle/>
          <a:p>
            <a:pPr marL="177800" lvl="0" indent="-184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There is no any specific definition of deep learning. Different sources have given different definition of deep learning. </a:t>
            </a:r>
            <a:endParaRPr dirty="0"/>
          </a:p>
          <a:p>
            <a:pPr marL="177800" lvl="0" indent="-1841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Layered view:</a:t>
            </a:r>
            <a:endParaRPr dirty="0"/>
          </a:p>
          <a:p>
            <a:pPr marL="520700" lvl="1" indent="-1905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If number of layers in ANN will be more than two, then that network is termed as “Deep Network”.</a:t>
            </a:r>
          </a:p>
          <a:p>
            <a:pPr marL="520700" lvl="1" indent="-1905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deep learning, the process of creating and selecting features from the data is done automatically by the neural network itself, rather than requiring manual intervention or human-designed features.</a:t>
            </a:r>
            <a:endParaRPr dirty="0"/>
          </a:p>
          <a:p>
            <a:pPr marL="177800" lvl="0" indent="-1841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Feature Extraction View:</a:t>
            </a:r>
            <a:endParaRPr dirty="0"/>
          </a:p>
          <a:p>
            <a:pPr marL="520700" lvl="1" indent="-1905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In deep learning, the feature engineering is automatic.,</a:t>
            </a:r>
          </a:p>
          <a:p>
            <a:pPr marL="177800" lvl="0" indent="-1841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Wikipedia Says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“Deep learning is part of a broader family of machine learning methods based on artificial neural networks with representation learning”.</a:t>
            </a:r>
            <a:endParaRPr dirty="0"/>
          </a:p>
          <a:p>
            <a:pPr marL="177800" lvl="0" indent="-1841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“Learning can be supervised, semi-supervised or unsupervised”.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Why deep learning?</a:t>
            </a:r>
            <a:endParaRPr/>
          </a:p>
        </p:txBody>
      </p:sp>
      <p:pic>
        <p:nvPicPr>
          <p:cNvPr id="284" name="Google Shape;284;p40" descr="Why Deep Learning?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0034" y="1276755"/>
            <a:ext cx="4857792" cy="3519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</TotalTime>
  <Words>2142</Words>
  <Application>Microsoft Office PowerPoint</Application>
  <PresentationFormat>On-screen Show (16:9)</PresentationFormat>
  <Paragraphs>352</Paragraphs>
  <Slides>31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Aptos</vt:lpstr>
      <vt:lpstr>Calibri</vt:lpstr>
      <vt:lpstr>Times New Roman</vt:lpstr>
      <vt:lpstr>Century Gothic</vt:lpstr>
      <vt:lpstr>KaTeX_Math</vt:lpstr>
      <vt:lpstr>Nunito</vt:lpstr>
      <vt:lpstr>KaTeX_Main</vt:lpstr>
      <vt:lpstr>Symbol</vt:lpstr>
      <vt:lpstr>Aptos Display</vt:lpstr>
      <vt:lpstr>Office Theme</vt:lpstr>
      <vt:lpstr>Biological Neuron Vs Artificial Neuron</vt:lpstr>
      <vt:lpstr>Artificial neuron</vt:lpstr>
      <vt:lpstr>Important Points</vt:lpstr>
      <vt:lpstr>Weights</vt:lpstr>
      <vt:lpstr>Biases</vt:lpstr>
      <vt:lpstr>Activation functions in Neural Networks </vt:lpstr>
      <vt:lpstr>Mathematical Proof of Need of Non-Linearity in Neural Networks </vt:lpstr>
      <vt:lpstr>PowerPoint Presentation</vt:lpstr>
      <vt:lpstr>Artificial neuron</vt:lpstr>
      <vt:lpstr>Artificial neuron</vt:lpstr>
      <vt:lpstr>Types of Activation Functions in Deep Learning </vt:lpstr>
      <vt:lpstr>Non-Linear Activation Functions 1. Sigmoid Function  </vt:lpstr>
      <vt:lpstr>PowerPoint Presentation</vt:lpstr>
      <vt:lpstr>3. ReLU (Rectified Linear Unit) Function  </vt:lpstr>
      <vt:lpstr> Exponential Linear Units 1. Softmax Function </vt:lpstr>
      <vt:lpstr>Perceptron </vt:lpstr>
      <vt:lpstr>Perceptron network learning</vt:lpstr>
      <vt:lpstr>“And Gate” implementation using perceptron</vt:lpstr>
      <vt:lpstr>“And Gate” implementation using perceptron</vt:lpstr>
      <vt:lpstr>“And Gate” implementation using perceptron</vt:lpstr>
      <vt:lpstr>OR Function</vt:lpstr>
      <vt:lpstr>OR Function</vt:lpstr>
      <vt:lpstr>XOR Function</vt:lpstr>
      <vt:lpstr>XOR Function</vt:lpstr>
      <vt:lpstr>XOR Function</vt:lpstr>
      <vt:lpstr>“XOR Gate” implementation using perceptron</vt:lpstr>
      <vt:lpstr>“XOR Gate” implementation using perceptron</vt:lpstr>
      <vt:lpstr>Multilayer perceptron network (fully connected network)</vt:lpstr>
      <vt:lpstr>Multilayer perceptron network (fully connected network)</vt:lpstr>
      <vt:lpstr>Formal definition of Deep Learning</vt:lpstr>
      <vt:lpstr>Why deep learning?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</dc:title>
  <cp:lastModifiedBy>Shankar Biradar [MAHE-MIT]</cp:lastModifiedBy>
  <cp:revision>9</cp:revision>
  <dcterms:modified xsi:type="dcterms:W3CDTF">2026-02-04T08:19:11Z</dcterms:modified>
</cp:coreProperties>
</file>